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drawingml.chart+xml" PartName="/ppt/charts/chart3.xml"/>
  <Override ContentType="application/vnd.openxmlformats-officedocument.drawingml.chart+xml" PartName="/ppt/charts/chart2.xml"/>
  <Override ContentType="application/vnd.openxmlformats-officedocument.drawingml.chart+xml" PartName="/ppt/charts/chart1.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Override PartName="/ppt/slides/slide20.xml" ContentType="application/vnd.openxmlformats-officedocument.presentationml.slide+xml"/>
  <Override PartName="/ppt/slides/slide21.xml" ContentType="application/vnd.openxmlformats-officedocument.presentationml.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 id="2147483650" r:id="rId6"/>
    <p:sldMasterId id="2147483658" r:id="rId7"/>
    <p:sldMasterId id="2147483660" r:id="rId8"/>
    <p:sldMasterId id="2147483662" r:id="rId9"/>
  </p:sldMasterIdLst>
  <p:notesMasterIdLst>
    <p:notesMasterId r:id="rId10"/>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75" r:id="rId39"/>
    <p:sldId id="269" r:id="rId24"/>
    <p:sldId id="276" r:id="rId40"/>
    <p:sldId id="270" r:id="rId25"/>
    <p:sldId id="271" r:id="rId26"/>
    <p:sldId id="272" r:id="rId27"/>
    <p:sldId id="273" r:id="rId28"/>
    <p:sldId id="274" r:id="rId29"/>
  </p:sldIdLst>
  <p:sldSz cy="6858000" cx="9144000"/>
  <p:notesSz cx="6858000" cy="9144000"/>
  <p:embeddedFontLst>
    <p:embeddedFont>
      <p:font typeface="Libre Franklin"/>
      <p:regular r:id="rId30"/>
      <p:bold r:id="rId31"/>
      <p:italic r:id="rId32"/>
      <p:boldItalic r:id="rId33"/>
    </p:embeddedFont>
    <p:embeddedFont>
      <p:font typeface="Libre Baskerville"/>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gx8Kr1OzWQV9UYp9odDdZoT7aK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A656E0-A7AC-4FEC-B299-668A8D95E06C}">
  <a:tblStyle styleId="{36A656E0-A7AC-4FEC-B299-668A8D95E06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0.xml"/><Relationship Id="rId22" Type="http://schemas.openxmlformats.org/officeDocument/2006/relationships/slide" Target="slides/slide12.xml"/><Relationship Id="rId21" Type="http://schemas.openxmlformats.org/officeDocument/2006/relationships/slide" Target="slides/slide11.xml"/><Relationship Id="rId24" Type="http://schemas.openxmlformats.org/officeDocument/2006/relationships/slide" Target="slides/slide14.xml"/><Relationship Id="rId23" Type="http://schemas.openxmlformats.org/officeDocument/2006/relationships/slide" Target="slides/slide13.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26" Type="http://schemas.openxmlformats.org/officeDocument/2006/relationships/slide" Target="slides/slide16.xml"/><Relationship Id="rId25" Type="http://schemas.openxmlformats.org/officeDocument/2006/relationships/slide" Target="slides/slide15.xml"/><Relationship Id="rId28" Type="http://schemas.openxmlformats.org/officeDocument/2006/relationships/slide" Target="slides/slide18.xml"/><Relationship Id="rId27" Type="http://schemas.openxmlformats.org/officeDocument/2006/relationships/slide" Target="slides/slide17.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19.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font" Target="fonts/LibreFranklin-bold.fntdata"/><Relationship Id="rId30" Type="http://schemas.openxmlformats.org/officeDocument/2006/relationships/font" Target="fonts/LibreFranklin-regular.fntdata"/><Relationship Id="rId11" Type="http://schemas.openxmlformats.org/officeDocument/2006/relationships/slide" Target="slides/slide1.xml"/><Relationship Id="rId33" Type="http://schemas.openxmlformats.org/officeDocument/2006/relationships/font" Target="fonts/LibreFranklin-boldItalic.fntdata"/><Relationship Id="rId10" Type="http://schemas.openxmlformats.org/officeDocument/2006/relationships/notesMaster" Target="notesMasters/notesMaster1.xml"/><Relationship Id="rId32" Type="http://schemas.openxmlformats.org/officeDocument/2006/relationships/font" Target="fonts/LibreFranklin-italic.fntdata"/><Relationship Id="rId13" Type="http://schemas.openxmlformats.org/officeDocument/2006/relationships/slide" Target="slides/slide3.xml"/><Relationship Id="rId35" Type="http://schemas.openxmlformats.org/officeDocument/2006/relationships/font" Target="fonts/LibreBaskerville-bold.fntdata"/><Relationship Id="rId12" Type="http://schemas.openxmlformats.org/officeDocument/2006/relationships/slide" Target="slides/slide2.xml"/><Relationship Id="rId34" Type="http://schemas.openxmlformats.org/officeDocument/2006/relationships/font" Target="fonts/LibreBaskerville-regular.fntdata"/><Relationship Id="rId15" Type="http://schemas.openxmlformats.org/officeDocument/2006/relationships/slide" Target="slides/slide5.xml"/><Relationship Id="rId37" Type="http://schemas.openxmlformats.org/officeDocument/2006/relationships/font" Target="fonts/LibreBaskerville-boldItalic.fntdata"/><Relationship Id="rId14" Type="http://schemas.openxmlformats.org/officeDocument/2006/relationships/slide" Target="slides/slide4.xml"/><Relationship Id="rId36" Type="http://schemas.openxmlformats.org/officeDocument/2006/relationships/font" Target="fonts/LibreBaskerville-italic.fntdata"/><Relationship Id="rId17" Type="http://schemas.openxmlformats.org/officeDocument/2006/relationships/slide" Target="slides/slide7.xml"/><Relationship Id="rId16" Type="http://schemas.openxmlformats.org/officeDocument/2006/relationships/slide" Target="slides/slide6.xml"/><Relationship Id="rId38" Type="http://customschemas.google.com/relationships/presentationmetadata" Target="metadata"/><Relationship Id="rId19" Type="http://schemas.openxmlformats.org/officeDocument/2006/relationships/slide" Target="slides/slide9.xml"/><Relationship Id="rId18" Type="http://schemas.openxmlformats.org/officeDocument/2006/relationships/slide" Target="slides/slide8.xml"/>  <Relationship Id="rId39" Type="http://schemas.openxmlformats.org/officeDocument/2006/relationships/slide" Target="slides/slide20.xml"/>
  <Relationship Id="rId40" Type="http://schemas.openxmlformats.org/officeDocument/2006/relationships/slide" Target="slides/slide21.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r>
              <a:rPr sz="1250" b="1">
                <a:latin typeface="Times New Roman"/>
              </a:rPr>
              <a:t>Weights used in the example</a:t>
            </a:r>
          </a:p>
        </c:rich>
      </c:tx>
      <c:layout/>
      <c:overlay val="0"/>
    </c:title>
    <c:autoTitleDeleted val="0"/>
    <c:plotArea>
      <c:layout/>
      <c:doughnutChart>
        <c:varyColors val="1"/>
        <c:ser>
          <c:idx val="0"/>
          <c:order val="0"/>
          <c:tx>
            <c:strRef>
              <c:f>Sheet1!$B$1</c:f>
              <c:strCache>
                <c:ptCount val="1"/>
                <c:pt idx="0">
                  <c:v>Weight</c:v>
                </c:pt>
              </c:strCache>
            </c:strRef>
          </c:tx>
          <c:dPt>
            <c:idx val="0"/>
            <c:spPr>
              <a:solidFill>
                <a:srgbClr val="00837E"/>
              </a:solidFill>
            </c:spPr>
          </c:dPt>
          <c:dPt>
            <c:idx val="1"/>
            <c:spPr>
              <a:solidFill>
                <a:srgbClr val="057CA6"/>
              </a:solidFill>
            </c:spPr>
          </c:dPt>
          <c:dPt>
            <c:idx val="2"/>
            <c:spPr>
              <a:solidFill>
                <a:srgbClr val="5567C8"/>
              </a:solidFill>
            </c:spPr>
          </c:dPt>
          <c:dPt>
            <c:idx val="3"/>
            <c:spPr>
              <a:solidFill>
                <a:srgbClr val="9052AE"/>
              </a:solidFill>
            </c:spPr>
          </c:dPt>
          <c:dPt>
            <c:idx val="4"/>
            <c:spPr>
              <a:solidFill>
                <a:srgbClr val="B14576"/>
              </a:solidFill>
            </c:spPr>
          </c:dPt>
          <c:cat>
            <c:strRef>
              <c:f>Sheet1!$A$2:$A$6</c:f>
              <c:strCache>
                <c:ptCount val="5"/>
                <c:pt idx="0">
                  <c:v>m: Skill 0.30</c:v>
                </c:pt>
                <c:pt idx="1">
                  <c:v>p: Proximity 0.25</c:v>
                </c:pt>
                <c:pt idx="2">
                  <c:v>q: Quality 0.20</c:v>
                </c:pt>
                <c:pt idx="3">
                  <c:v>t: Time 0.15</c:v>
                </c:pt>
                <c:pt idx="4">
                  <c:v>c: Cost 0.10</c:v>
                </c:pt>
              </c:strCache>
            </c:strRef>
          </c:cat>
          <c:val>
            <c:numRef>
              <c:f>Sheet1!$B$2:$B$6</c:f>
              <c:numCache>
                <c:formatCode>General</c:formatCode>
                <c:ptCount val="5"/>
                <c:pt idx="0">
                  <c:v>0.3</c:v>
                </c:pt>
                <c:pt idx="1">
                  <c:v>0.25</c:v>
                </c:pt>
                <c:pt idx="2">
                  <c:v>0.2</c:v>
                </c:pt>
                <c:pt idx="3">
                  <c:v>0.15</c:v>
                </c:pt>
                <c:pt idx="4">
                  <c:v>0.1</c:v>
                </c:pt>
              </c:numCache>
            </c:numRef>
          </c:val>
        </c:ser>
        <c:dLbls>
          <c:numFmt formatCode="0%" sourceLinked="0"/>
          <c:txPr>
            <a:bodyPr/>
            <a:lstStyle/>
            <a:p>
              <a:pPr>
                <a:defRPr sz="1100" b="1">
                  <a:solidFill>
                    <a:srgbClr val="FFFFFF"/>
                  </a:solidFill>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900"/>
          </a:pPr>
        </a:p>
      </c:txPr>
    </c:legend>
    <c:plotVisOnly val="1"/>
    <c:dispBlanksAs val="gap"/>
    <c:showDLblsOverMax val="0"/>
  </c:chart>
  <c:txPr>
    <a:bodyPr/>
    <a:lstStyle/>
    <a:p>
      <a:pPr>
        <a:defRPr sz="1100">
          <a:latin typeface="Times New Roman"/>
        </a:defRPr>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50" b="1">
                <a:latin typeface="Times New Roman"/>
              </a:rPr>
              <a:t>Exploration bonus vs rated jobs n</a:t>
            </a:r>
          </a:p>
        </c:rich>
      </c:tx>
      <c:layout/>
      <c:overlay val="0"/>
    </c:title>
    <c:autoTitleDeleted val="0"/>
    <c:plotArea>
      <c:lineChart>
        <c:grouping val="standard"/>
        <c:varyColors val="0"/>
        <c:ser>
          <c:idx val="0"/>
          <c:order val="0"/>
          <c:tx>
            <c:strRef>
              <c:f>Sheet1!$B$1</c:f>
              <c:strCache>
                <c:ptCount val="1"/>
                <c:pt idx="0">
                  <c:v>Exploration bonus</c:v>
                </c:pt>
              </c:strCache>
            </c:strRef>
          </c:tx>
          <c:spPr>
            <a:ln w="34925">
              <a:solidFill>
                <a:srgbClr val="9052AE"/>
              </a:solidFill>
            </a:ln>
          </c:spPr>
          <c:marker>
            <c:symbol val="circle"/>
            <c:size val="8"/>
            <c:spPr>
              <a:solidFill>
                <a:srgbClr val="9052AE"/>
              </a:solidFill>
            </c:spPr>
          </c:marker>
          <c:cat>
            <c:strRef>
              <c:f>Sheet1!$A$2:$A$8</c:f>
              <c:strCache>
                <c:ptCount val="7"/>
                <c:pt idx="0">
                  <c:v>1</c:v>
                </c:pt>
                <c:pt idx="1">
                  <c:v>3</c:v>
                </c:pt>
                <c:pt idx="2">
                  <c:v>5</c:v>
                </c:pt>
                <c:pt idx="3">
                  <c:v>10</c:v>
                </c:pt>
                <c:pt idx="4">
                  <c:v>20</c:v>
                </c:pt>
                <c:pt idx="5">
                  <c:v>30</c:v>
                </c:pt>
                <c:pt idx="6">
                  <c:v>50</c:v>
                </c:pt>
              </c:strCache>
            </c:strRef>
          </c:cat>
          <c:val>
            <c:numRef>
              <c:f>Sheet1!$B$2:$B$8</c:f>
              <c:numCache>
                <c:formatCode>General</c:formatCode>
                <c:ptCount val="7"/>
                <c:pt idx="0">
                  <c:v>0.202</c:v>
                </c:pt>
                <c:pt idx="1">
                  <c:v>0.117</c:v>
                </c:pt>
                <c:pt idx="2">
                  <c:v>0.09</c:v>
                </c:pt>
                <c:pt idx="3">
                  <c:v>0.064</c:v>
                </c:pt>
                <c:pt idx="4">
                  <c:v>0.045</c:v>
                </c:pt>
                <c:pt idx="5">
                  <c:v>0.037</c:v>
                </c:pt>
                <c:pt idx="6">
                  <c:v>0.029</c:v>
                </c:pt>
              </c:numCache>
            </c:numRef>
          </c:val>
          <c:smooth val="0"/>
        </c:ser>
        <c:marker val="1"/>
        <c:smooth val="0"/>
        <c:axId val="2118791784"/>
        <c:axId val="2140495176"/>
      </c:lineChart>
      <c:catAx>
        <c:axId val="2118791784"/>
        <c:scaling>
          <c:orientation val="minMax"/>
        </c:scaling>
        <c:delete val="0"/>
        <c:axPos val="b"/>
        <c:title>
          <c:tx>
            <c:rich>
              <a:bodyPr/>
              <a:lstStyle/>
              <a:p>
                <a:r>
                  <a:rPr sz="1050" b="0"/>
                  <a:t>Rated jobs n</a:t>
                </a:r>
              </a:p>
            </c:rich>
          </c:tx>
          <c:layout/>
          <c:overlay val="0"/>
        </c:title>
        <c:majorTickMark val="out"/>
        <c:minorTickMark val="none"/>
        <c:tickLblPos val="nextTo"/>
        <c:txPr>
          <a:bodyPr/>
          <a:lstStyle/>
          <a:p>
            <a:pPr>
              <a:defRPr sz="1050"/>
            </a:pPr>
          </a:p>
        </c:txPr>
        <c:crossAx val="2140495176"/>
        <c:crosses val="autoZero"/>
        <c:auto val="1"/>
        <c:lblAlgn val="ctr"/>
        <c:lblOffset val="100"/>
        <c:noMultiLvlLbl val="0"/>
      </c:catAx>
      <c:valAx>
        <c:axId val="2140495176"/>
        <c:scaling>
          <c:max val="0.25"/>
          <c:min val="0.0"/>
        </c:scaling>
        <c:delete val="0"/>
        <c:axPos val="l"/>
        <c:majorGridlines>
          <c:spPr>
            <a:ln>
              <a:solidFill>
                <a:srgbClr val="D9D4C8"/>
              </a:solidFill>
            </a:ln>
          </c:spPr>
        </c:majorGridlines>
        <c:majorTickMark val="out"/>
        <c:minorTickMark val="none"/>
        <c:tickLblPos val="nextTo"/>
        <c:spPr>
          <a:ln>
            <a:noFill/>
          </a:ln>
        </c:spPr>
        <c:txPr>
          <a:bodyPr/>
          <a:lstStyle/>
          <a:p>
            <a:pPr>
              <a:defRPr sz="1050"/>
            </a:pPr>
          </a:p>
        </c:txPr>
        <c:crossAx val="2118791784"/>
        <c:crosses val="autoZero"/>
      </c:valAx>
    </c:plotArea>
    <c:plotVisOnly val="1"/>
    <c:dispBlanksAs val="gap"/>
    <c:showDLblsOverMax val="0"/>
  </c:chart>
  <c:txPr>
    <a:bodyPr/>
    <a:lstStyle/>
    <a:p>
      <a:pPr>
        <a:defRPr sz="1100">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50" b="1">
                <a:latin typeface="Times New Roman"/>
              </a:rPr>
              <a:t>Weighted contribution to the score</a:t>
            </a:r>
          </a:p>
        </c:rich>
      </c:tx>
      <c:layout/>
      <c:overlay val="0"/>
    </c:title>
    <c:autoTitleDeleted val="0"/>
    <c:plotArea>
      <c:barChart>
        <c:barDir val="bar"/>
        <c:grouping val="stacked"/>
        <c:ser>
          <c:idx val="0"/>
          <c:order val="0"/>
          <c:tx>
            <c:strRef>
              <c:f>Sheet1!$B$1</c:f>
              <c:strCache>
                <c:ptCount val="1"/>
                <c:pt idx="0">
                  <c:v>Skill</c:v>
                </c:pt>
              </c:strCache>
            </c:strRef>
          </c:tx>
          <c:spPr>
            <a:solidFill>
              <a:srgbClr val="00837E"/>
            </a:solidFill>
          </c:spPr>
          <c:dLbls>
            <c:numFmt formatCode="0.0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Worker C</c:v>
                </c:pt>
                <c:pt idx="1">
                  <c:v>Worker B</c:v>
                </c:pt>
                <c:pt idx="2">
                  <c:v>Worker A</c:v>
                </c:pt>
              </c:strCache>
            </c:strRef>
          </c:cat>
          <c:val>
            <c:numRef>
              <c:f>Sheet1!$B$2:$B$4</c:f>
              <c:numCache>
                <c:formatCode>General</c:formatCode>
                <c:ptCount val="3"/>
                <c:pt idx="0">
                  <c:v>0.18</c:v>
                </c:pt>
                <c:pt idx="1">
                  <c:v>0.3</c:v>
                </c:pt>
                <c:pt idx="2">
                  <c:v>0.3</c:v>
                </c:pt>
              </c:numCache>
            </c:numRef>
          </c:val>
        </c:ser>
        <c:ser>
          <c:idx val="1"/>
          <c:order val="1"/>
          <c:tx>
            <c:strRef>
              <c:f>Sheet1!$C$1</c:f>
              <c:strCache>
                <c:ptCount val="1"/>
                <c:pt idx="0">
                  <c:v>Proximity</c:v>
                </c:pt>
              </c:strCache>
            </c:strRef>
          </c:tx>
          <c:spPr>
            <a:solidFill>
              <a:srgbClr val="057CA6"/>
            </a:solidFill>
          </c:spPr>
          <c:dLbls>
            <c:numFmt formatCode="0.0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Worker C</c:v>
                </c:pt>
                <c:pt idx="1">
                  <c:v>Worker B</c:v>
                </c:pt>
                <c:pt idx="2">
                  <c:v>Worker A</c:v>
                </c:pt>
              </c:strCache>
            </c:strRef>
          </c:cat>
          <c:val>
            <c:numRef>
              <c:f>Sheet1!$C$2:$C$4</c:f>
              <c:numCache>
                <c:formatCode>General</c:formatCode>
                <c:ptCount val="3"/>
                <c:pt idx="0">
                  <c:v>0.175</c:v>
                </c:pt>
                <c:pt idx="1">
                  <c:v>0.23</c:v>
                </c:pt>
                <c:pt idx="2">
                  <c:v>0.212</c:v>
                </c:pt>
              </c:numCache>
            </c:numRef>
          </c:val>
        </c:ser>
        <c:ser>
          <c:idx val="2"/>
          <c:order val="2"/>
          <c:tx>
            <c:strRef>
              <c:f>Sheet1!$D$1</c:f>
              <c:strCache>
                <c:ptCount val="1"/>
                <c:pt idx="0">
                  <c:v>Quality</c:v>
                </c:pt>
              </c:strCache>
            </c:strRef>
          </c:tx>
          <c:spPr>
            <a:solidFill>
              <a:srgbClr val="5567C8"/>
            </a:solidFill>
          </c:spPr>
          <c:dLbls>
            <c:numFmt formatCode="0.00" sourceLinked="0"/>
            <c:txPr>
              <a:bodyPr/>
              <a:lstStyle/>
              <a:p>
                <a:pPr>
                  <a:defRPr sz="1000">
                    <a:solidFill>
                      <a:srgbClr val="FFFFFF"/>
                    </a:solidFill>
                  </a:defRPr>
                </a:pPr>
              </a:p>
            </c:txPr>
            <c:dLblPos val="ctr"/>
            <c:showLegendKey val="0"/>
            <c:showVal val="1"/>
            <c:showCatName val="0"/>
            <c:showSerName val="0"/>
            <c:showPercent val="0"/>
            <c:showBubbleSize val="0"/>
            <c:showLeaderLines val="1"/>
          </c:dLbls>
          <c:cat>
            <c:strRef>
              <c:f>Sheet1!$A$2:$A$4</c:f>
              <c:strCache>
                <c:ptCount val="3"/>
                <c:pt idx="0">
                  <c:v>Worker C</c:v>
                </c:pt>
                <c:pt idx="1">
                  <c:v>Worker B</c:v>
                </c:pt>
                <c:pt idx="2">
                  <c:v>Worker A</c:v>
                </c:pt>
              </c:strCache>
            </c:strRef>
          </c:cat>
          <c:val>
            <c:numRef>
              <c:f>Sheet1!$D$2:$D$4</c:f>
              <c:numCache>
                <c:formatCode>General</c:formatCode>
                <c:ptCount val="3"/>
                <c:pt idx="0">
                  <c:v>0.163</c:v>
                </c:pt>
                <c:pt idx="1">
                  <c:v>0.169</c:v>
                </c:pt>
                <c:pt idx="2">
                  <c:v>0.187</c:v>
                </c:pt>
              </c:numCache>
            </c:numRef>
          </c:val>
        </c:ser>
        <c:ser>
          <c:idx val="3"/>
          <c:order val="3"/>
          <c:tx>
            <c:strRef>
              <c:f>Sheet1!$E$1</c:f>
              <c:strCache>
                <c:ptCount val="1"/>
                <c:pt idx="0">
                  <c:v>Time</c:v>
                </c:pt>
              </c:strCache>
            </c:strRef>
          </c:tx>
          <c:spPr>
            <a:solidFill>
              <a:srgbClr val="9052AE"/>
            </a:solidFill>
          </c:spPr>
          <c:cat>
            <c:strRef>
              <c:f>Sheet1!$A$2:$A$4</c:f>
              <c:strCache>
                <c:ptCount val="3"/>
                <c:pt idx="0">
                  <c:v>Worker C</c:v>
                </c:pt>
                <c:pt idx="1">
                  <c:v>Worker B</c:v>
                </c:pt>
                <c:pt idx="2">
                  <c:v>Worker A</c:v>
                </c:pt>
              </c:strCache>
            </c:strRef>
          </c:cat>
          <c:val>
            <c:numRef>
              <c:f>Sheet1!$E$2:$E$4</c:f>
              <c:numCache>
                <c:formatCode>General</c:formatCode>
                <c:ptCount val="3"/>
                <c:pt idx="0">
                  <c:v>0.125</c:v>
                </c:pt>
                <c:pt idx="1">
                  <c:v>0.087</c:v>
                </c:pt>
                <c:pt idx="2">
                  <c:v>0.112</c:v>
                </c:pt>
              </c:numCache>
            </c:numRef>
          </c:val>
        </c:ser>
        <c:ser>
          <c:idx val="4"/>
          <c:order val="4"/>
          <c:tx>
            <c:strRef>
              <c:f>Sheet1!$F$1</c:f>
              <c:strCache>
                <c:ptCount val="1"/>
                <c:pt idx="0">
                  <c:v>Cost</c:v>
                </c:pt>
              </c:strCache>
            </c:strRef>
          </c:tx>
          <c:spPr>
            <a:solidFill>
              <a:srgbClr val="B14576"/>
            </a:solidFill>
          </c:spPr>
          <c:cat>
            <c:strRef>
              <c:f>Sheet1!$A$2:$A$4</c:f>
              <c:strCache>
                <c:ptCount val="3"/>
                <c:pt idx="0">
                  <c:v>Worker C</c:v>
                </c:pt>
                <c:pt idx="1">
                  <c:v>Worker B</c:v>
                </c:pt>
                <c:pt idx="2">
                  <c:v>Worker A</c:v>
                </c:pt>
              </c:strCache>
            </c:strRef>
          </c:cat>
          <c:val>
            <c:numRef>
              <c:f>Sheet1!$F$2:$F$4</c:f>
              <c:numCache>
                <c:formatCode>General</c:formatCode>
                <c:ptCount val="3"/>
                <c:pt idx="0">
                  <c:v>0.056</c:v>
                </c:pt>
                <c:pt idx="1">
                  <c:v>0.05</c:v>
                </c:pt>
                <c:pt idx="2">
                  <c:v>0.038</c:v>
                </c:pt>
              </c:numCache>
            </c:numRef>
          </c:val>
        </c:ser>
        <c:gapWidth val="45"/>
        <c:overlap val="10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1.0"/>
        </c:scaling>
        <c:delete val="0"/>
        <c:axPos val="b"/>
        <c:majorGridlines>
          <c:spPr>
            <a:ln>
              <a:solidFill>
                <a:srgbClr val="D9D4C8"/>
              </a:solidFill>
            </a:ln>
          </c:spPr>
        </c:majorGridlines>
        <c:majorTickMark val="out"/>
        <c:minorTickMark val="none"/>
        <c:tickLblPos val="nextTo"/>
        <c:txPr>
          <a:bodyPr/>
          <a:lstStyle/>
          <a:p>
            <a:pPr>
              <a:defRPr sz="1050"/>
            </a:pPr>
          </a:p>
        </c:txPr>
        <c:crossAx val="-2068027336"/>
        <c:crosses val="autoZero"/>
        <c:majorUnit val="0.25"/>
      </c:valAx>
    </c:plotArea>
    <c:legend>
      <c:legendPos val="b"/>
      <c:overlay val="0"/>
      <c:txPr>
        <a:bodyPr/>
        <a:lstStyle/>
        <a:p>
          <a:pPr>
            <a:defRPr sz="1050"/>
          </a:pPr>
        </a:p>
      </c:txPr>
    </c:legend>
    <c:dispBlanksAs val="gap"/>
  </c:chart>
  <c:txPr>
    <a:bodyPr/>
    <a:lstStyle/>
    <a:p>
      <a:pPr>
        <a:defRPr sz="11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
            <a:headEnd len="sm" w="sm" type="none"/>
            <a:tailEnd len="sm" w="sm" type="none"/>
          </a:ln>
        </p:spPr>
      </p:sp>
      <p:sp>
        <p:nvSpPr>
          <p:cNvPr id="131" name="Google Shape;131;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800" u="none" cap="none" strike="noStrike"/>
              <a:t>Good morning everyone. My seminar topic is the AI-Powered Smart Worker Finder, a system that recommends the most suitable skilled worker (electrician, plumber, mechanic, technician) for a customer request. It is guided by Dr. Shwetal K. Patil, and is based on the CrowdBwO multi-armed bandit approach.</a:t>
            </a:r>
            <a:endParaRPr/>
          </a:p>
        </p:txBody>
      </p:sp>
      <p:sp>
        <p:nvSpPr>
          <p:cNvPr id="132" name="Google Shape;132;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SzPts val="1800"/>
              <a:buFont typeface="Arial"/>
              <a:buNone/>
            </a:pPr>
            <a:fld id="{00000000-1234-1234-1234-123412341234}" type="slidenum">
              <a:rPr b="0" i="0" lang="en-US" sz="1800" u="none" cap="none" strike="noStrike">
                <a:solidFill>
                  <a:schemeClr val="dk1"/>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140" name="Google Shape;14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This is the road-map of the seminar: from the introduction and the literature, through the problem, objectives and architecture, to the algorithms, mathematical model, advantages, limitations, conclusion, future scope and references.</a:t>
            </a:r>
            <a:endParaRPr/>
          </a:p>
        </p:txBody>
      </p:sp>
      <p:sp>
        <p:nvSpPr>
          <p:cNvPr id="141" name="Google Shape;141;p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190" name="Google Shape;190;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Finding a skilled worker such as an electrician, plumber or technician is still slow and uncertain. Customers call workers one by one and judge them on partial information. The AI-Powered Smart Worker Finder understands the request, searches nearby, ranks workers on skill, location, availability, quality, response time and cost, and learns from feedback using the CrowdBwO bandit idea.</a:t>
            </a:r>
            <a:endParaRPr/>
          </a:p>
        </p:txBody>
      </p:sp>
      <p:sp>
        <p:nvSpPr>
          <p:cNvPr id="191" name="Google Shape;191;p1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236" name="Google Shape;236;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The system sits at the meeting point of six current technology trends: recommendation systems, location-based services, real-time computing, cloud, generative AI and NLP, and multi-armed bandit learning. These same technologies power on-demand services such as home repair, vehicle repair, appliance repair, field dispatch and emergency repair.</a:t>
            </a:r>
            <a:endParaRPr/>
          </a:p>
        </p:txBody>
      </p:sp>
      <p:sp>
        <p:nvSpPr>
          <p:cNvPr id="237" name="Google Shape;237;p2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277" name="Google Shape;27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Four related papers were reviewed. Zhang and Sugiyama use bandits for task selection. Hassan and Curry handle spatial crowdsourcing with semi-bandit learning and cut travel cost by about eighty percent. Cheng et al. compare spatial algorithms. Goel et al. propose Octopus for cost, quality and time. The base paper CrowdBwO learns worker quality and selects worker sets. None of them is a skilled-worker finder.</a:t>
            </a:r>
            <a:endParaRPr/>
          </a:p>
        </p:txBody>
      </p:sp>
      <p:sp>
        <p:nvSpPr>
          <p:cNvPr id="278" name="Google Shape;278;p2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303" name="Google Shape;30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The problem is to build an intelligent and dynamic worker-assignment system that recommends the most suitable available worker by balancing skill, proximity, quality, time and cost. In simple words, a customer with a leaking tap should not phone many workers one by one. Today the customer describes the problem, calls workers, compares by hand and guesses. The proposed system understands the request, finds nearby free workers, ranks them on six criteria, and learns from every job. Six challenges must be handled: understanding the request, finding the right workers, comparing several criteria, unknown worker quality, changing conditions and fair use of workers.</a:t>
            </a:r>
            <a:endParaRPr/>
          </a:p>
        </p:txBody>
      </p:sp>
      <p:sp>
        <p:nvSpPr>
          <p:cNvPr id="304" name="Google Shape;304;p2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338" name="Google Shape;338;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The aim is to find, rank and recommend the most suitable skilled worker. It is split into six objectives: study AI and recommender systems, analyse the CrowdBwO approach, combine six criteria for ranking, examine location, real-time and cloud support, explore NLP and generative AI for understanding the problem, and study learning from feedback with a fair chance for new workers.</a:t>
            </a:r>
            <a:endParaRPr/>
          </a:p>
        </p:txBody>
      </p:sp>
      <p:sp>
        <p:nvSpPr>
          <p:cNvPr id="339" name="Google Shape;339;p2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361" name="Google Shape;36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The proposed framework has five modules: request understanding, location-based search, real-time availability, the ranking engine and the learning module, all running on a cloud platform. The seminar covers the concept and working of the system. Building a mobile app, payments, legal matters, identity verification, full deployment and the derivation of bandit algorithms are outside the scope.</a:t>
            </a:r>
            <a:endParaRPr/>
          </a:p>
        </p:txBody>
      </p:sp>
      <p:sp>
        <p:nvSpPr>
          <p:cNvPr id="362" name="Google Shape;362;p2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390" name="Google Shape;390;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The architecture is a pipeline of five layers supported by a data and cloud layer. Customer input goes to request understanding, then nearby worker search, then AI ranking and selection with the bandit learner, then recommendation and booking, and finally service and feedback. The feedback loop returns ratings and outcomes to the ranking layer so that later recommendations improve.</a:t>
            </a:r>
            <a:endParaRPr/>
          </a:p>
        </p:txBody>
      </p:sp>
      <p:sp>
        <p:nvSpPr>
          <p:cNvPr id="391" name="Google Shape;391;p2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439" name="Google Shape;439;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Take a customer whose kitchen tap is leaking. The system reads the text and finds the service, plumber, with a sixty minute limit and a budget of eight hundred rupees. It searches a ten kilometre radius, keeps only skilled free workers A, B and C, ranks them, recommends A with B and C as alternatives, and finally stores the rating, time and cost so that the next ranking is better.</a:t>
            </a:r>
            <a:endParaRPr/>
          </a:p>
        </p:txBody>
      </p:sp>
      <p:sp>
        <p:nvSpPr>
          <p:cNvPr id="440" name="Google Shape;440;p2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471" name="Google Shape;471;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Level 0 shows the system as one process with three external entities: customer, worker and location or map service. Level 1 splits it into six processes and two data stores, D1 for worker profiles and D2 for bookings and feedback. Level 2 opens process four, AI ranking, into four steps: build criteria, estimate quality with the bandit, compute the weighted score, and apply limits to select the top worker.</a:t>
            </a:r>
            <a:endParaRPr/>
          </a:p>
        </p:txBody>
      </p:sp>
      <p:sp>
        <p:nvSpPr>
          <p:cNvPr id="472" name="Google Shape;472;p2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523" name="Google Shape;523;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Five algorithms work together. Service classification finds the trade from the text. Haversine geospatial search keeps workers within the radius. Weighted multi-criteria scoring combines skill, distance, time and cost. A multi-armed bandit with an upper confidence bound estimates quality. Constrained selection respects the time and expense limits. The recommendation procedure then runs in nine steps.</a:t>
            </a:r>
            <a:endParaRPr/>
          </a:p>
        </p:txBody>
      </p:sp>
      <p:sp>
        <p:nvSpPr>
          <p:cNvPr id="524" name="Google Shape;524;p2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567" name="Google Shape;56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This slide builds the model step by step, in plain words. Step 1: the system has six parts. Step 2: from the customer's words we pick the most likely service. Step 3: the haversine formula gives the distance between customer and worker on the curved earth. Step 4: only workers who have the skill, are available and are inside the radius stay as candidates. Step 5: distance, time and cost are turned into scores between zero and one, where closer, faster and cheaper is nearer to one.</a:t>
            </a:r>
            <a:endParaRPr/>
          </a:p>
        </p:txBody>
      </p:sp>
      <p:sp>
        <p:nvSpPr>
          <p:cNvPr id="568" name="Google Shape;568;p2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602" name="Google Shape;60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Here we apply the model to the plumber request: radius ten kilometres, time limit sixty minutes, budget eight hundred rupees. The table first shows the raw data of workers A, B and C. Then each value is converted to a number between zero and one: proximity is one minus distance over ten, time is one minus minutes over sixty, cost is one minus rupees over eight hundred. Quality is the mean rating plus the exploration bonus, zero point two zero two over root n.</a:t>
            </a:r>
            <a:endParaRPr/>
          </a:p>
        </p:txBody>
      </p:sp>
      <p:sp>
        <p:nvSpPr>
          <p:cNvPr id="603" name="Google Shape;603;p3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619" name="Google Shape;619;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Six advantages. Less waiting time because only nearby free workers are considered. A better match because the problem text is read and skill match is in the score. A balanced decision because no single factor decides. Learning from feedback improves each worker estimate. New workers get a fair chance through the exploration bonus. And workers are used better, with less idle time and travel.</a:t>
            </a:r>
            <a:endParaRPr/>
          </a:p>
        </p:txBody>
      </p:sp>
      <p:sp>
        <p:nvSpPr>
          <p:cNvPr id="620" name="Google Shape;620;p31: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646" name="Google Shape;646;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Seven limitations. The system depends on correct data. New workers start with no history. Ratings can be fake or biased. Live location raises privacy concerns. The weights and exploration constant must be tuned. A network or server failure stops the service. And if weights favour some features too much, a few workers may get most jobs. The future scope addresses several of these.</a:t>
            </a:r>
            <a:endParaRPr/>
          </a:p>
        </p:txBody>
      </p:sp>
      <p:sp>
        <p:nvSpPr>
          <p:cNvPr id="647" name="Google Shape;647;p3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677" name="Google Shape;677;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Finding a skilled worker by hand is slow. The Smart Worker Finder understands the problem, searches nearby free workers, ranks them with a weighted score and recommends the best one. Using the CrowdBwO idea, quality is estimated from ratings, updated after each job, and new workers still get a chance. The system suits home services, vehicle repair, appliance repair and field dispatch. Its results depend on correct data, honest ratings and sensible weights, and location privacy needs care.</a:t>
            </a:r>
            <a:endParaRPr/>
          </a:p>
        </p:txBody>
      </p:sp>
      <p:sp>
        <p:nvSpPr>
          <p:cNvPr id="678" name="Google Shape;678;p3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706" name="Google Shape;706;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Seven directions. Learn the weights from customer choices. Accept photo, voice and local-language requests. Use real travel time from live traffic. Add fairness and fake-rating detection. Suggest fair prices and allow negotiation. Use the full CrowdBwO worker-set selection for group jobs. And keep location data on the device with a privacy-preserving design.</a:t>
            </a:r>
            <a:endParaRPr/>
          </a:p>
        </p:txBody>
      </p:sp>
      <p:sp>
        <p:nvSpPr>
          <p:cNvPr id="707" name="Google Shape;707;p3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738" name="Google Shape;738;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These are the eight references. Reference one is the base paper on CrowdBwO. References two to five are the related work on bandit-based and spatial crowdsourcing. References six to eight are the supporting literature on bandits, the haversine formula and recommender systems. Thank you. I am happy to take questions.</a:t>
            </a:r>
            <a:endParaRPr/>
          </a:p>
        </p:txBody>
      </p:sp>
      <p:sp>
        <p:nvSpPr>
          <p:cNvPr id="739" name="Google Shape;739;p3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567" name="Google Shape;56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Step 6: quality is the average rating plus an exploration bonus. The bonus is large when a worker has done few jobs, so new workers get a fair chance, and it shrinks as jobs grow; the line chart shows this. Step 7: the score is a weighted sum of the five values; the donut shows the weights used in the example. Step 8: the worker with the highest score is recommended, and after the job the rating updates the average and the job count.</a:t>
            </a:r>
            <a:endParaRPr/>
          </a:p>
        </p:txBody>
      </p:sp>
      <p:sp>
        <p:nvSpPr>
          <p:cNvPr id="568" name="Google Shape;568;p29: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
            <a:headEnd len="sm" w="sm" type="none"/>
            <a:tailEnd len="sm" w="sm" type="none"/>
          </a:ln>
        </p:spPr>
      </p:sp>
      <p:sp>
        <p:nvSpPr>
          <p:cNvPr id="602" name="Google Shape;602;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100000"/>
              </a:lnSpc>
              <a:spcBef>
                <a:spcPts val="0"/>
              </a:spcBef>
              <a:spcAft>
                <a:spcPts val="0"/>
              </a:spcAft>
              <a:buSzPts val="1400"/>
              <a:buNone/>
            </a:pPr>
            <a:r>
              <a:rPr b="0" i="0" lang="en-US" sz="1800" u="none" cap="none" strike="noStrike"/>
              <a:t>Now we compute the score of worker A: weight times value for each criterion, then add. Skill 0.30, proximity 0.2125, quality 0.1874, time 0.1125 and cost 0.0375 add up to 0.850. The bar chart shows the same contributions for all three workers. A is recommended, B is the alternative and C is last. B is closer and cheaper, but A arrives sooner and has a better rating record. After the job, A is rated 0.80, so n becomes 31 and the mean becomes about 0.897.</a:t>
            </a:r>
            <a:endParaRPr/>
          </a:p>
        </p:txBody>
      </p:sp>
      <p:sp>
        <p:nvSpPr>
          <p:cNvPr id="603" name="Google Shape;603;p3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4"/>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575"/>
              </a:spcBef>
              <a:spcAft>
                <a:spcPts val="0"/>
              </a:spcAft>
              <a:buSzPts val="2210"/>
              <a:buNone/>
              <a:defRPr sz="2600">
                <a:solidFill>
                  <a:schemeClr val="dk2"/>
                </a:solidFill>
              </a:defRPr>
            </a:lvl1pPr>
            <a:lvl2pPr lvl="1" algn="ctr">
              <a:lnSpc>
                <a:spcPct val="100000"/>
              </a:lnSpc>
              <a:spcBef>
                <a:spcPts val="375"/>
              </a:spcBef>
              <a:spcAft>
                <a:spcPts val="0"/>
              </a:spcAft>
              <a:buSzPts val="1530"/>
              <a:buNone/>
              <a:defRPr/>
            </a:lvl2pPr>
            <a:lvl3pPr lvl="2" algn="ctr">
              <a:lnSpc>
                <a:spcPct val="100000"/>
              </a:lnSpc>
              <a:spcBef>
                <a:spcPts val="375"/>
              </a:spcBef>
              <a:spcAft>
                <a:spcPts val="0"/>
              </a:spcAft>
              <a:buSzPts val="1530"/>
              <a:buNone/>
              <a:defRPr/>
            </a:lvl3pPr>
            <a:lvl4pPr lvl="3" algn="ctr">
              <a:lnSpc>
                <a:spcPct val="100000"/>
              </a:lnSpc>
              <a:spcBef>
                <a:spcPts val="375"/>
              </a:spcBef>
              <a:spcAft>
                <a:spcPts val="0"/>
              </a:spcAft>
              <a:buSzPts val="1440"/>
              <a:buNone/>
              <a:defRPr/>
            </a:lvl4pPr>
            <a:lvl5pPr lvl="4" algn="ctr">
              <a:lnSpc>
                <a:spcPct val="100000"/>
              </a:lnSpc>
              <a:spcBef>
                <a:spcPts val="375"/>
              </a:spcBef>
              <a:spcAft>
                <a:spcPts val="0"/>
              </a:spcAft>
              <a:buSzPts val="1800"/>
              <a:buNone/>
              <a:defRPr/>
            </a:lvl5pPr>
            <a:lvl6pPr lvl="5" algn="ctr">
              <a:lnSpc>
                <a:spcPct val="100000"/>
              </a:lnSpc>
              <a:spcBef>
                <a:spcPts val="370"/>
              </a:spcBef>
              <a:spcAft>
                <a:spcPts val="0"/>
              </a:spcAft>
              <a:buSzPts val="1800"/>
              <a:buNone/>
              <a:defRPr/>
            </a:lvl6pPr>
            <a:lvl7pPr lvl="6" algn="ctr">
              <a:lnSpc>
                <a:spcPct val="100000"/>
              </a:lnSpc>
              <a:spcBef>
                <a:spcPts val="370"/>
              </a:spcBef>
              <a:spcAft>
                <a:spcPts val="0"/>
              </a:spcAft>
              <a:buSzPts val="1800"/>
              <a:buNone/>
              <a:defRPr/>
            </a:lvl7pPr>
            <a:lvl8pPr lvl="7" algn="ctr">
              <a:lnSpc>
                <a:spcPct val="100000"/>
              </a:lnSpc>
              <a:spcBef>
                <a:spcPts val="370"/>
              </a:spcBef>
              <a:spcAft>
                <a:spcPts val="0"/>
              </a:spcAft>
              <a:buSzPts val="1800"/>
              <a:buNone/>
              <a:defRPr/>
            </a:lvl8pPr>
            <a:lvl9pPr lvl="8" algn="ctr">
              <a:lnSpc>
                <a:spcPct val="100000"/>
              </a:lnSpc>
              <a:spcBef>
                <a:spcPts val="370"/>
              </a:spcBef>
              <a:spcAft>
                <a:spcPts val="0"/>
              </a:spcAft>
              <a:buSzPts val="1800"/>
              <a:buNone/>
              <a:defRPr/>
            </a:lvl9pPr>
          </a:lstStyle>
          <a:p/>
        </p:txBody>
      </p:sp>
      <p:sp>
        <p:nvSpPr>
          <p:cNvPr id="22" name="Google Shape;22;p4"/>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Autofit/>
          </a:bodyPr>
          <a:lstStyle>
            <a:lvl1pPr lvl="0" algn="ctr">
              <a:lnSpc>
                <a:spcPct val="100000"/>
              </a:lnSpc>
              <a:spcBef>
                <a:spcPts val="0"/>
              </a:spcBef>
              <a:spcAft>
                <a:spcPts val="0"/>
              </a:spcAft>
              <a:buSzPts val="1400"/>
              <a:buNone/>
              <a:defRPr>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4" name="Shape 34"/>
        <p:cNvGrpSpPr/>
        <p:nvPr/>
      </p:nvGrpSpPr>
      <p:grpSpPr>
        <a:xfrm>
          <a:off x="0" y="0"/>
          <a:ext cx="0" cy="0"/>
          <a:chOff x="0" y="0"/>
          <a:chExt cx="0" cy="0"/>
        </a:xfrm>
      </p:grpSpPr>
      <p:sp>
        <p:nvSpPr>
          <p:cNvPr id="35" name="Google Shape;35;p6"/>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37" name="Google Shape;37;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40" name="Shape 40"/>
        <p:cNvGrpSpPr/>
        <p:nvPr/>
      </p:nvGrpSpPr>
      <p:grpSpPr>
        <a:xfrm>
          <a:off x="0" y="0"/>
          <a:ext cx="0" cy="0"/>
          <a:chOff x="0" y="0"/>
          <a:chExt cx="0" cy="0"/>
        </a:xfrm>
      </p:grpSpPr>
      <p:sp>
        <p:nvSpPr>
          <p:cNvPr id="41" name="Google Shape;41;p7"/>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43" name="Google Shape;43;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46" name="Shape 46"/>
        <p:cNvGrpSpPr/>
        <p:nvPr/>
      </p:nvGrpSpPr>
      <p:grpSpPr>
        <a:xfrm>
          <a:off x="0" y="0"/>
          <a:ext cx="0" cy="0"/>
          <a:chOff x="0" y="0"/>
          <a:chExt cx="0" cy="0"/>
        </a:xfrm>
      </p:grpSpPr>
      <p:sp>
        <p:nvSpPr>
          <p:cNvPr id="47" name="Google Shape;47;p8"/>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49" name="Google Shape;49;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9"/>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10"/>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0"/>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11"/>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75"/>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5"/>
              </a:spcBef>
              <a:spcAft>
                <a:spcPts val="0"/>
              </a:spcAft>
              <a:buSzPts val="1700"/>
              <a:buNone/>
              <a:defRPr b="1" sz="2000"/>
            </a:lvl2pPr>
            <a:lvl3pPr indent="-228600" lvl="2" marL="1371600" algn="l">
              <a:lnSpc>
                <a:spcPct val="100000"/>
              </a:lnSpc>
              <a:spcBef>
                <a:spcPts val="375"/>
              </a:spcBef>
              <a:spcAft>
                <a:spcPts val="0"/>
              </a:spcAft>
              <a:buSzPts val="1530"/>
              <a:buNone/>
              <a:defRPr b="1" sz="1800"/>
            </a:lvl3pPr>
            <a:lvl4pPr indent="-228600" lvl="3" marL="1828800" algn="l">
              <a:lnSpc>
                <a:spcPct val="100000"/>
              </a:lnSpc>
              <a:spcBef>
                <a:spcPts val="375"/>
              </a:spcBef>
              <a:spcAft>
                <a:spcPts val="0"/>
              </a:spcAft>
              <a:buSzPts val="1280"/>
              <a:buNone/>
              <a:defRPr b="1" sz="1600"/>
            </a:lvl4pPr>
            <a:lvl5pPr indent="-228600" lvl="4" marL="2286000" algn="l">
              <a:lnSpc>
                <a:spcPct val="100000"/>
              </a:lnSpc>
              <a:spcBef>
                <a:spcPts val="375"/>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4" name="Google Shape;64;p11"/>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75"/>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lnSpc>
                <a:spcPct val="100000"/>
              </a:lnSpc>
              <a:spcBef>
                <a:spcPts val="375"/>
              </a:spcBef>
              <a:spcAft>
                <a:spcPts val="0"/>
              </a:spcAft>
              <a:buSzPts val="1700"/>
              <a:buNone/>
              <a:defRPr b="1" sz="2000"/>
            </a:lvl2pPr>
            <a:lvl3pPr indent="-228600" lvl="2" marL="1371600" algn="l">
              <a:lnSpc>
                <a:spcPct val="100000"/>
              </a:lnSpc>
              <a:spcBef>
                <a:spcPts val="375"/>
              </a:spcBef>
              <a:spcAft>
                <a:spcPts val="0"/>
              </a:spcAft>
              <a:buSzPts val="1530"/>
              <a:buNone/>
              <a:defRPr b="1" sz="1800"/>
            </a:lvl3pPr>
            <a:lvl4pPr indent="-228600" lvl="3" marL="1828800" algn="l">
              <a:lnSpc>
                <a:spcPct val="100000"/>
              </a:lnSpc>
              <a:spcBef>
                <a:spcPts val="375"/>
              </a:spcBef>
              <a:spcAft>
                <a:spcPts val="0"/>
              </a:spcAft>
              <a:buSzPts val="1280"/>
              <a:buNone/>
              <a:defRPr b="1" sz="1600"/>
            </a:lvl4pPr>
            <a:lvl5pPr indent="-228600" lvl="4" marL="2286000" algn="l">
              <a:lnSpc>
                <a:spcPct val="100000"/>
              </a:lnSpc>
              <a:spcBef>
                <a:spcPts val="375"/>
              </a:spcBef>
              <a:spcAft>
                <a:spcPts val="0"/>
              </a:spcAft>
              <a:buSzPts val="1600"/>
              <a:buFont typeface="Libre Baskerville"/>
              <a:buNone/>
              <a:defRPr b="1" sz="16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5" name="Google Shape;65;p11"/>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6" name="Google Shape;66;p11"/>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67" name="Google Shape;67;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1"/>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0" name="Shape 70"/>
        <p:cNvGrpSpPr/>
        <p:nvPr/>
      </p:nvGrpSpPr>
      <p:grpSpPr>
        <a:xfrm>
          <a:off x="0" y="0"/>
          <a:ext cx="0" cy="0"/>
          <a:chOff x="0" y="0"/>
          <a:chExt cx="0" cy="0"/>
        </a:xfrm>
      </p:grpSpPr>
      <p:sp>
        <p:nvSpPr>
          <p:cNvPr id="71" name="Google Shape;71;p12"/>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2"/>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73" name="Google Shape;73;p12"/>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74" name="Google Shape;74;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8" name="Shape 88"/>
        <p:cNvGrpSpPr/>
        <p:nvPr/>
      </p:nvGrpSpPr>
      <p:grpSpPr>
        <a:xfrm>
          <a:off x="0" y="0"/>
          <a:ext cx="0" cy="0"/>
          <a:chOff x="0" y="0"/>
          <a:chExt cx="0" cy="0"/>
        </a:xfrm>
      </p:grpSpPr>
      <p:sp>
        <p:nvSpPr>
          <p:cNvPr id="89" name="Google Shape;89;p14"/>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Clr>
                <a:schemeClr val="dk2"/>
              </a:buClr>
              <a:buSzPts val="4000"/>
              <a:buFont typeface="Libre Franklin"/>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4"/>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575"/>
              </a:spcBef>
              <a:spcAft>
                <a:spcPts val="0"/>
              </a:spcAft>
              <a:buSzPts val="2040"/>
              <a:buNone/>
              <a:defRPr sz="2400">
                <a:solidFill>
                  <a:srgbClr val="888888"/>
                </a:solidFill>
              </a:defRPr>
            </a:lvl1pPr>
            <a:lvl2pPr indent="-228600" lvl="1" marL="914400" algn="l">
              <a:lnSpc>
                <a:spcPct val="100000"/>
              </a:lnSpc>
              <a:spcBef>
                <a:spcPts val="375"/>
              </a:spcBef>
              <a:spcAft>
                <a:spcPts val="0"/>
              </a:spcAft>
              <a:buSzPts val="1530"/>
              <a:buNone/>
              <a:defRPr sz="1800">
                <a:solidFill>
                  <a:srgbClr val="888888"/>
                </a:solidFill>
              </a:defRPr>
            </a:lvl2pPr>
            <a:lvl3pPr indent="-228600" lvl="2" marL="1371600" algn="l">
              <a:lnSpc>
                <a:spcPct val="100000"/>
              </a:lnSpc>
              <a:spcBef>
                <a:spcPts val="375"/>
              </a:spcBef>
              <a:spcAft>
                <a:spcPts val="0"/>
              </a:spcAft>
              <a:buSzPts val="1360"/>
              <a:buNone/>
              <a:defRPr sz="1600">
                <a:solidFill>
                  <a:srgbClr val="888888"/>
                </a:solidFill>
              </a:defRPr>
            </a:lvl3pPr>
            <a:lvl4pPr indent="-228600" lvl="3" marL="1828800" algn="l">
              <a:lnSpc>
                <a:spcPct val="100000"/>
              </a:lnSpc>
              <a:spcBef>
                <a:spcPts val="375"/>
              </a:spcBef>
              <a:spcAft>
                <a:spcPts val="0"/>
              </a:spcAft>
              <a:buSzPts val="1120"/>
              <a:buNone/>
              <a:defRPr sz="1400">
                <a:solidFill>
                  <a:srgbClr val="888888"/>
                </a:solidFill>
              </a:defRPr>
            </a:lvl4pPr>
            <a:lvl5pPr indent="-228600" lvl="4" marL="2286000" algn="l">
              <a:lnSpc>
                <a:spcPct val="100000"/>
              </a:lnSpc>
              <a:spcBef>
                <a:spcPts val="375"/>
              </a:spcBef>
              <a:spcAft>
                <a:spcPts val="0"/>
              </a:spcAft>
              <a:buSzPts val="1400"/>
              <a:buFont typeface="Libre Baskerville"/>
              <a:buNone/>
              <a:defRPr sz="1400">
                <a:solidFill>
                  <a:srgbClr val="888888"/>
                </a:solidFill>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91" name="Google Shape;91;p14"/>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4"/>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4"/>
          <p:cNvSpPr/>
          <p:nvPr>
            <p:ph idx="12" type="sldNum"/>
          </p:nvPr>
        </p:nvSpPr>
        <p:spPr>
          <a:xfrm>
            <a:off x="146050" y="6208712"/>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4" name="Shape 104"/>
        <p:cNvGrpSpPr/>
        <p:nvPr/>
      </p:nvGrpSpPr>
      <p:grpSpPr>
        <a:xfrm>
          <a:off x="0" y="0"/>
          <a:ext cx="0" cy="0"/>
          <a:chOff x="0" y="0"/>
          <a:chExt cx="0" cy="0"/>
        </a:xfrm>
      </p:grpSpPr>
      <p:sp>
        <p:nvSpPr>
          <p:cNvPr id="105" name="Google Shape;105;p16"/>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Autofit/>
          </a:bodyPr>
          <a:lstStyle>
            <a:lvl1pPr lvl="0" algn="l">
              <a:lnSpc>
                <a:spcPct val="100000"/>
              </a:lnSpc>
              <a:spcBef>
                <a:spcPts val="0"/>
              </a:spcBef>
              <a:spcAft>
                <a:spcPts val="0"/>
              </a:spcAft>
              <a:buClr>
                <a:schemeClr val="dk2"/>
              </a:buClr>
              <a:buSzPts val="4000"/>
              <a:buFont typeface="Libre Franklin"/>
              <a:buNone/>
              <a:defRPr b="0"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6"/>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575"/>
              </a:spcBef>
              <a:spcAft>
                <a:spcPts val="0"/>
              </a:spcAft>
              <a:buSzPts val="1530"/>
              <a:buNone/>
              <a:defRPr sz="1800"/>
            </a:lvl1pPr>
            <a:lvl2pPr indent="-228600" lvl="1" marL="914400" algn="l">
              <a:lnSpc>
                <a:spcPct val="100000"/>
              </a:lnSpc>
              <a:spcBef>
                <a:spcPts val="375"/>
              </a:spcBef>
              <a:spcAft>
                <a:spcPts val="0"/>
              </a:spcAft>
              <a:buSzPts val="1020"/>
              <a:buNone/>
              <a:defRPr sz="1200"/>
            </a:lvl2pPr>
            <a:lvl3pPr indent="-228600" lvl="2" marL="1371600" algn="l">
              <a:lnSpc>
                <a:spcPct val="100000"/>
              </a:lnSpc>
              <a:spcBef>
                <a:spcPts val="375"/>
              </a:spcBef>
              <a:spcAft>
                <a:spcPts val="0"/>
              </a:spcAft>
              <a:buSzPts val="850"/>
              <a:buNone/>
              <a:defRPr sz="1000"/>
            </a:lvl3pPr>
            <a:lvl4pPr indent="-228600" lvl="3" marL="1828800" algn="l">
              <a:lnSpc>
                <a:spcPct val="100000"/>
              </a:lnSpc>
              <a:spcBef>
                <a:spcPts val="375"/>
              </a:spcBef>
              <a:spcAft>
                <a:spcPts val="0"/>
              </a:spcAft>
              <a:buSzPts val="720"/>
              <a:buNone/>
              <a:defRPr sz="900"/>
            </a:lvl4pPr>
            <a:lvl5pPr indent="-228600" lvl="4" marL="2286000" algn="l">
              <a:lnSpc>
                <a:spcPct val="100000"/>
              </a:lnSpc>
              <a:spcBef>
                <a:spcPts val="375"/>
              </a:spcBef>
              <a:spcAft>
                <a:spcPts val="0"/>
              </a:spcAft>
              <a:buSzPts val="900"/>
              <a:buFont typeface="Libre Baskerville"/>
              <a:buNone/>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07" name="Google Shape;107;p16"/>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Autofit/>
          </a:bodyPr>
          <a:lstStyle>
            <a:lvl1pPr indent="-325755" lvl="0" marL="457200" algn="l">
              <a:lnSpc>
                <a:spcPct val="100000"/>
              </a:lnSpc>
              <a:spcBef>
                <a:spcPts val="575"/>
              </a:spcBef>
              <a:spcAft>
                <a:spcPts val="0"/>
              </a:spcAft>
              <a:buSzPts val="1530"/>
              <a:buChar char="⚫"/>
              <a:defRPr/>
            </a:lvl1pPr>
            <a:lvl2pPr indent="-325755" lvl="1" marL="914400" algn="l">
              <a:lnSpc>
                <a:spcPct val="100000"/>
              </a:lnSpc>
              <a:spcBef>
                <a:spcPts val="375"/>
              </a:spcBef>
              <a:spcAft>
                <a:spcPts val="0"/>
              </a:spcAft>
              <a:buSzPts val="1530"/>
              <a:buChar char="⚫"/>
              <a:defRPr/>
            </a:lvl2pPr>
            <a:lvl3pPr indent="-325755" lvl="2" marL="1371600" algn="l">
              <a:lnSpc>
                <a:spcPct val="100000"/>
              </a:lnSpc>
              <a:spcBef>
                <a:spcPts val="375"/>
              </a:spcBef>
              <a:spcAft>
                <a:spcPts val="0"/>
              </a:spcAft>
              <a:buSzPts val="1530"/>
              <a:buChar char="⚫"/>
              <a:defRPr/>
            </a:lvl3pPr>
            <a:lvl4pPr indent="-320040" lvl="3" marL="1828800" algn="l">
              <a:lnSpc>
                <a:spcPct val="100000"/>
              </a:lnSpc>
              <a:spcBef>
                <a:spcPts val="375"/>
              </a:spcBef>
              <a:spcAft>
                <a:spcPts val="0"/>
              </a:spcAft>
              <a:buSzPts val="1440"/>
              <a:buChar char="⚫"/>
              <a:defRPr/>
            </a:lvl4pPr>
            <a:lvl5pPr indent="-342900" lvl="4" marL="2286000" algn="l">
              <a:lnSpc>
                <a:spcPct val="100000"/>
              </a:lnSpc>
              <a:spcBef>
                <a:spcPts val="375"/>
              </a:spcBef>
              <a:spcAft>
                <a:spcPts val="0"/>
              </a:spcAft>
              <a:buSzPts val="1800"/>
              <a:buChar char="o"/>
              <a:defRPr/>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08" name="Google Shape;108;p1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16"/>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6"/>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2" name="Shape 122"/>
        <p:cNvGrpSpPr/>
        <p:nvPr/>
      </p:nvGrpSpPr>
      <p:grpSpPr>
        <a:xfrm>
          <a:off x="0" y="0"/>
          <a:ext cx="0" cy="0"/>
          <a:chOff x="0" y="0"/>
          <a:chExt cx="0" cy="0"/>
        </a:xfrm>
      </p:grpSpPr>
      <p:sp>
        <p:nvSpPr>
          <p:cNvPr id="123" name="Google Shape;123;p18"/>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lnSpc>
                <a:spcPct val="100000"/>
              </a:lnSpc>
              <a:spcBef>
                <a:spcPts val="0"/>
              </a:spcBef>
              <a:spcAft>
                <a:spcPts val="0"/>
              </a:spcAft>
              <a:buClr>
                <a:schemeClr val="dk2"/>
              </a:buClr>
              <a:buSzPts val="2800"/>
              <a:buFont typeface="Libre Franklin"/>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8"/>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575"/>
              </a:spcBef>
              <a:spcAft>
                <a:spcPts val="0"/>
              </a:spcAft>
              <a:buSzPts val="1360"/>
              <a:buFont typeface="Libre Baskerville"/>
              <a:buNone/>
              <a:defRPr sz="1600"/>
            </a:lvl1pPr>
            <a:lvl2pPr indent="-293370" lvl="1" marL="914400" algn="l">
              <a:lnSpc>
                <a:spcPct val="100000"/>
              </a:lnSpc>
              <a:spcBef>
                <a:spcPts val="375"/>
              </a:spcBef>
              <a:spcAft>
                <a:spcPts val="0"/>
              </a:spcAft>
              <a:buSzPts val="1020"/>
              <a:buChar char="⚫"/>
              <a:defRPr sz="1200"/>
            </a:lvl2pPr>
            <a:lvl3pPr indent="-282575" lvl="2" marL="1371600" algn="l">
              <a:lnSpc>
                <a:spcPct val="100000"/>
              </a:lnSpc>
              <a:spcBef>
                <a:spcPts val="375"/>
              </a:spcBef>
              <a:spcAft>
                <a:spcPts val="0"/>
              </a:spcAft>
              <a:buSzPts val="850"/>
              <a:buChar char="⚫"/>
              <a:defRPr sz="1000"/>
            </a:lvl3pPr>
            <a:lvl4pPr indent="-274320" lvl="3" marL="1828800" algn="l">
              <a:lnSpc>
                <a:spcPct val="100000"/>
              </a:lnSpc>
              <a:spcBef>
                <a:spcPts val="375"/>
              </a:spcBef>
              <a:spcAft>
                <a:spcPts val="0"/>
              </a:spcAft>
              <a:buSzPts val="720"/>
              <a:buChar char="⚫"/>
              <a:defRPr sz="900"/>
            </a:lvl4pPr>
            <a:lvl5pPr indent="-285750" lvl="4" marL="2286000" algn="l">
              <a:lnSpc>
                <a:spcPct val="100000"/>
              </a:lnSpc>
              <a:spcBef>
                <a:spcPts val="375"/>
              </a:spcBef>
              <a:spcAft>
                <a:spcPts val="0"/>
              </a:spcAft>
              <a:buSzPts val="900"/>
              <a:buFont typeface="Libre Baskerville"/>
              <a:buChar char="o"/>
              <a:defRPr sz="900"/>
            </a:lvl5pPr>
            <a:lvl6pPr indent="-342900" lvl="5" marL="2743200" algn="l">
              <a:lnSpc>
                <a:spcPct val="100000"/>
              </a:lnSpc>
              <a:spcBef>
                <a:spcPts val="370"/>
              </a:spcBef>
              <a:spcAft>
                <a:spcPts val="0"/>
              </a:spcAft>
              <a:buSzPts val="1800"/>
              <a:buChar char="•"/>
              <a:defRPr/>
            </a:lvl6pPr>
            <a:lvl7pPr indent="-342900" lvl="6" marL="3200400" algn="l">
              <a:lnSpc>
                <a:spcPct val="100000"/>
              </a:lnSpc>
              <a:spcBef>
                <a:spcPts val="370"/>
              </a:spcBef>
              <a:spcAft>
                <a:spcPts val="0"/>
              </a:spcAft>
              <a:buSzPts val="1800"/>
              <a:buChar char="•"/>
              <a:defRPr/>
            </a:lvl7pPr>
            <a:lvl8pPr indent="-342900" lvl="7" marL="3657600" algn="l">
              <a:lnSpc>
                <a:spcPct val="100000"/>
              </a:lnSpc>
              <a:spcBef>
                <a:spcPts val="370"/>
              </a:spcBef>
              <a:spcAft>
                <a:spcPts val="0"/>
              </a:spcAft>
              <a:buSzPts val="1800"/>
              <a:buChar char="•"/>
              <a:defRPr/>
            </a:lvl8pPr>
            <a:lvl9pPr indent="-342900" lvl="8" marL="4114800" algn="l">
              <a:lnSpc>
                <a:spcPct val="100000"/>
              </a:lnSpc>
              <a:spcBef>
                <a:spcPts val="370"/>
              </a:spcBef>
              <a:spcAft>
                <a:spcPts val="0"/>
              </a:spcAft>
              <a:buSzPts val="1800"/>
              <a:buChar char="•"/>
              <a:defRPr/>
            </a:lvl9pPr>
          </a:lstStyle>
          <a:p/>
        </p:txBody>
      </p:sp>
      <p:sp>
        <p:nvSpPr>
          <p:cNvPr id="125" name="Google Shape;125;p18"/>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
        <p:nvSpPr>
          <p:cNvPr id="126" name="Google Shape;126;p1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18"/>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400">
                <a:solidFill>
                  <a:schemeClr val="dk2"/>
                </a:solidFill>
                <a:latin typeface="Libre Baskerville"/>
                <a:ea typeface="Libre Baskerville"/>
                <a:cs typeface="Libre Baskerville"/>
                <a:sym typeface="Libre Baskervill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18"/>
          <p:cNvSpPr/>
          <p:nvPr>
            <p:ph idx="12" type="sldNum"/>
          </p:nvPr>
        </p:nvSpPr>
        <p:spPr>
          <a:xfrm>
            <a:off x="146050" y="6208712"/>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theme" Target="../theme/theme4.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9.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3"/>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 name="Google Shape;11;p3"/>
          <p:cNvSpPr/>
          <p:nvPr/>
        </p:nvSpPr>
        <p:spPr>
          <a:xfrm>
            <a:off x="65087" y="69850"/>
            <a:ext cx="9013825" cy="6691312"/>
          </a:xfrm>
          <a:prstGeom prst="roundRect">
            <a:avLst>
              <a:gd fmla="val 1065" name="adj"/>
            </a:avLst>
          </a:prstGeom>
          <a:blipFill rotWithShape="1">
            <a:blip r:embed="rId1">
              <a:alphaModFix/>
            </a:blip>
            <a:stretch>
              <a:fillRect b="0" l="0" r="0" t="0"/>
            </a:stretch>
          </a:blipFill>
          <a:ln cap="sq"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 name="Google Shape;12;p3"/>
          <p:cNvSpPr txBox="1"/>
          <p:nvPr/>
        </p:nvSpPr>
        <p:spPr>
          <a:xfrm>
            <a:off x="63500" y="1449387"/>
            <a:ext cx="9020175" cy="15271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 name="Google Shape;13;p3"/>
          <p:cNvSpPr txBox="1"/>
          <p:nvPr/>
        </p:nvSpPr>
        <p:spPr>
          <a:xfrm>
            <a:off x="63500" y="1397000"/>
            <a:ext cx="9020175" cy="120650"/>
          </a:xfrm>
          <a:prstGeom prst="rect">
            <a:avLst/>
          </a:prstGeom>
          <a:solidFill>
            <a:srgbClr val="E6B1A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 name="Google Shape;14;p3"/>
          <p:cNvSpPr txBox="1"/>
          <p:nvPr/>
        </p:nvSpPr>
        <p:spPr>
          <a:xfrm>
            <a:off x="63500" y="2976562"/>
            <a:ext cx="9020175" cy="111125"/>
          </a:xfrm>
          <a:prstGeom prst="rect">
            <a:avLst/>
          </a:prstGeom>
          <a:solidFill>
            <a:srgbClr val="91848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 name="Google Shape;15;p3"/>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9pPr>
          </a:lstStyle>
          <a:p/>
        </p:txBody>
      </p:sp>
      <p:sp>
        <p:nvSpPr>
          <p:cNvPr id="16" name="Google Shape;16;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lnSpc>
                <a:spcPct val="100000"/>
              </a:lnSpc>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7" name="Google Shape;17;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8" name="Google Shape;18;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9" name="Google Shape;19;p3"/>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 name="Shape 26"/>
        <p:cNvGrpSpPr/>
        <p:nvPr/>
      </p:nvGrpSpPr>
      <p:grpSpPr>
        <a:xfrm>
          <a:off x="0" y="0"/>
          <a:ext cx="0" cy="0"/>
          <a:chOff x="0" y="0"/>
          <a:chExt cx="0" cy="0"/>
        </a:xfrm>
      </p:grpSpPr>
      <p:sp>
        <p:nvSpPr>
          <p:cNvPr id="27" name="Google Shape;27;p5"/>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 name="Google Shape;28;p5"/>
          <p:cNvSpPr/>
          <p:nvPr/>
        </p:nvSpPr>
        <p:spPr>
          <a:xfrm>
            <a:off x="63500" y="69850"/>
            <a:ext cx="9013825" cy="6692900"/>
          </a:xfrm>
          <a:prstGeom prst="roundRect">
            <a:avLst>
              <a:gd fmla="val 1065" name="adj"/>
            </a:avLst>
          </a:prstGeom>
          <a:solidFill>
            <a:schemeClr val="lt1"/>
          </a:solidFill>
          <a:ln cap="sq"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 name="Google Shape;29;p5"/>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9pPr>
          </a:lstStyle>
          <a:p/>
        </p:txBody>
      </p:sp>
      <p:sp>
        <p:nvSpPr>
          <p:cNvPr id="30" name="Google Shape;30;p5"/>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lnSpc>
                <a:spcPct val="100000"/>
              </a:lnSpc>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31" name="Google Shape;31;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2" name="Google Shape;32;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3" name="Google Shape;33;p5"/>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77" name="Shape 77"/>
        <p:cNvGrpSpPr/>
        <p:nvPr/>
      </p:nvGrpSpPr>
      <p:grpSpPr>
        <a:xfrm>
          <a:off x="0" y="0"/>
          <a:ext cx="0" cy="0"/>
          <a:chOff x="0" y="0"/>
          <a:chExt cx="0" cy="0"/>
        </a:xfrm>
      </p:grpSpPr>
      <p:sp>
        <p:nvSpPr>
          <p:cNvPr id="78" name="Google Shape;78;p13"/>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 name="Google Shape;79;p13"/>
          <p:cNvSpPr/>
          <p:nvPr/>
        </p:nvSpPr>
        <p:spPr>
          <a:xfrm>
            <a:off x="65313" y="69755"/>
            <a:ext cx="9013372" cy="6692201"/>
          </a:xfrm>
          <a:prstGeom prst="roundRect">
            <a:avLst>
              <a:gd fmla="val 4929" name="adj"/>
            </a:avLst>
          </a:prstGeom>
          <a:blipFill rotWithShape="1">
            <a:blip r:embed="rId1">
              <a:alphaModFix/>
            </a:blip>
            <a:stretch>
              <a:fillRect b="0" l="0" r="0" t="0"/>
            </a:stretch>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80" name="Google Shape;80;p13"/>
          <p:cNvSpPr txBox="1"/>
          <p:nvPr/>
        </p:nvSpPr>
        <p:spPr>
          <a:xfrm flipH="1" rot="10800000">
            <a:off x="69850" y="2376487"/>
            <a:ext cx="901382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 name="Google Shape;81;p13"/>
          <p:cNvSpPr txBox="1"/>
          <p:nvPr/>
        </p:nvSpPr>
        <p:spPr>
          <a:xfrm>
            <a:off x="69850" y="2341562"/>
            <a:ext cx="9013825" cy="46037"/>
          </a:xfrm>
          <a:prstGeom prst="rect">
            <a:avLst/>
          </a:prstGeom>
          <a:solidFill>
            <a:srgbClr val="E6B1A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2" name="Google Shape;82;p13"/>
          <p:cNvSpPr txBox="1"/>
          <p:nvPr/>
        </p:nvSpPr>
        <p:spPr>
          <a:xfrm>
            <a:off x="68262" y="2468562"/>
            <a:ext cx="9015412" cy="46037"/>
          </a:xfrm>
          <a:prstGeom prst="rect">
            <a:avLst/>
          </a:prstGeom>
          <a:solidFill>
            <a:srgbClr val="91848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3" name="Google Shape;83;p13"/>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9pPr>
          </a:lstStyle>
          <a:p/>
        </p:txBody>
      </p:sp>
      <p:sp>
        <p:nvSpPr>
          <p:cNvPr id="84" name="Google Shape;84;p1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lnSpc>
                <a:spcPct val="100000"/>
              </a:lnSpc>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85" name="Google Shape;8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6" name="Google Shape;86;p13"/>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7" name="Google Shape;87;p13"/>
          <p:cNvSpPr/>
          <p:nvPr>
            <p:ph idx="12" type="sldNum"/>
          </p:nvPr>
        </p:nvSpPr>
        <p:spPr>
          <a:xfrm>
            <a:off x="146050" y="6208712"/>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5"/>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6" name="Google Shape;96;p15"/>
          <p:cNvSpPr/>
          <p:nvPr/>
        </p:nvSpPr>
        <p:spPr>
          <a:xfrm>
            <a:off x="63500" y="69850"/>
            <a:ext cx="9013825" cy="6692900"/>
          </a:xfrm>
          <a:prstGeom prst="roundRect">
            <a:avLst>
              <a:gd fmla="val 1065" name="adj"/>
            </a:avLst>
          </a:prstGeom>
          <a:solidFill>
            <a:schemeClr val="lt1"/>
          </a:solidFill>
          <a:ln cap="sq"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 name="Google Shape;97;p15"/>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8" name="Google Shape;98;p15"/>
          <p:cNvSpPr/>
          <p:nvPr/>
        </p:nvSpPr>
        <p:spPr>
          <a:xfrm>
            <a:off x="63500" y="69850"/>
            <a:ext cx="9013825" cy="6692900"/>
          </a:xfrm>
          <a:prstGeom prst="roundRect">
            <a:avLst>
              <a:gd fmla="val 1065" name="adj"/>
            </a:avLst>
          </a:prstGeom>
          <a:solidFill>
            <a:schemeClr val="lt1"/>
          </a:solidFill>
          <a:ln cap="sq"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9" name="Google Shape;99;p15"/>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9pPr>
          </a:lstStyle>
          <a:p/>
        </p:txBody>
      </p:sp>
      <p:sp>
        <p:nvSpPr>
          <p:cNvPr id="100" name="Google Shape;100;p15"/>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lnSpc>
                <a:spcPct val="100000"/>
              </a:lnSpc>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01" name="Google Shape;101;p1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2" name="Google Shape;102;p1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3" name="Google Shape;103;p15"/>
          <p:cNvSpPr/>
          <p:nvPr>
            <p:ph idx="12" type="sldNum"/>
          </p:nvPr>
        </p:nvSpPr>
        <p:spPr>
          <a:xfrm>
            <a:off x="146050"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 name="Shape 111"/>
        <p:cNvGrpSpPr/>
        <p:nvPr/>
      </p:nvGrpSpPr>
      <p:grpSpPr>
        <a:xfrm>
          <a:off x="0" y="0"/>
          <a:ext cx="0" cy="0"/>
          <a:chOff x="0" y="0"/>
          <a:chExt cx="0" cy="0"/>
        </a:xfrm>
      </p:grpSpPr>
      <p:sp>
        <p:nvSpPr>
          <p:cNvPr id="112" name="Google Shape;112;p17"/>
          <p:cNvSpPr txBox="1"/>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3" name="Google Shape;113;p17"/>
          <p:cNvSpPr/>
          <p:nvPr/>
        </p:nvSpPr>
        <p:spPr>
          <a:xfrm>
            <a:off x="63500" y="69850"/>
            <a:ext cx="9013825" cy="6692900"/>
          </a:xfrm>
          <a:prstGeom prst="roundRect">
            <a:avLst>
              <a:gd fmla="val 1065" name="adj"/>
            </a:avLst>
          </a:prstGeom>
          <a:solidFill>
            <a:schemeClr val="lt1"/>
          </a:solidFill>
          <a:ln cap="sq" cmpd="sng" w="9525">
            <a:solidFill>
              <a:schemeClr val="dk1"/>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 name="Google Shape;114;p17"/>
          <p:cNvSpPr txBox="1"/>
          <p:nvPr/>
        </p:nvSpPr>
        <p:spPr>
          <a:xfrm flipH="1" rot="10800000">
            <a:off x="68262" y="4683125"/>
            <a:ext cx="9007475" cy="92075"/>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 name="Google Shape;115;p17"/>
          <p:cNvSpPr txBox="1"/>
          <p:nvPr/>
        </p:nvSpPr>
        <p:spPr>
          <a:xfrm>
            <a:off x="68262" y="4649787"/>
            <a:ext cx="9007475" cy="46037"/>
          </a:xfrm>
          <a:prstGeom prst="rect">
            <a:avLst/>
          </a:prstGeom>
          <a:solidFill>
            <a:srgbClr val="E6B1AB"/>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 name="Google Shape;116;p17"/>
          <p:cNvSpPr txBox="1"/>
          <p:nvPr/>
        </p:nvSpPr>
        <p:spPr>
          <a:xfrm>
            <a:off x="68262" y="4773612"/>
            <a:ext cx="9007475" cy="47625"/>
          </a:xfrm>
          <a:prstGeom prst="rect">
            <a:avLst/>
          </a:prstGeom>
          <a:solidFill>
            <a:srgbClr val="918485"/>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7" name="Google Shape;117;p17"/>
          <p:cNvSpPr txBox="1"/>
          <p:nvPr>
            <p:ph type="title"/>
          </p:nvPr>
        </p:nvSpPr>
        <p:spPr>
          <a:xfrm>
            <a:off x="914400" y="274637"/>
            <a:ext cx="7772400" cy="1143000"/>
          </a:xfrm>
          <a:prstGeom prst="rect">
            <a:avLst/>
          </a:prstGeom>
          <a:noFill/>
          <a:ln>
            <a:noFill/>
          </a:ln>
        </p:spPr>
        <p:txBody>
          <a:bodyPr anchorCtr="0" anchor="b" bIns="91425"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1pPr>
            <a:lvl2pPr lvl="1"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2pPr>
            <a:lvl3pPr lvl="2"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3pPr>
            <a:lvl4pPr lvl="3"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4pPr>
            <a:lvl5pPr lvl="4"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5pPr>
            <a:lvl6pPr lvl="5"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6pPr>
            <a:lvl7pPr lvl="6"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7pPr>
            <a:lvl8pPr lvl="7"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8pPr>
            <a:lvl9pPr lvl="8" marR="0" rtl="0" algn="l">
              <a:lnSpc>
                <a:spcPct val="100000"/>
              </a:lnSpc>
              <a:spcBef>
                <a:spcPts val="0"/>
              </a:spcBef>
              <a:spcAft>
                <a:spcPts val="0"/>
              </a:spcAft>
              <a:buClr>
                <a:srgbClr val="000000"/>
              </a:buClr>
              <a:buSzPts val="1400"/>
              <a:buFont typeface="Arial"/>
              <a:buNone/>
              <a:defRPr b="0" i="0" sz="4000" u="none" cap="none" strike="noStrike">
                <a:solidFill>
                  <a:schemeClr val="dk2"/>
                </a:solidFill>
                <a:latin typeface="Libre Franklin"/>
                <a:ea typeface="Libre Franklin"/>
                <a:cs typeface="Libre Franklin"/>
                <a:sym typeface="Libre Franklin"/>
              </a:defRPr>
            </a:lvl9pPr>
          </a:lstStyle>
          <a:p/>
        </p:txBody>
      </p:sp>
      <p:sp>
        <p:nvSpPr>
          <p:cNvPr id="118" name="Google Shape;118;p17"/>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Autofit/>
          </a:bodyPr>
          <a:lstStyle>
            <a:lvl1pPr indent="-368935" lvl="0" marL="457200" marR="0" rtl="0" algn="l">
              <a:lnSpc>
                <a:spcPct val="100000"/>
              </a:lnSpc>
              <a:spcBef>
                <a:spcPts val="575"/>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lnSpc>
                <a:spcPct val="100000"/>
              </a:lnSpc>
              <a:spcBef>
                <a:spcPts val="375"/>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lnSpc>
                <a:spcPct val="100000"/>
              </a:lnSpc>
              <a:spcBef>
                <a:spcPts val="375"/>
              </a:spcBef>
              <a:spcAft>
                <a:spcPts val="0"/>
              </a:spcAft>
              <a:buClr>
                <a:srgbClr val="E6B1AB"/>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lnSpc>
                <a:spcPct val="100000"/>
              </a:lnSpc>
              <a:spcBef>
                <a:spcPts val="375"/>
              </a:spcBef>
              <a:spcAft>
                <a:spcPts val="0"/>
              </a:spcAft>
              <a:buClr>
                <a:srgbClr val="A28E6A"/>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lnSpc>
                <a:spcPct val="100000"/>
              </a:lnSpc>
              <a:spcBef>
                <a:spcPts val="375"/>
              </a:spcBef>
              <a:spcAft>
                <a:spcPts val="0"/>
              </a:spcAft>
              <a:buClr>
                <a:srgbClr val="A28E6A"/>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lnSpc>
                <a:spcPct val="100000"/>
              </a:lnSpc>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lnSpc>
                <a:spcPct val="100000"/>
              </a:lnSpc>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lnSpc>
                <a:spcPct val="100000"/>
              </a:lnSpc>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lnSpc>
                <a:spcPct val="100000"/>
              </a:lnSpc>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19" name="Google Shape;119;p1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0" name="Google Shape;120;p17"/>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chemeClr val="dk2"/>
                </a:solidFill>
                <a:latin typeface="Libre Baskerville"/>
                <a:ea typeface="Libre Baskerville"/>
                <a:cs typeface="Libre Baskerville"/>
                <a:sym typeface="Libre Baskervill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21" name="Google Shape;121;p17"/>
          <p:cNvSpPr/>
          <p:nvPr>
            <p:ph idx="12" type="sldNum"/>
          </p:nvPr>
        </p:nvSpPr>
        <p:spPr>
          <a:xfrm>
            <a:off x="146050" y="6208712"/>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1pPr>
            <a:lvl2pPr indent="0" lvl="1"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2pPr>
            <a:lvl3pPr indent="0" lvl="2"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3pPr>
            <a:lvl4pPr indent="0" lvl="3"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4pPr>
            <a:lvl5pPr indent="0" lvl="4"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5pPr>
            <a:lvl6pPr indent="0" lvl="5"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6pPr>
            <a:lvl7pPr indent="0" lvl="6"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7pPr>
            <a:lvl8pPr indent="0" lvl="7"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8pPr>
            <a:lvl9pPr indent="0" lvl="8" marL="0" marR="0" rtl="0" algn="ctr">
              <a:lnSpc>
                <a:spcPct val="100000"/>
              </a:lnSpc>
              <a:spcBef>
                <a:spcPts val="0"/>
              </a:spcBef>
              <a:spcAft>
                <a:spcPts val="0"/>
              </a:spcAft>
              <a:buClr>
                <a:srgbClr val="FFFFFF"/>
              </a:buClr>
              <a:buSzPts val="1400"/>
              <a:buFont typeface="Libre Franklin"/>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6.png"/><Relationship Id="rId8" Type="http://schemas.openxmlformats.org/officeDocument/2006/relationships/image" Target="../media/image35.png"/><Relationship Id="rIdRc206" Type="http://schemas.openxmlformats.org/officeDocument/2006/relationships/image" Target="../media/rc_3_206.png"/><Relationship Id="rIdRc209" Type="http://schemas.openxmlformats.org/officeDocument/2006/relationships/image" Target="../media/rc_3_209.png"/><Relationship Id="rIdRc212" Type="http://schemas.openxmlformats.org/officeDocument/2006/relationships/image" Target="../media/rc_3_212.png"/><Relationship Id="rIdRc215" Type="http://schemas.openxmlformats.org/officeDocument/2006/relationships/image" Target="../media/rc_3_215.png"/><Relationship Id="rIdRc218" Type="http://schemas.openxmlformats.org/officeDocument/2006/relationships/image" Target="../media/rc_3_218.png"/><Relationship Id="rIdRc221" Type="http://schemas.openxmlformats.org/officeDocument/2006/relationships/image" Target="../media/rc_3_2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6.png"/><Relationship Id="rId6" Type="http://schemas.openxmlformats.org/officeDocument/2006/relationships/image" Target="../media/image11.png"/><Relationship Id="rId7" Type="http://schemas.openxmlformats.org/officeDocument/2006/relationships/image" Target="../media/image10.png"/><Relationship Id="rId8" Type="http://schemas.openxmlformats.org/officeDocument/2006/relationships/image" Target="../media/image9.png"/><Relationship Id="rIdRc245" Type="http://schemas.openxmlformats.org/officeDocument/2006/relationships/image" Target="../media/rc_4_245.png"/><Relationship Id="rIdRc247" Type="http://schemas.openxmlformats.org/officeDocument/2006/relationships/image" Target="../media/rc_4_247.png"/><Relationship Id="rIdRc249" Type="http://schemas.openxmlformats.org/officeDocument/2006/relationships/image" Target="../media/rc_4_249.png"/><Relationship Id="rIdRc251" Type="http://schemas.openxmlformats.org/officeDocument/2006/relationships/image" Target="../media/rc_4_251.png"/><Relationship Id="rIdRc253" Type="http://schemas.openxmlformats.org/officeDocument/2006/relationships/image" Target="../media/rc_4_253.png"/><Relationship Id="rIdRc255" Type="http://schemas.openxmlformats.org/officeDocument/2006/relationships/image" Target="../media/rc_4_25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Target" Type="http://schemas.openxmlformats.org/officeDocument/2006/relationships/image" Target="../media/rc_6_target.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 Id="rIdRc358" Type="http://schemas.openxmlformats.org/officeDocument/2006/relationships/image" Target="../media/rc_7_35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5.png"/><Relationship Id="rId10" Type="http://schemas.openxmlformats.org/officeDocument/2006/relationships/image" Target="../media/image19.png"/><Relationship Id="rId9" Type="http://schemas.openxmlformats.org/officeDocument/2006/relationships/image" Target="../media/image20.png"/><Relationship Id="rId5" Type="http://schemas.openxmlformats.org/officeDocument/2006/relationships/image" Target="../media/image12.png"/><Relationship Id="rId6" Type="http://schemas.openxmlformats.org/officeDocument/2006/relationships/image" Target="../media/image18.png"/><Relationship Id="rId7" Type="http://schemas.openxmlformats.org/officeDocument/2006/relationships/image" Target="../media/image17.png"/><Relationship Id="rId8" Type="http://schemas.openxmlformats.org/officeDocument/2006/relationships/image" Target="../media/image11.png"/><Relationship Id="rIdRc379" Type="http://schemas.openxmlformats.org/officeDocument/2006/relationships/image" Target="../media/rc_8_379.png"/><Relationship Id="rIdRc384" Type="http://schemas.openxmlformats.org/officeDocument/2006/relationships/image" Target="../media/rc_8_384.png"/><Relationship Id="rIdRc385" Type="http://schemas.openxmlformats.org/officeDocument/2006/relationships/image" Target="../media/rc_8_38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22.png"/><Relationship Id="rId7"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3.png"/><Relationship Id="rId4" Type="http://schemas.openxmlformats.org/officeDocument/2006/relationships/image" Target="../media/image26.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25.png"/><Relationship Id="rId8"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9.png"/><Relationship Id="rId4" Type="http://schemas.openxmlformats.org/officeDocument/2006/relationships/image" Target="../media/image25.png"/><Relationship Id="rId9" Type="http://schemas.openxmlformats.org/officeDocument/2006/relationships/image" Target="../media/image28.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0.png"/><Relationship Id="rId4" Type="http://schemas.openxmlformats.org/officeDocument/2006/relationships/image" Target="../media/image36.png"/><Relationship Id="rId5" Type="http://schemas.openxmlformats.org/officeDocument/2006/relationships/image" Target="../media/image27.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chart" Target="../charts/chart1.xml"/><Relationship Id="rId4" Type="http://schemas.openxmlformats.org/officeDocument/2006/relationships/chart" Target="../charts/chart2.xml"/><Relationship Id="rIdNotes"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chart" Target="../charts/chart3.xml"/><Relationship Id="rIdNotes"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idx="1" type="subTitle"/>
          </p:nvPr>
        </p:nvSpPr>
        <p:spPr>
          <a:xfrm>
            <a:off x="1219200" y="3048000"/>
            <a:ext cx="6400800" cy="3810000"/>
          </a:xfrm>
          <a:prstGeom prst="rect">
            <a:avLst/>
          </a:prstGeom>
          <a:noFill/>
          <a:ln>
            <a:noFill/>
          </a:ln>
        </p:spPr>
        <p:txBody>
          <a:bodyPr anchorCtr="0" anchor="t" bIns="45700" lIns="91425" spcFirstLastPara="1" rIns="91425" wrap="square" tIns="45700">
            <a:normAutofit lnSpcReduction="20000"/>
          </a:bodyPr>
          <a:lstStyle/>
          <a:p>
            <a:pPr indent="0" lvl="0" marL="0" rtl="0" algn="ctr">
              <a:lnSpc>
                <a:spcPct val="80000"/>
              </a:lnSpc>
              <a:spcBef>
                <a:spcPts val="0"/>
              </a:spcBef>
              <a:spcAft>
                <a:spcPts val="0"/>
              </a:spcAft>
              <a:buSzPts val="1530"/>
              <a:buNone/>
            </a:pPr>
            <a:r>
              <a:rPr b="1" i="0" lang="en-US" sz="1800" u="none">
                <a:solidFill>
                  <a:schemeClr val="dk1"/>
                </a:solidFill>
                <a:latin typeface="Times New Roman"/>
                <a:ea typeface="Times New Roman"/>
                <a:cs typeface="Times New Roman"/>
                <a:sym typeface="Times New Roman"/>
              </a:rPr>
              <a:t>Presented By</a:t>
            </a:r>
            <a:endParaRPr/>
          </a:p>
          <a:p>
            <a:pPr indent="0" lvl="0" marL="0" rtl="0" algn="ctr">
              <a:lnSpc>
                <a:spcPct val="80000"/>
              </a:lnSpc>
              <a:spcBef>
                <a:spcPts val="500"/>
              </a:spcBef>
              <a:spcAft>
                <a:spcPts val="0"/>
              </a:spcAft>
              <a:buSzPts val="1700"/>
              <a:buNone/>
            </a:pPr>
            <a:r>
              <a:rPr b="1" i="0" lang="en-US" sz="2000" u="none">
                <a:solidFill>
                  <a:schemeClr val="dk2"/>
                </a:solidFill>
                <a:latin typeface="Times New Roman"/>
                <a:ea typeface="Times New Roman"/>
                <a:cs typeface="Times New Roman"/>
                <a:sym typeface="Times New Roman"/>
              </a:rPr>
              <a:t>Mr. Om Sanjay Hire</a:t>
            </a:r>
            <a:endParaRPr/>
          </a:p>
          <a:p>
            <a:pPr indent="0" lvl="0" marL="0" rtl="0" algn="ctr">
              <a:lnSpc>
                <a:spcPct val="80000"/>
              </a:lnSpc>
              <a:spcBef>
                <a:spcPts val="500"/>
              </a:spcBef>
              <a:spcAft>
                <a:spcPts val="0"/>
              </a:spcAft>
              <a:buSzPts val="1530"/>
              <a:buNone/>
            </a:pPr>
            <a:r>
              <a:rPr b="0" i="0" lang="en-US" sz="1800" u="none">
                <a:solidFill>
                  <a:schemeClr val="dk2"/>
                </a:solidFill>
                <a:latin typeface="Times New Roman"/>
                <a:ea typeface="Times New Roman"/>
                <a:cs typeface="Times New Roman"/>
                <a:sym typeface="Times New Roman"/>
              </a:rPr>
              <a:t>TE (COMP) Div: A</a:t>
            </a:r>
            <a:endParaRPr/>
          </a:p>
          <a:p>
            <a:pPr indent="0" lvl="0" marL="0" rtl="0" algn="ctr">
              <a:lnSpc>
                <a:spcPct val="80000"/>
              </a:lnSpc>
              <a:spcBef>
                <a:spcPts val="500"/>
              </a:spcBef>
              <a:spcAft>
                <a:spcPts val="0"/>
              </a:spcAft>
              <a:buSzPts val="1530"/>
              <a:buNone/>
            </a:pPr>
            <a:r>
              <a:rPr b="0" i="0" lang="en-US" sz="1800" u="none">
                <a:solidFill>
                  <a:schemeClr val="dk2"/>
                </a:solidFill>
                <a:latin typeface="Times New Roman"/>
                <a:ea typeface="Times New Roman"/>
                <a:cs typeface="Times New Roman"/>
                <a:sym typeface="Times New Roman"/>
              </a:rPr>
              <a:t>Roll No. : 43</a:t>
            </a:r>
            <a:endParaRPr/>
          </a:p>
          <a:p>
            <a:pPr indent="0" lvl="0" marL="0" rtl="0" algn="ctr">
              <a:lnSpc>
                <a:spcPct val="80000"/>
              </a:lnSpc>
              <a:spcBef>
                <a:spcPts val="500"/>
              </a:spcBef>
              <a:spcAft>
                <a:spcPts val="0"/>
              </a:spcAft>
              <a:buSzPts val="1360"/>
              <a:buNone/>
            </a:pPr>
            <a:r>
              <a:rPr b="0" i="0" lang="en-US" sz="1600" u="none">
                <a:solidFill>
                  <a:schemeClr val="dk2"/>
                </a:solidFill>
                <a:latin typeface="Times New Roman"/>
                <a:ea typeface="Times New Roman"/>
                <a:cs typeface="Times New Roman"/>
                <a:sym typeface="Times New Roman"/>
              </a:rPr>
              <a:t>Academic Year 202</a:t>
            </a:r>
            <a:r>
              <a:rPr lang="en-US" sz="1600">
                <a:latin typeface="Times New Roman"/>
                <a:ea typeface="Times New Roman"/>
                <a:cs typeface="Times New Roman"/>
                <a:sym typeface="Times New Roman"/>
              </a:rPr>
              <a:t>6</a:t>
            </a:r>
            <a:r>
              <a:rPr b="0" i="0" lang="en-US" sz="1600" u="none">
                <a:solidFill>
                  <a:schemeClr val="dk2"/>
                </a:solidFill>
                <a:latin typeface="Times New Roman"/>
                <a:ea typeface="Times New Roman"/>
                <a:cs typeface="Times New Roman"/>
                <a:sym typeface="Times New Roman"/>
              </a:rPr>
              <a:t>-2</a:t>
            </a:r>
            <a:r>
              <a:rPr lang="en-US" sz="1600">
                <a:latin typeface="Times New Roman"/>
                <a:ea typeface="Times New Roman"/>
                <a:cs typeface="Times New Roman"/>
                <a:sym typeface="Times New Roman"/>
              </a:rPr>
              <a:t>7</a:t>
            </a:r>
            <a:endParaRPr/>
          </a:p>
          <a:p>
            <a:pPr indent="0" lvl="0" marL="0" rtl="0" algn="ctr">
              <a:lnSpc>
                <a:spcPct val="80000"/>
              </a:lnSpc>
              <a:spcBef>
                <a:spcPts val="500"/>
              </a:spcBef>
              <a:spcAft>
                <a:spcPts val="0"/>
              </a:spcAft>
              <a:buSzPts val="1445"/>
              <a:buNone/>
            </a:pPr>
            <a:r>
              <a:rPr b="1" i="0" lang="en-US" sz="1700" u="none">
                <a:solidFill>
                  <a:schemeClr val="dk1"/>
                </a:solidFill>
                <a:latin typeface="Times New Roman"/>
                <a:ea typeface="Times New Roman"/>
                <a:cs typeface="Times New Roman"/>
                <a:sym typeface="Times New Roman"/>
              </a:rPr>
              <a:t>Under the Guidance of</a:t>
            </a:r>
            <a:endParaRPr/>
          </a:p>
          <a:p>
            <a:pPr indent="0" lvl="0" marL="0" rtl="0" algn="ctr">
              <a:lnSpc>
                <a:spcPct val="80000"/>
              </a:lnSpc>
              <a:spcBef>
                <a:spcPts val="500"/>
              </a:spcBef>
              <a:spcAft>
                <a:spcPts val="0"/>
              </a:spcAft>
              <a:buSzPts val="1615"/>
              <a:buNone/>
            </a:pPr>
            <a:r>
              <a:rPr b="1" i="0" lang="en-US" sz="1900" u="none">
                <a:solidFill>
                  <a:schemeClr val="dk2"/>
                </a:solidFill>
                <a:latin typeface="Times New Roman"/>
                <a:ea typeface="Times New Roman"/>
                <a:cs typeface="Times New Roman"/>
                <a:sym typeface="Times New Roman"/>
              </a:rPr>
              <a:t>Dr. Shwetal K. Patil</a:t>
            </a:r>
            <a:endParaRPr/>
          </a:p>
          <a:p>
            <a:pPr indent="0" lvl="0" marL="0" rtl="0" algn="ctr">
              <a:lnSpc>
                <a:spcPct val="80000"/>
              </a:lnSpc>
              <a:spcBef>
                <a:spcPts val="500"/>
              </a:spcBef>
              <a:spcAft>
                <a:spcPts val="0"/>
              </a:spcAft>
              <a:buSzPts val="935"/>
              <a:buNone/>
            </a:pPr>
            <a:r>
              <a:t/>
            </a:r>
            <a:endParaRPr b="0" i="0" sz="1100" u="none">
              <a:solidFill>
                <a:schemeClr val="dk2"/>
              </a:solidFill>
              <a:latin typeface="Times New Roman"/>
              <a:ea typeface="Times New Roman"/>
              <a:cs typeface="Times New Roman"/>
              <a:sym typeface="Times New Roman"/>
            </a:endParaRPr>
          </a:p>
          <a:p>
            <a:pPr indent="0" lvl="0" marL="0" rtl="0" algn="ctr">
              <a:lnSpc>
                <a:spcPct val="80000"/>
              </a:lnSpc>
              <a:spcBef>
                <a:spcPts val="500"/>
              </a:spcBef>
              <a:spcAft>
                <a:spcPts val="0"/>
              </a:spcAft>
              <a:buSzPts val="1020"/>
              <a:buNone/>
            </a:pPr>
            <a:r>
              <a:rPr b="0" i="0" lang="en-US" sz="1200" u="none">
                <a:solidFill>
                  <a:schemeClr val="dk1"/>
                </a:solidFill>
                <a:latin typeface="Times New Roman"/>
                <a:ea typeface="Times New Roman"/>
                <a:cs typeface="Times New Roman"/>
                <a:sym typeface="Times New Roman"/>
              </a:rPr>
              <a:t>"</a:t>
            </a:r>
            <a:r>
              <a:rPr b="1" i="1" lang="en-US" sz="1100">
                <a:solidFill>
                  <a:schemeClr val="dk1"/>
                </a:solidFill>
                <a:highlight>
                  <a:srgbClr val="FFFFFF"/>
                </a:highlight>
                <a:latin typeface="Arial"/>
                <a:ea typeface="Arial"/>
                <a:cs typeface="Arial"/>
                <a:sym typeface="Arial"/>
              </a:rPr>
              <a:t>To achieve techno-social excellence by fostering innovative, sustainable and ubiquitous computing solutions for societal needs</a:t>
            </a:r>
            <a:r>
              <a:rPr lang="en-US" sz="1100">
                <a:solidFill>
                  <a:schemeClr val="dk1"/>
                </a:solidFill>
                <a:latin typeface="Arial"/>
                <a:ea typeface="Arial"/>
                <a:cs typeface="Arial"/>
                <a:sym typeface="Arial"/>
              </a:rPr>
              <a:t> </a:t>
            </a:r>
            <a:r>
              <a:rPr b="0" i="0" lang="en-US" sz="1200" u="none">
                <a:solidFill>
                  <a:schemeClr val="dk1"/>
                </a:solidFill>
                <a:latin typeface="Times New Roman"/>
                <a:ea typeface="Times New Roman"/>
                <a:cs typeface="Times New Roman"/>
                <a:sym typeface="Times New Roman"/>
              </a:rPr>
              <a:t>"</a:t>
            </a:r>
            <a:endParaRPr>
              <a:solidFill>
                <a:schemeClr val="dk1"/>
              </a:solidFill>
            </a:endParaRPr>
          </a:p>
          <a:p>
            <a:pPr indent="0" lvl="0" marL="0" rtl="0" algn="ctr">
              <a:lnSpc>
                <a:spcPct val="80000"/>
              </a:lnSpc>
              <a:spcBef>
                <a:spcPts val="500"/>
              </a:spcBef>
              <a:spcAft>
                <a:spcPts val="0"/>
              </a:spcAft>
              <a:buSzPts val="1530"/>
              <a:buNone/>
            </a:pPr>
            <a:r>
              <a:rPr b="1" i="0" lang="en-US" sz="1800" u="none">
                <a:solidFill>
                  <a:schemeClr val="dk1"/>
                </a:solidFill>
                <a:latin typeface="Times New Roman"/>
                <a:ea typeface="Times New Roman"/>
                <a:cs typeface="Times New Roman"/>
                <a:sym typeface="Times New Roman"/>
              </a:rPr>
              <a:t>Department of Computer Engineering</a:t>
            </a:r>
            <a:endParaRPr b="1" i="0" sz="1800" u="none">
              <a:solidFill>
                <a:schemeClr val="dk1"/>
              </a:solidFill>
              <a:latin typeface="Times New Roman"/>
              <a:ea typeface="Times New Roman"/>
              <a:cs typeface="Times New Roman"/>
              <a:sym typeface="Times New Roman"/>
            </a:endParaRPr>
          </a:p>
          <a:p>
            <a:pPr indent="0" lvl="0" marL="0" rtl="0" algn="ctr">
              <a:lnSpc>
                <a:spcPct val="80000"/>
              </a:lnSpc>
              <a:spcBef>
                <a:spcPts val="500"/>
              </a:spcBef>
              <a:spcAft>
                <a:spcPts val="0"/>
              </a:spcAft>
              <a:buSzPts val="1530"/>
              <a:buNone/>
            </a:pPr>
            <a:r>
              <a:t/>
            </a:r>
            <a:endParaRPr b="1" sz="1800">
              <a:solidFill>
                <a:schemeClr val="dk1"/>
              </a:solidFill>
              <a:latin typeface="Times New Roman"/>
              <a:ea typeface="Times New Roman"/>
              <a:cs typeface="Times New Roman"/>
              <a:sym typeface="Times New Roman"/>
            </a:endParaRPr>
          </a:p>
          <a:p>
            <a:pPr indent="0" lvl="0" marL="0" rtl="0" algn="ctr">
              <a:lnSpc>
                <a:spcPct val="80000"/>
              </a:lnSpc>
              <a:spcBef>
                <a:spcPts val="500"/>
              </a:spcBef>
              <a:spcAft>
                <a:spcPts val="0"/>
              </a:spcAft>
              <a:buSzPts val="1105"/>
              <a:buNone/>
            </a:pPr>
            <a:r>
              <a:rPr b="0" i="0" lang="en-US" sz="1300" u="none">
                <a:solidFill>
                  <a:schemeClr val="dk1"/>
                </a:solidFill>
                <a:latin typeface="Times New Roman"/>
                <a:ea typeface="Times New Roman"/>
                <a:cs typeface="Times New Roman"/>
                <a:sym typeface="Times New Roman"/>
              </a:rPr>
              <a:t>“</a:t>
            </a:r>
            <a:r>
              <a:rPr lang="en-US" sz="1300">
                <a:solidFill>
                  <a:schemeClr val="dk1"/>
                </a:solidFill>
                <a:latin typeface="Times New Roman"/>
                <a:ea typeface="Times New Roman"/>
                <a:cs typeface="Times New Roman"/>
                <a:sym typeface="Times New Roman"/>
              </a:rPr>
              <a:t>To develop techno-social excellent engineering graduates for the welfare of society.”</a:t>
            </a:r>
            <a:endParaRPr sz="1300">
              <a:solidFill>
                <a:schemeClr val="dk1"/>
              </a:solidFill>
              <a:latin typeface="Times New Roman"/>
              <a:ea typeface="Times New Roman"/>
              <a:cs typeface="Times New Roman"/>
              <a:sym typeface="Times New Roman"/>
            </a:endParaRPr>
          </a:p>
          <a:p>
            <a:pPr indent="0" lvl="0" marL="0" rtl="0" algn="ctr">
              <a:lnSpc>
                <a:spcPct val="80000"/>
              </a:lnSpc>
              <a:spcBef>
                <a:spcPts val="500"/>
              </a:spcBef>
              <a:spcAft>
                <a:spcPts val="0"/>
              </a:spcAft>
              <a:buSzPts val="1360"/>
              <a:buNone/>
            </a:pPr>
            <a:r>
              <a:rPr b="1" i="0" lang="en-US" sz="1600" u="none">
                <a:solidFill>
                  <a:schemeClr val="dk1"/>
                </a:solidFill>
                <a:latin typeface="Times New Roman"/>
                <a:ea typeface="Times New Roman"/>
                <a:cs typeface="Times New Roman"/>
                <a:sym typeface="Times New Roman"/>
              </a:rPr>
              <a:t>Marathwada Mitra Mandal’s</a:t>
            </a:r>
            <a:endParaRPr/>
          </a:p>
          <a:p>
            <a:pPr indent="0" lvl="0" marL="0" rtl="0" algn="ctr">
              <a:lnSpc>
                <a:spcPct val="80000"/>
              </a:lnSpc>
              <a:spcBef>
                <a:spcPts val="500"/>
              </a:spcBef>
              <a:spcAft>
                <a:spcPts val="0"/>
              </a:spcAft>
              <a:buSzPts val="1105"/>
              <a:buNone/>
            </a:pPr>
            <a:r>
              <a:rPr b="1" i="0" lang="en-US" sz="1300" u="none">
                <a:solidFill>
                  <a:schemeClr val="dk1"/>
                </a:solidFill>
                <a:latin typeface="Times New Roman"/>
                <a:ea typeface="Times New Roman"/>
                <a:cs typeface="Times New Roman"/>
                <a:sym typeface="Times New Roman"/>
              </a:rPr>
              <a:t>INSTITUTE OF TECHNOLOGY (MMIT)</a:t>
            </a:r>
            <a:endParaRPr/>
          </a:p>
          <a:p>
            <a:pPr indent="0" lvl="0" marL="0" rtl="0" algn="ctr">
              <a:lnSpc>
                <a:spcPct val="80000"/>
              </a:lnSpc>
              <a:spcBef>
                <a:spcPts val="500"/>
              </a:spcBef>
              <a:spcAft>
                <a:spcPts val="0"/>
              </a:spcAft>
              <a:buSzPts val="1105"/>
              <a:buNone/>
            </a:pPr>
            <a:r>
              <a:rPr b="1" i="0" lang="en-US" sz="1300" u="none">
                <a:solidFill>
                  <a:schemeClr val="dk1"/>
                </a:solidFill>
                <a:latin typeface="Times New Roman"/>
                <a:ea typeface="Times New Roman"/>
                <a:cs typeface="Times New Roman"/>
                <a:sym typeface="Times New Roman"/>
              </a:rPr>
              <a:t>Lohgaon, Pune-411047</a:t>
            </a:r>
            <a:endParaRPr/>
          </a:p>
          <a:p>
            <a:pPr indent="0" lvl="0" marL="0" rtl="0" algn="ctr">
              <a:lnSpc>
                <a:spcPct val="100000"/>
              </a:lnSpc>
              <a:spcBef>
                <a:spcPts val="575"/>
              </a:spcBef>
              <a:spcAft>
                <a:spcPts val="0"/>
              </a:spcAft>
              <a:buSzPts val="1105"/>
              <a:buNone/>
            </a:pPr>
            <a:r>
              <a:t/>
            </a:r>
            <a:endParaRPr b="1" i="0" sz="1300" u="none">
              <a:solidFill>
                <a:schemeClr val="dk1"/>
              </a:solidFill>
              <a:latin typeface="Times New Roman"/>
              <a:ea typeface="Times New Roman"/>
              <a:cs typeface="Times New Roman"/>
              <a:sym typeface="Times New Roman"/>
            </a:endParaRPr>
          </a:p>
        </p:txBody>
      </p:sp>
      <p:sp>
        <p:nvSpPr>
          <p:cNvPr id="135" name="Google Shape;135;p1"/>
          <p:cNvSpPr txBox="1"/>
          <p:nvPr>
            <p:ph type="ctrTitle"/>
          </p:nvPr>
        </p:nvSpPr>
        <p:spPr>
          <a:xfrm>
            <a:off x="457200" y="1524000"/>
            <a:ext cx="8229600" cy="1470025"/>
          </a:xfrm>
          <a:prstGeom prst="rect">
            <a:avLst/>
          </a:prstGeom>
          <a:noFill/>
          <a:ln>
            <a:noFill/>
          </a:ln>
        </p:spPr>
        <p:txBody>
          <a:bodyPr anchorCtr="0" anchor="ctr" bIns="91425" lIns="91425" spcFirstLastPara="1" rIns="91425" wrap="square" tIns="45700">
            <a:noAutofit/>
          </a:bodyPr>
          <a:lstStyle/>
          <a:p>
            <a:pPr indent="0" lvl="0" marL="0" rtl="0" algn="ctr">
              <a:lnSpc>
                <a:spcPct val="100000"/>
              </a:lnSpc>
              <a:spcBef>
                <a:spcPts val="0"/>
              </a:spcBef>
              <a:spcAft>
                <a:spcPts val="0"/>
              </a:spcAft>
              <a:buClr>
                <a:srgbClr val="FFFFFF"/>
              </a:buClr>
              <a:buSzPts val="4000"/>
              <a:buFont typeface="Times New Roman"/>
              <a:buNone/>
            </a:pPr>
            <a:r>
              <a:rPr b="1" i="0" lang="en-US" sz="4000" u="none">
                <a:solidFill>
                  <a:srgbClr val="FFFFFF"/>
                </a:solidFill>
                <a:latin typeface="Times New Roman"/>
                <a:ea typeface="Times New Roman"/>
                <a:cs typeface="Times New Roman"/>
                <a:sym typeface="Times New Roman"/>
              </a:rPr>
              <a:t>AI-Powered</a:t>
            </a:r>
            <a:br>
              <a:rPr b="1" i="0" lang="en-US" sz="4000" u="none">
                <a:solidFill>
                  <a:srgbClr val="FFFFFF"/>
                </a:solidFill>
                <a:latin typeface="Times New Roman"/>
                <a:ea typeface="Times New Roman"/>
                <a:cs typeface="Times New Roman"/>
                <a:sym typeface="Times New Roman"/>
              </a:rPr>
            </a:br>
            <a:r>
              <a:rPr b="1" i="0" lang="en-US" sz="4000" u="none">
                <a:solidFill>
                  <a:srgbClr val="FFFFFF"/>
                </a:solidFill>
                <a:latin typeface="Times New Roman"/>
                <a:ea typeface="Times New Roman"/>
                <a:cs typeface="Times New Roman"/>
                <a:sym typeface="Times New Roman"/>
              </a:rPr>
              <a:t>Smart Worker Finder</a:t>
            </a:r>
            <a:endParaRPr/>
          </a:p>
        </p:txBody>
      </p:sp>
      <p:pic>
        <p:nvPicPr>
          <p:cNvPr id="136" name="Google Shape;136;p1"/>
          <p:cNvPicPr preferRelativeResize="0"/>
          <p:nvPr/>
        </p:nvPicPr>
        <p:blipFill rotWithShape="1">
          <a:blip r:embed="rId3">
            <a:alphaModFix/>
          </a:blip>
          <a:srcRect b="0" l="0" r="0" t="0"/>
          <a:stretch/>
        </p:blipFill>
        <p:spPr>
          <a:xfrm>
            <a:off x="3951387" y="181400"/>
            <a:ext cx="1052512" cy="1143000"/>
          </a:xfrm>
          <a:prstGeom prst="rect">
            <a:avLst/>
          </a:prstGeom>
          <a:noFill/>
          <a:ln>
            <a:noFill/>
          </a:ln>
        </p:spPr>
      </p:pic>
      <p:sp>
        <p:nvSpPr>
          <p:cNvPr id="137" name="Google Shape;137;p1"/>
          <p:cNvSpPr/>
          <p:nvPr/>
        </p:nvSpPr>
        <p:spPr>
          <a:xfrm>
            <a:off x="-914400" y="1389888"/>
            <a:ext cx="502920" cy="1581912"/>
          </a:xfrm>
          <a:prstGeom prst="parallelogram">
            <a:avLst>
              <a:gd fmla="val 40000" name="adj"/>
            </a:avLst>
          </a:prstGeom>
          <a:solidFill>
            <a:schemeClr val="lt1">
              <a:alpha val="27843"/>
            </a:schemeClr>
          </a:soli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36"/>
                                        </p:tgtEl>
                                        <p:attrNameLst>
                                          <p:attrName>style.visibility</p:attrName>
                                        </p:attrNameLst>
                                      </p:cBhvr>
                                      <p:to>
                                        <p:strVal val="visible"/>
                                      </p:to>
                                    </p:set>
                                    <p:anim calcmode="lin" valueType="num">
                                      <p:cBhvr additive="base">
                                        <p:cTn dur="700"/>
                                        <p:tgtEl>
                                          <p:spTgt spid="136"/>
                                        </p:tgtEl>
                                        <p:attrNameLst>
                                          <p:attrName>ppt_w</p:attrName>
                                        </p:attrNameLst>
                                      </p:cBhvr>
                                      <p:tavLst>
                                        <p:tav fmla="" tm="0">
                                          <p:val>
                                            <p:strVal val="0"/>
                                          </p:val>
                                        </p:tav>
                                        <p:tav fmla="" tm="100000">
                                          <p:val>
                                            <p:strVal val="#ppt_w"/>
                                          </p:val>
                                        </p:tav>
                                      </p:tavLst>
                                    </p:anim>
                                    <p:anim calcmode="lin" valueType="num">
                                      <p:cBhvr additive="base">
                                        <p:cTn dur="700"/>
                                        <p:tgtEl>
                                          <p:spTgt spid="13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00"/>
                                  </p:stCondLst>
                                  <p:childTnLst>
                                    <p:set>
                                      <p:cBhvr>
                                        <p:cTn dur="1" fill="hold">
                                          <p:stCondLst>
                                            <p:cond delay="0"/>
                                          </p:stCondLst>
                                        </p:cTn>
                                        <p:tgtEl>
                                          <p:spTgt spid="135"/>
                                        </p:tgtEl>
                                        <p:attrNameLst>
                                          <p:attrName>style.visibility</p:attrName>
                                        </p:attrNameLst>
                                      </p:cBhvr>
                                      <p:to>
                                        <p:strVal val="visible"/>
                                      </p:to>
                                    </p:set>
                                    <p:animEffect filter="fade" transition="in">
                                      <p:cBhvr>
                                        <p:cTn dur="900"/>
                                        <p:tgtEl>
                                          <p:spTgt spid="135"/>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500"/>
                                        <p:tgtEl>
                                          <p:spTgt spid="134">
                                            <p:txEl>
                                              <p:pRg end="0" st="0"/>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500"/>
                                        <p:tgtEl>
                                          <p:spTgt spid="134">
                                            <p:txEl>
                                              <p:pRg end="1" st="1"/>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500"/>
                                        <p:tgtEl>
                                          <p:spTgt spid="134">
                                            <p:txEl>
                                              <p:pRg end="2" st="2"/>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500"/>
                                        <p:tgtEl>
                                          <p:spTgt spid="134">
                                            <p:txEl>
                                              <p:pRg end="3" st="3"/>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500"/>
                                        <p:tgtEl>
                                          <p:spTgt spid="134">
                                            <p:txEl>
                                              <p:pRg end="4" st="4"/>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500"/>
                                        <p:tgtEl>
                                          <p:spTgt spid="134">
                                            <p:txEl>
                                              <p:pRg end="5" st="5"/>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6" st="6"/>
                                            </p:txEl>
                                          </p:spTgt>
                                        </p:tgtEl>
                                        <p:attrNameLst>
                                          <p:attrName>style.visibility</p:attrName>
                                        </p:attrNameLst>
                                      </p:cBhvr>
                                      <p:to>
                                        <p:strVal val="visible"/>
                                      </p:to>
                                    </p:set>
                                    <p:animEffect filter="fade" transition="in">
                                      <p:cBhvr>
                                        <p:cTn dur="500"/>
                                        <p:tgtEl>
                                          <p:spTgt spid="134">
                                            <p:txEl>
                                              <p:pRg end="6" st="6"/>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7" st="7"/>
                                            </p:txEl>
                                          </p:spTgt>
                                        </p:tgtEl>
                                        <p:attrNameLst>
                                          <p:attrName>style.visibility</p:attrName>
                                        </p:attrNameLst>
                                      </p:cBhvr>
                                      <p:to>
                                        <p:strVal val="visible"/>
                                      </p:to>
                                    </p:set>
                                    <p:animEffect filter="fade" transition="in">
                                      <p:cBhvr>
                                        <p:cTn dur="500"/>
                                        <p:tgtEl>
                                          <p:spTgt spid="134">
                                            <p:txEl>
                                              <p:pRg end="7" st="7"/>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8" st="8"/>
                                            </p:txEl>
                                          </p:spTgt>
                                        </p:tgtEl>
                                        <p:attrNameLst>
                                          <p:attrName>style.visibility</p:attrName>
                                        </p:attrNameLst>
                                      </p:cBhvr>
                                      <p:to>
                                        <p:strVal val="visible"/>
                                      </p:to>
                                    </p:set>
                                    <p:animEffect filter="fade" transition="in">
                                      <p:cBhvr>
                                        <p:cTn dur="500"/>
                                        <p:tgtEl>
                                          <p:spTgt spid="134">
                                            <p:txEl>
                                              <p:pRg end="8" st="8"/>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9" st="9"/>
                                            </p:txEl>
                                          </p:spTgt>
                                        </p:tgtEl>
                                        <p:attrNameLst>
                                          <p:attrName>style.visibility</p:attrName>
                                        </p:attrNameLst>
                                      </p:cBhvr>
                                      <p:to>
                                        <p:strVal val="visible"/>
                                      </p:to>
                                    </p:set>
                                    <p:animEffect filter="fade" transition="in">
                                      <p:cBhvr>
                                        <p:cTn dur="500"/>
                                        <p:tgtEl>
                                          <p:spTgt spid="134">
                                            <p:txEl>
                                              <p:pRg end="9" st="9"/>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0" st="10"/>
                                            </p:txEl>
                                          </p:spTgt>
                                        </p:tgtEl>
                                        <p:attrNameLst>
                                          <p:attrName>style.visibility</p:attrName>
                                        </p:attrNameLst>
                                      </p:cBhvr>
                                      <p:to>
                                        <p:strVal val="visible"/>
                                      </p:to>
                                    </p:set>
                                    <p:animEffect filter="fade" transition="in">
                                      <p:cBhvr>
                                        <p:cTn dur="500"/>
                                        <p:tgtEl>
                                          <p:spTgt spid="134">
                                            <p:txEl>
                                              <p:pRg end="10" st="10"/>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1" st="11"/>
                                            </p:txEl>
                                          </p:spTgt>
                                        </p:tgtEl>
                                        <p:attrNameLst>
                                          <p:attrName>style.visibility</p:attrName>
                                        </p:attrNameLst>
                                      </p:cBhvr>
                                      <p:to>
                                        <p:strVal val="visible"/>
                                      </p:to>
                                    </p:set>
                                    <p:animEffect filter="fade" transition="in">
                                      <p:cBhvr>
                                        <p:cTn dur="500"/>
                                        <p:tgtEl>
                                          <p:spTgt spid="134">
                                            <p:txEl>
                                              <p:pRg end="11" st="11"/>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2" st="12"/>
                                            </p:txEl>
                                          </p:spTgt>
                                        </p:tgtEl>
                                        <p:attrNameLst>
                                          <p:attrName>style.visibility</p:attrName>
                                        </p:attrNameLst>
                                      </p:cBhvr>
                                      <p:to>
                                        <p:strVal val="visible"/>
                                      </p:to>
                                    </p:set>
                                    <p:animEffect filter="fade" transition="in">
                                      <p:cBhvr>
                                        <p:cTn dur="500"/>
                                        <p:tgtEl>
                                          <p:spTgt spid="134">
                                            <p:txEl>
                                              <p:pRg end="12" st="12"/>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3" st="13"/>
                                            </p:txEl>
                                          </p:spTgt>
                                        </p:tgtEl>
                                        <p:attrNameLst>
                                          <p:attrName>style.visibility</p:attrName>
                                        </p:attrNameLst>
                                      </p:cBhvr>
                                      <p:to>
                                        <p:strVal val="visible"/>
                                      </p:to>
                                    </p:set>
                                    <p:animEffect filter="fade" transition="in">
                                      <p:cBhvr>
                                        <p:cTn dur="500"/>
                                        <p:tgtEl>
                                          <p:spTgt spid="134">
                                            <p:txEl>
                                              <p:pRg end="13" st="13"/>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4" st="14"/>
                                            </p:txEl>
                                          </p:spTgt>
                                        </p:tgtEl>
                                        <p:attrNameLst>
                                          <p:attrName>style.visibility</p:attrName>
                                        </p:attrNameLst>
                                      </p:cBhvr>
                                      <p:to>
                                        <p:strVal val="visible"/>
                                      </p:to>
                                    </p:set>
                                    <p:animEffect filter="fade" transition="in">
                                      <p:cBhvr>
                                        <p:cTn dur="500"/>
                                        <p:tgtEl>
                                          <p:spTgt spid="134">
                                            <p:txEl>
                                              <p:pRg end="14" st="14"/>
                                            </p:txEl>
                                          </p:spTgt>
                                        </p:tgtEl>
                                      </p:cBhvr>
                                    </p:animEffect>
                                  </p:childTnLst>
                                </p:cTn>
                              </p:par>
                              <p:par>
                                <p:cTn fill="hold" nodeType="withEffect" presetClass="entr" presetID="10" presetSubtype="0">
                                  <p:stCondLst>
                                    <p:cond delay="800"/>
                                  </p:stCondLst>
                                  <p:childTnLst>
                                    <p:set>
                                      <p:cBhvr>
                                        <p:cTn dur="1" fill="hold">
                                          <p:stCondLst>
                                            <p:cond delay="0"/>
                                          </p:stCondLst>
                                        </p:cTn>
                                        <p:tgtEl>
                                          <p:spTgt spid="134">
                                            <p:txEl>
                                              <p:pRg end="15" st="15"/>
                                            </p:txEl>
                                          </p:spTgt>
                                        </p:tgtEl>
                                        <p:attrNameLst>
                                          <p:attrName>style.visibility</p:attrName>
                                        </p:attrNameLst>
                                      </p:cBhvr>
                                      <p:to>
                                        <p:strVal val="visible"/>
                                      </p:to>
                                    </p:set>
                                    <p:animEffect filter="fade" transition="in">
                                      <p:cBhvr>
                                        <p:cTn dur="500"/>
                                        <p:tgtEl>
                                          <p:spTgt spid="134">
                                            <p:txEl>
                                              <p:pRg end="15" st="1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Contents</a:t>
            </a:r>
            <a:endParaRPr/>
          </a:p>
        </p:txBody>
      </p:sp>
      <p:sp>
        <p:nvSpPr>
          <p:cNvPr id="144" name="Google Shape;144;p2"/>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145" name="Google Shape;145;p2"/>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146" name="Google Shape;146;p2"/>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cxnSp>
        <p:nvCxnSpPr>
          <p:cNvPr id="147" name="Google Shape;147;p2"/>
          <p:cNvCxnSpPr/>
          <p:nvPr/>
        </p:nvCxnSpPr>
        <p:spPr>
          <a:xfrm>
            <a:off x="749808" y="1572768"/>
            <a:ext cx="0" cy="3950208"/>
          </a:xfrm>
          <a:prstGeom prst="straightConnector1">
            <a:avLst/>
          </a:prstGeom>
          <a:noFill/>
          <a:ln cap="flat" cmpd="sng" w="28575">
            <a:solidFill>
              <a:srgbClr val="717B89"/>
            </a:solidFill>
            <a:prstDash val="dash"/>
            <a:round/>
            <a:headEnd len="sm" w="sm" type="none"/>
            <a:tailEnd len="sm" w="sm" type="none"/>
          </a:ln>
        </p:spPr>
      </p:cxnSp>
      <p:cxnSp>
        <p:nvCxnSpPr>
          <p:cNvPr id="148" name="Google Shape;148;p2"/>
          <p:cNvCxnSpPr/>
          <p:nvPr/>
        </p:nvCxnSpPr>
        <p:spPr>
          <a:xfrm>
            <a:off x="4910328" y="1572768"/>
            <a:ext cx="0" cy="3291840"/>
          </a:xfrm>
          <a:prstGeom prst="straightConnector1">
            <a:avLst/>
          </a:prstGeom>
          <a:noFill/>
          <a:ln cap="flat" cmpd="sng" w="28575">
            <a:solidFill>
              <a:srgbClr val="717B89"/>
            </a:solidFill>
            <a:prstDash val="dash"/>
            <a:round/>
            <a:headEnd len="sm" w="sm" type="none"/>
            <a:tailEnd len="sm" w="sm" type="none"/>
          </a:ln>
        </p:spPr>
      </p:cxnSp>
      <p:sp>
        <p:nvSpPr>
          <p:cNvPr id="149" name="Google Shape;149;p2"/>
          <p:cNvSpPr/>
          <p:nvPr/>
        </p:nvSpPr>
        <p:spPr>
          <a:xfrm>
            <a:off x="822960" y="1353312"/>
            <a:ext cx="3611880" cy="438912"/>
          </a:xfrm>
          <a:prstGeom prst="roundRect">
            <a:avLst>
              <a:gd fmla="val 50000" name="adj"/>
            </a:avLst>
          </a:prstGeom>
          <a:gradFill rotWithShape="1">
            <a:gsLst>
              <a:gs pos="0">
                <a:srgbClr val="DCFBF8"/>
              </a:gs>
              <a:gs pos="100000">
                <a:srgbClr val="B5F0EC"/>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Introduction</a:t>
            </a:r>
            <a:endParaRPr/>
          </a:p>
        </p:txBody>
      </p:sp>
      <p:sp>
        <p:nvSpPr>
          <p:cNvPr id="150" name="Google Shape;150;p2"/>
          <p:cNvSpPr/>
          <p:nvPr/>
        </p:nvSpPr>
        <p:spPr>
          <a:xfrm>
            <a:off x="502920" y="1325880"/>
            <a:ext cx="493776" cy="493776"/>
          </a:xfrm>
          <a:prstGeom prst="ellipse">
            <a:avLst/>
          </a:prstGeom>
          <a:gradFill rotWithShape="1">
            <a:gsLst>
              <a:gs pos="0">
                <a:srgbClr val="006662"/>
              </a:gs>
              <a:gs pos="100000">
                <a:srgbClr val="0E929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1</a:t>
            </a:r>
            <a:endParaRPr/>
          </a:p>
        </p:txBody>
      </p:sp>
      <p:sp>
        <p:nvSpPr>
          <p:cNvPr id="151" name="Google Shape;151;p2"/>
          <p:cNvSpPr/>
          <p:nvPr/>
        </p:nvSpPr>
        <p:spPr>
          <a:xfrm>
            <a:off x="3904488" y="1408176"/>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5350"/>
                </a:solidFill>
                <a:latin typeface="Times New Roman"/>
                <a:ea typeface="Times New Roman"/>
                <a:cs typeface="Times New Roman"/>
                <a:sym typeface="Times New Roman"/>
              </a:rPr>
              <a:t>p.3</a:t>
            </a:r>
            <a:endParaRPr/>
          </a:p>
        </p:txBody>
      </p:sp>
      <p:sp>
        <p:nvSpPr>
          <p:cNvPr id="152" name="Google Shape;152;p2"/>
          <p:cNvSpPr/>
          <p:nvPr/>
        </p:nvSpPr>
        <p:spPr>
          <a:xfrm>
            <a:off x="822960" y="2011680"/>
            <a:ext cx="3611880" cy="438912"/>
          </a:xfrm>
          <a:prstGeom prst="roundRect">
            <a:avLst>
              <a:gd fmla="val 50000" name="adj"/>
            </a:avLst>
          </a:prstGeom>
          <a:gradFill rotWithShape="1">
            <a:gsLst>
              <a:gs pos="0">
                <a:srgbClr val="DCFAFD"/>
              </a:gs>
              <a:gs pos="100000">
                <a:srgbClr val="B4EFF5"/>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Relevance to Current Technology Trends</a:t>
            </a:r>
            <a:endParaRPr/>
          </a:p>
        </p:txBody>
      </p:sp>
      <p:sp>
        <p:nvSpPr>
          <p:cNvPr id="153" name="Google Shape;153;p2"/>
          <p:cNvSpPr/>
          <p:nvPr/>
        </p:nvSpPr>
        <p:spPr>
          <a:xfrm>
            <a:off x="502920" y="1984248"/>
            <a:ext cx="493776" cy="493776"/>
          </a:xfrm>
          <a:prstGeom prst="ellipse">
            <a:avLst/>
          </a:prstGeom>
          <a:gradFill rotWithShape="1">
            <a:gsLst>
              <a:gs pos="0">
                <a:srgbClr val="006567"/>
              </a:gs>
              <a:gs pos="100000">
                <a:srgbClr val="1590A1"/>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2</a:t>
            </a:r>
            <a:endParaRPr/>
          </a:p>
        </p:txBody>
      </p:sp>
      <p:sp>
        <p:nvSpPr>
          <p:cNvPr id="154" name="Google Shape;154;p2"/>
          <p:cNvSpPr/>
          <p:nvPr/>
        </p:nvSpPr>
        <p:spPr>
          <a:xfrm>
            <a:off x="3904488" y="2066544"/>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05259"/>
                </a:solidFill>
                <a:latin typeface="Times New Roman"/>
                <a:ea typeface="Times New Roman"/>
                <a:cs typeface="Times New Roman"/>
                <a:sym typeface="Times New Roman"/>
              </a:rPr>
              <a:t>p.4</a:t>
            </a:r>
            <a:endParaRPr/>
          </a:p>
        </p:txBody>
      </p:sp>
      <p:sp>
        <p:nvSpPr>
          <p:cNvPr id="155" name="Google Shape;155;p2"/>
          <p:cNvSpPr/>
          <p:nvPr/>
        </p:nvSpPr>
        <p:spPr>
          <a:xfrm>
            <a:off x="822960" y="2670048"/>
            <a:ext cx="3611880" cy="438912"/>
          </a:xfrm>
          <a:prstGeom prst="roundRect">
            <a:avLst>
              <a:gd fmla="val 50000" name="adj"/>
            </a:avLst>
          </a:prstGeom>
          <a:gradFill rotWithShape="1">
            <a:gsLst>
              <a:gs pos="0">
                <a:srgbClr val="E4F8FD"/>
              </a:gs>
              <a:gs pos="100000">
                <a:srgbClr val="B6EDFD"/>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Literature Review</a:t>
            </a:r>
            <a:endParaRPr/>
          </a:p>
        </p:txBody>
      </p:sp>
      <p:sp>
        <p:nvSpPr>
          <p:cNvPr id="156" name="Google Shape;156;p2"/>
          <p:cNvSpPr/>
          <p:nvPr/>
        </p:nvSpPr>
        <p:spPr>
          <a:xfrm>
            <a:off x="502920" y="2642616"/>
            <a:ext cx="493776" cy="493776"/>
          </a:xfrm>
          <a:prstGeom prst="ellipse">
            <a:avLst/>
          </a:prstGeom>
          <a:gradFill rotWithShape="1">
            <a:gsLst>
              <a:gs pos="0">
                <a:srgbClr val="006471"/>
              </a:gs>
              <a:gs pos="100000">
                <a:srgbClr val="0F8DB1"/>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3</a:t>
            </a:r>
            <a:endParaRPr/>
          </a:p>
        </p:txBody>
      </p:sp>
      <p:sp>
        <p:nvSpPr>
          <p:cNvPr id="157" name="Google Shape;157;p2"/>
          <p:cNvSpPr/>
          <p:nvPr/>
        </p:nvSpPr>
        <p:spPr>
          <a:xfrm>
            <a:off x="3904488" y="2724912"/>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45060"/>
                </a:solidFill>
                <a:latin typeface="Times New Roman"/>
                <a:ea typeface="Times New Roman"/>
                <a:cs typeface="Times New Roman"/>
                <a:sym typeface="Times New Roman"/>
              </a:rPr>
              <a:t>p.5</a:t>
            </a:r>
            <a:endParaRPr/>
          </a:p>
        </p:txBody>
      </p:sp>
      <p:sp>
        <p:nvSpPr>
          <p:cNvPr id="158" name="Google Shape;158;p2"/>
          <p:cNvSpPr/>
          <p:nvPr/>
        </p:nvSpPr>
        <p:spPr>
          <a:xfrm>
            <a:off x="822960" y="3328416"/>
            <a:ext cx="3611880" cy="438912"/>
          </a:xfrm>
          <a:prstGeom prst="roundRect">
            <a:avLst>
              <a:gd fmla="val 50000" name="adj"/>
            </a:avLst>
          </a:prstGeom>
          <a:gradFill rotWithShape="1">
            <a:gsLst>
              <a:gs pos="0">
                <a:srgbClr val="E9F6FD"/>
              </a:gs>
              <a:gs pos="100000">
                <a:srgbClr val="C2EAFF"/>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Problem Statement</a:t>
            </a:r>
            <a:endParaRPr/>
          </a:p>
        </p:txBody>
      </p:sp>
      <p:sp>
        <p:nvSpPr>
          <p:cNvPr id="159" name="Google Shape;159;p2"/>
          <p:cNvSpPr/>
          <p:nvPr/>
        </p:nvSpPr>
        <p:spPr>
          <a:xfrm>
            <a:off x="502920" y="3300984"/>
            <a:ext cx="493776" cy="493776"/>
          </a:xfrm>
          <a:prstGeom prst="ellipse">
            <a:avLst/>
          </a:prstGeom>
          <a:gradFill rotWithShape="1">
            <a:gsLst>
              <a:gs pos="0">
                <a:srgbClr val="06617B"/>
              </a:gs>
              <a:gs pos="100000">
                <a:srgbClr val="0D8AC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4</a:t>
            </a:r>
            <a:endParaRPr/>
          </a:p>
        </p:txBody>
      </p:sp>
      <p:sp>
        <p:nvSpPr>
          <p:cNvPr id="160" name="Google Shape;160;p2"/>
          <p:cNvSpPr/>
          <p:nvPr/>
        </p:nvSpPr>
        <p:spPr>
          <a:xfrm>
            <a:off x="3904488" y="3383280"/>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24F6B"/>
                </a:solidFill>
                <a:latin typeface="Times New Roman"/>
                <a:ea typeface="Times New Roman"/>
                <a:cs typeface="Times New Roman"/>
                <a:sym typeface="Times New Roman"/>
              </a:rPr>
              <a:t>p.6</a:t>
            </a:r>
            <a:endParaRPr/>
          </a:p>
        </p:txBody>
      </p:sp>
      <p:sp>
        <p:nvSpPr>
          <p:cNvPr id="161" name="Google Shape;161;p2"/>
          <p:cNvSpPr/>
          <p:nvPr/>
        </p:nvSpPr>
        <p:spPr>
          <a:xfrm>
            <a:off x="822960" y="3986784"/>
            <a:ext cx="3611880" cy="438912"/>
          </a:xfrm>
          <a:prstGeom prst="roundRect">
            <a:avLst>
              <a:gd fmla="val 50000" name="adj"/>
            </a:avLst>
          </a:prstGeom>
          <a:gradFill rotWithShape="1">
            <a:gsLst>
              <a:gs pos="0">
                <a:srgbClr val="EAF5FE"/>
              </a:gs>
              <a:gs pos="100000">
                <a:srgbClr val="CEE6FC"/>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Objectives</a:t>
            </a:r>
            <a:endParaRPr/>
          </a:p>
        </p:txBody>
      </p:sp>
      <p:sp>
        <p:nvSpPr>
          <p:cNvPr id="162" name="Google Shape;162;p2"/>
          <p:cNvSpPr/>
          <p:nvPr/>
        </p:nvSpPr>
        <p:spPr>
          <a:xfrm>
            <a:off x="502920" y="3959352"/>
            <a:ext cx="493776" cy="493776"/>
          </a:xfrm>
          <a:prstGeom prst="ellipse">
            <a:avLst/>
          </a:prstGeom>
          <a:gradFill rotWithShape="1">
            <a:gsLst>
              <a:gs pos="0">
                <a:srgbClr val="005F8B"/>
              </a:gs>
              <a:gs pos="100000">
                <a:srgbClr val="2E83D6"/>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5</a:t>
            </a:r>
            <a:endParaRPr/>
          </a:p>
        </p:txBody>
      </p:sp>
      <p:sp>
        <p:nvSpPr>
          <p:cNvPr id="163" name="Google Shape;163;p2"/>
          <p:cNvSpPr/>
          <p:nvPr/>
        </p:nvSpPr>
        <p:spPr>
          <a:xfrm>
            <a:off x="3904488" y="4041648"/>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014B79"/>
                </a:solidFill>
                <a:latin typeface="Times New Roman"/>
                <a:ea typeface="Times New Roman"/>
                <a:cs typeface="Times New Roman"/>
                <a:sym typeface="Times New Roman"/>
              </a:rPr>
              <a:t>p.7</a:t>
            </a:r>
            <a:endParaRPr/>
          </a:p>
        </p:txBody>
      </p:sp>
      <p:sp>
        <p:nvSpPr>
          <p:cNvPr id="164" name="Google Shape;164;p2"/>
          <p:cNvSpPr/>
          <p:nvPr/>
        </p:nvSpPr>
        <p:spPr>
          <a:xfrm>
            <a:off x="822960" y="4645152"/>
            <a:ext cx="3611880" cy="438912"/>
          </a:xfrm>
          <a:prstGeom prst="roundRect">
            <a:avLst>
              <a:gd fmla="val 50000" name="adj"/>
            </a:avLst>
          </a:prstGeom>
          <a:gradFill rotWithShape="1">
            <a:gsLst>
              <a:gs pos="0">
                <a:srgbClr val="EFF4FC"/>
              </a:gs>
              <a:gs pos="100000">
                <a:srgbClr val="D3E4FE"/>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Proposed Seminar Scope / Proposed Framework</a:t>
            </a:r>
            <a:endParaRPr/>
          </a:p>
        </p:txBody>
      </p:sp>
      <p:sp>
        <p:nvSpPr>
          <p:cNvPr id="165" name="Google Shape;165;p2"/>
          <p:cNvSpPr/>
          <p:nvPr/>
        </p:nvSpPr>
        <p:spPr>
          <a:xfrm>
            <a:off x="502920" y="4617720"/>
            <a:ext cx="493776" cy="493776"/>
          </a:xfrm>
          <a:prstGeom prst="ellipse">
            <a:avLst/>
          </a:prstGeom>
          <a:gradFill rotWithShape="1">
            <a:gsLst>
              <a:gs pos="0">
                <a:srgbClr val="0058A3"/>
              </a:gs>
              <a:gs pos="100000">
                <a:srgbClr val="547BD9"/>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6</a:t>
            </a:r>
            <a:endParaRPr/>
          </a:p>
        </p:txBody>
      </p:sp>
      <p:sp>
        <p:nvSpPr>
          <p:cNvPr id="166" name="Google Shape;166;p2"/>
          <p:cNvSpPr/>
          <p:nvPr/>
        </p:nvSpPr>
        <p:spPr>
          <a:xfrm>
            <a:off x="3904488" y="4700016"/>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14448C"/>
                </a:solidFill>
                <a:latin typeface="Times New Roman"/>
                <a:ea typeface="Times New Roman"/>
                <a:cs typeface="Times New Roman"/>
                <a:sym typeface="Times New Roman"/>
              </a:rPr>
              <a:t>p.8</a:t>
            </a:r>
            <a:endParaRPr/>
          </a:p>
        </p:txBody>
      </p:sp>
      <p:sp>
        <p:nvSpPr>
          <p:cNvPr id="167" name="Google Shape;167;p2"/>
          <p:cNvSpPr/>
          <p:nvPr/>
        </p:nvSpPr>
        <p:spPr>
          <a:xfrm>
            <a:off x="822960" y="5303520"/>
            <a:ext cx="3611880" cy="438912"/>
          </a:xfrm>
          <a:prstGeom prst="roundRect">
            <a:avLst>
              <a:gd fmla="val 50000" name="adj"/>
            </a:avLst>
          </a:prstGeom>
          <a:gradFill rotWithShape="1">
            <a:gsLst>
              <a:gs pos="0">
                <a:srgbClr val="F0F3FC"/>
              </a:gs>
              <a:gs pos="100000">
                <a:srgbClr val="D9E2FE"/>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System Architecture / Methodology</a:t>
            </a:r>
            <a:endParaRPr/>
          </a:p>
        </p:txBody>
      </p:sp>
      <p:sp>
        <p:nvSpPr>
          <p:cNvPr id="168" name="Google Shape;168;p2"/>
          <p:cNvSpPr/>
          <p:nvPr/>
        </p:nvSpPr>
        <p:spPr>
          <a:xfrm>
            <a:off x="502920" y="5276088"/>
            <a:ext cx="493776" cy="493776"/>
          </a:xfrm>
          <a:prstGeom prst="ellipse">
            <a:avLst/>
          </a:prstGeom>
          <a:gradFill rotWithShape="1">
            <a:gsLst>
              <a:gs pos="0">
                <a:srgbClr val="3050AA"/>
              </a:gs>
              <a:gs pos="100000">
                <a:srgbClr val="6F73D7"/>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7</a:t>
            </a:r>
            <a:endParaRPr/>
          </a:p>
        </p:txBody>
      </p:sp>
      <p:sp>
        <p:nvSpPr>
          <p:cNvPr id="169" name="Google Shape;169;p2"/>
          <p:cNvSpPr/>
          <p:nvPr/>
        </p:nvSpPr>
        <p:spPr>
          <a:xfrm>
            <a:off x="3904488" y="5358384"/>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323E8C"/>
                </a:solidFill>
                <a:latin typeface="Times New Roman"/>
                <a:ea typeface="Times New Roman"/>
                <a:cs typeface="Times New Roman"/>
                <a:sym typeface="Times New Roman"/>
              </a:rPr>
              <a:t>p.9</a:t>
            </a:r>
            <a:endParaRPr/>
          </a:p>
        </p:txBody>
      </p:sp>
      <p:sp>
        <p:nvSpPr>
          <p:cNvPr id="170" name="Google Shape;170;p2"/>
          <p:cNvSpPr/>
          <p:nvPr/>
        </p:nvSpPr>
        <p:spPr>
          <a:xfrm>
            <a:off x="4983480" y="1353312"/>
            <a:ext cx="3611880" cy="438912"/>
          </a:xfrm>
          <a:prstGeom prst="roundRect">
            <a:avLst>
              <a:gd fmla="val 50000" name="adj"/>
            </a:avLst>
          </a:prstGeom>
          <a:gradFill rotWithShape="1">
            <a:gsLst>
              <a:gs pos="0">
                <a:srgbClr val="F2F2FF"/>
              </a:gs>
              <a:gs pos="100000">
                <a:srgbClr val="E0E0FD"/>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Algorithm / Mathematical Module</a:t>
            </a:r>
            <a:endParaRPr/>
          </a:p>
        </p:txBody>
      </p:sp>
      <p:sp>
        <p:nvSpPr>
          <p:cNvPr id="171" name="Google Shape;171;p2"/>
          <p:cNvSpPr/>
          <p:nvPr/>
        </p:nvSpPr>
        <p:spPr>
          <a:xfrm>
            <a:off x="4663440" y="1325880"/>
            <a:ext cx="493776" cy="493776"/>
          </a:xfrm>
          <a:prstGeom prst="ellipse">
            <a:avLst/>
          </a:prstGeom>
          <a:gradFill rotWithShape="1">
            <a:gsLst>
              <a:gs pos="0">
                <a:srgbClr val="4A48A9"/>
              </a:gs>
              <a:gs pos="100000">
                <a:srgbClr val="856CD1"/>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8</a:t>
            </a:r>
            <a:endParaRPr/>
          </a:p>
        </p:txBody>
      </p:sp>
      <p:sp>
        <p:nvSpPr>
          <p:cNvPr id="172" name="Google Shape;172;p2"/>
          <p:cNvSpPr/>
          <p:nvPr/>
        </p:nvSpPr>
        <p:spPr>
          <a:xfrm>
            <a:off x="8065008" y="1408176"/>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453889"/>
                </a:solidFill>
                <a:latin typeface="Times New Roman"/>
                <a:ea typeface="Times New Roman"/>
                <a:cs typeface="Times New Roman"/>
                <a:sym typeface="Times New Roman"/>
              </a:rPr>
              <a:t>p.12</a:t>
            </a:r>
            <a:endParaRPr/>
          </a:p>
        </p:txBody>
      </p:sp>
      <p:sp>
        <p:nvSpPr>
          <p:cNvPr id="173" name="Google Shape;173;p2"/>
          <p:cNvSpPr/>
          <p:nvPr/>
        </p:nvSpPr>
        <p:spPr>
          <a:xfrm>
            <a:off x="4983480" y="2011680"/>
            <a:ext cx="3611880" cy="438912"/>
          </a:xfrm>
          <a:prstGeom prst="roundRect">
            <a:avLst>
              <a:gd fmla="val 50000" name="adj"/>
            </a:avLst>
          </a:prstGeom>
          <a:gradFill rotWithShape="1">
            <a:gsLst>
              <a:gs pos="0">
                <a:srgbClr val="F5F1FE"/>
              </a:gs>
              <a:gs pos="100000">
                <a:srgbClr val="E7DDFD"/>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Advantages</a:t>
            </a:r>
            <a:endParaRPr/>
          </a:p>
        </p:txBody>
      </p:sp>
      <p:sp>
        <p:nvSpPr>
          <p:cNvPr id="174" name="Google Shape;174;p2"/>
          <p:cNvSpPr/>
          <p:nvPr/>
        </p:nvSpPr>
        <p:spPr>
          <a:xfrm>
            <a:off x="4663440" y="1984248"/>
            <a:ext cx="493776" cy="493776"/>
          </a:xfrm>
          <a:prstGeom prst="ellipse">
            <a:avLst/>
          </a:prstGeom>
          <a:gradFill rotWithShape="1">
            <a:gsLst>
              <a:gs pos="0">
                <a:srgbClr val="5E41A2"/>
              </a:gs>
              <a:gs pos="100000">
                <a:srgbClr val="9765C6"/>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9</a:t>
            </a:r>
            <a:endParaRPr/>
          </a:p>
        </p:txBody>
      </p:sp>
      <p:sp>
        <p:nvSpPr>
          <p:cNvPr id="175" name="Google Shape;175;p2"/>
          <p:cNvSpPr/>
          <p:nvPr/>
        </p:nvSpPr>
        <p:spPr>
          <a:xfrm>
            <a:off x="8065008" y="2066544"/>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543282"/>
                </a:solidFill>
                <a:latin typeface="Times New Roman"/>
                <a:ea typeface="Times New Roman"/>
                <a:cs typeface="Times New Roman"/>
                <a:sym typeface="Times New Roman"/>
              </a:rPr>
              <a:t>p.17</a:t>
            </a:r>
            <a:endParaRPr/>
          </a:p>
        </p:txBody>
      </p:sp>
      <p:sp>
        <p:nvSpPr>
          <p:cNvPr id="176" name="Google Shape;176;p2"/>
          <p:cNvSpPr/>
          <p:nvPr/>
        </p:nvSpPr>
        <p:spPr>
          <a:xfrm>
            <a:off x="4983480" y="2670048"/>
            <a:ext cx="3611880" cy="438912"/>
          </a:xfrm>
          <a:prstGeom prst="roundRect">
            <a:avLst>
              <a:gd fmla="val 50000" name="adj"/>
            </a:avLst>
          </a:prstGeom>
          <a:gradFill rotWithShape="1">
            <a:gsLst>
              <a:gs pos="0">
                <a:srgbClr val="F9EFFE"/>
              </a:gs>
              <a:gs pos="100000">
                <a:srgbClr val="F0D9FD"/>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Limitations</a:t>
            </a:r>
            <a:endParaRPr/>
          </a:p>
        </p:txBody>
      </p:sp>
      <p:sp>
        <p:nvSpPr>
          <p:cNvPr id="177" name="Google Shape;177;p2"/>
          <p:cNvSpPr/>
          <p:nvPr/>
        </p:nvSpPr>
        <p:spPr>
          <a:xfrm>
            <a:off x="4663440" y="2642616"/>
            <a:ext cx="493776" cy="493776"/>
          </a:xfrm>
          <a:prstGeom prst="ellipse">
            <a:avLst/>
          </a:prstGeom>
          <a:gradFill rotWithShape="1">
            <a:gsLst>
              <a:gs pos="0">
                <a:srgbClr val="6E3A98"/>
              </a:gs>
              <a:gs pos="100000">
                <a:srgbClr val="A75EB7"/>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10</a:t>
            </a:r>
            <a:endParaRPr/>
          </a:p>
        </p:txBody>
      </p:sp>
      <p:sp>
        <p:nvSpPr>
          <p:cNvPr id="178" name="Google Shape;178;p2"/>
          <p:cNvSpPr/>
          <p:nvPr/>
        </p:nvSpPr>
        <p:spPr>
          <a:xfrm>
            <a:off x="8065008" y="2724912"/>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602C78"/>
                </a:solidFill>
                <a:latin typeface="Times New Roman"/>
                <a:ea typeface="Times New Roman"/>
                <a:cs typeface="Times New Roman"/>
                <a:sym typeface="Times New Roman"/>
              </a:rPr>
              <a:t>p.18</a:t>
            </a:r>
            <a:endParaRPr/>
          </a:p>
        </p:txBody>
      </p:sp>
      <p:sp>
        <p:nvSpPr>
          <p:cNvPr id="179" name="Google Shape;179;p2"/>
          <p:cNvSpPr/>
          <p:nvPr/>
        </p:nvSpPr>
        <p:spPr>
          <a:xfrm>
            <a:off x="4983480" y="3328416"/>
            <a:ext cx="3611880" cy="438912"/>
          </a:xfrm>
          <a:prstGeom prst="roundRect">
            <a:avLst>
              <a:gd fmla="val 50000" name="adj"/>
            </a:avLst>
          </a:prstGeom>
          <a:gradFill rotWithShape="1">
            <a:gsLst>
              <a:gs pos="0">
                <a:srgbClr val="FEEDFD"/>
              </a:gs>
              <a:gs pos="100000">
                <a:srgbClr val="FAD6F8"/>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Conclusion</a:t>
            </a:r>
            <a:endParaRPr/>
          </a:p>
        </p:txBody>
      </p:sp>
      <p:sp>
        <p:nvSpPr>
          <p:cNvPr id="180" name="Google Shape;180;p2"/>
          <p:cNvSpPr/>
          <p:nvPr/>
        </p:nvSpPr>
        <p:spPr>
          <a:xfrm>
            <a:off x="4663440" y="3300984"/>
            <a:ext cx="493776" cy="493776"/>
          </a:xfrm>
          <a:prstGeom prst="ellipse">
            <a:avLst/>
          </a:prstGeom>
          <a:gradFill rotWithShape="1">
            <a:gsLst>
              <a:gs pos="0">
                <a:srgbClr val="7C348A"/>
              </a:gs>
              <a:gs pos="100000">
                <a:srgbClr val="B459A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11</a:t>
            </a:r>
            <a:endParaRPr/>
          </a:p>
        </p:txBody>
      </p:sp>
      <p:sp>
        <p:nvSpPr>
          <p:cNvPr id="181" name="Google Shape;181;p2"/>
          <p:cNvSpPr/>
          <p:nvPr/>
        </p:nvSpPr>
        <p:spPr>
          <a:xfrm>
            <a:off x="8065008" y="3383280"/>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6A276B"/>
                </a:solidFill>
                <a:latin typeface="Times New Roman"/>
                <a:ea typeface="Times New Roman"/>
                <a:cs typeface="Times New Roman"/>
                <a:sym typeface="Times New Roman"/>
              </a:rPr>
              <a:t>p.19</a:t>
            </a:r>
            <a:endParaRPr/>
          </a:p>
        </p:txBody>
      </p:sp>
      <p:sp>
        <p:nvSpPr>
          <p:cNvPr id="182" name="Google Shape;182;p2"/>
          <p:cNvSpPr/>
          <p:nvPr/>
        </p:nvSpPr>
        <p:spPr>
          <a:xfrm>
            <a:off x="4983480" y="3986784"/>
            <a:ext cx="3611880" cy="438912"/>
          </a:xfrm>
          <a:prstGeom prst="roundRect">
            <a:avLst>
              <a:gd fmla="val 50000" name="adj"/>
            </a:avLst>
          </a:prstGeom>
          <a:gradFill rotWithShape="1">
            <a:gsLst>
              <a:gs pos="0">
                <a:srgbClr val="FFEEF8"/>
              </a:gs>
              <a:gs pos="100000">
                <a:srgbClr val="FED5EE"/>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Future Scope</a:t>
            </a:r>
            <a:endParaRPr/>
          </a:p>
        </p:txBody>
      </p:sp>
      <p:sp>
        <p:nvSpPr>
          <p:cNvPr id="183" name="Google Shape;183;p2"/>
          <p:cNvSpPr/>
          <p:nvPr/>
        </p:nvSpPr>
        <p:spPr>
          <a:xfrm>
            <a:off x="4663440" y="3959352"/>
            <a:ext cx="493776" cy="493776"/>
          </a:xfrm>
          <a:prstGeom prst="ellipse">
            <a:avLst/>
          </a:prstGeom>
          <a:gradFill rotWithShape="1">
            <a:gsLst>
              <a:gs pos="0">
                <a:srgbClr val="872F79"/>
              </a:gs>
              <a:gs pos="100000">
                <a:srgbClr val="BE5590"/>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12</a:t>
            </a:r>
            <a:endParaRPr/>
          </a:p>
        </p:txBody>
      </p:sp>
      <p:sp>
        <p:nvSpPr>
          <p:cNvPr id="184" name="Google Shape;184;p2"/>
          <p:cNvSpPr/>
          <p:nvPr/>
        </p:nvSpPr>
        <p:spPr>
          <a:xfrm>
            <a:off x="8065008" y="4041648"/>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73235C"/>
                </a:solidFill>
                <a:latin typeface="Times New Roman"/>
                <a:ea typeface="Times New Roman"/>
                <a:cs typeface="Times New Roman"/>
                <a:sym typeface="Times New Roman"/>
              </a:rPr>
              <a:t>p.20</a:t>
            </a:r>
            <a:endParaRPr/>
          </a:p>
        </p:txBody>
      </p:sp>
      <p:sp>
        <p:nvSpPr>
          <p:cNvPr id="185" name="Google Shape;185;p2"/>
          <p:cNvSpPr/>
          <p:nvPr/>
        </p:nvSpPr>
        <p:spPr>
          <a:xfrm>
            <a:off x="4983480" y="4645152"/>
            <a:ext cx="3611880" cy="438912"/>
          </a:xfrm>
          <a:prstGeom prst="roundRect">
            <a:avLst>
              <a:gd fmla="val 50000" name="adj"/>
            </a:avLst>
          </a:prstGeom>
          <a:gradFill rotWithShape="1">
            <a:gsLst>
              <a:gs pos="0">
                <a:srgbClr val="FEEFF4"/>
              </a:gs>
              <a:gs pos="100000">
                <a:srgbClr val="FDD7E4"/>
              </a:gs>
            </a:gsLst>
            <a:lin ang="2700000" scaled="0"/>
          </a:gradFill>
          <a:ln>
            <a:noFill/>
          </a:ln>
        </p:spPr>
        <p:txBody>
          <a:bodyPr anchorCtr="0" anchor="ctr" bIns="0" lIns="256025" spcFirstLastPara="1" rIns="566925"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References</a:t>
            </a:r>
            <a:endParaRPr/>
          </a:p>
        </p:txBody>
      </p:sp>
      <p:sp>
        <p:nvSpPr>
          <p:cNvPr id="186" name="Google Shape;186;p2"/>
          <p:cNvSpPr/>
          <p:nvPr/>
        </p:nvSpPr>
        <p:spPr>
          <a:xfrm>
            <a:off x="4663440" y="4617720"/>
            <a:ext cx="493776" cy="493776"/>
          </a:xfrm>
          <a:prstGeom prst="ellipse">
            <a:avLst/>
          </a:prstGeom>
          <a:gradFill rotWithShape="1">
            <a:gsLst>
              <a:gs pos="0">
                <a:srgbClr val="902A66"/>
              </a:gs>
              <a:gs pos="100000">
                <a:srgbClr val="C2548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500"/>
              <a:buFont typeface="Arial"/>
              <a:buNone/>
            </a:pPr>
            <a:r>
              <a:rPr b="1" i="0" lang="en-US" sz="1500" u="none" cap="none" strike="noStrike">
                <a:solidFill>
                  <a:schemeClr val="lt1"/>
                </a:solidFill>
                <a:latin typeface="Times New Roman"/>
                <a:ea typeface="Times New Roman"/>
                <a:cs typeface="Times New Roman"/>
                <a:sym typeface="Times New Roman"/>
              </a:rPr>
              <a:t>13</a:t>
            </a:r>
            <a:endParaRPr/>
          </a:p>
        </p:txBody>
      </p:sp>
      <p:sp>
        <p:nvSpPr>
          <p:cNvPr id="187" name="Google Shape;187;p2"/>
          <p:cNvSpPr/>
          <p:nvPr/>
        </p:nvSpPr>
        <p:spPr>
          <a:xfrm>
            <a:off x="8065008" y="4700016"/>
            <a:ext cx="475488" cy="329184"/>
          </a:xfrm>
          <a:prstGeom prst="roundRect">
            <a:avLst>
              <a:gd fmla="val 50000" name="adj"/>
            </a:avLst>
          </a:prstGeom>
          <a:solidFill>
            <a:srgbClr val="FFFF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rgbClr val="79204B"/>
                </a:solidFill>
                <a:latin typeface="Times New Roman"/>
                <a:ea typeface="Times New Roman"/>
                <a:cs typeface="Times New Roman"/>
                <a:sym typeface="Times New Roman"/>
              </a:rPr>
              <a:t>p.21</a:t>
            </a:r>
            <a:endParaRPr/>
          </a:p>
        </p:txBody>
      </p:sp>
    </p:spTree>
  </p:cSld>
  <p:clrMapOvr>
    <a:masterClrMapping/>
  </p:clrMapOvr>
  <mc:AlternateContent>
    <mc:Choice Requires="p14">
      <p:transition spd="slow" p14:dur="1400">
        <p14:vortex dir="r"/>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900"/>
                                        <p:tgtEl>
                                          <p:spTgt spid="147"/>
                                        </p:tgtEl>
                                      </p:cBhvr>
                                    </p:animEffect>
                                  </p:childTnLst>
                                </p:cTn>
                              </p:par>
                              <p:par>
                                <p:cTn fill="hold" nodeType="with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900"/>
                                        <p:tgtEl>
                                          <p:spTgt spid="148"/>
                                        </p:tgtEl>
                                      </p:cBhvr>
                                    </p:animEffect>
                                  </p:childTnLst>
                                </p:cTn>
                              </p:par>
                              <p:par>
                                <p:cTn fill="hold" nodeType="withEffect" presetClass="entr" presetID="23" presetSubtype="16">
                                  <p:stCondLst>
                                    <p:cond delay="300"/>
                                  </p:stCondLst>
                                  <p:childTnLst>
                                    <p:set>
                                      <p:cBhvr>
                                        <p:cTn dur="1" fill="hold">
                                          <p:stCondLst>
                                            <p:cond delay="0"/>
                                          </p:stCondLst>
                                        </p:cTn>
                                        <p:tgtEl>
                                          <p:spTgt spid="150"/>
                                        </p:tgtEl>
                                        <p:attrNameLst>
                                          <p:attrName>style.visibility</p:attrName>
                                        </p:attrNameLst>
                                      </p:cBhvr>
                                      <p:to>
                                        <p:strVal val="visible"/>
                                      </p:to>
                                    </p:set>
                                    <p:anim calcmode="lin" valueType="num">
                                      <p:cBhvr additive="base">
                                        <p:cTn dur="380"/>
                                        <p:tgtEl>
                                          <p:spTgt spid="150"/>
                                        </p:tgtEl>
                                        <p:attrNameLst>
                                          <p:attrName>ppt_w</p:attrName>
                                        </p:attrNameLst>
                                      </p:cBhvr>
                                      <p:tavLst>
                                        <p:tav fmla="" tm="0">
                                          <p:val>
                                            <p:strVal val="0"/>
                                          </p:val>
                                        </p:tav>
                                        <p:tav fmla="" tm="100000">
                                          <p:val>
                                            <p:strVal val="#ppt_w"/>
                                          </p:val>
                                        </p:tav>
                                      </p:tavLst>
                                    </p:anim>
                                    <p:anim calcmode="lin" valueType="num">
                                      <p:cBhvr additive="base">
                                        <p:cTn dur="380"/>
                                        <p:tgtEl>
                                          <p:spTgt spid="15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80"/>
                                  </p:stCondLst>
                                  <p:childTnLst>
                                    <p:set>
                                      <p:cBhvr>
                                        <p:cTn dur="1" fill="hold">
                                          <p:stCondLst>
                                            <p:cond delay="0"/>
                                          </p:stCondLst>
                                        </p:cTn>
                                        <p:tgtEl>
                                          <p:spTgt spid="149"/>
                                        </p:tgtEl>
                                        <p:attrNameLst>
                                          <p:attrName>style.visibility</p:attrName>
                                        </p:attrNameLst>
                                      </p:cBhvr>
                                      <p:to>
                                        <p:strVal val="visible"/>
                                      </p:to>
                                    </p:set>
                                    <p:animEffect filter="fade" transition="in">
                                      <p:cBhvr>
                                        <p:cTn dur="450"/>
                                        <p:tgtEl>
                                          <p:spTgt spid="149"/>
                                        </p:tgtEl>
                                      </p:cBhvr>
                                    </p:animEffect>
                                  </p:childTnLst>
                                </p:cTn>
                              </p:par>
                              <p:par>
                                <p:cTn fill="hold" nodeType="withEffect" presetClass="entr" presetID="10" presetSubtype="0">
                                  <p:stCondLst>
                                    <p:cond delay="380"/>
                                  </p:stCondLst>
                                  <p:childTnLst>
                                    <p:set>
                                      <p:cBhvr>
                                        <p:cTn dur="1" fill="hold">
                                          <p:stCondLst>
                                            <p:cond delay="0"/>
                                          </p:stCondLst>
                                        </p:cTn>
                                        <p:tgtEl>
                                          <p:spTgt spid="151"/>
                                        </p:tgtEl>
                                        <p:attrNameLst>
                                          <p:attrName>style.visibility</p:attrName>
                                        </p:attrNameLst>
                                      </p:cBhvr>
                                      <p:to>
                                        <p:strVal val="visible"/>
                                      </p:to>
                                    </p:set>
                                    <p:animEffect filter="fade" transition="in">
                                      <p:cBhvr>
                                        <p:cTn dur="450"/>
                                        <p:tgtEl>
                                          <p:spTgt spid="151"/>
                                        </p:tgtEl>
                                      </p:cBhvr>
                                    </p:animEffect>
                                  </p:childTnLst>
                                </p:cTn>
                              </p:par>
                              <p:par>
                                <p:cTn fill="hold" nodeType="withEffect" presetClass="entr" presetID="23" presetSubtype="16">
                                  <p:stCondLst>
                                    <p:cond delay="47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380"/>
                                        <p:tgtEl>
                                          <p:spTgt spid="153"/>
                                        </p:tgtEl>
                                        <p:attrNameLst>
                                          <p:attrName>ppt_w</p:attrName>
                                        </p:attrNameLst>
                                      </p:cBhvr>
                                      <p:tavLst>
                                        <p:tav fmla="" tm="0">
                                          <p:val>
                                            <p:strVal val="0"/>
                                          </p:val>
                                        </p:tav>
                                        <p:tav fmla="" tm="100000">
                                          <p:val>
                                            <p:strVal val="#ppt_w"/>
                                          </p:val>
                                        </p:tav>
                                      </p:tavLst>
                                    </p:anim>
                                    <p:anim calcmode="lin" valueType="num">
                                      <p:cBhvr additive="base">
                                        <p:cTn dur="380"/>
                                        <p:tgtEl>
                                          <p:spTgt spid="1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50"/>
                                  </p:stCondLst>
                                  <p:childTnLst>
                                    <p:set>
                                      <p:cBhvr>
                                        <p:cTn dur="1" fill="hold">
                                          <p:stCondLst>
                                            <p:cond delay="0"/>
                                          </p:stCondLst>
                                        </p:cTn>
                                        <p:tgtEl>
                                          <p:spTgt spid="152"/>
                                        </p:tgtEl>
                                        <p:attrNameLst>
                                          <p:attrName>style.visibility</p:attrName>
                                        </p:attrNameLst>
                                      </p:cBhvr>
                                      <p:to>
                                        <p:strVal val="visible"/>
                                      </p:to>
                                    </p:set>
                                    <p:animEffect filter="fade" transition="in">
                                      <p:cBhvr>
                                        <p:cTn dur="450"/>
                                        <p:tgtEl>
                                          <p:spTgt spid="152"/>
                                        </p:tgtEl>
                                      </p:cBhvr>
                                    </p:animEffect>
                                  </p:childTnLst>
                                </p:cTn>
                              </p:par>
                              <p:par>
                                <p:cTn fill="hold" nodeType="withEffect" presetClass="entr" presetID="10" presetSubtype="0">
                                  <p:stCondLst>
                                    <p:cond delay="550"/>
                                  </p:stCondLst>
                                  <p:childTnLst>
                                    <p:set>
                                      <p:cBhvr>
                                        <p:cTn dur="1" fill="hold">
                                          <p:stCondLst>
                                            <p:cond delay="0"/>
                                          </p:stCondLst>
                                        </p:cTn>
                                        <p:tgtEl>
                                          <p:spTgt spid="154"/>
                                        </p:tgtEl>
                                        <p:attrNameLst>
                                          <p:attrName>style.visibility</p:attrName>
                                        </p:attrNameLst>
                                      </p:cBhvr>
                                      <p:to>
                                        <p:strVal val="visible"/>
                                      </p:to>
                                    </p:set>
                                    <p:animEffect filter="fade" transition="in">
                                      <p:cBhvr>
                                        <p:cTn dur="450"/>
                                        <p:tgtEl>
                                          <p:spTgt spid="154"/>
                                        </p:tgtEl>
                                      </p:cBhvr>
                                    </p:animEffect>
                                  </p:childTnLst>
                                </p:cTn>
                              </p:par>
                              <p:par>
                                <p:cTn fill="hold" nodeType="withEffect" presetClass="entr" presetID="23" presetSubtype="16">
                                  <p:stCondLst>
                                    <p:cond delay="640"/>
                                  </p:stCondLst>
                                  <p:childTnLst>
                                    <p:set>
                                      <p:cBhvr>
                                        <p:cTn dur="1" fill="hold">
                                          <p:stCondLst>
                                            <p:cond delay="0"/>
                                          </p:stCondLst>
                                        </p:cTn>
                                        <p:tgtEl>
                                          <p:spTgt spid="156"/>
                                        </p:tgtEl>
                                        <p:attrNameLst>
                                          <p:attrName>style.visibility</p:attrName>
                                        </p:attrNameLst>
                                      </p:cBhvr>
                                      <p:to>
                                        <p:strVal val="visible"/>
                                      </p:to>
                                    </p:set>
                                    <p:anim calcmode="lin" valueType="num">
                                      <p:cBhvr additive="base">
                                        <p:cTn dur="380"/>
                                        <p:tgtEl>
                                          <p:spTgt spid="156"/>
                                        </p:tgtEl>
                                        <p:attrNameLst>
                                          <p:attrName>ppt_w</p:attrName>
                                        </p:attrNameLst>
                                      </p:cBhvr>
                                      <p:tavLst>
                                        <p:tav fmla="" tm="0">
                                          <p:val>
                                            <p:strVal val="0"/>
                                          </p:val>
                                        </p:tav>
                                        <p:tav fmla="" tm="100000">
                                          <p:val>
                                            <p:strVal val="#ppt_w"/>
                                          </p:val>
                                        </p:tav>
                                      </p:tavLst>
                                    </p:anim>
                                    <p:anim calcmode="lin" valueType="num">
                                      <p:cBhvr additive="base">
                                        <p:cTn dur="380"/>
                                        <p:tgtEl>
                                          <p:spTgt spid="15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20"/>
                                  </p:stCondLst>
                                  <p:childTnLst>
                                    <p:set>
                                      <p:cBhvr>
                                        <p:cTn dur="1" fill="hold">
                                          <p:stCondLst>
                                            <p:cond delay="0"/>
                                          </p:stCondLst>
                                        </p:cTn>
                                        <p:tgtEl>
                                          <p:spTgt spid="155"/>
                                        </p:tgtEl>
                                        <p:attrNameLst>
                                          <p:attrName>style.visibility</p:attrName>
                                        </p:attrNameLst>
                                      </p:cBhvr>
                                      <p:to>
                                        <p:strVal val="visible"/>
                                      </p:to>
                                    </p:set>
                                    <p:animEffect filter="fade" transition="in">
                                      <p:cBhvr>
                                        <p:cTn dur="450"/>
                                        <p:tgtEl>
                                          <p:spTgt spid="155"/>
                                        </p:tgtEl>
                                      </p:cBhvr>
                                    </p:animEffect>
                                  </p:childTnLst>
                                </p:cTn>
                              </p:par>
                              <p:par>
                                <p:cTn fill="hold" nodeType="withEffect" presetClass="entr" presetID="10" presetSubtype="0">
                                  <p:stCondLst>
                                    <p:cond delay="720"/>
                                  </p:stCondLst>
                                  <p:childTnLst>
                                    <p:set>
                                      <p:cBhvr>
                                        <p:cTn dur="1" fill="hold">
                                          <p:stCondLst>
                                            <p:cond delay="0"/>
                                          </p:stCondLst>
                                        </p:cTn>
                                        <p:tgtEl>
                                          <p:spTgt spid="157"/>
                                        </p:tgtEl>
                                        <p:attrNameLst>
                                          <p:attrName>style.visibility</p:attrName>
                                        </p:attrNameLst>
                                      </p:cBhvr>
                                      <p:to>
                                        <p:strVal val="visible"/>
                                      </p:to>
                                    </p:set>
                                    <p:animEffect filter="fade" transition="in">
                                      <p:cBhvr>
                                        <p:cTn dur="450"/>
                                        <p:tgtEl>
                                          <p:spTgt spid="157"/>
                                        </p:tgtEl>
                                      </p:cBhvr>
                                    </p:animEffect>
                                  </p:childTnLst>
                                </p:cTn>
                              </p:par>
                              <p:par>
                                <p:cTn fill="hold" nodeType="withEffect" presetClass="entr" presetID="23" presetSubtype="16">
                                  <p:stCondLst>
                                    <p:cond delay="810"/>
                                  </p:stCondLst>
                                  <p:childTnLst>
                                    <p:set>
                                      <p:cBhvr>
                                        <p:cTn dur="1" fill="hold">
                                          <p:stCondLst>
                                            <p:cond delay="0"/>
                                          </p:stCondLst>
                                        </p:cTn>
                                        <p:tgtEl>
                                          <p:spTgt spid="159"/>
                                        </p:tgtEl>
                                        <p:attrNameLst>
                                          <p:attrName>style.visibility</p:attrName>
                                        </p:attrNameLst>
                                      </p:cBhvr>
                                      <p:to>
                                        <p:strVal val="visible"/>
                                      </p:to>
                                    </p:set>
                                    <p:anim calcmode="lin" valueType="num">
                                      <p:cBhvr additive="base">
                                        <p:cTn dur="380"/>
                                        <p:tgtEl>
                                          <p:spTgt spid="159"/>
                                        </p:tgtEl>
                                        <p:attrNameLst>
                                          <p:attrName>ppt_w</p:attrName>
                                        </p:attrNameLst>
                                      </p:cBhvr>
                                      <p:tavLst>
                                        <p:tav fmla="" tm="0">
                                          <p:val>
                                            <p:strVal val="0"/>
                                          </p:val>
                                        </p:tav>
                                        <p:tav fmla="" tm="100000">
                                          <p:val>
                                            <p:strVal val="#ppt_w"/>
                                          </p:val>
                                        </p:tav>
                                      </p:tavLst>
                                    </p:anim>
                                    <p:anim calcmode="lin" valueType="num">
                                      <p:cBhvr additive="base">
                                        <p:cTn dur="380"/>
                                        <p:tgtEl>
                                          <p:spTgt spid="15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890"/>
                                  </p:stCondLst>
                                  <p:childTnLst>
                                    <p:set>
                                      <p:cBhvr>
                                        <p:cTn dur="1" fill="hold">
                                          <p:stCondLst>
                                            <p:cond delay="0"/>
                                          </p:stCondLst>
                                        </p:cTn>
                                        <p:tgtEl>
                                          <p:spTgt spid="158"/>
                                        </p:tgtEl>
                                        <p:attrNameLst>
                                          <p:attrName>style.visibility</p:attrName>
                                        </p:attrNameLst>
                                      </p:cBhvr>
                                      <p:to>
                                        <p:strVal val="visible"/>
                                      </p:to>
                                    </p:set>
                                    <p:animEffect filter="fade" transition="in">
                                      <p:cBhvr>
                                        <p:cTn dur="450"/>
                                        <p:tgtEl>
                                          <p:spTgt spid="158"/>
                                        </p:tgtEl>
                                      </p:cBhvr>
                                    </p:animEffect>
                                  </p:childTnLst>
                                </p:cTn>
                              </p:par>
                              <p:par>
                                <p:cTn fill="hold" nodeType="withEffect" presetClass="entr" presetID="10" presetSubtype="0">
                                  <p:stCondLst>
                                    <p:cond delay="890"/>
                                  </p:stCondLst>
                                  <p:childTnLst>
                                    <p:set>
                                      <p:cBhvr>
                                        <p:cTn dur="1" fill="hold">
                                          <p:stCondLst>
                                            <p:cond delay="0"/>
                                          </p:stCondLst>
                                        </p:cTn>
                                        <p:tgtEl>
                                          <p:spTgt spid="160"/>
                                        </p:tgtEl>
                                        <p:attrNameLst>
                                          <p:attrName>style.visibility</p:attrName>
                                        </p:attrNameLst>
                                      </p:cBhvr>
                                      <p:to>
                                        <p:strVal val="visible"/>
                                      </p:to>
                                    </p:set>
                                    <p:animEffect filter="fade" transition="in">
                                      <p:cBhvr>
                                        <p:cTn dur="450"/>
                                        <p:tgtEl>
                                          <p:spTgt spid="160"/>
                                        </p:tgtEl>
                                      </p:cBhvr>
                                    </p:animEffect>
                                  </p:childTnLst>
                                </p:cTn>
                              </p:par>
                              <p:par>
                                <p:cTn fill="hold" nodeType="withEffect" presetClass="entr" presetID="23" presetSubtype="16">
                                  <p:stCondLst>
                                    <p:cond delay="980"/>
                                  </p:stCondLst>
                                  <p:childTnLst>
                                    <p:set>
                                      <p:cBhvr>
                                        <p:cTn dur="1" fill="hold">
                                          <p:stCondLst>
                                            <p:cond delay="0"/>
                                          </p:stCondLst>
                                        </p:cTn>
                                        <p:tgtEl>
                                          <p:spTgt spid="162"/>
                                        </p:tgtEl>
                                        <p:attrNameLst>
                                          <p:attrName>style.visibility</p:attrName>
                                        </p:attrNameLst>
                                      </p:cBhvr>
                                      <p:to>
                                        <p:strVal val="visible"/>
                                      </p:to>
                                    </p:set>
                                    <p:anim calcmode="lin" valueType="num">
                                      <p:cBhvr additive="base">
                                        <p:cTn dur="380"/>
                                        <p:tgtEl>
                                          <p:spTgt spid="162"/>
                                        </p:tgtEl>
                                        <p:attrNameLst>
                                          <p:attrName>ppt_w</p:attrName>
                                        </p:attrNameLst>
                                      </p:cBhvr>
                                      <p:tavLst>
                                        <p:tav fmla="" tm="0">
                                          <p:val>
                                            <p:strVal val="0"/>
                                          </p:val>
                                        </p:tav>
                                        <p:tav fmla="" tm="100000">
                                          <p:val>
                                            <p:strVal val="#ppt_w"/>
                                          </p:val>
                                        </p:tav>
                                      </p:tavLst>
                                    </p:anim>
                                    <p:anim calcmode="lin" valueType="num">
                                      <p:cBhvr additive="base">
                                        <p:cTn dur="380"/>
                                        <p:tgtEl>
                                          <p:spTgt spid="16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60"/>
                                  </p:stCondLst>
                                  <p:childTnLst>
                                    <p:set>
                                      <p:cBhvr>
                                        <p:cTn dur="1" fill="hold">
                                          <p:stCondLst>
                                            <p:cond delay="0"/>
                                          </p:stCondLst>
                                        </p:cTn>
                                        <p:tgtEl>
                                          <p:spTgt spid="161"/>
                                        </p:tgtEl>
                                        <p:attrNameLst>
                                          <p:attrName>style.visibility</p:attrName>
                                        </p:attrNameLst>
                                      </p:cBhvr>
                                      <p:to>
                                        <p:strVal val="visible"/>
                                      </p:to>
                                    </p:set>
                                    <p:animEffect filter="fade" transition="in">
                                      <p:cBhvr>
                                        <p:cTn dur="450"/>
                                        <p:tgtEl>
                                          <p:spTgt spid="161"/>
                                        </p:tgtEl>
                                      </p:cBhvr>
                                    </p:animEffect>
                                  </p:childTnLst>
                                </p:cTn>
                              </p:par>
                              <p:par>
                                <p:cTn fill="hold" nodeType="withEffect" presetClass="entr" presetID="10" presetSubtype="0">
                                  <p:stCondLst>
                                    <p:cond delay="1060"/>
                                  </p:stCondLst>
                                  <p:childTnLst>
                                    <p:set>
                                      <p:cBhvr>
                                        <p:cTn dur="1" fill="hold">
                                          <p:stCondLst>
                                            <p:cond delay="0"/>
                                          </p:stCondLst>
                                        </p:cTn>
                                        <p:tgtEl>
                                          <p:spTgt spid="163"/>
                                        </p:tgtEl>
                                        <p:attrNameLst>
                                          <p:attrName>style.visibility</p:attrName>
                                        </p:attrNameLst>
                                      </p:cBhvr>
                                      <p:to>
                                        <p:strVal val="visible"/>
                                      </p:to>
                                    </p:set>
                                    <p:animEffect filter="fade" transition="in">
                                      <p:cBhvr>
                                        <p:cTn dur="450"/>
                                        <p:tgtEl>
                                          <p:spTgt spid="163"/>
                                        </p:tgtEl>
                                      </p:cBhvr>
                                    </p:animEffect>
                                  </p:childTnLst>
                                </p:cTn>
                              </p:par>
                              <p:par>
                                <p:cTn fill="hold" nodeType="withEffect" presetClass="entr" presetID="23" presetSubtype="16">
                                  <p:stCondLst>
                                    <p:cond delay="1150"/>
                                  </p:stCondLst>
                                  <p:childTnLst>
                                    <p:set>
                                      <p:cBhvr>
                                        <p:cTn dur="1" fill="hold">
                                          <p:stCondLst>
                                            <p:cond delay="0"/>
                                          </p:stCondLst>
                                        </p:cTn>
                                        <p:tgtEl>
                                          <p:spTgt spid="165"/>
                                        </p:tgtEl>
                                        <p:attrNameLst>
                                          <p:attrName>style.visibility</p:attrName>
                                        </p:attrNameLst>
                                      </p:cBhvr>
                                      <p:to>
                                        <p:strVal val="visible"/>
                                      </p:to>
                                    </p:set>
                                    <p:anim calcmode="lin" valueType="num">
                                      <p:cBhvr additive="base">
                                        <p:cTn dur="380"/>
                                        <p:tgtEl>
                                          <p:spTgt spid="165"/>
                                        </p:tgtEl>
                                        <p:attrNameLst>
                                          <p:attrName>ppt_w</p:attrName>
                                        </p:attrNameLst>
                                      </p:cBhvr>
                                      <p:tavLst>
                                        <p:tav fmla="" tm="0">
                                          <p:val>
                                            <p:strVal val="0"/>
                                          </p:val>
                                        </p:tav>
                                        <p:tav fmla="" tm="100000">
                                          <p:val>
                                            <p:strVal val="#ppt_w"/>
                                          </p:val>
                                        </p:tav>
                                      </p:tavLst>
                                    </p:anim>
                                    <p:anim calcmode="lin" valueType="num">
                                      <p:cBhvr additive="base">
                                        <p:cTn dur="380"/>
                                        <p:tgtEl>
                                          <p:spTgt spid="16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230"/>
                                  </p:stCondLst>
                                  <p:childTnLst>
                                    <p:set>
                                      <p:cBhvr>
                                        <p:cTn dur="1" fill="hold">
                                          <p:stCondLst>
                                            <p:cond delay="0"/>
                                          </p:stCondLst>
                                        </p:cTn>
                                        <p:tgtEl>
                                          <p:spTgt spid="164"/>
                                        </p:tgtEl>
                                        <p:attrNameLst>
                                          <p:attrName>style.visibility</p:attrName>
                                        </p:attrNameLst>
                                      </p:cBhvr>
                                      <p:to>
                                        <p:strVal val="visible"/>
                                      </p:to>
                                    </p:set>
                                    <p:animEffect filter="fade" transition="in">
                                      <p:cBhvr>
                                        <p:cTn dur="450"/>
                                        <p:tgtEl>
                                          <p:spTgt spid="164"/>
                                        </p:tgtEl>
                                      </p:cBhvr>
                                    </p:animEffect>
                                  </p:childTnLst>
                                </p:cTn>
                              </p:par>
                              <p:par>
                                <p:cTn fill="hold" nodeType="withEffect" presetClass="entr" presetID="10" presetSubtype="0">
                                  <p:stCondLst>
                                    <p:cond delay="1230"/>
                                  </p:stCondLst>
                                  <p:childTnLst>
                                    <p:set>
                                      <p:cBhvr>
                                        <p:cTn dur="1" fill="hold">
                                          <p:stCondLst>
                                            <p:cond delay="0"/>
                                          </p:stCondLst>
                                        </p:cTn>
                                        <p:tgtEl>
                                          <p:spTgt spid="166"/>
                                        </p:tgtEl>
                                        <p:attrNameLst>
                                          <p:attrName>style.visibility</p:attrName>
                                        </p:attrNameLst>
                                      </p:cBhvr>
                                      <p:to>
                                        <p:strVal val="visible"/>
                                      </p:to>
                                    </p:set>
                                    <p:animEffect filter="fade" transition="in">
                                      <p:cBhvr>
                                        <p:cTn dur="450"/>
                                        <p:tgtEl>
                                          <p:spTgt spid="166"/>
                                        </p:tgtEl>
                                      </p:cBhvr>
                                    </p:animEffect>
                                  </p:childTnLst>
                                </p:cTn>
                              </p:par>
                              <p:par>
                                <p:cTn fill="hold" nodeType="withEffect" presetClass="entr" presetID="23" presetSubtype="16">
                                  <p:stCondLst>
                                    <p:cond delay="1320"/>
                                  </p:stCondLst>
                                  <p:childTnLst>
                                    <p:set>
                                      <p:cBhvr>
                                        <p:cTn dur="1" fill="hold">
                                          <p:stCondLst>
                                            <p:cond delay="0"/>
                                          </p:stCondLst>
                                        </p:cTn>
                                        <p:tgtEl>
                                          <p:spTgt spid="168"/>
                                        </p:tgtEl>
                                        <p:attrNameLst>
                                          <p:attrName>style.visibility</p:attrName>
                                        </p:attrNameLst>
                                      </p:cBhvr>
                                      <p:to>
                                        <p:strVal val="visible"/>
                                      </p:to>
                                    </p:set>
                                    <p:anim calcmode="lin" valueType="num">
                                      <p:cBhvr additive="base">
                                        <p:cTn dur="380"/>
                                        <p:tgtEl>
                                          <p:spTgt spid="168"/>
                                        </p:tgtEl>
                                        <p:attrNameLst>
                                          <p:attrName>ppt_w</p:attrName>
                                        </p:attrNameLst>
                                      </p:cBhvr>
                                      <p:tavLst>
                                        <p:tav fmla="" tm="0">
                                          <p:val>
                                            <p:strVal val="0"/>
                                          </p:val>
                                        </p:tav>
                                        <p:tav fmla="" tm="100000">
                                          <p:val>
                                            <p:strVal val="#ppt_w"/>
                                          </p:val>
                                        </p:tav>
                                      </p:tavLst>
                                    </p:anim>
                                    <p:anim calcmode="lin" valueType="num">
                                      <p:cBhvr additive="base">
                                        <p:cTn dur="380"/>
                                        <p:tgtEl>
                                          <p:spTgt spid="16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400"/>
                                  </p:stCondLst>
                                  <p:childTnLst>
                                    <p:set>
                                      <p:cBhvr>
                                        <p:cTn dur="1" fill="hold">
                                          <p:stCondLst>
                                            <p:cond delay="0"/>
                                          </p:stCondLst>
                                        </p:cTn>
                                        <p:tgtEl>
                                          <p:spTgt spid="167"/>
                                        </p:tgtEl>
                                        <p:attrNameLst>
                                          <p:attrName>style.visibility</p:attrName>
                                        </p:attrNameLst>
                                      </p:cBhvr>
                                      <p:to>
                                        <p:strVal val="visible"/>
                                      </p:to>
                                    </p:set>
                                    <p:animEffect filter="fade" transition="in">
                                      <p:cBhvr>
                                        <p:cTn dur="450"/>
                                        <p:tgtEl>
                                          <p:spTgt spid="167"/>
                                        </p:tgtEl>
                                      </p:cBhvr>
                                    </p:animEffect>
                                  </p:childTnLst>
                                </p:cTn>
                              </p:par>
                              <p:par>
                                <p:cTn fill="hold" nodeType="withEffect" presetClass="entr" presetID="10" presetSubtype="0">
                                  <p:stCondLst>
                                    <p:cond delay="1400"/>
                                  </p:stCondLst>
                                  <p:childTnLst>
                                    <p:set>
                                      <p:cBhvr>
                                        <p:cTn dur="1" fill="hold">
                                          <p:stCondLst>
                                            <p:cond delay="0"/>
                                          </p:stCondLst>
                                        </p:cTn>
                                        <p:tgtEl>
                                          <p:spTgt spid="169"/>
                                        </p:tgtEl>
                                        <p:attrNameLst>
                                          <p:attrName>style.visibility</p:attrName>
                                        </p:attrNameLst>
                                      </p:cBhvr>
                                      <p:to>
                                        <p:strVal val="visible"/>
                                      </p:to>
                                    </p:set>
                                    <p:animEffect filter="fade" transition="in">
                                      <p:cBhvr>
                                        <p:cTn dur="450"/>
                                        <p:tgtEl>
                                          <p:spTgt spid="169"/>
                                        </p:tgtEl>
                                      </p:cBhvr>
                                    </p:animEffect>
                                  </p:childTnLst>
                                </p:cTn>
                              </p:par>
                              <p:par>
                                <p:cTn fill="hold" nodeType="withEffect" presetClass="entr" presetID="23" presetSubtype="16">
                                  <p:stCondLst>
                                    <p:cond delay="1490"/>
                                  </p:stCondLst>
                                  <p:childTnLst>
                                    <p:set>
                                      <p:cBhvr>
                                        <p:cTn dur="1" fill="hold">
                                          <p:stCondLst>
                                            <p:cond delay="0"/>
                                          </p:stCondLst>
                                        </p:cTn>
                                        <p:tgtEl>
                                          <p:spTgt spid="171"/>
                                        </p:tgtEl>
                                        <p:attrNameLst>
                                          <p:attrName>style.visibility</p:attrName>
                                        </p:attrNameLst>
                                      </p:cBhvr>
                                      <p:to>
                                        <p:strVal val="visible"/>
                                      </p:to>
                                    </p:set>
                                    <p:anim calcmode="lin" valueType="num">
                                      <p:cBhvr additive="base">
                                        <p:cTn dur="380"/>
                                        <p:tgtEl>
                                          <p:spTgt spid="171"/>
                                        </p:tgtEl>
                                        <p:attrNameLst>
                                          <p:attrName>ppt_w</p:attrName>
                                        </p:attrNameLst>
                                      </p:cBhvr>
                                      <p:tavLst>
                                        <p:tav fmla="" tm="0">
                                          <p:val>
                                            <p:strVal val="0"/>
                                          </p:val>
                                        </p:tav>
                                        <p:tav fmla="" tm="100000">
                                          <p:val>
                                            <p:strVal val="#ppt_w"/>
                                          </p:val>
                                        </p:tav>
                                      </p:tavLst>
                                    </p:anim>
                                    <p:anim calcmode="lin" valueType="num">
                                      <p:cBhvr additive="base">
                                        <p:cTn dur="380"/>
                                        <p:tgtEl>
                                          <p:spTgt spid="17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570"/>
                                  </p:stCondLst>
                                  <p:childTnLst>
                                    <p:set>
                                      <p:cBhvr>
                                        <p:cTn dur="1" fill="hold">
                                          <p:stCondLst>
                                            <p:cond delay="0"/>
                                          </p:stCondLst>
                                        </p:cTn>
                                        <p:tgtEl>
                                          <p:spTgt spid="170"/>
                                        </p:tgtEl>
                                        <p:attrNameLst>
                                          <p:attrName>style.visibility</p:attrName>
                                        </p:attrNameLst>
                                      </p:cBhvr>
                                      <p:to>
                                        <p:strVal val="visible"/>
                                      </p:to>
                                    </p:set>
                                    <p:animEffect filter="fade" transition="in">
                                      <p:cBhvr>
                                        <p:cTn dur="450"/>
                                        <p:tgtEl>
                                          <p:spTgt spid="170"/>
                                        </p:tgtEl>
                                      </p:cBhvr>
                                    </p:animEffect>
                                  </p:childTnLst>
                                </p:cTn>
                              </p:par>
                              <p:par>
                                <p:cTn fill="hold" nodeType="withEffect" presetClass="entr" presetID="10" presetSubtype="0">
                                  <p:stCondLst>
                                    <p:cond delay="1570"/>
                                  </p:stCondLst>
                                  <p:childTnLst>
                                    <p:set>
                                      <p:cBhvr>
                                        <p:cTn dur="1" fill="hold">
                                          <p:stCondLst>
                                            <p:cond delay="0"/>
                                          </p:stCondLst>
                                        </p:cTn>
                                        <p:tgtEl>
                                          <p:spTgt spid="172"/>
                                        </p:tgtEl>
                                        <p:attrNameLst>
                                          <p:attrName>style.visibility</p:attrName>
                                        </p:attrNameLst>
                                      </p:cBhvr>
                                      <p:to>
                                        <p:strVal val="visible"/>
                                      </p:to>
                                    </p:set>
                                    <p:animEffect filter="fade" transition="in">
                                      <p:cBhvr>
                                        <p:cTn dur="450"/>
                                        <p:tgtEl>
                                          <p:spTgt spid="172"/>
                                        </p:tgtEl>
                                      </p:cBhvr>
                                    </p:animEffect>
                                  </p:childTnLst>
                                </p:cTn>
                              </p:par>
                              <p:par>
                                <p:cTn fill="hold" nodeType="withEffect" presetClass="entr" presetID="23" presetSubtype="16">
                                  <p:stCondLst>
                                    <p:cond delay="1660"/>
                                  </p:stCondLst>
                                  <p:childTnLst>
                                    <p:set>
                                      <p:cBhvr>
                                        <p:cTn dur="1" fill="hold">
                                          <p:stCondLst>
                                            <p:cond delay="0"/>
                                          </p:stCondLst>
                                        </p:cTn>
                                        <p:tgtEl>
                                          <p:spTgt spid="174"/>
                                        </p:tgtEl>
                                        <p:attrNameLst>
                                          <p:attrName>style.visibility</p:attrName>
                                        </p:attrNameLst>
                                      </p:cBhvr>
                                      <p:to>
                                        <p:strVal val="visible"/>
                                      </p:to>
                                    </p:set>
                                    <p:anim calcmode="lin" valueType="num">
                                      <p:cBhvr additive="base">
                                        <p:cTn dur="380"/>
                                        <p:tgtEl>
                                          <p:spTgt spid="174"/>
                                        </p:tgtEl>
                                        <p:attrNameLst>
                                          <p:attrName>ppt_w</p:attrName>
                                        </p:attrNameLst>
                                      </p:cBhvr>
                                      <p:tavLst>
                                        <p:tav fmla="" tm="0">
                                          <p:val>
                                            <p:strVal val="0"/>
                                          </p:val>
                                        </p:tav>
                                        <p:tav fmla="" tm="100000">
                                          <p:val>
                                            <p:strVal val="#ppt_w"/>
                                          </p:val>
                                        </p:tav>
                                      </p:tavLst>
                                    </p:anim>
                                    <p:anim calcmode="lin" valueType="num">
                                      <p:cBhvr additive="base">
                                        <p:cTn dur="380"/>
                                        <p:tgtEl>
                                          <p:spTgt spid="17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740"/>
                                  </p:stCondLst>
                                  <p:childTnLst>
                                    <p:set>
                                      <p:cBhvr>
                                        <p:cTn dur="1" fill="hold">
                                          <p:stCondLst>
                                            <p:cond delay="0"/>
                                          </p:stCondLst>
                                        </p:cTn>
                                        <p:tgtEl>
                                          <p:spTgt spid="173"/>
                                        </p:tgtEl>
                                        <p:attrNameLst>
                                          <p:attrName>style.visibility</p:attrName>
                                        </p:attrNameLst>
                                      </p:cBhvr>
                                      <p:to>
                                        <p:strVal val="visible"/>
                                      </p:to>
                                    </p:set>
                                    <p:animEffect filter="fade" transition="in">
                                      <p:cBhvr>
                                        <p:cTn dur="450"/>
                                        <p:tgtEl>
                                          <p:spTgt spid="173"/>
                                        </p:tgtEl>
                                      </p:cBhvr>
                                    </p:animEffect>
                                  </p:childTnLst>
                                </p:cTn>
                              </p:par>
                              <p:par>
                                <p:cTn fill="hold" nodeType="withEffect" presetClass="entr" presetID="10" presetSubtype="0">
                                  <p:stCondLst>
                                    <p:cond delay="1740"/>
                                  </p:stCondLst>
                                  <p:childTnLst>
                                    <p:set>
                                      <p:cBhvr>
                                        <p:cTn dur="1" fill="hold">
                                          <p:stCondLst>
                                            <p:cond delay="0"/>
                                          </p:stCondLst>
                                        </p:cTn>
                                        <p:tgtEl>
                                          <p:spTgt spid="175"/>
                                        </p:tgtEl>
                                        <p:attrNameLst>
                                          <p:attrName>style.visibility</p:attrName>
                                        </p:attrNameLst>
                                      </p:cBhvr>
                                      <p:to>
                                        <p:strVal val="visible"/>
                                      </p:to>
                                    </p:set>
                                    <p:animEffect filter="fade" transition="in">
                                      <p:cBhvr>
                                        <p:cTn dur="450"/>
                                        <p:tgtEl>
                                          <p:spTgt spid="175"/>
                                        </p:tgtEl>
                                      </p:cBhvr>
                                    </p:animEffect>
                                  </p:childTnLst>
                                </p:cTn>
                              </p:par>
                              <p:par>
                                <p:cTn fill="hold" nodeType="withEffect" presetClass="entr" presetID="23" presetSubtype="16">
                                  <p:stCondLst>
                                    <p:cond delay="183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380"/>
                                        <p:tgtEl>
                                          <p:spTgt spid="177"/>
                                        </p:tgtEl>
                                        <p:attrNameLst>
                                          <p:attrName>ppt_w</p:attrName>
                                        </p:attrNameLst>
                                      </p:cBhvr>
                                      <p:tavLst>
                                        <p:tav fmla="" tm="0">
                                          <p:val>
                                            <p:strVal val="0"/>
                                          </p:val>
                                        </p:tav>
                                        <p:tav fmla="" tm="100000">
                                          <p:val>
                                            <p:strVal val="#ppt_w"/>
                                          </p:val>
                                        </p:tav>
                                      </p:tavLst>
                                    </p:anim>
                                    <p:anim calcmode="lin" valueType="num">
                                      <p:cBhvr additive="base">
                                        <p:cTn dur="380"/>
                                        <p:tgtEl>
                                          <p:spTgt spid="17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910"/>
                                  </p:stCondLst>
                                  <p:childTnLst>
                                    <p:set>
                                      <p:cBhvr>
                                        <p:cTn dur="1" fill="hold">
                                          <p:stCondLst>
                                            <p:cond delay="0"/>
                                          </p:stCondLst>
                                        </p:cTn>
                                        <p:tgtEl>
                                          <p:spTgt spid="176"/>
                                        </p:tgtEl>
                                        <p:attrNameLst>
                                          <p:attrName>style.visibility</p:attrName>
                                        </p:attrNameLst>
                                      </p:cBhvr>
                                      <p:to>
                                        <p:strVal val="visible"/>
                                      </p:to>
                                    </p:set>
                                    <p:animEffect filter="fade" transition="in">
                                      <p:cBhvr>
                                        <p:cTn dur="450"/>
                                        <p:tgtEl>
                                          <p:spTgt spid="176"/>
                                        </p:tgtEl>
                                      </p:cBhvr>
                                    </p:animEffect>
                                  </p:childTnLst>
                                </p:cTn>
                              </p:par>
                              <p:par>
                                <p:cTn fill="hold" nodeType="withEffect" presetClass="entr" presetID="10" presetSubtype="0">
                                  <p:stCondLst>
                                    <p:cond delay="1910"/>
                                  </p:stCondLst>
                                  <p:childTnLst>
                                    <p:set>
                                      <p:cBhvr>
                                        <p:cTn dur="1" fill="hold">
                                          <p:stCondLst>
                                            <p:cond delay="0"/>
                                          </p:stCondLst>
                                        </p:cTn>
                                        <p:tgtEl>
                                          <p:spTgt spid="178"/>
                                        </p:tgtEl>
                                        <p:attrNameLst>
                                          <p:attrName>style.visibility</p:attrName>
                                        </p:attrNameLst>
                                      </p:cBhvr>
                                      <p:to>
                                        <p:strVal val="visible"/>
                                      </p:to>
                                    </p:set>
                                    <p:animEffect filter="fade" transition="in">
                                      <p:cBhvr>
                                        <p:cTn dur="450"/>
                                        <p:tgtEl>
                                          <p:spTgt spid="178"/>
                                        </p:tgtEl>
                                      </p:cBhvr>
                                    </p:animEffect>
                                  </p:childTnLst>
                                </p:cTn>
                              </p:par>
                              <p:par>
                                <p:cTn fill="hold" nodeType="withEffect" presetClass="entr" presetID="23" presetSubtype="16">
                                  <p:stCondLst>
                                    <p:cond delay="200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380"/>
                                        <p:tgtEl>
                                          <p:spTgt spid="180"/>
                                        </p:tgtEl>
                                        <p:attrNameLst>
                                          <p:attrName>ppt_w</p:attrName>
                                        </p:attrNameLst>
                                      </p:cBhvr>
                                      <p:tavLst>
                                        <p:tav fmla="" tm="0">
                                          <p:val>
                                            <p:strVal val="0"/>
                                          </p:val>
                                        </p:tav>
                                        <p:tav fmla="" tm="100000">
                                          <p:val>
                                            <p:strVal val="#ppt_w"/>
                                          </p:val>
                                        </p:tav>
                                      </p:tavLst>
                                    </p:anim>
                                    <p:anim calcmode="lin" valueType="num">
                                      <p:cBhvr additive="base">
                                        <p:cTn dur="380"/>
                                        <p:tgtEl>
                                          <p:spTgt spid="18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080"/>
                                  </p:stCondLst>
                                  <p:childTnLst>
                                    <p:set>
                                      <p:cBhvr>
                                        <p:cTn dur="1" fill="hold">
                                          <p:stCondLst>
                                            <p:cond delay="0"/>
                                          </p:stCondLst>
                                        </p:cTn>
                                        <p:tgtEl>
                                          <p:spTgt spid="179"/>
                                        </p:tgtEl>
                                        <p:attrNameLst>
                                          <p:attrName>style.visibility</p:attrName>
                                        </p:attrNameLst>
                                      </p:cBhvr>
                                      <p:to>
                                        <p:strVal val="visible"/>
                                      </p:to>
                                    </p:set>
                                    <p:animEffect filter="fade" transition="in">
                                      <p:cBhvr>
                                        <p:cTn dur="450"/>
                                        <p:tgtEl>
                                          <p:spTgt spid="179"/>
                                        </p:tgtEl>
                                      </p:cBhvr>
                                    </p:animEffect>
                                  </p:childTnLst>
                                </p:cTn>
                              </p:par>
                              <p:par>
                                <p:cTn fill="hold" nodeType="withEffect" presetClass="entr" presetID="10" presetSubtype="0">
                                  <p:stCondLst>
                                    <p:cond delay="2080"/>
                                  </p:stCondLst>
                                  <p:childTnLst>
                                    <p:set>
                                      <p:cBhvr>
                                        <p:cTn dur="1" fill="hold">
                                          <p:stCondLst>
                                            <p:cond delay="0"/>
                                          </p:stCondLst>
                                        </p:cTn>
                                        <p:tgtEl>
                                          <p:spTgt spid="181"/>
                                        </p:tgtEl>
                                        <p:attrNameLst>
                                          <p:attrName>style.visibility</p:attrName>
                                        </p:attrNameLst>
                                      </p:cBhvr>
                                      <p:to>
                                        <p:strVal val="visible"/>
                                      </p:to>
                                    </p:set>
                                    <p:animEffect filter="fade" transition="in">
                                      <p:cBhvr>
                                        <p:cTn dur="450"/>
                                        <p:tgtEl>
                                          <p:spTgt spid="181"/>
                                        </p:tgtEl>
                                      </p:cBhvr>
                                    </p:animEffect>
                                  </p:childTnLst>
                                </p:cTn>
                              </p:par>
                              <p:par>
                                <p:cTn fill="hold" nodeType="withEffect" presetClass="entr" presetID="23" presetSubtype="16">
                                  <p:stCondLst>
                                    <p:cond delay="2170"/>
                                  </p:stCondLst>
                                  <p:childTnLst>
                                    <p:set>
                                      <p:cBhvr>
                                        <p:cTn dur="1" fill="hold">
                                          <p:stCondLst>
                                            <p:cond delay="0"/>
                                          </p:stCondLst>
                                        </p:cTn>
                                        <p:tgtEl>
                                          <p:spTgt spid="183"/>
                                        </p:tgtEl>
                                        <p:attrNameLst>
                                          <p:attrName>style.visibility</p:attrName>
                                        </p:attrNameLst>
                                      </p:cBhvr>
                                      <p:to>
                                        <p:strVal val="visible"/>
                                      </p:to>
                                    </p:set>
                                    <p:anim calcmode="lin" valueType="num">
                                      <p:cBhvr additive="base">
                                        <p:cTn dur="380"/>
                                        <p:tgtEl>
                                          <p:spTgt spid="183"/>
                                        </p:tgtEl>
                                        <p:attrNameLst>
                                          <p:attrName>ppt_w</p:attrName>
                                        </p:attrNameLst>
                                      </p:cBhvr>
                                      <p:tavLst>
                                        <p:tav fmla="" tm="0">
                                          <p:val>
                                            <p:strVal val="0"/>
                                          </p:val>
                                        </p:tav>
                                        <p:tav fmla="" tm="100000">
                                          <p:val>
                                            <p:strVal val="#ppt_w"/>
                                          </p:val>
                                        </p:tav>
                                      </p:tavLst>
                                    </p:anim>
                                    <p:anim calcmode="lin" valueType="num">
                                      <p:cBhvr additive="base">
                                        <p:cTn dur="380"/>
                                        <p:tgtEl>
                                          <p:spTgt spid="18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250"/>
                                  </p:stCondLst>
                                  <p:childTnLst>
                                    <p:set>
                                      <p:cBhvr>
                                        <p:cTn dur="1" fill="hold">
                                          <p:stCondLst>
                                            <p:cond delay="0"/>
                                          </p:stCondLst>
                                        </p:cTn>
                                        <p:tgtEl>
                                          <p:spTgt spid="182"/>
                                        </p:tgtEl>
                                        <p:attrNameLst>
                                          <p:attrName>style.visibility</p:attrName>
                                        </p:attrNameLst>
                                      </p:cBhvr>
                                      <p:to>
                                        <p:strVal val="visible"/>
                                      </p:to>
                                    </p:set>
                                    <p:animEffect filter="fade" transition="in">
                                      <p:cBhvr>
                                        <p:cTn dur="450"/>
                                        <p:tgtEl>
                                          <p:spTgt spid="182"/>
                                        </p:tgtEl>
                                      </p:cBhvr>
                                    </p:animEffect>
                                  </p:childTnLst>
                                </p:cTn>
                              </p:par>
                              <p:par>
                                <p:cTn fill="hold" nodeType="withEffect" presetClass="entr" presetID="10" presetSubtype="0">
                                  <p:stCondLst>
                                    <p:cond delay="2250"/>
                                  </p:stCondLst>
                                  <p:childTnLst>
                                    <p:set>
                                      <p:cBhvr>
                                        <p:cTn dur="1" fill="hold">
                                          <p:stCondLst>
                                            <p:cond delay="0"/>
                                          </p:stCondLst>
                                        </p:cTn>
                                        <p:tgtEl>
                                          <p:spTgt spid="184"/>
                                        </p:tgtEl>
                                        <p:attrNameLst>
                                          <p:attrName>style.visibility</p:attrName>
                                        </p:attrNameLst>
                                      </p:cBhvr>
                                      <p:to>
                                        <p:strVal val="visible"/>
                                      </p:to>
                                    </p:set>
                                    <p:animEffect filter="fade" transition="in">
                                      <p:cBhvr>
                                        <p:cTn dur="450"/>
                                        <p:tgtEl>
                                          <p:spTgt spid="184"/>
                                        </p:tgtEl>
                                      </p:cBhvr>
                                    </p:animEffect>
                                  </p:childTnLst>
                                </p:cTn>
                              </p:par>
                              <p:par>
                                <p:cTn fill="hold" nodeType="withEffect" presetClass="entr" presetID="23" presetSubtype="16">
                                  <p:stCondLst>
                                    <p:cond delay="2340"/>
                                  </p:stCondLst>
                                  <p:childTnLst>
                                    <p:set>
                                      <p:cBhvr>
                                        <p:cTn dur="1" fill="hold">
                                          <p:stCondLst>
                                            <p:cond delay="0"/>
                                          </p:stCondLst>
                                        </p:cTn>
                                        <p:tgtEl>
                                          <p:spTgt spid="186"/>
                                        </p:tgtEl>
                                        <p:attrNameLst>
                                          <p:attrName>style.visibility</p:attrName>
                                        </p:attrNameLst>
                                      </p:cBhvr>
                                      <p:to>
                                        <p:strVal val="visible"/>
                                      </p:to>
                                    </p:set>
                                    <p:anim calcmode="lin" valueType="num">
                                      <p:cBhvr additive="base">
                                        <p:cTn dur="380"/>
                                        <p:tgtEl>
                                          <p:spTgt spid="186"/>
                                        </p:tgtEl>
                                        <p:attrNameLst>
                                          <p:attrName>ppt_w</p:attrName>
                                        </p:attrNameLst>
                                      </p:cBhvr>
                                      <p:tavLst>
                                        <p:tav fmla="" tm="0">
                                          <p:val>
                                            <p:strVal val="0"/>
                                          </p:val>
                                        </p:tav>
                                        <p:tav fmla="" tm="100000">
                                          <p:val>
                                            <p:strVal val="#ppt_w"/>
                                          </p:val>
                                        </p:tav>
                                      </p:tavLst>
                                    </p:anim>
                                    <p:anim calcmode="lin" valueType="num">
                                      <p:cBhvr additive="base">
                                        <p:cTn dur="380"/>
                                        <p:tgtEl>
                                          <p:spTgt spid="18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420"/>
                                  </p:stCondLst>
                                  <p:childTnLst>
                                    <p:set>
                                      <p:cBhvr>
                                        <p:cTn dur="1" fill="hold">
                                          <p:stCondLst>
                                            <p:cond delay="0"/>
                                          </p:stCondLst>
                                        </p:cTn>
                                        <p:tgtEl>
                                          <p:spTgt spid="185"/>
                                        </p:tgtEl>
                                        <p:attrNameLst>
                                          <p:attrName>style.visibility</p:attrName>
                                        </p:attrNameLst>
                                      </p:cBhvr>
                                      <p:to>
                                        <p:strVal val="visible"/>
                                      </p:to>
                                    </p:set>
                                    <p:animEffect filter="fade" transition="in">
                                      <p:cBhvr>
                                        <p:cTn dur="450"/>
                                        <p:tgtEl>
                                          <p:spTgt spid="185"/>
                                        </p:tgtEl>
                                      </p:cBhvr>
                                    </p:animEffect>
                                  </p:childTnLst>
                                </p:cTn>
                              </p:par>
                              <p:par>
                                <p:cTn fill="hold" nodeType="withEffect" presetClass="entr" presetID="10" presetSubtype="0">
                                  <p:stCondLst>
                                    <p:cond delay="2420"/>
                                  </p:stCondLst>
                                  <p:childTnLst>
                                    <p:set>
                                      <p:cBhvr>
                                        <p:cTn dur="1" fill="hold">
                                          <p:stCondLst>
                                            <p:cond delay="0"/>
                                          </p:stCondLst>
                                        </p:cTn>
                                        <p:tgtEl>
                                          <p:spTgt spid="187"/>
                                        </p:tgtEl>
                                        <p:attrNameLst>
                                          <p:attrName>style.visibility</p:attrName>
                                        </p:attrNameLst>
                                      </p:cBhvr>
                                      <p:to>
                                        <p:strVal val="visible"/>
                                      </p:to>
                                    </p:set>
                                    <p:animEffect filter="fade" transition="in">
                                      <p:cBhvr>
                                        <p:cTn dur="450"/>
                                        <p:tgtEl>
                                          <p:spTgt spid="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9"/>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Introduction</a:t>
            </a:r>
            <a:endParaRPr/>
          </a:p>
        </p:txBody>
      </p:sp>
      <p:sp>
        <p:nvSpPr>
          <p:cNvPr id="194" name="Google Shape;194;p19"/>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195" name="Google Shape;195;p19"/>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196" name="Google Shape;196;p19"/>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197" name="Google Shape;197;p19"/>
          <p:cNvSpPr/>
          <p:nvPr/>
        </p:nvSpPr>
        <p:spPr>
          <a:xfrm>
            <a:off x="1234440" y="1719072"/>
            <a:ext cx="2743200" cy="2743200"/>
          </a:xfrm>
          <a:prstGeom prst="ellipse">
            <a:avLst/>
          </a:prstGeom>
          <a:noFill/>
          <a:ln cap="flat" cmpd="sng" w="22225">
            <a:solidFill>
              <a:srgbClr val="717B89"/>
            </a:solidFill>
            <a:prstDash val="dash"/>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cxnSp>
        <p:nvCxnSpPr>
          <p:cNvPr id="198" name="Google Shape;198;p19"/>
          <p:cNvCxnSpPr/>
          <p:nvPr/>
        </p:nvCxnSpPr>
        <p:spPr>
          <a:xfrm rot="10800000">
            <a:off x="2606040" y="1719072"/>
            <a:ext cx="0" cy="1371600"/>
          </a:xfrm>
          <a:prstGeom prst="straightConnector1">
            <a:avLst/>
          </a:prstGeom>
          <a:noFill/>
          <a:ln cap="flat" cmpd="sng" w="19050">
            <a:solidFill>
              <a:srgbClr val="018D87"/>
            </a:solidFill>
            <a:prstDash val="solid"/>
            <a:round/>
            <a:headEnd len="sm" w="sm" type="none"/>
            <a:tailEnd len="sm" w="sm" type="none"/>
          </a:ln>
        </p:spPr>
      </p:cxnSp>
      <p:cxnSp>
        <p:nvCxnSpPr>
          <p:cNvPr id="199" name="Google Shape;199;p19"/>
          <p:cNvCxnSpPr/>
          <p:nvPr/>
        </p:nvCxnSpPr>
        <p:spPr>
          <a:xfrm flipH="1" rot="10800000">
            <a:off x="2606040" y="2404872"/>
            <a:ext cx="1187840" cy="685800"/>
          </a:xfrm>
          <a:prstGeom prst="straightConnector1">
            <a:avLst/>
          </a:prstGeom>
          <a:noFill/>
          <a:ln cap="flat" cmpd="sng" w="19050">
            <a:solidFill>
              <a:srgbClr val="0F87A7"/>
            </a:solidFill>
            <a:prstDash val="solid"/>
            <a:round/>
            <a:headEnd len="sm" w="sm" type="none"/>
            <a:tailEnd len="sm" w="sm" type="none"/>
          </a:ln>
        </p:spPr>
      </p:cxnSp>
      <p:cxnSp>
        <p:nvCxnSpPr>
          <p:cNvPr id="200" name="Google Shape;200;p19"/>
          <p:cNvCxnSpPr/>
          <p:nvPr/>
        </p:nvCxnSpPr>
        <p:spPr>
          <a:xfrm>
            <a:off x="2606040" y="3090672"/>
            <a:ext cx="1187840" cy="685800"/>
          </a:xfrm>
          <a:prstGeom prst="straightConnector1">
            <a:avLst/>
          </a:prstGeom>
          <a:noFill/>
          <a:ln cap="flat" cmpd="sng" w="19050">
            <a:solidFill>
              <a:srgbClr val="3C7BCB"/>
            </a:solidFill>
            <a:prstDash val="solid"/>
            <a:round/>
            <a:headEnd len="sm" w="sm" type="none"/>
            <a:tailEnd len="sm" w="sm" type="none"/>
          </a:ln>
        </p:spPr>
      </p:cxnSp>
      <p:cxnSp>
        <p:nvCxnSpPr>
          <p:cNvPr id="201" name="Google Shape;201;p19"/>
          <p:cNvCxnSpPr/>
          <p:nvPr/>
        </p:nvCxnSpPr>
        <p:spPr>
          <a:xfrm>
            <a:off x="2606040" y="3090672"/>
            <a:ext cx="0" cy="1371600"/>
          </a:xfrm>
          <a:prstGeom prst="straightConnector1">
            <a:avLst/>
          </a:prstGeom>
          <a:noFill/>
          <a:ln cap="flat" cmpd="sng" w="19050">
            <a:solidFill>
              <a:srgbClr val="7969C7"/>
            </a:solidFill>
            <a:prstDash val="solid"/>
            <a:round/>
            <a:headEnd len="sm" w="sm" type="none"/>
            <a:tailEnd len="sm" w="sm" type="none"/>
          </a:ln>
        </p:spPr>
      </p:cxnSp>
      <p:cxnSp>
        <p:nvCxnSpPr>
          <p:cNvPr id="202" name="Google Shape;202;p19"/>
          <p:cNvCxnSpPr/>
          <p:nvPr/>
        </p:nvCxnSpPr>
        <p:spPr>
          <a:xfrm flipH="1">
            <a:off x="1418200" y="3090672"/>
            <a:ext cx="1187840" cy="685800"/>
          </a:xfrm>
          <a:prstGeom prst="straightConnector1">
            <a:avLst/>
          </a:prstGeom>
          <a:noFill/>
          <a:ln cap="flat" cmpd="sng" w="19050">
            <a:solidFill>
              <a:srgbClr val="A05BAB"/>
            </a:solidFill>
            <a:prstDash val="solid"/>
            <a:round/>
            <a:headEnd len="sm" w="sm" type="none"/>
            <a:tailEnd len="sm" w="sm" type="none"/>
          </a:ln>
        </p:spPr>
      </p:cxnSp>
      <p:cxnSp>
        <p:nvCxnSpPr>
          <p:cNvPr id="203" name="Google Shape;203;p19"/>
          <p:cNvCxnSpPr/>
          <p:nvPr/>
        </p:nvCxnSpPr>
        <p:spPr>
          <a:xfrm rot="10800000">
            <a:off x="1418200" y="2404872"/>
            <a:ext cx="1187840" cy="685800"/>
          </a:xfrm>
          <a:prstGeom prst="straightConnector1">
            <a:avLst/>
          </a:prstGeom>
          <a:noFill/>
          <a:ln cap="flat" cmpd="sng" w="19050">
            <a:solidFill>
              <a:srgbClr val="B8527E"/>
            </a:solidFill>
            <a:prstDash val="solid"/>
            <a:round/>
            <a:headEnd len="sm" w="sm" type="none"/>
            <a:tailEnd len="sm" w="sm" type="none"/>
          </a:ln>
        </p:spPr>
      </p:cxnSp>
      <p:sp>
        <p:nvSpPr>
          <p:cNvPr id="204" name="Google Shape;204;p19"/>
          <p:cNvSpPr/>
          <p:nvPr/>
        </p:nvSpPr>
        <p:spPr>
          <a:xfrm>
            <a:off x="1874520" y="2359152"/>
            <a:ext cx="1463040" cy="1463040"/>
          </a:xfrm>
          <a:prstGeom prst="ellipse">
            <a:avLst/>
          </a:prstGeom>
          <a:gradFill rotWithShape="1">
            <a:gsLst>
              <a:gs pos="0">
                <a:srgbClr val="3050AA"/>
              </a:gs>
              <a:gs pos="100000">
                <a:srgbClr val="6F73D7"/>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AI-Powered</a:t>
            </a:r>
            <a:endParaRPr/>
          </a:p>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Smart Worker</a:t>
            </a:r>
            <a:endParaRPr/>
          </a:p>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Finder</a:t>
            </a:r>
            <a:endParaRPr/>
          </a:p>
        </p:txBody>
      </p:sp>
      <p:sp>
        <p:nvSpPr>
          <p:cNvPr id="205" name="Google Shape;205;p19"/>
          <p:cNvSpPr/>
          <p:nvPr/>
        </p:nvSpPr>
        <p:spPr>
          <a:xfrm>
            <a:off x="2148840" y="1261872"/>
            <a:ext cx="914400" cy="914400"/>
          </a:xfrm>
          <a:prstGeom prst="ellipse">
            <a:avLst/>
          </a:prstGeom>
          <a:gradFill rotWithShape="1">
            <a:gsLst>
              <a:gs pos="0">
                <a:srgbClr val="FFFFFF"/>
              </a:gs>
              <a:gs pos="100000">
                <a:srgbClr val="DAF7F4"/>
              </a:gs>
            </a:gsLst>
            <a:lin ang="5400000" scaled="0"/>
          </a:gradFill>
          <a:ln cap="flat" cmpd="sng" w="25400">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Tools" id="206" name="Google Shape;206;p19"/>
          <p:cNvPicPr preferRelativeResize="0"/>
          <p:nvPr/>
        </p:nvPicPr>
        <p:blipFill rotWithShape="1">
          <a:blip r:embed="rIdRc206">
            <a:alphaModFix/>
          </a:blip>
          <a:srcRect b="0" l="0" r="0" t="0"/>
          <a:stretch/>
        </p:blipFill>
        <p:spPr>
          <a:xfrm>
            <a:off x="2450592" y="1389888"/>
            <a:ext cx="310896" cy="310896"/>
          </a:xfrm>
          <a:prstGeom prst="rect">
            <a:avLst/>
          </a:prstGeom>
          <a:noFill/>
          <a:ln>
            <a:noFill/>
          </a:ln>
        </p:spPr>
      </p:pic>
      <p:sp>
        <p:nvSpPr>
          <p:cNvPr id="207" name="Google Shape;207;p19"/>
          <p:cNvSpPr/>
          <p:nvPr/>
        </p:nvSpPr>
        <p:spPr>
          <a:xfrm>
            <a:off x="2148840" y="1737360"/>
            <a:ext cx="9144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Skill</a:t>
            </a:r>
            <a:endParaRPr/>
          </a:p>
        </p:txBody>
      </p:sp>
      <p:sp>
        <p:nvSpPr>
          <p:cNvPr id="208" name="Google Shape;208;p19"/>
          <p:cNvSpPr/>
          <p:nvPr/>
        </p:nvSpPr>
        <p:spPr>
          <a:xfrm>
            <a:off x="3336680" y="1947672"/>
            <a:ext cx="914400" cy="914400"/>
          </a:xfrm>
          <a:prstGeom prst="ellipse">
            <a:avLst/>
          </a:prstGeom>
          <a:gradFill rotWithShape="1">
            <a:gsLst>
              <a:gs pos="0">
                <a:srgbClr val="FFFFFF"/>
              </a:gs>
              <a:gs pos="100000">
                <a:srgbClr val="DCF5FF"/>
              </a:gs>
            </a:gsLst>
            <a:lin ang="5400000" scaled="0"/>
          </a:gradFill>
          <a:ln cap="flat" cmpd="sng" w="25400">
            <a:solidFill>
              <a:srgbClr val="0F87A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MapMarkerAlt" id="209" name="Google Shape;209;p19"/>
          <p:cNvPicPr preferRelativeResize="0"/>
          <p:nvPr/>
        </p:nvPicPr>
        <p:blipFill rotWithShape="1">
          <a:blip r:embed="rIdRc209">
            <a:alphaModFix/>
          </a:blip>
          <a:srcRect b="0" l="0" r="0" t="0"/>
          <a:stretch/>
        </p:blipFill>
        <p:spPr>
          <a:xfrm>
            <a:off x="3638432" y="2075688"/>
            <a:ext cx="310896" cy="310896"/>
          </a:xfrm>
          <a:prstGeom prst="rect">
            <a:avLst/>
          </a:prstGeom>
          <a:noFill/>
          <a:ln>
            <a:noFill/>
          </a:ln>
        </p:spPr>
      </p:pic>
      <p:sp>
        <p:nvSpPr>
          <p:cNvPr id="210" name="Google Shape;210;p19"/>
          <p:cNvSpPr/>
          <p:nvPr/>
        </p:nvSpPr>
        <p:spPr>
          <a:xfrm>
            <a:off x="3336680" y="2423160"/>
            <a:ext cx="9144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Location</a:t>
            </a:r>
            <a:endParaRPr/>
          </a:p>
        </p:txBody>
      </p:sp>
      <p:sp>
        <p:nvSpPr>
          <p:cNvPr id="211" name="Google Shape;211;p19"/>
          <p:cNvSpPr/>
          <p:nvPr/>
        </p:nvSpPr>
        <p:spPr>
          <a:xfrm>
            <a:off x="3336680" y="3319272"/>
            <a:ext cx="914400" cy="914400"/>
          </a:xfrm>
          <a:prstGeom prst="ellipse">
            <a:avLst/>
          </a:prstGeom>
          <a:gradFill rotWithShape="1">
            <a:gsLst>
              <a:gs pos="0">
                <a:srgbClr val="FFFFFF"/>
              </a:gs>
              <a:gs pos="100000">
                <a:srgbClr val="E8F1FE"/>
              </a:gs>
            </a:gsLst>
            <a:lin ang="5400000" scaled="0"/>
          </a:gradFill>
          <a:ln cap="flat" cmpd="sng" w="25400">
            <a:solidFill>
              <a:srgbClr val="3C7BC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Clock" id="212" name="Google Shape;212;p19"/>
          <p:cNvPicPr preferRelativeResize="0"/>
          <p:nvPr/>
        </p:nvPicPr>
        <p:blipFill rotWithShape="1">
          <a:blip r:embed="rIdRc212">
            <a:alphaModFix/>
          </a:blip>
          <a:srcRect b="0" l="0" r="0" t="0"/>
          <a:stretch/>
        </p:blipFill>
        <p:spPr>
          <a:xfrm>
            <a:off x="3638432" y="3447288"/>
            <a:ext cx="310896" cy="310896"/>
          </a:xfrm>
          <a:prstGeom prst="rect">
            <a:avLst/>
          </a:prstGeom>
          <a:noFill/>
          <a:ln>
            <a:noFill/>
          </a:ln>
        </p:spPr>
      </p:pic>
      <p:sp>
        <p:nvSpPr>
          <p:cNvPr id="213" name="Google Shape;213;p19"/>
          <p:cNvSpPr/>
          <p:nvPr/>
        </p:nvSpPr>
        <p:spPr>
          <a:xfrm>
            <a:off x="3336680" y="3794760"/>
            <a:ext cx="9144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Availability</a:t>
            </a:r>
            <a:endParaRPr/>
          </a:p>
        </p:txBody>
      </p:sp>
      <p:sp>
        <p:nvSpPr>
          <p:cNvPr id="214" name="Google Shape;214;p19"/>
          <p:cNvSpPr/>
          <p:nvPr/>
        </p:nvSpPr>
        <p:spPr>
          <a:xfrm>
            <a:off x="2148840" y="4005072"/>
            <a:ext cx="914400" cy="914400"/>
          </a:xfrm>
          <a:prstGeom prst="ellipse">
            <a:avLst/>
          </a:prstGeom>
          <a:gradFill rotWithShape="1">
            <a:gsLst>
              <a:gs pos="0">
                <a:srgbClr val="FFFFFF"/>
              </a:gs>
              <a:gs pos="100000">
                <a:srgbClr val="EFEEFD"/>
              </a:gs>
            </a:gsLst>
            <a:lin ang="5400000" scaled="0"/>
          </a:gradFill>
          <a:ln cap="flat" cmpd="sng" w="25400">
            <a:solidFill>
              <a:srgbClr val="7969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tar" id="215" name="Google Shape;215;p19"/>
          <p:cNvPicPr preferRelativeResize="0"/>
          <p:nvPr/>
        </p:nvPicPr>
        <p:blipFill rotWithShape="1">
          <a:blip r:embed="rIdRc215">
            <a:alphaModFix/>
          </a:blip>
          <a:srcRect b="0" l="0" r="0" t="0"/>
          <a:stretch/>
        </p:blipFill>
        <p:spPr>
          <a:xfrm>
            <a:off x="2450592" y="4133088"/>
            <a:ext cx="310896" cy="310896"/>
          </a:xfrm>
          <a:prstGeom prst="rect">
            <a:avLst/>
          </a:prstGeom>
          <a:noFill/>
          <a:ln>
            <a:noFill/>
          </a:ln>
        </p:spPr>
      </p:pic>
      <p:sp>
        <p:nvSpPr>
          <p:cNvPr id="216" name="Google Shape;216;p19"/>
          <p:cNvSpPr/>
          <p:nvPr/>
        </p:nvSpPr>
        <p:spPr>
          <a:xfrm>
            <a:off x="2148840" y="4480560"/>
            <a:ext cx="9144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Quality</a:t>
            </a:r>
            <a:endParaRPr/>
          </a:p>
        </p:txBody>
      </p:sp>
      <p:sp>
        <p:nvSpPr>
          <p:cNvPr id="217" name="Google Shape;217;p19"/>
          <p:cNvSpPr/>
          <p:nvPr/>
        </p:nvSpPr>
        <p:spPr>
          <a:xfrm>
            <a:off x="961000" y="3319272"/>
            <a:ext cx="914400" cy="914400"/>
          </a:xfrm>
          <a:prstGeom prst="ellipse">
            <a:avLst/>
          </a:prstGeom>
          <a:gradFill rotWithShape="1">
            <a:gsLst>
              <a:gs pos="0">
                <a:srgbClr val="FFFFFF"/>
              </a:gs>
              <a:gs pos="100000">
                <a:srgbClr val="FAEAFC"/>
              </a:gs>
            </a:gsLst>
            <a:lin ang="5400000" scaled="0"/>
          </a:gradFill>
          <a:ln cap="flat" cmpd="sng" w="25400">
            <a:solidFill>
              <a:srgbClr val="A05BA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Bolt" id="218" name="Google Shape;218;p19"/>
          <p:cNvPicPr preferRelativeResize="0"/>
          <p:nvPr/>
        </p:nvPicPr>
        <p:blipFill rotWithShape="1">
          <a:blip r:embed="rIdRc218">
            <a:alphaModFix/>
          </a:blip>
          <a:srcRect b="0" l="0" r="0" t="0"/>
          <a:stretch/>
        </p:blipFill>
        <p:spPr>
          <a:xfrm>
            <a:off x="1262752" y="3447288"/>
            <a:ext cx="310896" cy="310896"/>
          </a:xfrm>
          <a:prstGeom prst="rect">
            <a:avLst/>
          </a:prstGeom>
          <a:noFill/>
          <a:ln>
            <a:noFill/>
          </a:ln>
        </p:spPr>
      </p:pic>
      <p:sp>
        <p:nvSpPr>
          <p:cNvPr id="219" name="Google Shape;219;p19"/>
          <p:cNvSpPr/>
          <p:nvPr/>
        </p:nvSpPr>
        <p:spPr>
          <a:xfrm>
            <a:off x="1034150" y="3794750"/>
            <a:ext cx="8412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Response time</a:t>
            </a:r>
            <a:endParaRPr/>
          </a:p>
        </p:txBody>
      </p:sp>
      <p:sp>
        <p:nvSpPr>
          <p:cNvPr id="220" name="Google Shape;220;p19"/>
          <p:cNvSpPr/>
          <p:nvPr/>
        </p:nvSpPr>
        <p:spPr>
          <a:xfrm>
            <a:off x="961000" y="1947672"/>
            <a:ext cx="914400" cy="914400"/>
          </a:xfrm>
          <a:prstGeom prst="ellipse">
            <a:avLst/>
          </a:prstGeom>
          <a:gradFill rotWithShape="1">
            <a:gsLst>
              <a:gs pos="0">
                <a:srgbClr val="FFFFFF"/>
              </a:gs>
              <a:gs pos="100000">
                <a:srgbClr val="FFEAF1"/>
              </a:gs>
            </a:gsLst>
            <a:lin ang="5400000" scaled="0"/>
          </a:gradFill>
          <a:ln cap="flat" cmpd="sng" w="25400">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RupeeSign" id="221" name="Google Shape;221;p19"/>
          <p:cNvPicPr preferRelativeResize="0"/>
          <p:nvPr/>
        </p:nvPicPr>
        <p:blipFill rotWithShape="1">
          <a:blip r:embed="rIdRc221">
            <a:alphaModFix/>
          </a:blip>
          <a:srcRect b="0" l="0" r="0" t="0"/>
          <a:stretch/>
        </p:blipFill>
        <p:spPr>
          <a:xfrm>
            <a:off x="1262752" y="2075688"/>
            <a:ext cx="310896" cy="310896"/>
          </a:xfrm>
          <a:prstGeom prst="rect">
            <a:avLst/>
          </a:prstGeom>
          <a:noFill/>
          <a:ln>
            <a:noFill/>
          </a:ln>
        </p:spPr>
      </p:pic>
      <p:sp>
        <p:nvSpPr>
          <p:cNvPr id="222" name="Google Shape;222;p19"/>
          <p:cNvSpPr/>
          <p:nvPr/>
        </p:nvSpPr>
        <p:spPr>
          <a:xfrm>
            <a:off x="961000" y="2423160"/>
            <a:ext cx="91440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Cost</a:t>
            </a:r>
            <a:endParaRPr/>
          </a:p>
        </p:txBody>
      </p:sp>
      <p:sp>
        <p:nvSpPr>
          <p:cNvPr id="223" name="Google Shape;223;p19"/>
          <p:cNvSpPr/>
          <p:nvPr/>
        </p:nvSpPr>
        <p:spPr>
          <a:xfrm>
            <a:off x="4434840" y="1261872"/>
            <a:ext cx="4297680" cy="1572768"/>
          </a:xfrm>
          <a:prstGeom prst="roundRect">
            <a:avLst>
              <a:gd fmla="val 9000" name="adj"/>
            </a:avLst>
          </a:prstGeom>
          <a:gradFill rotWithShape="1">
            <a:gsLst>
              <a:gs pos="0">
                <a:srgbClr val="FFFFFF"/>
              </a:gs>
              <a:gs pos="100000">
                <a:srgbClr val="EEF0F4"/>
              </a:gs>
            </a:gsLst>
            <a:lin ang="5400000" scaled="0"/>
          </a:gradFill>
          <a:ln cap="flat" cmpd="sng" w="12700">
            <a:solidFill>
              <a:srgbClr val="717B89"/>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24" name="Google Shape;224;p19"/>
          <p:cNvSpPr/>
          <p:nvPr/>
        </p:nvSpPr>
        <p:spPr>
          <a:xfrm>
            <a:off x="4572000" y="1316736"/>
            <a:ext cx="40233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3F4954"/>
                </a:solidFill>
                <a:latin typeface="Times New Roman"/>
                <a:ea typeface="Times New Roman"/>
                <a:cs typeface="Times New Roman"/>
                <a:sym typeface="Times New Roman"/>
              </a:rPr>
              <a:t>Today: manual search</a:t>
            </a:r>
            <a:endParaRPr/>
          </a:p>
          <a:p>
            <a:pPr indent="-182880" lvl="0" marL="182880" marR="0" rtl="0" algn="l">
              <a:lnSpc>
                <a:spcPct val="100000"/>
              </a:lnSpc>
              <a:spcBef>
                <a:spcPts val="400"/>
              </a:spcBef>
              <a:spcAft>
                <a:spcPts val="0"/>
              </a:spcAft>
              <a:buClr>
                <a:srgbClr val="3F4954"/>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Call many workers one by one</a:t>
            </a:r>
            <a:endParaRPr/>
          </a:p>
          <a:p>
            <a:pPr indent="-182880" lvl="0" marL="182880" marR="0" rtl="0" algn="l">
              <a:lnSpc>
                <a:spcPct val="100000"/>
              </a:lnSpc>
              <a:spcBef>
                <a:spcPts val="300"/>
              </a:spcBef>
              <a:spcAft>
                <a:spcPts val="0"/>
              </a:spcAft>
              <a:buClr>
                <a:srgbClr val="3F4954"/>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Compare distance, rating and price by hand</a:t>
            </a:r>
            <a:endParaRPr/>
          </a:p>
          <a:p>
            <a:pPr indent="-182880" lvl="0" marL="182880" marR="0" rtl="0" algn="l">
              <a:lnSpc>
                <a:spcPct val="100000"/>
              </a:lnSpc>
              <a:spcBef>
                <a:spcPts val="300"/>
              </a:spcBef>
              <a:spcAft>
                <a:spcPts val="0"/>
              </a:spcAft>
              <a:buClr>
                <a:srgbClr val="3F4954"/>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Choose on partial information</a:t>
            </a:r>
            <a:endParaRPr/>
          </a:p>
        </p:txBody>
      </p:sp>
      <p:sp>
        <p:nvSpPr>
          <p:cNvPr id="225" name="Google Shape;225;p19"/>
          <p:cNvSpPr/>
          <p:nvPr/>
        </p:nvSpPr>
        <p:spPr>
          <a:xfrm>
            <a:off x="4434840" y="2999232"/>
            <a:ext cx="4297680" cy="1572768"/>
          </a:xfrm>
          <a:prstGeom prst="roundRect">
            <a:avLst>
              <a:gd fmla="val 9000" name="adj"/>
            </a:avLst>
          </a:prstGeom>
          <a:gradFill rotWithShape="1">
            <a:gsLst>
              <a:gs pos="0">
                <a:srgbClr val="E4F7FE"/>
              </a:gs>
              <a:gs pos="100000">
                <a:srgbClr val="BCECFE"/>
              </a:gs>
            </a:gsLst>
            <a:lin ang="2700000" scaled="0"/>
          </a:gradFill>
          <a:ln cap="flat" cmpd="sng" w="12700">
            <a:solidFill>
              <a:srgbClr val="0F87A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26" name="Google Shape;226;p19"/>
          <p:cNvSpPr/>
          <p:nvPr/>
        </p:nvSpPr>
        <p:spPr>
          <a:xfrm>
            <a:off x="4572000" y="3054096"/>
            <a:ext cx="40233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1" i="0" lang="en-US" sz="1500" u="none" cap="none" strike="noStrike">
                <a:solidFill>
                  <a:srgbClr val="005065"/>
                </a:solidFill>
                <a:latin typeface="Times New Roman"/>
                <a:ea typeface="Times New Roman"/>
                <a:cs typeface="Times New Roman"/>
                <a:sym typeface="Times New Roman"/>
              </a:rPr>
              <a:t>Smart Worker Finder</a:t>
            </a:r>
            <a:endParaRPr/>
          </a:p>
          <a:p>
            <a:pPr indent="-182880" lvl="0" marL="182880" marR="0" rtl="0" algn="l">
              <a:lnSpc>
                <a:spcPct val="100000"/>
              </a:lnSpc>
              <a:spcBef>
                <a:spcPts val="400"/>
              </a:spcBef>
              <a:spcAft>
                <a:spcPts val="0"/>
              </a:spcAft>
              <a:buClr>
                <a:srgbClr val="005065"/>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Reads the problem, finds nearby free workers</a:t>
            </a:r>
            <a:endParaRPr/>
          </a:p>
          <a:p>
            <a:pPr indent="-182880" lvl="0" marL="182880" marR="0" rtl="0" algn="l">
              <a:lnSpc>
                <a:spcPct val="100000"/>
              </a:lnSpc>
              <a:spcBef>
                <a:spcPts val="300"/>
              </a:spcBef>
              <a:spcAft>
                <a:spcPts val="0"/>
              </a:spcAft>
              <a:buClr>
                <a:srgbClr val="005065"/>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Ranks them with an AI-based score</a:t>
            </a:r>
            <a:endParaRPr/>
          </a:p>
          <a:p>
            <a:pPr indent="-182880" lvl="0" marL="182880" marR="0" rtl="0" algn="l">
              <a:lnSpc>
                <a:spcPct val="100000"/>
              </a:lnSpc>
              <a:spcBef>
                <a:spcPts val="300"/>
              </a:spcBef>
              <a:spcAft>
                <a:spcPts val="0"/>
              </a:spcAft>
              <a:buClr>
                <a:srgbClr val="005065"/>
              </a:buClr>
              <a:buSzPts val="1400"/>
              <a:buFont typeface="Arial"/>
              <a:buChar char="•"/>
            </a:pPr>
            <a:r>
              <a:rPr b="0" i="0" lang="en-US" sz="1400" u="none" cap="none" strike="noStrike">
                <a:solidFill>
                  <a:schemeClr val="dk1"/>
                </a:solidFill>
                <a:latin typeface="Times New Roman"/>
                <a:ea typeface="Times New Roman"/>
                <a:cs typeface="Times New Roman"/>
                <a:sym typeface="Times New Roman"/>
              </a:rPr>
              <a:t>Learns worker quality from every job </a:t>
            </a:r>
            <a:endParaRPr/>
          </a:p>
        </p:txBody>
      </p:sp>
      <p:sp>
        <p:nvSpPr>
          <p:cNvPr id="227" name="Google Shape;227;p19"/>
          <p:cNvSpPr/>
          <p:nvPr/>
        </p:nvSpPr>
        <p:spPr>
          <a:xfrm>
            <a:off x="6446520" y="2807208"/>
            <a:ext cx="274320" cy="219456"/>
          </a:xfrm>
          <a:prstGeom prst="downArrow">
            <a:avLst>
              <a:gd fmla="val 50000" name="adj1"/>
              <a:gd fmla="val 50000" name="adj2"/>
            </a:avLst>
          </a:prstGeom>
          <a:gradFill rotWithShape="1">
            <a:gsLst>
              <a:gs pos="0">
                <a:srgbClr val="076375"/>
              </a:gs>
              <a:gs pos="100000">
                <a:srgbClr val="008CB9"/>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28" name="Google Shape;228;p19"/>
          <p:cNvSpPr/>
          <p:nvPr/>
        </p:nvSpPr>
        <p:spPr>
          <a:xfrm>
            <a:off x="457200" y="4937760"/>
            <a:ext cx="1444752" cy="868680"/>
          </a:xfrm>
          <a:prstGeom prst="homePlate">
            <a:avLst>
              <a:gd fmla="val 28000" name="adj"/>
            </a:avLst>
          </a:prstGeom>
          <a:gradFill rotWithShape="1">
            <a:gsLst>
              <a:gs pos="0">
                <a:srgbClr val="006662"/>
              </a:gs>
              <a:gs pos="100000">
                <a:srgbClr val="0E9294"/>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Customer Request</a:t>
            </a:r>
            <a:endParaRPr/>
          </a:p>
        </p:txBody>
      </p:sp>
      <p:sp>
        <p:nvSpPr>
          <p:cNvPr id="229" name="Google Shape;229;p19"/>
          <p:cNvSpPr/>
          <p:nvPr/>
        </p:nvSpPr>
        <p:spPr>
          <a:xfrm>
            <a:off x="1828800" y="4937760"/>
            <a:ext cx="1444752" cy="868680"/>
          </a:xfrm>
          <a:prstGeom prst="chevron">
            <a:avLst>
              <a:gd fmla="val 28000" name="adj"/>
            </a:avLst>
          </a:prstGeom>
          <a:gradFill rotWithShape="1">
            <a:gsLst>
              <a:gs pos="0">
                <a:srgbClr val="076375"/>
              </a:gs>
              <a:gs pos="100000">
                <a:srgbClr val="008CB9"/>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AI Classification</a:t>
            </a:r>
            <a:endParaRPr/>
          </a:p>
        </p:txBody>
      </p:sp>
      <p:sp>
        <p:nvSpPr>
          <p:cNvPr id="230" name="Google Shape;230;p19"/>
          <p:cNvSpPr/>
          <p:nvPr/>
        </p:nvSpPr>
        <p:spPr>
          <a:xfrm>
            <a:off x="3200400" y="4937760"/>
            <a:ext cx="1444752" cy="868680"/>
          </a:xfrm>
          <a:prstGeom prst="chevron">
            <a:avLst>
              <a:gd fmla="val 28000" name="adj"/>
            </a:avLst>
          </a:prstGeom>
          <a:gradFill rotWithShape="1">
            <a:gsLst>
              <a:gs pos="0">
                <a:srgbClr val="005A9D"/>
              </a:gs>
              <a:gs pos="100000">
                <a:srgbClr val="4E7CD9"/>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Nearby Worker Search</a:t>
            </a:r>
            <a:endParaRPr/>
          </a:p>
        </p:txBody>
      </p:sp>
      <p:sp>
        <p:nvSpPr>
          <p:cNvPr id="231" name="Google Shape;231;p19"/>
          <p:cNvSpPr/>
          <p:nvPr/>
        </p:nvSpPr>
        <p:spPr>
          <a:xfrm>
            <a:off x="4572000" y="4937760"/>
            <a:ext cx="1444752" cy="868680"/>
          </a:xfrm>
          <a:prstGeom prst="chevron">
            <a:avLst>
              <a:gd fmla="val 28000" name="adj"/>
            </a:avLst>
          </a:prstGeom>
          <a:gradFill rotWithShape="1">
            <a:gsLst>
              <a:gs pos="0">
                <a:srgbClr val="4F47A8"/>
              </a:gs>
              <a:gs pos="100000">
                <a:srgbClr val="896ACF"/>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AI Ranking</a:t>
            </a:r>
            <a:endParaRPr/>
          </a:p>
        </p:txBody>
      </p:sp>
      <p:sp>
        <p:nvSpPr>
          <p:cNvPr id="232" name="Google Shape;232;p19"/>
          <p:cNvSpPr/>
          <p:nvPr/>
        </p:nvSpPr>
        <p:spPr>
          <a:xfrm>
            <a:off x="5943600" y="4937760"/>
            <a:ext cx="1444752" cy="868680"/>
          </a:xfrm>
          <a:prstGeom prst="chevron">
            <a:avLst>
              <a:gd fmla="val 28000" name="adj"/>
            </a:avLst>
          </a:prstGeom>
          <a:gradFill rotWithShape="1">
            <a:gsLst>
              <a:gs pos="0">
                <a:srgbClr val="773790"/>
              </a:gs>
              <a:gs pos="100000">
                <a:srgbClr val="AF5BAC"/>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Best Worker</a:t>
            </a:r>
            <a:endParaRPr/>
          </a:p>
        </p:txBody>
      </p:sp>
      <p:sp>
        <p:nvSpPr>
          <p:cNvPr id="233" name="Google Shape;233;p19"/>
          <p:cNvSpPr/>
          <p:nvPr/>
        </p:nvSpPr>
        <p:spPr>
          <a:xfrm>
            <a:off x="7315200" y="4937760"/>
            <a:ext cx="1444752" cy="868680"/>
          </a:xfrm>
          <a:prstGeom prst="chevron">
            <a:avLst>
              <a:gd fmla="val 28000" name="adj"/>
            </a:avLst>
          </a:prstGeom>
          <a:gradFill rotWithShape="1">
            <a:gsLst>
              <a:gs pos="0">
                <a:srgbClr val="902A66"/>
              </a:gs>
              <a:gs pos="100000">
                <a:srgbClr val="C25485"/>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Service</a:t>
            </a:r>
            <a:endParaRPr/>
          </a:p>
        </p:txBody>
      </p:sp>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par>
                                <p:cTn fill="hold" nodeType="withEffect" presetClass="entr" presetID="23" presetSubtype="16">
                                  <p:stCondLst>
                                    <p:cond delay="200"/>
                                  </p:stCondLst>
                                  <p:childTnLst>
                                    <p:set>
                                      <p:cBhvr>
                                        <p:cTn dur="1" fill="hold">
                                          <p:stCondLst>
                                            <p:cond delay="0"/>
                                          </p:stCondLst>
                                        </p:cTn>
                                        <p:tgtEl>
                                          <p:spTgt spid="204"/>
                                        </p:tgtEl>
                                        <p:attrNameLst>
                                          <p:attrName>style.visibility</p:attrName>
                                        </p:attrNameLst>
                                      </p:cBhvr>
                                      <p:to>
                                        <p:strVal val="visible"/>
                                      </p:to>
                                    </p:set>
                                    <p:anim calcmode="lin" valueType="num">
                                      <p:cBhvr additive="base">
                                        <p:cTn dur="600"/>
                                        <p:tgtEl>
                                          <p:spTgt spid="204"/>
                                        </p:tgtEl>
                                        <p:attrNameLst>
                                          <p:attrName>ppt_w</p:attrName>
                                        </p:attrNameLst>
                                      </p:cBhvr>
                                      <p:tavLst>
                                        <p:tav fmla="" tm="0">
                                          <p:val>
                                            <p:strVal val="0"/>
                                          </p:val>
                                        </p:tav>
                                        <p:tav fmla="" tm="100000">
                                          <p:val>
                                            <p:strVal val="#ppt_w"/>
                                          </p:val>
                                        </p:tav>
                                      </p:tavLst>
                                    </p:anim>
                                    <p:anim calcmode="lin" valueType="num">
                                      <p:cBhvr additive="base">
                                        <p:cTn dur="600"/>
                                        <p:tgtEl>
                                          <p:spTgt spid="20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50"/>
                                  </p:stCondLst>
                                  <p:childTnLst>
                                    <p:set>
                                      <p:cBhvr>
                                        <p:cTn dur="1" fill="hold">
                                          <p:stCondLst>
                                            <p:cond delay="0"/>
                                          </p:stCondLst>
                                        </p:cTn>
                                        <p:tgtEl>
                                          <p:spTgt spid="198"/>
                                        </p:tgtEl>
                                        <p:attrNameLst>
                                          <p:attrName>style.visibility</p:attrName>
                                        </p:attrNameLst>
                                      </p:cBhvr>
                                      <p:to>
                                        <p:strVal val="visible"/>
                                      </p:to>
                                    </p:set>
                                    <p:animEffect filter="fade" transition="in">
                                      <p:cBhvr>
                                        <p:cTn dur="380"/>
                                        <p:tgtEl>
                                          <p:spTgt spid="198"/>
                                        </p:tgtEl>
                                      </p:cBhvr>
                                    </p:animEffect>
                                  </p:childTnLst>
                                </p:cTn>
                              </p:par>
                              <p:par>
                                <p:cTn fill="hold" nodeType="withEffect" presetClass="entr" presetID="23" presetSubtype="16">
                                  <p:stCondLst>
                                    <p:cond delay="610"/>
                                  </p:stCondLst>
                                  <p:childTnLst>
                                    <p:set>
                                      <p:cBhvr>
                                        <p:cTn dur="1" fill="hold">
                                          <p:stCondLst>
                                            <p:cond delay="0"/>
                                          </p:stCondLst>
                                        </p:cTn>
                                        <p:tgtEl>
                                          <p:spTgt spid="205"/>
                                        </p:tgtEl>
                                        <p:attrNameLst>
                                          <p:attrName>style.visibility</p:attrName>
                                        </p:attrNameLst>
                                      </p:cBhvr>
                                      <p:to>
                                        <p:strVal val="visible"/>
                                      </p:to>
                                    </p:set>
                                    <p:anim calcmode="lin" valueType="num">
                                      <p:cBhvr additive="base">
                                        <p:cTn dur="420"/>
                                        <p:tgtEl>
                                          <p:spTgt spid="205"/>
                                        </p:tgtEl>
                                        <p:attrNameLst>
                                          <p:attrName>ppt_w</p:attrName>
                                        </p:attrNameLst>
                                      </p:cBhvr>
                                      <p:tavLst>
                                        <p:tav fmla="" tm="0">
                                          <p:val>
                                            <p:strVal val="0"/>
                                          </p:val>
                                        </p:tav>
                                        <p:tav fmla="" tm="100000">
                                          <p:val>
                                            <p:strVal val="#ppt_w"/>
                                          </p:val>
                                        </p:tav>
                                      </p:tavLst>
                                    </p:anim>
                                    <p:anim calcmode="lin" valueType="num">
                                      <p:cBhvr additive="base">
                                        <p:cTn dur="420"/>
                                        <p:tgtEl>
                                          <p:spTgt spid="20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61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420"/>
                                        <p:tgtEl>
                                          <p:spTgt spid="206"/>
                                        </p:tgtEl>
                                        <p:attrNameLst>
                                          <p:attrName>ppt_w</p:attrName>
                                        </p:attrNameLst>
                                      </p:cBhvr>
                                      <p:tavLst>
                                        <p:tav fmla="" tm="0">
                                          <p:val>
                                            <p:strVal val="0"/>
                                          </p:val>
                                        </p:tav>
                                        <p:tav fmla="" tm="100000">
                                          <p:val>
                                            <p:strVal val="#ppt_w"/>
                                          </p:val>
                                        </p:tav>
                                      </p:tavLst>
                                    </p:anim>
                                    <p:anim calcmode="lin" valueType="num">
                                      <p:cBhvr additive="base">
                                        <p:cTn dur="420"/>
                                        <p:tgtEl>
                                          <p:spTgt spid="20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61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420"/>
                                        <p:tgtEl>
                                          <p:spTgt spid="207"/>
                                        </p:tgtEl>
                                        <p:attrNameLst>
                                          <p:attrName>ppt_w</p:attrName>
                                        </p:attrNameLst>
                                      </p:cBhvr>
                                      <p:tavLst>
                                        <p:tav fmla="" tm="0">
                                          <p:val>
                                            <p:strVal val="0"/>
                                          </p:val>
                                        </p:tav>
                                        <p:tav fmla="" tm="100000">
                                          <p:val>
                                            <p:strVal val="#ppt_w"/>
                                          </p:val>
                                        </p:tav>
                                      </p:tavLst>
                                    </p:anim>
                                    <p:anim calcmode="lin" valueType="num">
                                      <p:cBhvr additive="base">
                                        <p:cTn dur="420"/>
                                        <p:tgtEl>
                                          <p:spTgt spid="20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850"/>
                                  </p:stCondLst>
                                  <p:childTnLst>
                                    <p:set>
                                      <p:cBhvr>
                                        <p:cTn dur="1" fill="hold">
                                          <p:stCondLst>
                                            <p:cond delay="0"/>
                                          </p:stCondLst>
                                        </p:cTn>
                                        <p:tgtEl>
                                          <p:spTgt spid="199"/>
                                        </p:tgtEl>
                                        <p:attrNameLst>
                                          <p:attrName>style.visibility</p:attrName>
                                        </p:attrNameLst>
                                      </p:cBhvr>
                                      <p:to>
                                        <p:strVal val="visible"/>
                                      </p:to>
                                    </p:set>
                                    <p:animEffect filter="fade" transition="in">
                                      <p:cBhvr>
                                        <p:cTn dur="380"/>
                                        <p:tgtEl>
                                          <p:spTgt spid="199"/>
                                        </p:tgtEl>
                                      </p:cBhvr>
                                    </p:animEffect>
                                  </p:childTnLst>
                                </p:cTn>
                              </p:par>
                              <p:par>
                                <p:cTn fill="hold" nodeType="withEffect" presetClass="entr" presetID="23" presetSubtype="16">
                                  <p:stCondLst>
                                    <p:cond delay="910"/>
                                  </p:stCondLst>
                                  <p:childTnLst>
                                    <p:set>
                                      <p:cBhvr>
                                        <p:cTn dur="1" fill="hold">
                                          <p:stCondLst>
                                            <p:cond delay="0"/>
                                          </p:stCondLst>
                                        </p:cTn>
                                        <p:tgtEl>
                                          <p:spTgt spid="208"/>
                                        </p:tgtEl>
                                        <p:attrNameLst>
                                          <p:attrName>style.visibility</p:attrName>
                                        </p:attrNameLst>
                                      </p:cBhvr>
                                      <p:to>
                                        <p:strVal val="visible"/>
                                      </p:to>
                                    </p:set>
                                    <p:anim calcmode="lin" valueType="num">
                                      <p:cBhvr additive="base">
                                        <p:cTn dur="420"/>
                                        <p:tgtEl>
                                          <p:spTgt spid="208"/>
                                        </p:tgtEl>
                                        <p:attrNameLst>
                                          <p:attrName>ppt_w</p:attrName>
                                        </p:attrNameLst>
                                      </p:cBhvr>
                                      <p:tavLst>
                                        <p:tav fmla="" tm="0">
                                          <p:val>
                                            <p:strVal val="0"/>
                                          </p:val>
                                        </p:tav>
                                        <p:tav fmla="" tm="100000">
                                          <p:val>
                                            <p:strVal val="#ppt_w"/>
                                          </p:val>
                                        </p:tav>
                                      </p:tavLst>
                                    </p:anim>
                                    <p:anim calcmode="lin" valueType="num">
                                      <p:cBhvr additive="base">
                                        <p:cTn dur="420"/>
                                        <p:tgtEl>
                                          <p:spTgt spid="20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910"/>
                                  </p:stCondLst>
                                  <p:childTnLst>
                                    <p:set>
                                      <p:cBhvr>
                                        <p:cTn dur="1" fill="hold">
                                          <p:stCondLst>
                                            <p:cond delay="0"/>
                                          </p:stCondLst>
                                        </p:cTn>
                                        <p:tgtEl>
                                          <p:spTgt spid="209"/>
                                        </p:tgtEl>
                                        <p:attrNameLst>
                                          <p:attrName>style.visibility</p:attrName>
                                        </p:attrNameLst>
                                      </p:cBhvr>
                                      <p:to>
                                        <p:strVal val="visible"/>
                                      </p:to>
                                    </p:set>
                                    <p:anim calcmode="lin" valueType="num">
                                      <p:cBhvr additive="base">
                                        <p:cTn dur="420"/>
                                        <p:tgtEl>
                                          <p:spTgt spid="209"/>
                                        </p:tgtEl>
                                        <p:attrNameLst>
                                          <p:attrName>ppt_w</p:attrName>
                                        </p:attrNameLst>
                                      </p:cBhvr>
                                      <p:tavLst>
                                        <p:tav fmla="" tm="0">
                                          <p:val>
                                            <p:strVal val="0"/>
                                          </p:val>
                                        </p:tav>
                                        <p:tav fmla="" tm="100000">
                                          <p:val>
                                            <p:strVal val="#ppt_w"/>
                                          </p:val>
                                        </p:tav>
                                      </p:tavLst>
                                    </p:anim>
                                    <p:anim calcmode="lin" valueType="num">
                                      <p:cBhvr additive="base">
                                        <p:cTn dur="420"/>
                                        <p:tgtEl>
                                          <p:spTgt spid="20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910"/>
                                  </p:stCondLst>
                                  <p:childTnLst>
                                    <p:set>
                                      <p:cBhvr>
                                        <p:cTn dur="1" fill="hold">
                                          <p:stCondLst>
                                            <p:cond delay="0"/>
                                          </p:stCondLst>
                                        </p:cTn>
                                        <p:tgtEl>
                                          <p:spTgt spid="210"/>
                                        </p:tgtEl>
                                        <p:attrNameLst>
                                          <p:attrName>style.visibility</p:attrName>
                                        </p:attrNameLst>
                                      </p:cBhvr>
                                      <p:to>
                                        <p:strVal val="visible"/>
                                      </p:to>
                                    </p:set>
                                    <p:anim calcmode="lin" valueType="num">
                                      <p:cBhvr additive="base">
                                        <p:cTn dur="420"/>
                                        <p:tgtEl>
                                          <p:spTgt spid="210"/>
                                        </p:tgtEl>
                                        <p:attrNameLst>
                                          <p:attrName>ppt_w</p:attrName>
                                        </p:attrNameLst>
                                      </p:cBhvr>
                                      <p:tavLst>
                                        <p:tav fmla="" tm="0">
                                          <p:val>
                                            <p:strVal val="0"/>
                                          </p:val>
                                        </p:tav>
                                        <p:tav fmla="" tm="100000">
                                          <p:val>
                                            <p:strVal val="#ppt_w"/>
                                          </p:val>
                                        </p:tav>
                                      </p:tavLst>
                                    </p:anim>
                                    <p:anim calcmode="lin" valueType="num">
                                      <p:cBhvr additive="base">
                                        <p:cTn dur="420"/>
                                        <p:tgtEl>
                                          <p:spTgt spid="21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150"/>
                                  </p:stCondLst>
                                  <p:childTnLst>
                                    <p:set>
                                      <p:cBhvr>
                                        <p:cTn dur="1" fill="hold">
                                          <p:stCondLst>
                                            <p:cond delay="0"/>
                                          </p:stCondLst>
                                        </p:cTn>
                                        <p:tgtEl>
                                          <p:spTgt spid="200"/>
                                        </p:tgtEl>
                                        <p:attrNameLst>
                                          <p:attrName>style.visibility</p:attrName>
                                        </p:attrNameLst>
                                      </p:cBhvr>
                                      <p:to>
                                        <p:strVal val="visible"/>
                                      </p:to>
                                    </p:set>
                                    <p:animEffect filter="fade" transition="in">
                                      <p:cBhvr>
                                        <p:cTn dur="380"/>
                                        <p:tgtEl>
                                          <p:spTgt spid="200"/>
                                        </p:tgtEl>
                                      </p:cBhvr>
                                    </p:animEffect>
                                  </p:childTnLst>
                                </p:cTn>
                              </p:par>
                              <p:par>
                                <p:cTn fill="hold" nodeType="withEffect" presetClass="entr" presetID="23" presetSubtype="16">
                                  <p:stCondLst>
                                    <p:cond delay="1210"/>
                                  </p:stCondLst>
                                  <p:childTnLst>
                                    <p:set>
                                      <p:cBhvr>
                                        <p:cTn dur="1" fill="hold">
                                          <p:stCondLst>
                                            <p:cond delay="0"/>
                                          </p:stCondLst>
                                        </p:cTn>
                                        <p:tgtEl>
                                          <p:spTgt spid="211"/>
                                        </p:tgtEl>
                                        <p:attrNameLst>
                                          <p:attrName>style.visibility</p:attrName>
                                        </p:attrNameLst>
                                      </p:cBhvr>
                                      <p:to>
                                        <p:strVal val="visible"/>
                                      </p:to>
                                    </p:set>
                                    <p:anim calcmode="lin" valueType="num">
                                      <p:cBhvr additive="base">
                                        <p:cTn dur="420"/>
                                        <p:tgtEl>
                                          <p:spTgt spid="211"/>
                                        </p:tgtEl>
                                        <p:attrNameLst>
                                          <p:attrName>ppt_w</p:attrName>
                                        </p:attrNameLst>
                                      </p:cBhvr>
                                      <p:tavLst>
                                        <p:tav fmla="" tm="0">
                                          <p:val>
                                            <p:strVal val="0"/>
                                          </p:val>
                                        </p:tav>
                                        <p:tav fmla="" tm="100000">
                                          <p:val>
                                            <p:strVal val="#ppt_w"/>
                                          </p:val>
                                        </p:tav>
                                      </p:tavLst>
                                    </p:anim>
                                    <p:anim calcmode="lin" valueType="num">
                                      <p:cBhvr additive="base">
                                        <p:cTn dur="420"/>
                                        <p:tgtEl>
                                          <p:spTgt spid="21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210"/>
                                  </p:stCondLst>
                                  <p:childTnLst>
                                    <p:set>
                                      <p:cBhvr>
                                        <p:cTn dur="1" fill="hold">
                                          <p:stCondLst>
                                            <p:cond delay="0"/>
                                          </p:stCondLst>
                                        </p:cTn>
                                        <p:tgtEl>
                                          <p:spTgt spid="212"/>
                                        </p:tgtEl>
                                        <p:attrNameLst>
                                          <p:attrName>style.visibility</p:attrName>
                                        </p:attrNameLst>
                                      </p:cBhvr>
                                      <p:to>
                                        <p:strVal val="visible"/>
                                      </p:to>
                                    </p:set>
                                    <p:anim calcmode="lin" valueType="num">
                                      <p:cBhvr additive="base">
                                        <p:cTn dur="420"/>
                                        <p:tgtEl>
                                          <p:spTgt spid="212"/>
                                        </p:tgtEl>
                                        <p:attrNameLst>
                                          <p:attrName>ppt_w</p:attrName>
                                        </p:attrNameLst>
                                      </p:cBhvr>
                                      <p:tavLst>
                                        <p:tav fmla="" tm="0">
                                          <p:val>
                                            <p:strVal val="0"/>
                                          </p:val>
                                        </p:tav>
                                        <p:tav fmla="" tm="100000">
                                          <p:val>
                                            <p:strVal val="#ppt_w"/>
                                          </p:val>
                                        </p:tav>
                                      </p:tavLst>
                                    </p:anim>
                                    <p:anim calcmode="lin" valueType="num">
                                      <p:cBhvr additive="base">
                                        <p:cTn dur="420"/>
                                        <p:tgtEl>
                                          <p:spTgt spid="21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210"/>
                                  </p:stCondLst>
                                  <p:childTnLst>
                                    <p:set>
                                      <p:cBhvr>
                                        <p:cTn dur="1" fill="hold">
                                          <p:stCondLst>
                                            <p:cond delay="0"/>
                                          </p:stCondLst>
                                        </p:cTn>
                                        <p:tgtEl>
                                          <p:spTgt spid="213"/>
                                        </p:tgtEl>
                                        <p:attrNameLst>
                                          <p:attrName>style.visibility</p:attrName>
                                        </p:attrNameLst>
                                      </p:cBhvr>
                                      <p:to>
                                        <p:strVal val="visible"/>
                                      </p:to>
                                    </p:set>
                                    <p:anim calcmode="lin" valueType="num">
                                      <p:cBhvr additive="base">
                                        <p:cTn dur="420"/>
                                        <p:tgtEl>
                                          <p:spTgt spid="213"/>
                                        </p:tgtEl>
                                        <p:attrNameLst>
                                          <p:attrName>ppt_w</p:attrName>
                                        </p:attrNameLst>
                                      </p:cBhvr>
                                      <p:tavLst>
                                        <p:tav fmla="" tm="0">
                                          <p:val>
                                            <p:strVal val="0"/>
                                          </p:val>
                                        </p:tav>
                                        <p:tav fmla="" tm="100000">
                                          <p:val>
                                            <p:strVal val="#ppt_w"/>
                                          </p:val>
                                        </p:tav>
                                      </p:tavLst>
                                    </p:anim>
                                    <p:anim calcmode="lin" valueType="num">
                                      <p:cBhvr additive="base">
                                        <p:cTn dur="420"/>
                                        <p:tgtEl>
                                          <p:spTgt spid="21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450"/>
                                  </p:stCondLst>
                                  <p:childTnLst>
                                    <p:set>
                                      <p:cBhvr>
                                        <p:cTn dur="1" fill="hold">
                                          <p:stCondLst>
                                            <p:cond delay="0"/>
                                          </p:stCondLst>
                                        </p:cTn>
                                        <p:tgtEl>
                                          <p:spTgt spid="201"/>
                                        </p:tgtEl>
                                        <p:attrNameLst>
                                          <p:attrName>style.visibility</p:attrName>
                                        </p:attrNameLst>
                                      </p:cBhvr>
                                      <p:to>
                                        <p:strVal val="visible"/>
                                      </p:to>
                                    </p:set>
                                    <p:animEffect filter="fade" transition="in">
                                      <p:cBhvr>
                                        <p:cTn dur="380"/>
                                        <p:tgtEl>
                                          <p:spTgt spid="201"/>
                                        </p:tgtEl>
                                      </p:cBhvr>
                                    </p:animEffect>
                                  </p:childTnLst>
                                </p:cTn>
                              </p:par>
                              <p:par>
                                <p:cTn fill="hold" nodeType="withEffect" presetClass="entr" presetID="23" presetSubtype="16">
                                  <p:stCondLst>
                                    <p:cond delay="151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420"/>
                                        <p:tgtEl>
                                          <p:spTgt spid="214"/>
                                        </p:tgtEl>
                                        <p:attrNameLst>
                                          <p:attrName>ppt_w</p:attrName>
                                        </p:attrNameLst>
                                      </p:cBhvr>
                                      <p:tavLst>
                                        <p:tav fmla="" tm="0">
                                          <p:val>
                                            <p:strVal val="0"/>
                                          </p:val>
                                        </p:tav>
                                        <p:tav fmla="" tm="100000">
                                          <p:val>
                                            <p:strVal val="#ppt_w"/>
                                          </p:val>
                                        </p:tav>
                                      </p:tavLst>
                                    </p:anim>
                                    <p:anim calcmode="lin" valueType="num">
                                      <p:cBhvr additive="base">
                                        <p:cTn dur="420"/>
                                        <p:tgtEl>
                                          <p:spTgt spid="21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510"/>
                                  </p:stCondLst>
                                  <p:childTnLst>
                                    <p:set>
                                      <p:cBhvr>
                                        <p:cTn dur="1" fill="hold">
                                          <p:stCondLst>
                                            <p:cond delay="0"/>
                                          </p:stCondLst>
                                        </p:cTn>
                                        <p:tgtEl>
                                          <p:spTgt spid="215"/>
                                        </p:tgtEl>
                                        <p:attrNameLst>
                                          <p:attrName>style.visibility</p:attrName>
                                        </p:attrNameLst>
                                      </p:cBhvr>
                                      <p:to>
                                        <p:strVal val="visible"/>
                                      </p:to>
                                    </p:set>
                                    <p:anim calcmode="lin" valueType="num">
                                      <p:cBhvr additive="base">
                                        <p:cTn dur="420"/>
                                        <p:tgtEl>
                                          <p:spTgt spid="215"/>
                                        </p:tgtEl>
                                        <p:attrNameLst>
                                          <p:attrName>ppt_w</p:attrName>
                                        </p:attrNameLst>
                                      </p:cBhvr>
                                      <p:tavLst>
                                        <p:tav fmla="" tm="0">
                                          <p:val>
                                            <p:strVal val="0"/>
                                          </p:val>
                                        </p:tav>
                                        <p:tav fmla="" tm="100000">
                                          <p:val>
                                            <p:strVal val="#ppt_w"/>
                                          </p:val>
                                        </p:tav>
                                      </p:tavLst>
                                    </p:anim>
                                    <p:anim calcmode="lin" valueType="num">
                                      <p:cBhvr additive="base">
                                        <p:cTn dur="420"/>
                                        <p:tgtEl>
                                          <p:spTgt spid="21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510"/>
                                  </p:stCondLst>
                                  <p:childTnLst>
                                    <p:set>
                                      <p:cBhvr>
                                        <p:cTn dur="1" fill="hold">
                                          <p:stCondLst>
                                            <p:cond delay="0"/>
                                          </p:stCondLst>
                                        </p:cTn>
                                        <p:tgtEl>
                                          <p:spTgt spid="216"/>
                                        </p:tgtEl>
                                        <p:attrNameLst>
                                          <p:attrName>style.visibility</p:attrName>
                                        </p:attrNameLst>
                                      </p:cBhvr>
                                      <p:to>
                                        <p:strVal val="visible"/>
                                      </p:to>
                                    </p:set>
                                    <p:anim calcmode="lin" valueType="num">
                                      <p:cBhvr additive="base">
                                        <p:cTn dur="420"/>
                                        <p:tgtEl>
                                          <p:spTgt spid="216"/>
                                        </p:tgtEl>
                                        <p:attrNameLst>
                                          <p:attrName>ppt_w</p:attrName>
                                        </p:attrNameLst>
                                      </p:cBhvr>
                                      <p:tavLst>
                                        <p:tav fmla="" tm="0">
                                          <p:val>
                                            <p:strVal val="0"/>
                                          </p:val>
                                        </p:tav>
                                        <p:tav fmla="" tm="100000">
                                          <p:val>
                                            <p:strVal val="#ppt_w"/>
                                          </p:val>
                                        </p:tav>
                                      </p:tavLst>
                                    </p:anim>
                                    <p:anim calcmode="lin" valueType="num">
                                      <p:cBhvr additive="base">
                                        <p:cTn dur="420"/>
                                        <p:tgtEl>
                                          <p:spTgt spid="21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750"/>
                                  </p:stCondLst>
                                  <p:childTnLst>
                                    <p:set>
                                      <p:cBhvr>
                                        <p:cTn dur="1" fill="hold">
                                          <p:stCondLst>
                                            <p:cond delay="0"/>
                                          </p:stCondLst>
                                        </p:cTn>
                                        <p:tgtEl>
                                          <p:spTgt spid="202"/>
                                        </p:tgtEl>
                                        <p:attrNameLst>
                                          <p:attrName>style.visibility</p:attrName>
                                        </p:attrNameLst>
                                      </p:cBhvr>
                                      <p:to>
                                        <p:strVal val="visible"/>
                                      </p:to>
                                    </p:set>
                                    <p:animEffect filter="fade" transition="in">
                                      <p:cBhvr>
                                        <p:cTn dur="380"/>
                                        <p:tgtEl>
                                          <p:spTgt spid="202"/>
                                        </p:tgtEl>
                                      </p:cBhvr>
                                    </p:animEffect>
                                  </p:childTnLst>
                                </p:cTn>
                              </p:par>
                              <p:par>
                                <p:cTn fill="hold" nodeType="withEffect" presetClass="entr" presetID="23" presetSubtype="16">
                                  <p:stCondLst>
                                    <p:cond delay="1810"/>
                                  </p:stCondLst>
                                  <p:childTnLst>
                                    <p:set>
                                      <p:cBhvr>
                                        <p:cTn dur="1" fill="hold">
                                          <p:stCondLst>
                                            <p:cond delay="0"/>
                                          </p:stCondLst>
                                        </p:cTn>
                                        <p:tgtEl>
                                          <p:spTgt spid="217"/>
                                        </p:tgtEl>
                                        <p:attrNameLst>
                                          <p:attrName>style.visibility</p:attrName>
                                        </p:attrNameLst>
                                      </p:cBhvr>
                                      <p:to>
                                        <p:strVal val="visible"/>
                                      </p:to>
                                    </p:set>
                                    <p:anim calcmode="lin" valueType="num">
                                      <p:cBhvr additive="base">
                                        <p:cTn dur="420"/>
                                        <p:tgtEl>
                                          <p:spTgt spid="217"/>
                                        </p:tgtEl>
                                        <p:attrNameLst>
                                          <p:attrName>ppt_w</p:attrName>
                                        </p:attrNameLst>
                                      </p:cBhvr>
                                      <p:tavLst>
                                        <p:tav fmla="" tm="0">
                                          <p:val>
                                            <p:strVal val="0"/>
                                          </p:val>
                                        </p:tav>
                                        <p:tav fmla="" tm="100000">
                                          <p:val>
                                            <p:strVal val="#ppt_w"/>
                                          </p:val>
                                        </p:tav>
                                      </p:tavLst>
                                    </p:anim>
                                    <p:anim calcmode="lin" valueType="num">
                                      <p:cBhvr additive="base">
                                        <p:cTn dur="420"/>
                                        <p:tgtEl>
                                          <p:spTgt spid="21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810"/>
                                  </p:stCondLst>
                                  <p:childTnLst>
                                    <p:set>
                                      <p:cBhvr>
                                        <p:cTn dur="1" fill="hold">
                                          <p:stCondLst>
                                            <p:cond delay="0"/>
                                          </p:stCondLst>
                                        </p:cTn>
                                        <p:tgtEl>
                                          <p:spTgt spid="218"/>
                                        </p:tgtEl>
                                        <p:attrNameLst>
                                          <p:attrName>style.visibility</p:attrName>
                                        </p:attrNameLst>
                                      </p:cBhvr>
                                      <p:to>
                                        <p:strVal val="visible"/>
                                      </p:to>
                                    </p:set>
                                    <p:anim calcmode="lin" valueType="num">
                                      <p:cBhvr additive="base">
                                        <p:cTn dur="420"/>
                                        <p:tgtEl>
                                          <p:spTgt spid="218"/>
                                        </p:tgtEl>
                                        <p:attrNameLst>
                                          <p:attrName>ppt_w</p:attrName>
                                        </p:attrNameLst>
                                      </p:cBhvr>
                                      <p:tavLst>
                                        <p:tav fmla="" tm="0">
                                          <p:val>
                                            <p:strVal val="0"/>
                                          </p:val>
                                        </p:tav>
                                        <p:tav fmla="" tm="100000">
                                          <p:val>
                                            <p:strVal val="#ppt_w"/>
                                          </p:val>
                                        </p:tav>
                                      </p:tavLst>
                                    </p:anim>
                                    <p:anim calcmode="lin" valueType="num">
                                      <p:cBhvr additive="base">
                                        <p:cTn dur="420"/>
                                        <p:tgtEl>
                                          <p:spTgt spid="21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810"/>
                                  </p:stCondLst>
                                  <p:childTnLst>
                                    <p:set>
                                      <p:cBhvr>
                                        <p:cTn dur="1" fill="hold">
                                          <p:stCondLst>
                                            <p:cond delay="0"/>
                                          </p:stCondLst>
                                        </p:cTn>
                                        <p:tgtEl>
                                          <p:spTgt spid="219"/>
                                        </p:tgtEl>
                                        <p:attrNameLst>
                                          <p:attrName>style.visibility</p:attrName>
                                        </p:attrNameLst>
                                      </p:cBhvr>
                                      <p:to>
                                        <p:strVal val="visible"/>
                                      </p:to>
                                    </p:set>
                                    <p:anim calcmode="lin" valueType="num">
                                      <p:cBhvr additive="base">
                                        <p:cTn dur="420"/>
                                        <p:tgtEl>
                                          <p:spTgt spid="219"/>
                                        </p:tgtEl>
                                        <p:attrNameLst>
                                          <p:attrName>ppt_w</p:attrName>
                                        </p:attrNameLst>
                                      </p:cBhvr>
                                      <p:tavLst>
                                        <p:tav fmla="" tm="0">
                                          <p:val>
                                            <p:strVal val="0"/>
                                          </p:val>
                                        </p:tav>
                                        <p:tav fmla="" tm="100000">
                                          <p:val>
                                            <p:strVal val="#ppt_w"/>
                                          </p:val>
                                        </p:tav>
                                      </p:tavLst>
                                    </p:anim>
                                    <p:anim calcmode="lin" valueType="num">
                                      <p:cBhvr additive="base">
                                        <p:cTn dur="420"/>
                                        <p:tgtEl>
                                          <p:spTgt spid="21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050"/>
                                  </p:stCondLst>
                                  <p:childTnLst>
                                    <p:set>
                                      <p:cBhvr>
                                        <p:cTn dur="1" fill="hold">
                                          <p:stCondLst>
                                            <p:cond delay="0"/>
                                          </p:stCondLst>
                                        </p:cTn>
                                        <p:tgtEl>
                                          <p:spTgt spid="203"/>
                                        </p:tgtEl>
                                        <p:attrNameLst>
                                          <p:attrName>style.visibility</p:attrName>
                                        </p:attrNameLst>
                                      </p:cBhvr>
                                      <p:to>
                                        <p:strVal val="visible"/>
                                      </p:to>
                                    </p:set>
                                    <p:animEffect filter="fade" transition="in">
                                      <p:cBhvr>
                                        <p:cTn dur="380"/>
                                        <p:tgtEl>
                                          <p:spTgt spid="203"/>
                                        </p:tgtEl>
                                      </p:cBhvr>
                                    </p:animEffect>
                                  </p:childTnLst>
                                </p:cTn>
                              </p:par>
                              <p:par>
                                <p:cTn fill="hold" nodeType="withEffect" presetClass="entr" presetID="23" presetSubtype="16">
                                  <p:stCondLst>
                                    <p:cond delay="2110"/>
                                  </p:stCondLst>
                                  <p:childTnLst>
                                    <p:set>
                                      <p:cBhvr>
                                        <p:cTn dur="1" fill="hold">
                                          <p:stCondLst>
                                            <p:cond delay="0"/>
                                          </p:stCondLst>
                                        </p:cTn>
                                        <p:tgtEl>
                                          <p:spTgt spid="220"/>
                                        </p:tgtEl>
                                        <p:attrNameLst>
                                          <p:attrName>style.visibility</p:attrName>
                                        </p:attrNameLst>
                                      </p:cBhvr>
                                      <p:to>
                                        <p:strVal val="visible"/>
                                      </p:to>
                                    </p:set>
                                    <p:anim calcmode="lin" valueType="num">
                                      <p:cBhvr additive="base">
                                        <p:cTn dur="420"/>
                                        <p:tgtEl>
                                          <p:spTgt spid="220"/>
                                        </p:tgtEl>
                                        <p:attrNameLst>
                                          <p:attrName>ppt_w</p:attrName>
                                        </p:attrNameLst>
                                      </p:cBhvr>
                                      <p:tavLst>
                                        <p:tav fmla="" tm="0">
                                          <p:val>
                                            <p:strVal val="0"/>
                                          </p:val>
                                        </p:tav>
                                        <p:tav fmla="" tm="100000">
                                          <p:val>
                                            <p:strVal val="#ppt_w"/>
                                          </p:val>
                                        </p:tav>
                                      </p:tavLst>
                                    </p:anim>
                                    <p:anim calcmode="lin" valueType="num">
                                      <p:cBhvr additive="base">
                                        <p:cTn dur="420"/>
                                        <p:tgtEl>
                                          <p:spTgt spid="22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110"/>
                                  </p:stCondLst>
                                  <p:childTnLst>
                                    <p:set>
                                      <p:cBhvr>
                                        <p:cTn dur="1" fill="hold">
                                          <p:stCondLst>
                                            <p:cond delay="0"/>
                                          </p:stCondLst>
                                        </p:cTn>
                                        <p:tgtEl>
                                          <p:spTgt spid="221"/>
                                        </p:tgtEl>
                                        <p:attrNameLst>
                                          <p:attrName>style.visibility</p:attrName>
                                        </p:attrNameLst>
                                      </p:cBhvr>
                                      <p:to>
                                        <p:strVal val="visible"/>
                                      </p:to>
                                    </p:set>
                                    <p:anim calcmode="lin" valueType="num">
                                      <p:cBhvr additive="base">
                                        <p:cTn dur="420"/>
                                        <p:tgtEl>
                                          <p:spTgt spid="221"/>
                                        </p:tgtEl>
                                        <p:attrNameLst>
                                          <p:attrName>ppt_w</p:attrName>
                                        </p:attrNameLst>
                                      </p:cBhvr>
                                      <p:tavLst>
                                        <p:tav fmla="" tm="0">
                                          <p:val>
                                            <p:strVal val="0"/>
                                          </p:val>
                                        </p:tav>
                                        <p:tav fmla="" tm="100000">
                                          <p:val>
                                            <p:strVal val="#ppt_w"/>
                                          </p:val>
                                        </p:tav>
                                      </p:tavLst>
                                    </p:anim>
                                    <p:anim calcmode="lin" valueType="num">
                                      <p:cBhvr additive="base">
                                        <p:cTn dur="420"/>
                                        <p:tgtEl>
                                          <p:spTgt spid="22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11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420"/>
                                        <p:tgtEl>
                                          <p:spTgt spid="222"/>
                                        </p:tgtEl>
                                        <p:attrNameLst>
                                          <p:attrName>ppt_w</p:attrName>
                                        </p:attrNameLst>
                                      </p:cBhvr>
                                      <p:tavLst>
                                        <p:tav fmla="" tm="0">
                                          <p:val>
                                            <p:strVal val="0"/>
                                          </p:val>
                                        </p:tav>
                                        <p:tav fmla="" tm="100000">
                                          <p:val>
                                            <p:strVal val="#ppt_w"/>
                                          </p:val>
                                        </p:tav>
                                      </p:tavLst>
                                    </p:anim>
                                    <p:anim calcmode="lin" valueType="num">
                                      <p:cBhvr additive="base">
                                        <p:cTn dur="420"/>
                                        <p:tgtEl>
                                          <p:spTgt spid="222"/>
                                        </p:tgtEl>
                                        <p:attrNameLst>
                                          <p:attrName>ppt_h</p:attrName>
                                        </p:attrNameLst>
                                      </p:cBhvr>
                                      <p:tavLst>
                                        <p:tav fmla="" tm="0">
                                          <p:val>
                                            <p:strVal val="0"/>
                                          </p:val>
                                        </p:tav>
                                        <p:tav fmla="" tm="100000">
                                          <p:val>
                                            <p:strVal val="#ppt_h"/>
                                          </p:val>
                                        </p:tav>
                                      </p:tavLst>
                                    </p:anim>
                                  </p:childTnLst>
                                </p:cTn>
                              </p:par>
                              <p:par>
                                <p:cTn fill="hold" nodeType="withEffect" presetClass="entr" presetID="2" presetSubtype="2">
                                  <p:stCondLst>
                                    <p:cond delay="2350"/>
                                  </p:stCondLst>
                                  <p:childTnLst>
                                    <p:set>
                                      <p:cBhvr>
                                        <p:cTn dur="1" fill="hold">
                                          <p:stCondLst>
                                            <p:cond delay="0"/>
                                          </p:stCondLst>
                                        </p:cTn>
                                        <p:tgtEl>
                                          <p:spTgt spid="223"/>
                                        </p:tgtEl>
                                        <p:attrNameLst>
                                          <p:attrName>style.visibility</p:attrName>
                                        </p:attrNameLst>
                                      </p:cBhvr>
                                      <p:to>
                                        <p:strVal val="visible"/>
                                      </p:to>
                                    </p:set>
                                    <p:anim calcmode="lin" valueType="num">
                                      <p:cBhvr additive="base">
                                        <p:cTn dur="600"/>
                                        <p:tgtEl>
                                          <p:spTgt spid="22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2350"/>
                                  </p:stCondLst>
                                  <p:childTnLst>
                                    <p:set>
                                      <p:cBhvr>
                                        <p:cTn dur="1" fill="hold">
                                          <p:stCondLst>
                                            <p:cond delay="0"/>
                                          </p:stCondLst>
                                        </p:cTn>
                                        <p:tgtEl>
                                          <p:spTgt spid="224"/>
                                        </p:tgtEl>
                                        <p:attrNameLst>
                                          <p:attrName>style.visibility</p:attrName>
                                        </p:attrNameLst>
                                      </p:cBhvr>
                                      <p:to>
                                        <p:strVal val="visible"/>
                                      </p:to>
                                    </p:set>
                                    <p:anim calcmode="lin" valueType="num">
                                      <p:cBhvr additive="base">
                                        <p:cTn dur="600"/>
                                        <p:tgtEl>
                                          <p:spTgt spid="224"/>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2850"/>
                                  </p:stCondLst>
                                  <p:childTnLst>
                                    <p:set>
                                      <p:cBhvr>
                                        <p:cTn dur="1" fill="hold">
                                          <p:stCondLst>
                                            <p:cond delay="0"/>
                                          </p:stCondLst>
                                        </p:cTn>
                                        <p:tgtEl>
                                          <p:spTgt spid="227"/>
                                        </p:tgtEl>
                                        <p:attrNameLst>
                                          <p:attrName>style.visibility</p:attrName>
                                        </p:attrNameLst>
                                      </p:cBhvr>
                                      <p:to>
                                        <p:strVal val="visible"/>
                                      </p:to>
                                    </p:set>
                                    <p:animEffect filter="fade" transition="in">
                                      <p:cBhvr>
                                        <p:cTn dur="300"/>
                                        <p:tgtEl>
                                          <p:spTgt spid="227"/>
                                        </p:tgtEl>
                                      </p:cBhvr>
                                    </p:animEffect>
                                  </p:childTnLst>
                                </p:cTn>
                              </p:par>
                              <p:par>
                                <p:cTn fill="hold" nodeType="withEffect" presetClass="entr" presetID="2" presetSubtype="2">
                                  <p:stCondLst>
                                    <p:cond delay="310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600"/>
                                        <p:tgtEl>
                                          <p:spTgt spid="22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3100"/>
                                  </p:stCondLst>
                                  <p:childTnLst>
                                    <p:set>
                                      <p:cBhvr>
                                        <p:cTn dur="1" fill="hold">
                                          <p:stCondLst>
                                            <p:cond delay="0"/>
                                          </p:stCondLst>
                                        </p:cTn>
                                        <p:tgtEl>
                                          <p:spTgt spid="226"/>
                                        </p:tgtEl>
                                        <p:attrNameLst>
                                          <p:attrName>style.visibility</p:attrName>
                                        </p:attrNameLst>
                                      </p:cBhvr>
                                      <p:to>
                                        <p:strVal val="visible"/>
                                      </p:to>
                                    </p:set>
                                    <p:anim calcmode="lin" valueType="num">
                                      <p:cBhvr additive="base">
                                        <p:cTn dur="600"/>
                                        <p:tgtEl>
                                          <p:spTgt spid="226"/>
                                        </p:tgtEl>
                                        <p:attrNameLst>
                                          <p:attrName>ppt_x</p:attrName>
                                        </p:attrNameLst>
                                      </p:cBhvr>
                                      <p:tavLst>
                                        <p:tav fmla="" tm="0">
                                          <p:val>
                                            <p:strVal val="#ppt_x+1"/>
                                          </p:val>
                                        </p:tav>
                                        <p:tav fmla="" tm="100000">
                                          <p:val>
                                            <p:strVal val="#ppt_x"/>
                                          </p:val>
                                        </p:tav>
                                      </p:tavLst>
                                    </p:anim>
                                  </p:childTnLst>
                                </p:cTn>
                              </p:par>
                              <p:par>
                                <p:cTn fill="hold" nodeType="withEffect" presetClass="emph" presetID="8" presetSubtype="0">
                                  <p:stCondLst>
                                    <p:cond delay="3600"/>
                                  </p:stCondLst>
                                  <p:childTnLst>
                                    <p:animRot by="-21600000">
                                      <p:cBhvr>
                                        <p:cTn dur="5000" fill="hold"/>
                                        <p:tgtEl>
                                          <p:spTgt spid="197"/>
                                        </p:tgtEl>
                                        <p:attrNameLst>
                                          <p:attrName>r</p:attrName>
                                        </p:attrNameLst>
                                      </p:cBhvr>
                                    </p:animRot>
                                  </p:childTnLst>
                                </p:cTn>
                              </p:par>
                              <p:par>
                                <p:cTn fill="hold" nodeType="withEffect" presetClass="entr" presetID="10" presetSubtype="0">
                                  <p:stCondLst>
                                    <p:cond delay="3700"/>
                                  </p:stCondLst>
                                  <p:childTnLst>
                                    <p:set>
                                      <p:cBhvr>
                                        <p:cTn dur="1" fill="hold">
                                          <p:stCondLst>
                                            <p:cond delay="0"/>
                                          </p:stCondLst>
                                        </p:cTn>
                                        <p:tgtEl>
                                          <p:spTgt spid="228"/>
                                        </p:tgtEl>
                                        <p:attrNameLst>
                                          <p:attrName>style.visibility</p:attrName>
                                        </p:attrNameLst>
                                      </p:cBhvr>
                                      <p:to>
                                        <p:strVal val="visible"/>
                                      </p:to>
                                    </p:set>
                                    <p:animEffect filter="fade" transition="in">
                                      <p:cBhvr>
                                        <p:cTn dur="380"/>
                                        <p:tgtEl>
                                          <p:spTgt spid="228"/>
                                        </p:tgtEl>
                                      </p:cBhvr>
                                    </p:animEffect>
                                  </p:childTnLst>
                                </p:cTn>
                              </p:par>
                              <p:par>
                                <p:cTn fill="hold" nodeType="withEffect" presetClass="entr" presetID="10" presetSubtype="0">
                                  <p:stCondLst>
                                    <p:cond delay="3900"/>
                                  </p:stCondLst>
                                  <p:childTnLst>
                                    <p:set>
                                      <p:cBhvr>
                                        <p:cTn dur="1" fill="hold">
                                          <p:stCondLst>
                                            <p:cond delay="0"/>
                                          </p:stCondLst>
                                        </p:cTn>
                                        <p:tgtEl>
                                          <p:spTgt spid="229"/>
                                        </p:tgtEl>
                                        <p:attrNameLst>
                                          <p:attrName>style.visibility</p:attrName>
                                        </p:attrNameLst>
                                      </p:cBhvr>
                                      <p:to>
                                        <p:strVal val="visible"/>
                                      </p:to>
                                    </p:set>
                                    <p:animEffect filter="fade" transition="in">
                                      <p:cBhvr>
                                        <p:cTn dur="380"/>
                                        <p:tgtEl>
                                          <p:spTgt spid="229"/>
                                        </p:tgtEl>
                                      </p:cBhvr>
                                    </p:animEffect>
                                  </p:childTnLst>
                                </p:cTn>
                              </p:par>
                              <p:par>
                                <p:cTn fill="hold" nodeType="withEffect" presetClass="entr" presetID="10" presetSubtype="0">
                                  <p:stCondLst>
                                    <p:cond delay="4100"/>
                                  </p:stCondLst>
                                  <p:childTnLst>
                                    <p:set>
                                      <p:cBhvr>
                                        <p:cTn dur="1" fill="hold">
                                          <p:stCondLst>
                                            <p:cond delay="0"/>
                                          </p:stCondLst>
                                        </p:cTn>
                                        <p:tgtEl>
                                          <p:spTgt spid="230"/>
                                        </p:tgtEl>
                                        <p:attrNameLst>
                                          <p:attrName>style.visibility</p:attrName>
                                        </p:attrNameLst>
                                      </p:cBhvr>
                                      <p:to>
                                        <p:strVal val="visible"/>
                                      </p:to>
                                    </p:set>
                                    <p:animEffect filter="fade" transition="in">
                                      <p:cBhvr>
                                        <p:cTn dur="380"/>
                                        <p:tgtEl>
                                          <p:spTgt spid="230"/>
                                        </p:tgtEl>
                                      </p:cBhvr>
                                    </p:animEffect>
                                  </p:childTnLst>
                                </p:cTn>
                              </p:par>
                              <p:par>
                                <p:cTn fill="hold" nodeType="withEffect" presetClass="entr" presetID="10" presetSubtype="0">
                                  <p:stCondLst>
                                    <p:cond delay="4300"/>
                                  </p:stCondLst>
                                  <p:childTnLst>
                                    <p:set>
                                      <p:cBhvr>
                                        <p:cTn dur="1" fill="hold">
                                          <p:stCondLst>
                                            <p:cond delay="0"/>
                                          </p:stCondLst>
                                        </p:cTn>
                                        <p:tgtEl>
                                          <p:spTgt spid="231"/>
                                        </p:tgtEl>
                                        <p:attrNameLst>
                                          <p:attrName>style.visibility</p:attrName>
                                        </p:attrNameLst>
                                      </p:cBhvr>
                                      <p:to>
                                        <p:strVal val="visible"/>
                                      </p:to>
                                    </p:set>
                                    <p:animEffect filter="fade" transition="in">
                                      <p:cBhvr>
                                        <p:cTn dur="380"/>
                                        <p:tgtEl>
                                          <p:spTgt spid="231"/>
                                        </p:tgtEl>
                                      </p:cBhvr>
                                    </p:animEffect>
                                  </p:childTnLst>
                                </p:cTn>
                              </p:par>
                              <p:par>
                                <p:cTn fill="hold" nodeType="withEffect" presetClass="entr" presetID="10" presetSubtype="0">
                                  <p:stCondLst>
                                    <p:cond delay="4500"/>
                                  </p:stCondLst>
                                  <p:childTnLst>
                                    <p:set>
                                      <p:cBhvr>
                                        <p:cTn dur="1" fill="hold">
                                          <p:stCondLst>
                                            <p:cond delay="0"/>
                                          </p:stCondLst>
                                        </p:cTn>
                                        <p:tgtEl>
                                          <p:spTgt spid="232"/>
                                        </p:tgtEl>
                                        <p:attrNameLst>
                                          <p:attrName>style.visibility</p:attrName>
                                        </p:attrNameLst>
                                      </p:cBhvr>
                                      <p:to>
                                        <p:strVal val="visible"/>
                                      </p:to>
                                    </p:set>
                                    <p:animEffect filter="fade" transition="in">
                                      <p:cBhvr>
                                        <p:cTn dur="380"/>
                                        <p:tgtEl>
                                          <p:spTgt spid="232"/>
                                        </p:tgtEl>
                                      </p:cBhvr>
                                    </p:animEffect>
                                  </p:childTnLst>
                                </p:cTn>
                              </p:par>
                              <p:par>
                                <p:cTn fill="hold" nodeType="withEffect" presetClass="entr" presetID="10" presetSubtype="0">
                                  <p:stCondLst>
                                    <p:cond delay="4700"/>
                                  </p:stCondLst>
                                  <p:childTnLst>
                                    <p:set>
                                      <p:cBhvr>
                                        <p:cTn dur="1" fill="hold">
                                          <p:stCondLst>
                                            <p:cond delay="0"/>
                                          </p:stCondLst>
                                        </p:cTn>
                                        <p:tgtEl>
                                          <p:spTgt spid="233"/>
                                        </p:tgtEl>
                                        <p:attrNameLst>
                                          <p:attrName>style.visibility</p:attrName>
                                        </p:attrNameLst>
                                      </p:cBhvr>
                                      <p:to>
                                        <p:strVal val="visible"/>
                                      </p:to>
                                    </p:set>
                                    <p:animEffect filter="fade" transition="in">
                                      <p:cBhvr>
                                        <p:cTn dur="380"/>
                                        <p:tgtEl>
                                          <p:spTgt spid="2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0"/>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Relevance to Current Technology Trends</a:t>
            </a:r>
            <a:endParaRPr/>
          </a:p>
        </p:txBody>
      </p:sp>
      <p:sp>
        <p:nvSpPr>
          <p:cNvPr id="240" name="Google Shape;240;p20"/>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241" name="Google Shape;241;p20"/>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242" name="Google Shape;242;p20"/>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243" name="Google Shape;243;p20"/>
          <p:cNvSpPr/>
          <p:nvPr/>
        </p:nvSpPr>
        <p:spPr>
          <a:xfrm>
            <a:off x="1641348" y="2606040"/>
            <a:ext cx="1380744" cy="1188720"/>
          </a:xfrm>
          <a:prstGeom prst="hexagon">
            <a:avLst>
              <a:gd fmla="val 25000" name="adj"/>
              <a:gd fmla="val 115470" name="vf"/>
            </a:avLst>
          </a:prstGeom>
          <a:gradFill rotWithShape="1">
            <a:gsLst>
              <a:gs pos="0">
                <a:srgbClr val="3050AA"/>
              </a:gs>
              <a:gs pos="100000">
                <a:srgbClr val="6F73D7"/>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Smart</a:t>
            </a:r>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Worker</a:t>
            </a:r>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Finder</a:t>
            </a:r>
            <a:endParaRPr/>
          </a:p>
        </p:txBody>
      </p:sp>
      <p:sp>
        <p:nvSpPr>
          <p:cNvPr id="244" name="Google Shape;244;p20"/>
          <p:cNvSpPr/>
          <p:nvPr/>
        </p:nvSpPr>
        <p:spPr>
          <a:xfrm>
            <a:off x="1623060" y="1276685"/>
            <a:ext cx="1417320" cy="1225296"/>
          </a:xfrm>
          <a:prstGeom prst="hexagon">
            <a:avLst>
              <a:gd fmla="val 25000" name="adj"/>
              <a:gd fmla="val 115470" name="vf"/>
            </a:avLst>
          </a:prstGeom>
          <a:gradFill rotWithShape="1">
            <a:gsLst>
              <a:gs pos="0">
                <a:srgbClr val="DCFBF8"/>
              </a:gs>
              <a:gs pos="100000">
                <a:srgbClr val="B5F0EC"/>
              </a:gs>
            </a:gsLst>
            <a:lin ang="2700000" scaled="0"/>
          </a:gradFill>
          <a:ln cap="flat" cmpd="sng" w="19050">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Machine</a:t>
            </a:r>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Learning</a:t>
            </a:r>
            <a:endParaRPr/>
          </a:p>
        </p:txBody>
      </p:sp>
      <p:pic>
        <p:nvPicPr>
          <p:cNvPr descr="FaBrain" id="245" name="Google Shape;245;p20"/>
          <p:cNvPicPr preferRelativeResize="0"/>
          <p:nvPr/>
        </p:nvPicPr>
        <p:blipFill rotWithShape="1">
          <a:blip r:embed="rIdRc245">
            <a:alphaModFix/>
          </a:blip>
          <a:srcRect b="0" l="0" r="0" t="0"/>
          <a:stretch/>
        </p:blipFill>
        <p:spPr>
          <a:xfrm>
            <a:off x="2148840" y="1422989"/>
            <a:ext cx="365760" cy="365760"/>
          </a:xfrm>
          <a:prstGeom prst="rect">
            <a:avLst/>
          </a:prstGeom>
          <a:noFill/>
          <a:ln>
            <a:noFill/>
          </a:ln>
        </p:spPr>
      </p:pic>
      <p:sp>
        <p:nvSpPr>
          <p:cNvPr id="246" name="Google Shape;246;p20"/>
          <p:cNvSpPr/>
          <p:nvPr/>
        </p:nvSpPr>
        <p:spPr>
          <a:xfrm>
            <a:off x="2760459" y="1932219"/>
            <a:ext cx="1417320" cy="1225296"/>
          </a:xfrm>
          <a:prstGeom prst="hexagon">
            <a:avLst>
              <a:gd fmla="val 25000" name="adj"/>
              <a:gd fmla="val 115470" name="vf"/>
            </a:avLst>
          </a:prstGeom>
          <a:gradFill rotWithShape="1">
            <a:gsLst>
              <a:gs pos="0">
                <a:srgbClr val="E4F7FE"/>
              </a:gs>
              <a:gs pos="100000">
                <a:srgbClr val="BCECFE"/>
              </a:gs>
            </a:gsLst>
            <a:lin ang="2700000" scaled="0"/>
          </a:gradFill>
          <a:ln cap="flat" cmpd="sng" w="19050">
            <a:solidFill>
              <a:srgbClr val="0F87A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Location-Based</a:t>
            </a:r>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Services</a:t>
            </a:r>
            <a:endParaRPr/>
          </a:p>
        </p:txBody>
      </p:sp>
      <p:pic>
        <p:nvPicPr>
          <p:cNvPr descr="FaMapMarkerAlt" id="247" name="Google Shape;247;p20"/>
          <p:cNvPicPr preferRelativeResize="0"/>
          <p:nvPr/>
        </p:nvPicPr>
        <p:blipFill rotWithShape="1">
          <a:blip r:embed="rIdRc247">
            <a:alphaModFix/>
          </a:blip>
          <a:srcRect b="0" l="0" r="0" t="0"/>
          <a:stretch/>
        </p:blipFill>
        <p:spPr>
          <a:xfrm>
            <a:off x="3286214" y="1978261"/>
            <a:ext cx="365760" cy="365760"/>
          </a:xfrm>
          <a:prstGeom prst="rect">
            <a:avLst/>
          </a:prstGeom>
          <a:noFill/>
          <a:ln>
            <a:noFill/>
          </a:ln>
        </p:spPr>
      </p:pic>
      <p:sp>
        <p:nvSpPr>
          <p:cNvPr id="248" name="Google Shape;248;p20"/>
          <p:cNvSpPr/>
          <p:nvPr/>
        </p:nvSpPr>
        <p:spPr>
          <a:xfrm>
            <a:off x="2760459" y="3243285"/>
            <a:ext cx="1417320" cy="1225296"/>
          </a:xfrm>
          <a:prstGeom prst="hexagon">
            <a:avLst>
              <a:gd fmla="val 25000" name="adj"/>
              <a:gd fmla="val 115470" name="vf"/>
            </a:avLst>
          </a:prstGeom>
          <a:gradFill rotWithShape="1">
            <a:gsLst>
              <a:gs pos="0">
                <a:srgbClr val="ECF4FF"/>
              </a:gs>
              <a:gs pos="100000">
                <a:srgbClr val="D2E5FE"/>
              </a:gs>
            </a:gsLst>
            <a:lin ang="2700000" scaled="0"/>
          </a:gradFill>
          <a:ln cap="flat" cmpd="sng" w="19050">
            <a:solidFill>
              <a:srgbClr val="3C7BC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Real-Time</a:t>
            </a:r>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Computing</a:t>
            </a:r>
            <a:endParaRPr/>
          </a:p>
        </p:txBody>
      </p:sp>
      <p:pic>
        <p:nvPicPr>
          <p:cNvPr descr="FaBolt" id="249" name="Google Shape;249;p20"/>
          <p:cNvPicPr preferRelativeResize="0"/>
          <p:nvPr/>
        </p:nvPicPr>
        <p:blipFill rotWithShape="1">
          <a:blip r:embed="rIdRc249">
            <a:alphaModFix/>
          </a:blip>
          <a:srcRect b="0" l="0" r="0" t="0"/>
          <a:stretch/>
        </p:blipFill>
        <p:spPr>
          <a:xfrm>
            <a:off x="3286239" y="3389589"/>
            <a:ext cx="365760" cy="365760"/>
          </a:xfrm>
          <a:prstGeom prst="rect">
            <a:avLst/>
          </a:prstGeom>
          <a:noFill/>
          <a:ln>
            <a:noFill/>
          </a:ln>
        </p:spPr>
      </p:pic>
      <p:sp>
        <p:nvSpPr>
          <p:cNvPr id="250" name="Google Shape;250;p20"/>
          <p:cNvSpPr/>
          <p:nvPr/>
        </p:nvSpPr>
        <p:spPr>
          <a:xfrm>
            <a:off x="1623060" y="3898819"/>
            <a:ext cx="1417320" cy="1225296"/>
          </a:xfrm>
          <a:prstGeom prst="hexagon">
            <a:avLst>
              <a:gd fmla="val 25000" name="adj"/>
              <a:gd fmla="val 115470" name="vf"/>
            </a:avLst>
          </a:prstGeom>
          <a:gradFill rotWithShape="1">
            <a:gsLst>
              <a:gs pos="0">
                <a:srgbClr val="F3F2FF"/>
              </a:gs>
              <a:gs pos="100000">
                <a:srgbClr val="E1DFFD"/>
              </a:gs>
            </a:gsLst>
            <a:lin ang="2700000" scaled="0"/>
          </a:gradFill>
          <a:ln cap="flat" cmpd="sng" w="19050">
            <a:solidFill>
              <a:srgbClr val="7969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Cloud</a:t>
            </a:r>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Computing</a:t>
            </a:r>
            <a:endParaRPr/>
          </a:p>
        </p:txBody>
      </p:sp>
      <p:pic>
        <p:nvPicPr>
          <p:cNvPr descr="FaCloud" id="251" name="Google Shape;251;p20"/>
          <p:cNvPicPr preferRelativeResize="0"/>
          <p:nvPr/>
        </p:nvPicPr>
        <p:blipFill rotWithShape="1">
          <a:blip r:embed="rIdRc251">
            <a:alphaModFix/>
          </a:blip>
          <a:srcRect b="0" l="0" r="0" t="0"/>
          <a:stretch/>
        </p:blipFill>
        <p:spPr>
          <a:xfrm>
            <a:off x="2148840" y="4045123"/>
            <a:ext cx="365760" cy="365760"/>
          </a:xfrm>
          <a:prstGeom prst="rect">
            <a:avLst/>
          </a:prstGeom>
          <a:noFill/>
          <a:ln>
            <a:noFill/>
          </a:ln>
        </p:spPr>
      </p:pic>
      <p:sp>
        <p:nvSpPr>
          <p:cNvPr id="252" name="Google Shape;252;p20"/>
          <p:cNvSpPr/>
          <p:nvPr/>
        </p:nvSpPr>
        <p:spPr>
          <a:xfrm>
            <a:off x="485661" y="3243285"/>
            <a:ext cx="1417320" cy="1225296"/>
          </a:xfrm>
          <a:prstGeom prst="hexagon">
            <a:avLst>
              <a:gd fmla="val 25000" name="adj"/>
              <a:gd fmla="val 115470" name="vf"/>
            </a:avLst>
          </a:prstGeom>
          <a:gradFill rotWithShape="1">
            <a:gsLst>
              <a:gs pos="0">
                <a:srgbClr val="FDEEFF"/>
              </a:gs>
              <a:gs pos="100000">
                <a:srgbClr val="F7D6FB"/>
              </a:gs>
            </a:gsLst>
            <a:lin ang="2700000" scaled="0"/>
          </a:gradFill>
          <a:ln cap="flat" cmpd="sng" w="19050">
            <a:solidFill>
              <a:srgbClr val="A05BA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Generative</a:t>
            </a:r>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AI / NLP</a:t>
            </a:r>
            <a:endParaRPr/>
          </a:p>
        </p:txBody>
      </p:sp>
      <p:pic>
        <p:nvPicPr>
          <p:cNvPr descr="FaLanguage" id="253" name="Google Shape;253;p20"/>
          <p:cNvPicPr preferRelativeResize="0"/>
          <p:nvPr/>
        </p:nvPicPr>
        <p:blipFill rotWithShape="1">
          <a:blip r:embed="rIdRc253">
            <a:alphaModFix/>
          </a:blip>
          <a:srcRect b="0" l="0" r="0" t="0"/>
          <a:stretch/>
        </p:blipFill>
        <p:spPr>
          <a:xfrm>
            <a:off x="1011441" y="3389589"/>
            <a:ext cx="365760" cy="365760"/>
          </a:xfrm>
          <a:prstGeom prst="rect">
            <a:avLst/>
          </a:prstGeom>
          <a:noFill/>
          <a:ln>
            <a:noFill/>
          </a:ln>
        </p:spPr>
      </p:pic>
      <p:sp>
        <p:nvSpPr>
          <p:cNvPr id="254" name="Google Shape;254;p20"/>
          <p:cNvSpPr/>
          <p:nvPr/>
        </p:nvSpPr>
        <p:spPr>
          <a:xfrm>
            <a:off x="485661" y="1932219"/>
            <a:ext cx="1417320" cy="1225296"/>
          </a:xfrm>
          <a:prstGeom prst="hexagon">
            <a:avLst>
              <a:gd fmla="val 25000" name="adj"/>
              <a:gd fmla="val 115470" name="vf"/>
            </a:avLst>
          </a:prstGeom>
          <a:gradFill rotWithShape="1">
            <a:gsLst>
              <a:gs pos="0">
                <a:srgbClr val="FEEFF4"/>
              </a:gs>
              <a:gs pos="100000">
                <a:srgbClr val="FDD7E4"/>
              </a:gs>
            </a:gsLst>
            <a:lin ang="2700000" scaled="0"/>
          </a:gradFill>
          <a:ln cap="flat" cmpd="sng" w="19050">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Multi-Armed</a:t>
            </a:r>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Bandits</a:t>
            </a:r>
            <a:endParaRPr/>
          </a:p>
        </p:txBody>
      </p:sp>
      <p:pic>
        <p:nvPicPr>
          <p:cNvPr descr="FaChartLine" id="255" name="Google Shape;255;p20"/>
          <p:cNvPicPr preferRelativeResize="0"/>
          <p:nvPr/>
        </p:nvPicPr>
        <p:blipFill rotWithShape="1">
          <a:blip r:embed="rIdRc255">
            <a:alphaModFix/>
          </a:blip>
          <a:srcRect b="0" l="0" r="0" t="0"/>
          <a:stretch/>
        </p:blipFill>
        <p:spPr>
          <a:xfrm>
            <a:off x="1011441" y="1978261"/>
            <a:ext cx="365760" cy="365760"/>
          </a:xfrm>
          <a:prstGeom prst="rect">
            <a:avLst/>
          </a:prstGeom>
          <a:noFill/>
          <a:ln>
            <a:noFill/>
          </a:ln>
        </p:spPr>
      </p:pic>
      <p:sp>
        <p:nvSpPr>
          <p:cNvPr id="256" name="Google Shape;256;p20"/>
          <p:cNvSpPr/>
          <p:nvPr/>
        </p:nvSpPr>
        <p:spPr>
          <a:xfrm>
            <a:off x="4681728" y="1316736"/>
            <a:ext cx="402336" cy="402336"/>
          </a:xfrm>
          <a:prstGeom prst="ellipse">
            <a:avLst/>
          </a:prstGeom>
          <a:gradFill rotWithShape="1">
            <a:gsLst>
              <a:gs pos="0">
                <a:srgbClr val="006662"/>
              </a:gs>
              <a:gs pos="100000">
                <a:srgbClr val="0E929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1</a:t>
            </a:r>
            <a:endParaRPr/>
          </a:p>
        </p:txBody>
      </p:sp>
      <p:sp>
        <p:nvSpPr>
          <p:cNvPr id="257" name="Google Shape;257;p20"/>
          <p:cNvSpPr/>
          <p:nvPr/>
        </p:nvSpPr>
        <p:spPr>
          <a:xfrm>
            <a:off x="5193792" y="1261872"/>
            <a:ext cx="3520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5350"/>
                </a:solidFill>
                <a:latin typeface="Times New Roman"/>
                <a:ea typeface="Times New Roman"/>
                <a:cs typeface="Times New Roman"/>
                <a:sym typeface="Times New Roman"/>
              </a:rPr>
              <a:t>Machine Learning</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Ranks and recommends the best choice</a:t>
            </a:r>
            <a:endParaRPr/>
          </a:p>
        </p:txBody>
      </p:sp>
      <p:sp>
        <p:nvSpPr>
          <p:cNvPr id="258" name="Google Shape;258;p20"/>
          <p:cNvSpPr/>
          <p:nvPr/>
        </p:nvSpPr>
        <p:spPr>
          <a:xfrm>
            <a:off x="4681728" y="1956816"/>
            <a:ext cx="402336" cy="402336"/>
          </a:xfrm>
          <a:prstGeom prst="ellipse">
            <a:avLst/>
          </a:prstGeom>
          <a:gradFill rotWithShape="1">
            <a:gsLst>
              <a:gs pos="0">
                <a:srgbClr val="076375"/>
              </a:gs>
              <a:gs pos="100000">
                <a:srgbClr val="008CB9"/>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2</a:t>
            </a:r>
            <a:endParaRPr/>
          </a:p>
        </p:txBody>
      </p:sp>
      <p:sp>
        <p:nvSpPr>
          <p:cNvPr id="259" name="Google Shape;259;p20"/>
          <p:cNvSpPr/>
          <p:nvPr/>
        </p:nvSpPr>
        <p:spPr>
          <a:xfrm>
            <a:off x="5193792" y="1901952"/>
            <a:ext cx="3520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5065"/>
                </a:solidFill>
                <a:latin typeface="Times New Roman"/>
                <a:ea typeface="Times New Roman"/>
                <a:cs typeface="Times New Roman"/>
                <a:sym typeface="Times New Roman"/>
              </a:rPr>
              <a:t>Location-Based Services</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Finds workers near the job</a:t>
            </a:r>
            <a:endParaRPr/>
          </a:p>
        </p:txBody>
      </p:sp>
      <p:sp>
        <p:nvSpPr>
          <p:cNvPr id="260" name="Google Shape;260;p20"/>
          <p:cNvSpPr/>
          <p:nvPr/>
        </p:nvSpPr>
        <p:spPr>
          <a:xfrm>
            <a:off x="4681728" y="2596896"/>
            <a:ext cx="402336" cy="402336"/>
          </a:xfrm>
          <a:prstGeom prst="ellipse">
            <a:avLst/>
          </a:prstGeom>
          <a:gradFill rotWithShape="1">
            <a:gsLst>
              <a:gs pos="0">
                <a:srgbClr val="005A9D"/>
              </a:gs>
              <a:gs pos="100000">
                <a:srgbClr val="4E7CD9"/>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3</a:t>
            </a:r>
            <a:endParaRPr/>
          </a:p>
        </p:txBody>
      </p:sp>
      <p:sp>
        <p:nvSpPr>
          <p:cNvPr id="261" name="Google Shape;261;p20"/>
          <p:cNvSpPr/>
          <p:nvPr/>
        </p:nvSpPr>
        <p:spPr>
          <a:xfrm>
            <a:off x="5193792" y="2542032"/>
            <a:ext cx="3520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7468B"/>
                </a:solidFill>
                <a:latin typeface="Times New Roman"/>
                <a:ea typeface="Times New Roman"/>
                <a:cs typeface="Times New Roman"/>
                <a:sym typeface="Times New Roman"/>
              </a:rPr>
              <a:t>Real-Time Computing</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Keeps availability up to date</a:t>
            </a:r>
            <a:endParaRPr/>
          </a:p>
        </p:txBody>
      </p:sp>
      <p:sp>
        <p:nvSpPr>
          <p:cNvPr id="262" name="Google Shape;262;p20"/>
          <p:cNvSpPr/>
          <p:nvPr/>
        </p:nvSpPr>
        <p:spPr>
          <a:xfrm>
            <a:off x="4681728" y="3236976"/>
            <a:ext cx="402336" cy="402336"/>
          </a:xfrm>
          <a:prstGeom prst="ellipse">
            <a:avLst/>
          </a:prstGeom>
          <a:gradFill rotWithShape="1">
            <a:gsLst>
              <a:gs pos="0">
                <a:srgbClr val="4F47A8"/>
              </a:gs>
              <a:gs pos="100000">
                <a:srgbClr val="896ACF"/>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4</a:t>
            </a:r>
            <a:endParaRPr/>
          </a:p>
        </p:txBody>
      </p:sp>
      <p:sp>
        <p:nvSpPr>
          <p:cNvPr id="263" name="Google Shape;263;p20"/>
          <p:cNvSpPr/>
          <p:nvPr/>
        </p:nvSpPr>
        <p:spPr>
          <a:xfrm>
            <a:off x="5193792" y="3182112"/>
            <a:ext cx="3520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483788"/>
                </a:solidFill>
                <a:latin typeface="Times New Roman"/>
                <a:ea typeface="Times New Roman"/>
                <a:cs typeface="Times New Roman"/>
                <a:sym typeface="Times New Roman"/>
              </a:rPr>
              <a:t>Cloud Computing</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Hosts services, scales with demand</a:t>
            </a:r>
            <a:endParaRPr/>
          </a:p>
        </p:txBody>
      </p:sp>
      <p:sp>
        <p:nvSpPr>
          <p:cNvPr id="264" name="Google Shape;264;p20"/>
          <p:cNvSpPr/>
          <p:nvPr/>
        </p:nvSpPr>
        <p:spPr>
          <a:xfrm>
            <a:off x="4681728" y="3877056"/>
            <a:ext cx="402336" cy="402336"/>
          </a:xfrm>
          <a:prstGeom prst="ellipse">
            <a:avLst/>
          </a:prstGeom>
          <a:gradFill rotWithShape="1">
            <a:gsLst>
              <a:gs pos="0">
                <a:srgbClr val="773790"/>
              </a:gs>
              <a:gs pos="100000">
                <a:srgbClr val="AF5BAC"/>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5</a:t>
            </a:r>
            <a:endParaRPr/>
          </a:p>
        </p:txBody>
      </p:sp>
      <p:sp>
        <p:nvSpPr>
          <p:cNvPr id="265" name="Google Shape;265;p20"/>
          <p:cNvSpPr/>
          <p:nvPr/>
        </p:nvSpPr>
        <p:spPr>
          <a:xfrm>
            <a:off x="5193792" y="3822192"/>
            <a:ext cx="3520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72970"/>
                </a:solidFill>
                <a:latin typeface="Times New Roman"/>
                <a:ea typeface="Times New Roman"/>
                <a:cs typeface="Times New Roman"/>
                <a:sym typeface="Times New Roman"/>
              </a:rPr>
              <a:t>Generative AI / NLP</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Reads the problem in plain words</a:t>
            </a:r>
            <a:endParaRPr/>
          </a:p>
        </p:txBody>
      </p:sp>
      <p:sp>
        <p:nvSpPr>
          <p:cNvPr id="266" name="Google Shape;266;p20"/>
          <p:cNvSpPr/>
          <p:nvPr/>
        </p:nvSpPr>
        <p:spPr>
          <a:xfrm>
            <a:off x="4681728" y="4517136"/>
            <a:ext cx="402336" cy="402336"/>
          </a:xfrm>
          <a:prstGeom prst="ellipse">
            <a:avLst/>
          </a:prstGeom>
          <a:gradFill rotWithShape="1">
            <a:gsLst>
              <a:gs pos="0">
                <a:srgbClr val="902A66"/>
              </a:gs>
              <a:gs pos="100000">
                <a:srgbClr val="C2548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6</a:t>
            </a:r>
            <a:endParaRPr/>
          </a:p>
        </p:txBody>
      </p:sp>
      <p:sp>
        <p:nvSpPr>
          <p:cNvPr id="267" name="Google Shape;267;p20"/>
          <p:cNvSpPr/>
          <p:nvPr/>
        </p:nvSpPr>
        <p:spPr>
          <a:xfrm>
            <a:off x="5193792" y="4462272"/>
            <a:ext cx="3520440" cy="5303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79204B"/>
                </a:solidFill>
                <a:latin typeface="Times New Roman"/>
                <a:ea typeface="Times New Roman"/>
                <a:cs typeface="Times New Roman"/>
                <a:sym typeface="Times New Roman"/>
              </a:rPr>
              <a:t>Multi-Armed Bandits</a:t>
            </a:r>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chemeClr val="dk2"/>
                </a:solidFill>
                <a:latin typeface="Times New Roman"/>
                <a:ea typeface="Times New Roman"/>
                <a:cs typeface="Times New Roman"/>
                <a:sym typeface="Times New Roman"/>
              </a:rPr>
              <a:t>Learns worker quality </a:t>
            </a:r>
            <a:endParaRPr/>
          </a:p>
        </p:txBody>
      </p:sp>
      <p:sp>
        <p:nvSpPr>
          <p:cNvPr id="268" name="Google Shape;268;p20"/>
          <p:cNvSpPr/>
          <p:nvPr/>
        </p:nvSpPr>
        <p:spPr>
          <a:xfrm>
            <a:off x="457200" y="5212080"/>
            <a:ext cx="1371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4A7F"/>
                </a:solidFill>
                <a:latin typeface="Times New Roman"/>
                <a:ea typeface="Times New Roman"/>
                <a:cs typeface="Times New Roman"/>
                <a:sym typeface="Times New Roman"/>
              </a:rPr>
              <a:t>Applications</a:t>
            </a:r>
            <a:endParaRPr/>
          </a:p>
        </p:txBody>
      </p:sp>
      <p:sp>
        <p:nvSpPr>
          <p:cNvPr id="269" name="Google Shape;269;p20"/>
          <p:cNvSpPr/>
          <p:nvPr/>
        </p:nvSpPr>
        <p:spPr>
          <a:xfrm>
            <a:off x="1828800" y="5230368"/>
            <a:ext cx="1097280" cy="530352"/>
          </a:xfrm>
          <a:prstGeom prst="roundRect">
            <a:avLst>
              <a:gd fmla="val 50000" name="adj"/>
            </a:avLst>
          </a:prstGeom>
          <a:gradFill rotWithShape="1">
            <a:gsLst>
              <a:gs pos="0">
                <a:srgbClr val="006662"/>
              </a:gs>
              <a:gs pos="100000">
                <a:srgbClr val="0E9294"/>
              </a:gs>
            </a:gsLst>
            <a:lin ang="2700000" scaled="0"/>
          </a:gradFill>
          <a:ln>
            <a:noFill/>
          </a:ln>
          <a:effectLst>
            <a:outerShdw blurRad="63500" rotWithShape="0" algn="t" dir="5400000" dist="31750">
              <a:srgbClr val="000000">
                <a:alpha val="21961"/>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Home services</a:t>
            </a:r>
            <a:endParaRPr/>
          </a:p>
        </p:txBody>
      </p:sp>
      <p:sp>
        <p:nvSpPr>
          <p:cNvPr id="270" name="Google Shape;270;p20"/>
          <p:cNvSpPr/>
          <p:nvPr/>
        </p:nvSpPr>
        <p:spPr>
          <a:xfrm>
            <a:off x="2980944" y="5230368"/>
            <a:ext cx="1097280" cy="530352"/>
          </a:xfrm>
          <a:prstGeom prst="roundRect">
            <a:avLst>
              <a:gd fmla="val 50000" name="adj"/>
            </a:avLst>
          </a:prstGeom>
          <a:gradFill rotWithShape="1">
            <a:gsLst>
              <a:gs pos="0">
                <a:srgbClr val="076375"/>
              </a:gs>
              <a:gs pos="100000">
                <a:srgbClr val="008CB9"/>
              </a:gs>
            </a:gsLst>
            <a:lin ang="2700000" scaled="0"/>
          </a:gradFill>
          <a:ln>
            <a:noFill/>
          </a:ln>
          <a:effectLst>
            <a:outerShdw blurRad="63500" rotWithShape="0" algn="t" dir="5400000" dist="31750">
              <a:srgbClr val="000000">
                <a:alpha val="21961"/>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Vehicle repair</a:t>
            </a:r>
            <a:endParaRPr/>
          </a:p>
        </p:txBody>
      </p:sp>
      <p:sp>
        <p:nvSpPr>
          <p:cNvPr id="271" name="Google Shape;271;p20"/>
          <p:cNvSpPr/>
          <p:nvPr/>
        </p:nvSpPr>
        <p:spPr>
          <a:xfrm>
            <a:off x="4133088" y="5230368"/>
            <a:ext cx="1097280" cy="530352"/>
          </a:xfrm>
          <a:prstGeom prst="roundRect">
            <a:avLst>
              <a:gd fmla="val 50000" name="adj"/>
            </a:avLst>
          </a:prstGeom>
          <a:gradFill rotWithShape="1">
            <a:gsLst>
              <a:gs pos="0">
                <a:srgbClr val="005A9D"/>
              </a:gs>
              <a:gs pos="100000">
                <a:srgbClr val="4E7CD9"/>
              </a:gs>
            </a:gsLst>
            <a:lin ang="2700000" scaled="0"/>
          </a:gradFill>
          <a:ln>
            <a:noFill/>
          </a:ln>
          <a:effectLst>
            <a:outerShdw blurRad="63500" rotWithShape="0" algn="t" dir="5400000" dist="31750">
              <a:srgbClr val="000000">
                <a:alpha val="21961"/>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Appliance repair</a:t>
            </a:r>
            <a:endParaRPr/>
          </a:p>
        </p:txBody>
      </p:sp>
      <p:sp>
        <p:nvSpPr>
          <p:cNvPr id="272" name="Google Shape;272;p20"/>
          <p:cNvSpPr/>
          <p:nvPr/>
        </p:nvSpPr>
        <p:spPr>
          <a:xfrm>
            <a:off x="5285232" y="5230368"/>
            <a:ext cx="1097280" cy="530352"/>
          </a:xfrm>
          <a:prstGeom prst="roundRect">
            <a:avLst>
              <a:gd fmla="val 50000" name="adj"/>
            </a:avLst>
          </a:prstGeom>
          <a:gradFill rotWithShape="1">
            <a:gsLst>
              <a:gs pos="0">
                <a:srgbClr val="4F47A8"/>
              </a:gs>
              <a:gs pos="100000">
                <a:srgbClr val="896ACF"/>
              </a:gs>
            </a:gsLst>
            <a:lin ang="2700000" scaled="0"/>
          </a:gradFill>
          <a:ln>
            <a:noFill/>
          </a:ln>
          <a:effectLst>
            <a:outerShdw blurRad="63500" rotWithShape="0" algn="t" dir="5400000" dist="31750">
              <a:srgbClr val="000000">
                <a:alpha val="21961"/>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Field dispatch</a:t>
            </a:r>
            <a:endParaRPr/>
          </a:p>
        </p:txBody>
      </p:sp>
      <p:sp>
        <p:nvSpPr>
          <p:cNvPr id="273" name="Google Shape;273;p20"/>
          <p:cNvSpPr/>
          <p:nvPr/>
        </p:nvSpPr>
        <p:spPr>
          <a:xfrm>
            <a:off x="6437376" y="5230368"/>
            <a:ext cx="1097280" cy="530352"/>
          </a:xfrm>
          <a:prstGeom prst="roundRect">
            <a:avLst>
              <a:gd fmla="val 50000" name="adj"/>
            </a:avLst>
          </a:prstGeom>
          <a:gradFill rotWithShape="1">
            <a:gsLst>
              <a:gs pos="0">
                <a:srgbClr val="773790"/>
              </a:gs>
              <a:gs pos="100000">
                <a:srgbClr val="AF5BAC"/>
              </a:gs>
            </a:gsLst>
            <a:lin ang="2700000" scaled="0"/>
          </a:gradFill>
          <a:ln>
            <a:noFill/>
          </a:ln>
          <a:effectLst>
            <a:outerShdw blurRad="63500" rotWithShape="0" algn="t" dir="5400000" dist="31750">
              <a:srgbClr val="000000">
                <a:alpha val="21961"/>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Emergency repairs</a:t>
            </a:r>
            <a:endParaRPr/>
          </a:p>
        </p:txBody>
      </p:sp>
      <p:sp>
        <p:nvSpPr>
          <p:cNvPr id="274" name="Google Shape;274;p20"/>
          <p:cNvSpPr/>
          <p:nvPr/>
        </p:nvSpPr>
        <p:spPr>
          <a:xfrm>
            <a:off x="7589520" y="5230368"/>
            <a:ext cx="1097280" cy="530352"/>
          </a:xfrm>
          <a:prstGeom prst="roundRect">
            <a:avLst>
              <a:gd fmla="val 50000" name="adj"/>
            </a:avLst>
          </a:prstGeom>
          <a:gradFill rotWithShape="1">
            <a:gsLst>
              <a:gs pos="0">
                <a:srgbClr val="902A66"/>
              </a:gs>
              <a:gs pos="100000">
                <a:srgbClr val="C25485"/>
              </a:gs>
            </a:gsLst>
            <a:lin ang="2700000" scaled="0"/>
          </a:gradFill>
          <a:ln>
            <a:noFill/>
          </a:ln>
          <a:effectLst>
            <a:outerShdw blurRad="63500" rotWithShape="0" algn="t" dir="5400000" dist="31750">
              <a:srgbClr val="000000">
                <a:alpha val="21961"/>
              </a:srgbClr>
            </a:outerShdw>
          </a:effectLst>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On-demand local work</a:t>
            </a:r>
            <a:endParaRPr/>
          </a:p>
        </p:txBody>
      </p:sp>
    </p:spTree>
  </p:cSld>
  <p:clrMapOvr>
    <a:masterClrMapping/>
  </p:clrMapOvr>
  <mc:AlternateContent>
    <mc:Choice Requires="p14">
      <p:transition spd="slow" p14:dur="1400">
        <p14:honeycomb/>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43"/>
                                        </p:tgtEl>
                                        <p:attrNameLst>
                                          <p:attrName>style.visibility</p:attrName>
                                        </p:attrNameLst>
                                      </p:cBhvr>
                                      <p:to>
                                        <p:strVal val="visible"/>
                                      </p:to>
                                    </p:set>
                                    <p:anim calcmode="lin" valueType="num">
                                      <p:cBhvr additive="base">
                                        <p:cTn dur="600"/>
                                        <p:tgtEl>
                                          <p:spTgt spid="243"/>
                                        </p:tgtEl>
                                        <p:attrNameLst>
                                          <p:attrName>ppt_w</p:attrName>
                                        </p:attrNameLst>
                                      </p:cBhvr>
                                      <p:tavLst>
                                        <p:tav fmla="" tm="0">
                                          <p:val>
                                            <p:strVal val="0"/>
                                          </p:val>
                                        </p:tav>
                                        <p:tav fmla="" tm="100000">
                                          <p:val>
                                            <p:strVal val="#ppt_w"/>
                                          </p:val>
                                        </p:tav>
                                      </p:tavLst>
                                    </p:anim>
                                    <p:anim calcmode="lin" valueType="num">
                                      <p:cBhvr additive="base">
                                        <p:cTn dur="600"/>
                                        <p:tgtEl>
                                          <p:spTgt spid="2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50"/>
                                  </p:stCondLst>
                                  <p:childTnLst>
                                    <p:set>
                                      <p:cBhvr>
                                        <p:cTn dur="1" fill="hold">
                                          <p:stCondLst>
                                            <p:cond delay="0"/>
                                          </p:stCondLst>
                                        </p:cTn>
                                        <p:tgtEl>
                                          <p:spTgt spid="244"/>
                                        </p:tgtEl>
                                        <p:attrNameLst>
                                          <p:attrName>style.visibility</p:attrName>
                                        </p:attrNameLst>
                                      </p:cBhvr>
                                      <p:to>
                                        <p:strVal val="visible"/>
                                      </p:to>
                                    </p:set>
                                    <p:anim calcmode="lin" valueType="num">
                                      <p:cBhvr additive="base">
                                        <p:cTn dur="450"/>
                                        <p:tgtEl>
                                          <p:spTgt spid="244"/>
                                        </p:tgtEl>
                                        <p:attrNameLst>
                                          <p:attrName>ppt_w</p:attrName>
                                        </p:attrNameLst>
                                      </p:cBhvr>
                                      <p:tavLst>
                                        <p:tav fmla="" tm="0">
                                          <p:val>
                                            <p:strVal val="0"/>
                                          </p:val>
                                        </p:tav>
                                        <p:tav fmla="" tm="100000">
                                          <p:val>
                                            <p:strVal val="#ppt_w"/>
                                          </p:val>
                                        </p:tav>
                                      </p:tavLst>
                                    </p:anim>
                                    <p:anim calcmode="lin" valueType="num">
                                      <p:cBhvr additive="base">
                                        <p:cTn dur="450"/>
                                        <p:tgtEl>
                                          <p:spTgt spid="24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50"/>
                                  </p:stCondLst>
                                  <p:childTnLst>
                                    <p:set>
                                      <p:cBhvr>
                                        <p:cTn dur="1" fill="hold">
                                          <p:stCondLst>
                                            <p:cond delay="0"/>
                                          </p:stCondLst>
                                        </p:cTn>
                                        <p:tgtEl>
                                          <p:spTgt spid="245"/>
                                        </p:tgtEl>
                                        <p:attrNameLst>
                                          <p:attrName>style.visibility</p:attrName>
                                        </p:attrNameLst>
                                      </p:cBhvr>
                                      <p:to>
                                        <p:strVal val="visible"/>
                                      </p:to>
                                    </p:set>
                                    <p:anim calcmode="lin" valueType="num">
                                      <p:cBhvr additive="base">
                                        <p:cTn dur="450"/>
                                        <p:tgtEl>
                                          <p:spTgt spid="245"/>
                                        </p:tgtEl>
                                        <p:attrNameLst>
                                          <p:attrName>ppt_w</p:attrName>
                                        </p:attrNameLst>
                                      </p:cBhvr>
                                      <p:tavLst>
                                        <p:tav fmla="" tm="0">
                                          <p:val>
                                            <p:strVal val="0"/>
                                          </p:val>
                                        </p:tav>
                                        <p:tav fmla="" tm="100000">
                                          <p:val>
                                            <p:strVal val="#ppt_w"/>
                                          </p:val>
                                        </p:tav>
                                      </p:tavLst>
                                    </p:anim>
                                    <p:anim calcmode="lin" valueType="num">
                                      <p:cBhvr additive="base">
                                        <p:cTn dur="450"/>
                                        <p:tgtEl>
                                          <p:spTgt spid="24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2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300"/>
                                        <p:tgtEl>
                                          <p:spTgt spid="256"/>
                                        </p:tgtEl>
                                        <p:attrNameLst>
                                          <p:attrName>ppt_w</p:attrName>
                                        </p:attrNameLst>
                                      </p:cBhvr>
                                      <p:tavLst>
                                        <p:tav fmla="" tm="0">
                                          <p:val>
                                            <p:strVal val="0"/>
                                          </p:val>
                                        </p:tav>
                                        <p:tav fmla="" tm="100000">
                                          <p:val>
                                            <p:strVal val="#ppt_w"/>
                                          </p:val>
                                        </p:tav>
                                      </p:tavLst>
                                    </p:anim>
                                    <p:anim calcmode="lin" valueType="num">
                                      <p:cBhvr additive="base">
                                        <p:cTn dur="300"/>
                                        <p:tgtEl>
                                          <p:spTgt spid="25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70"/>
                                  </p:stCondLst>
                                  <p:childTnLst>
                                    <p:set>
                                      <p:cBhvr>
                                        <p:cTn dur="1" fill="hold">
                                          <p:stCondLst>
                                            <p:cond delay="0"/>
                                          </p:stCondLst>
                                        </p:cTn>
                                        <p:tgtEl>
                                          <p:spTgt spid="257"/>
                                        </p:tgtEl>
                                        <p:attrNameLst>
                                          <p:attrName>style.visibility</p:attrName>
                                        </p:attrNameLst>
                                      </p:cBhvr>
                                      <p:to>
                                        <p:strVal val="visible"/>
                                      </p:to>
                                    </p:set>
                                    <p:animEffect filter="fade" transition="in">
                                      <p:cBhvr>
                                        <p:cTn dur="420"/>
                                        <p:tgtEl>
                                          <p:spTgt spid="257"/>
                                        </p:tgtEl>
                                      </p:cBhvr>
                                    </p:animEffect>
                                  </p:childTnLst>
                                </p:cTn>
                              </p:par>
                              <p:par>
                                <p:cTn fill="hold" nodeType="withEffect" presetClass="entr" presetID="23" presetSubtype="16">
                                  <p:stCondLst>
                                    <p:cond delay="670"/>
                                  </p:stCondLst>
                                  <p:childTnLst>
                                    <p:set>
                                      <p:cBhvr>
                                        <p:cTn dur="1" fill="hold">
                                          <p:stCondLst>
                                            <p:cond delay="0"/>
                                          </p:stCondLst>
                                        </p:cTn>
                                        <p:tgtEl>
                                          <p:spTgt spid="246"/>
                                        </p:tgtEl>
                                        <p:attrNameLst>
                                          <p:attrName>style.visibility</p:attrName>
                                        </p:attrNameLst>
                                      </p:cBhvr>
                                      <p:to>
                                        <p:strVal val="visible"/>
                                      </p:to>
                                    </p:set>
                                    <p:anim calcmode="lin" valueType="num">
                                      <p:cBhvr additive="base">
                                        <p:cTn dur="450"/>
                                        <p:tgtEl>
                                          <p:spTgt spid="246"/>
                                        </p:tgtEl>
                                        <p:attrNameLst>
                                          <p:attrName>ppt_w</p:attrName>
                                        </p:attrNameLst>
                                      </p:cBhvr>
                                      <p:tavLst>
                                        <p:tav fmla="" tm="0">
                                          <p:val>
                                            <p:strVal val="0"/>
                                          </p:val>
                                        </p:tav>
                                        <p:tav fmla="" tm="100000">
                                          <p:val>
                                            <p:strVal val="#ppt_w"/>
                                          </p:val>
                                        </p:tav>
                                      </p:tavLst>
                                    </p:anim>
                                    <p:anim calcmode="lin" valueType="num">
                                      <p:cBhvr additive="base">
                                        <p:cTn dur="450"/>
                                        <p:tgtEl>
                                          <p:spTgt spid="24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670"/>
                                  </p:stCondLst>
                                  <p:childTnLst>
                                    <p:set>
                                      <p:cBhvr>
                                        <p:cTn dur="1" fill="hold">
                                          <p:stCondLst>
                                            <p:cond delay="0"/>
                                          </p:stCondLst>
                                        </p:cTn>
                                        <p:tgtEl>
                                          <p:spTgt spid="247"/>
                                        </p:tgtEl>
                                        <p:attrNameLst>
                                          <p:attrName>style.visibility</p:attrName>
                                        </p:attrNameLst>
                                      </p:cBhvr>
                                      <p:to>
                                        <p:strVal val="visible"/>
                                      </p:to>
                                    </p:set>
                                    <p:anim calcmode="lin" valueType="num">
                                      <p:cBhvr additive="base">
                                        <p:cTn dur="450"/>
                                        <p:tgtEl>
                                          <p:spTgt spid="247"/>
                                        </p:tgtEl>
                                        <p:attrNameLst>
                                          <p:attrName>ppt_w</p:attrName>
                                        </p:attrNameLst>
                                      </p:cBhvr>
                                      <p:tavLst>
                                        <p:tav fmla="" tm="0">
                                          <p:val>
                                            <p:strVal val="0"/>
                                          </p:val>
                                        </p:tav>
                                        <p:tav fmla="" tm="100000">
                                          <p:val>
                                            <p:strVal val="#ppt_w"/>
                                          </p:val>
                                        </p:tav>
                                      </p:tavLst>
                                    </p:anim>
                                    <p:anim calcmode="lin" valueType="num">
                                      <p:cBhvr additive="base">
                                        <p:cTn dur="450"/>
                                        <p:tgtEl>
                                          <p:spTgt spid="24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4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300"/>
                                        <p:tgtEl>
                                          <p:spTgt spid="258"/>
                                        </p:tgtEl>
                                        <p:attrNameLst>
                                          <p:attrName>ppt_w</p:attrName>
                                        </p:attrNameLst>
                                      </p:cBhvr>
                                      <p:tavLst>
                                        <p:tav fmla="" tm="0">
                                          <p:val>
                                            <p:strVal val="0"/>
                                          </p:val>
                                        </p:tav>
                                        <p:tav fmla="" tm="100000">
                                          <p:val>
                                            <p:strVal val="#ppt_w"/>
                                          </p:val>
                                        </p:tav>
                                      </p:tavLst>
                                    </p:anim>
                                    <p:anim calcmode="lin" valueType="num">
                                      <p:cBhvr additive="base">
                                        <p:cTn dur="300"/>
                                        <p:tgtEl>
                                          <p:spTgt spid="25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90"/>
                                  </p:stCondLst>
                                  <p:childTnLst>
                                    <p:set>
                                      <p:cBhvr>
                                        <p:cTn dur="1" fill="hold">
                                          <p:stCondLst>
                                            <p:cond delay="0"/>
                                          </p:stCondLst>
                                        </p:cTn>
                                        <p:tgtEl>
                                          <p:spTgt spid="259"/>
                                        </p:tgtEl>
                                        <p:attrNameLst>
                                          <p:attrName>style.visibility</p:attrName>
                                        </p:attrNameLst>
                                      </p:cBhvr>
                                      <p:to>
                                        <p:strVal val="visible"/>
                                      </p:to>
                                    </p:set>
                                    <p:animEffect filter="fade" transition="in">
                                      <p:cBhvr>
                                        <p:cTn dur="420"/>
                                        <p:tgtEl>
                                          <p:spTgt spid="259"/>
                                        </p:tgtEl>
                                      </p:cBhvr>
                                    </p:animEffect>
                                  </p:childTnLst>
                                </p:cTn>
                              </p:par>
                              <p:par>
                                <p:cTn fill="hold" nodeType="withEffect" presetClass="entr" presetID="23" presetSubtype="16">
                                  <p:stCondLst>
                                    <p:cond delay="890"/>
                                  </p:stCondLst>
                                  <p:childTnLst>
                                    <p:set>
                                      <p:cBhvr>
                                        <p:cTn dur="1" fill="hold">
                                          <p:stCondLst>
                                            <p:cond delay="0"/>
                                          </p:stCondLst>
                                        </p:cTn>
                                        <p:tgtEl>
                                          <p:spTgt spid="248"/>
                                        </p:tgtEl>
                                        <p:attrNameLst>
                                          <p:attrName>style.visibility</p:attrName>
                                        </p:attrNameLst>
                                      </p:cBhvr>
                                      <p:to>
                                        <p:strVal val="visible"/>
                                      </p:to>
                                    </p:set>
                                    <p:anim calcmode="lin" valueType="num">
                                      <p:cBhvr additive="base">
                                        <p:cTn dur="450"/>
                                        <p:tgtEl>
                                          <p:spTgt spid="248"/>
                                        </p:tgtEl>
                                        <p:attrNameLst>
                                          <p:attrName>ppt_w</p:attrName>
                                        </p:attrNameLst>
                                      </p:cBhvr>
                                      <p:tavLst>
                                        <p:tav fmla="" tm="0">
                                          <p:val>
                                            <p:strVal val="0"/>
                                          </p:val>
                                        </p:tav>
                                        <p:tav fmla="" tm="100000">
                                          <p:val>
                                            <p:strVal val="#ppt_w"/>
                                          </p:val>
                                        </p:tav>
                                      </p:tavLst>
                                    </p:anim>
                                    <p:anim calcmode="lin" valueType="num">
                                      <p:cBhvr additive="base">
                                        <p:cTn dur="450"/>
                                        <p:tgtEl>
                                          <p:spTgt spid="24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89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450"/>
                                        <p:tgtEl>
                                          <p:spTgt spid="249"/>
                                        </p:tgtEl>
                                        <p:attrNameLst>
                                          <p:attrName>ppt_w</p:attrName>
                                        </p:attrNameLst>
                                      </p:cBhvr>
                                      <p:tavLst>
                                        <p:tav fmla="" tm="0">
                                          <p:val>
                                            <p:strVal val="0"/>
                                          </p:val>
                                        </p:tav>
                                        <p:tav fmla="" tm="100000">
                                          <p:val>
                                            <p:strVal val="#ppt_w"/>
                                          </p:val>
                                        </p:tav>
                                      </p:tavLst>
                                    </p:anim>
                                    <p:anim calcmode="lin" valueType="num">
                                      <p:cBhvr additive="base">
                                        <p:cTn dur="450"/>
                                        <p:tgtEl>
                                          <p:spTgt spid="24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960"/>
                                  </p:stCondLst>
                                  <p:childTnLst>
                                    <p:set>
                                      <p:cBhvr>
                                        <p:cTn dur="1" fill="hold">
                                          <p:stCondLst>
                                            <p:cond delay="0"/>
                                          </p:stCondLst>
                                        </p:cTn>
                                        <p:tgtEl>
                                          <p:spTgt spid="260"/>
                                        </p:tgtEl>
                                        <p:attrNameLst>
                                          <p:attrName>style.visibility</p:attrName>
                                        </p:attrNameLst>
                                      </p:cBhvr>
                                      <p:to>
                                        <p:strVal val="visible"/>
                                      </p:to>
                                    </p:set>
                                    <p:anim calcmode="lin" valueType="num">
                                      <p:cBhvr additive="base">
                                        <p:cTn dur="300"/>
                                        <p:tgtEl>
                                          <p:spTgt spid="260"/>
                                        </p:tgtEl>
                                        <p:attrNameLst>
                                          <p:attrName>ppt_w</p:attrName>
                                        </p:attrNameLst>
                                      </p:cBhvr>
                                      <p:tavLst>
                                        <p:tav fmla="" tm="0">
                                          <p:val>
                                            <p:strVal val="0"/>
                                          </p:val>
                                        </p:tav>
                                        <p:tav fmla="" tm="100000">
                                          <p:val>
                                            <p:strVal val="#ppt_w"/>
                                          </p:val>
                                        </p:tav>
                                      </p:tavLst>
                                    </p:anim>
                                    <p:anim calcmode="lin" valueType="num">
                                      <p:cBhvr additive="base">
                                        <p:cTn dur="300"/>
                                        <p:tgtEl>
                                          <p:spTgt spid="26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10"/>
                                  </p:stCondLst>
                                  <p:childTnLst>
                                    <p:set>
                                      <p:cBhvr>
                                        <p:cTn dur="1" fill="hold">
                                          <p:stCondLst>
                                            <p:cond delay="0"/>
                                          </p:stCondLst>
                                        </p:cTn>
                                        <p:tgtEl>
                                          <p:spTgt spid="261"/>
                                        </p:tgtEl>
                                        <p:attrNameLst>
                                          <p:attrName>style.visibility</p:attrName>
                                        </p:attrNameLst>
                                      </p:cBhvr>
                                      <p:to>
                                        <p:strVal val="visible"/>
                                      </p:to>
                                    </p:set>
                                    <p:animEffect filter="fade" transition="in">
                                      <p:cBhvr>
                                        <p:cTn dur="420"/>
                                        <p:tgtEl>
                                          <p:spTgt spid="261"/>
                                        </p:tgtEl>
                                      </p:cBhvr>
                                    </p:animEffect>
                                  </p:childTnLst>
                                </p:cTn>
                              </p:par>
                              <p:par>
                                <p:cTn fill="hold" nodeType="withEffect" presetClass="entr" presetID="23" presetSubtype="16">
                                  <p:stCondLst>
                                    <p:cond delay="111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450"/>
                                        <p:tgtEl>
                                          <p:spTgt spid="250"/>
                                        </p:tgtEl>
                                        <p:attrNameLst>
                                          <p:attrName>ppt_w</p:attrName>
                                        </p:attrNameLst>
                                      </p:cBhvr>
                                      <p:tavLst>
                                        <p:tav fmla="" tm="0">
                                          <p:val>
                                            <p:strVal val="0"/>
                                          </p:val>
                                        </p:tav>
                                        <p:tav fmla="" tm="100000">
                                          <p:val>
                                            <p:strVal val="#ppt_w"/>
                                          </p:val>
                                        </p:tav>
                                      </p:tavLst>
                                    </p:anim>
                                    <p:anim calcmode="lin" valueType="num">
                                      <p:cBhvr additive="base">
                                        <p:cTn dur="450"/>
                                        <p:tgtEl>
                                          <p:spTgt spid="25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110"/>
                                  </p:stCondLst>
                                  <p:childTnLst>
                                    <p:set>
                                      <p:cBhvr>
                                        <p:cTn dur="1" fill="hold">
                                          <p:stCondLst>
                                            <p:cond delay="0"/>
                                          </p:stCondLst>
                                        </p:cTn>
                                        <p:tgtEl>
                                          <p:spTgt spid="251"/>
                                        </p:tgtEl>
                                        <p:attrNameLst>
                                          <p:attrName>style.visibility</p:attrName>
                                        </p:attrNameLst>
                                      </p:cBhvr>
                                      <p:to>
                                        <p:strVal val="visible"/>
                                      </p:to>
                                    </p:set>
                                    <p:anim calcmode="lin" valueType="num">
                                      <p:cBhvr additive="base">
                                        <p:cTn dur="450"/>
                                        <p:tgtEl>
                                          <p:spTgt spid="251"/>
                                        </p:tgtEl>
                                        <p:attrNameLst>
                                          <p:attrName>ppt_w</p:attrName>
                                        </p:attrNameLst>
                                      </p:cBhvr>
                                      <p:tavLst>
                                        <p:tav fmla="" tm="0">
                                          <p:val>
                                            <p:strVal val="0"/>
                                          </p:val>
                                        </p:tav>
                                        <p:tav fmla="" tm="100000">
                                          <p:val>
                                            <p:strVal val="#ppt_w"/>
                                          </p:val>
                                        </p:tav>
                                      </p:tavLst>
                                    </p:anim>
                                    <p:anim calcmode="lin" valueType="num">
                                      <p:cBhvr additive="base">
                                        <p:cTn dur="450"/>
                                        <p:tgtEl>
                                          <p:spTgt spid="25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180"/>
                                  </p:stCondLst>
                                  <p:childTnLst>
                                    <p:set>
                                      <p:cBhvr>
                                        <p:cTn dur="1" fill="hold">
                                          <p:stCondLst>
                                            <p:cond delay="0"/>
                                          </p:stCondLst>
                                        </p:cTn>
                                        <p:tgtEl>
                                          <p:spTgt spid="262"/>
                                        </p:tgtEl>
                                        <p:attrNameLst>
                                          <p:attrName>style.visibility</p:attrName>
                                        </p:attrNameLst>
                                      </p:cBhvr>
                                      <p:to>
                                        <p:strVal val="visible"/>
                                      </p:to>
                                    </p:set>
                                    <p:anim calcmode="lin" valueType="num">
                                      <p:cBhvr additive="base">
                                        <p:cTn dur="300"/>
                                        <p:tgtEl>
                                          <p:spTgt spid="262"/>
                                        </p:tgtEl>
                                        <p:attrNameLst>
                                          <p:attrName>ppt_w</p:attrName>
                                        </p:attrNameLst>
                                      </p:cBhvr>
                                      <p:tavLst>
                                        <p:tav fmla="" tm="0">
                                          <p:val>
                                            <p:strVal val="0"/>
                                          </p:val>
                                        </p:tav>
                                        <p:tav fmla="" tm="100000">
                                          <p:val>
                                            <p:strVal val="#ppt_w"/>
                                          </p:val>
                                        </p:tav>
                                      </p:tavLst>
                                    </p:anim>
                                    <p:anim calcmode="lin" valueType="num">
                                      <p:cBhvr additive="base">
                                        <p:cTn dur="300"/>
                                        <p:tgtEl>
                                          <p:spTgt spid="26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230"/>
                                  </p:stCondLst>
                                  <p:childTnLst>
                                    <p:set>
                                      <p:cBhvr>
                                        <p:cTn dur="1" fill="hold">
                                          <p:stCondLst>
                                            <p:cond delay="0"/>
                                          </p:stCondLst>
                                        </p:cTn>
                                        <p:tgtEl>
                                          <p:spTgt spid="263"/>
                                        </p:tgtEl>
                                        <p:attrNameLst>
                                          <p:attrName>style.visibility</p:attrName>
                                        </p:attrNameLst>
                                      </p:cBhvr>
                                      <p:to>
                                        <p:strVal val="visible"/>
                                      </p:to>
                                    </p:set>
                                    <p:animEffect filter="fade" transition="in">
                                      <p:cBhvr>
                                        <p:cTn dur="420"/>
                                        <p:tgtEl>
                                          <p:spTgt spid="263"/>
                                        </p:tgtEl>
                                      </p:cBhvr>
                                    </p:animEffect>
                                  </p:childTnLst>
                                </p:cTn>
                              </p:par>
                              <p:par>
                                <p:cTn fill="hold" nodeType="withEffect" presetClass="entr" presetID="23" presetSubtype="16">
                                  <p:stCondLst>
                                    <p:cond delay="1330"/>
                                  </p:stCondLst>
                                  <p:childTnLst>
                                    <p:set>
                                      <p:cBhvr>
                                        <p:cTn dur="1" fill="hold">
                                          <p:stCondLst>
                                            <p:cond delay="0"/>
                                          </p:stCondLst>
                                        </p:cTn>
                                        <p:tgtEl>
                                          <p:spTgt spid="252"/>
                                        </p:tgtEl>
                                        <p:attrNameLst>
                                          <p:attrName>style.visibility</p:attrName>
                                        </p:attrNameLst>
                                      </p:cBhvr>
                                      <p:to>
                                        <p:strVal val="visible"/>
                                      </p:to>
                                    </p:set>
                                    <p:anim calcmode="lin" valueType="num">
                                      <p:cBhvr additive="base">
                                        <p:cTn dur="450"/>
                                        <p:tgtEl>
                                          <p:spTgt spid="252"/>
                                        </p:tgtEl>
                                        <p:attrNameLst>
                                          <p:attrName>ppt_w</p:attrName>
                                        </p:attrNameLst>
                                      </p:cBhvr>
                                      <p:tavLst>
                                        <p:tav fmla="" tm="0">
                                          <p:val>
                                            <p:strVal val="0"/>
                                          </p:val>
                                        </p:tav>
                                        <p:tav fmla="" tm="100000">
                                          <p:val>
                                            <p:strVal val="#ppt_w"/>
                                          </p:val>
                                        </p:tav>
                                      </p:tavLst>
                                    </p:anim>
                                    <p:anim calcmode="lin" valueType="num">
                                      <p:cBhvr additive="base">
                                        <p:cTn dur="450"/>
                                        <p:tgtEl>
                                          <p:spTgt spid="25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30"/>
                                  </p:stCondLst>
                                  <p:childTnLst>
                                    <p:set>
                                      <p:cBhvr>
                                        <p:cTn dur="1" fill="hold">
                                          <p:stCondLst>
                                            <p:cond delay="0"/>
                                          </p:stCondLst>
                                        </p:cTn>
                                        <p:tgtEl>
                                          <p:spTgt spid="253"/>
                                        </p:tgtEl>
                                        <p:attrNameLst>
                                          <p:attrName>style.visibility</p:attrName>
                                        </p:attrNameLst>
                                      </p:cBhvr>
                                      <p:to>
                                        <p:strVal val="visible"/>
                                      </p:to>
                                    </p:set>
                                    <p:anim calcmode="lin" valueType="num">
                                      <p:cBhvr additive="base">
                                        <p:cTn dur="450"/>
                                        <p:tgtEl>
                                          <p:spTgt spid="253"/>
                                        </p:tgtEl>
                                        <p:attrNameLst>
                                          <p:attrName>ppt_w</p:attrName>
                                        </p:attrNameLst>
                                      </p:cBhvr>
                                      <p:tavLst>
                                        <p:tav fmla="" tm="0">
                                          <p:val>
                                            <p:strVal val="0"/>
                                          </p:val>
                                        </p:tav>
                                        <p:tav fmla="" tm="100000">
                                          <p:val>
                                            <p:strVal val="#ppt_w"/>
                                          </p:val>
                                        </p:tav>
                                      </p:tavLst>
                                    </p:anim>
                                    <p:anim calcmode="lin" valueType="num">
                                      <p:cBhvr additive="base">
                                        <p:cTn dur="450"/>
                                        <p:tgtEl>
                                          <p:spTgt spid="25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400"/>
                                  </p:stCondLst>
                                  <p:childTnLst>
                                    <p:set>
                                      <p:cBhvr>
                                        <p:cTn dur="1" fill="hold">
                                          <p:stCondLst>
                                            <p:cond delay="0"/>
                                          </p:stCondLst>
                                        </p:cTn>
                                        <p:tgtEl>
                                          <p:spTgt spid="264"/>
                                        </p:tgtEl>
                                        <p:attrNameLst>
                                          <p:attrName>style.visibility</p:attrName>
                                        </p:attrNameLst>
                                      </p:cBhvr>
                                      <p:to>
                                        <p:strVal val="visible"/>
                                      </p:to>
                                    </p:set>
                                    <p:anim calcmode="lin" valueType="num">
                                      <p:cBhvr additive="base">
                                        <p:cTn dur="300"/>
                                        <p:tgtEl>
                                          <p:spTgt spid="264"/>
                                        </p:tgtEl>
                                        <p:attrNameLst>
                                          <p:attrName>ppt_w</p:attrName>
                                        </p:attrNameLst>
                                      </p:cBhvr>
                                      <p:tavLst>
                                        <p:tav fmla="" tm="0">
                                          <p:val>
                                            <p:strVal val="0"/>
                                          </p:val>
                                        </p:tav>
                                        <p:tav fmla="" tm="100000">
                                          <p:val>
                                            <p:strVal val="#ppt_w"/>
                                          </p:val>
                                        </p:tav>
                                      </p:tavLst>
                                    </p:anim>
                                    <p:anim calcmode="lin" valueType="num">
                                      <p:cBhvr additive="base">
                                        <p:cTn dur="300"/>
                                        <p:tgtEl>
                                          <p:spTgt spid="26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450"/>
                                  </p:stCondLst>
                                  <p:childTnLst>
                                    <p:set>
                                      <p:cBhvr>
                                        <p:cTn dur="1" fill="hold">
                                          <p:stCondLst>
                                            <p:cond delay="0"/>
                                          </p:stCondLst>
                                        </p:cTn>
                                        <p:tgtEl>
                                          <p:spTgt spid="265"/>
                                        </p:tgtEl>
                                        <p:attrNameLst>
                                          <p:attrName>style.visibility</p:attrName>
                                        </p:attrNameLst>
                                      </p:cBhvr>
                                      <p:to>
                                        <p:strVal val="visible"/>
                                      </p:to>
                                    </p:set>
                                    <p:animEffect filter="fade" transition="in">
                                      <p:cBhvr>
                                        <p:cTn dur="420"/>
                                        <p:tgtEl>
                                          <p:spTgt spid="265"/>
                                        </p:tgtEl>
                                      </p:cBhvr>
                                    </p:animEffect>
                                  </p:childTnLst>
                                </p:cTn>
                              </p:par>
                              <p:par>
                                <p:cTn fill="hold" nodeType="withEffect" presetClass="entr" presetID="23" presetSubtype="16">
                                  <p:stCondLst>
                                    <p:cond delay="1550"/>
                                  </p:stCondLst>
                                  <p:childTnLst>
                                    <p:set>
                                      <p:cBhvr>
                                        <p:cTn dur="1" fill="hold">
                                          <p:stCondLst>
                                            <p:cond delay="0"/>
                                          </p:stCondLst>
                                        </p:cTn>
                                        <p:tgtEl>
                                          <p:spTgt spid="254"/>
                                        </p:tgtEl>
                                        <p:attrNameLst>
                                          <p:attrName>style.visibility</p:attrName>
                                        </p:attrNameLst>
                                      </p:cBhvr>
                                      <p:to>
                                        <p:strVal val="visible"/>
                                      </p:to>
                                    </p:set>
                                    <p:anim calcmode="lin" valueType="num">
                                      <p:cBhvr additive="base">
                                        <p:cTn dur="450"/>
                                        <p:tgtEl>
                                          <p:spTgt spid="254"/>
                                        </p:tgtEl>
                                        <p:attrNameLst>
                                          <p:attrName>ppt_w</p:attrName>
                                        </p:attrNameLst>
                                      </p:cBhvr>
                                      <p:tavLst>
                                        <p:tav fmla="" tm="0">
                                          <p:val>
                                            <p:strVal val="0"/>
                                          </p:val>
                                        </p:tav>
                                        <p:tav fmla="" tm="100000">
                                          <p:val>
                                            <p:strVal val="#ppt_w"/>
                                          </p:val>
                                        </p:tav>
                                      </p:tavLst>
                                    </p:anim>
                                    <p:anim calcmode="lin" valueType="num">
                                      <p:cBhvr additive="base">
                                        <p:cTn dur="450"/>
                                        <p:tgtEl>
                                          <p:spTgt spid="25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550"/>
                                  </p:stCondLst>
                                  <p:childTnLst>
                                    <p:set>
                                      <p:cBhvr>
                                        <p:cTn dur="1" fill="hold">
                                          <p:stCondLst>
                                            <p:cond delay="0"/>
                                          </p:stCondLst>
                                        </p:cTn>
                                        <p:tgtEl>
                                          <p:spTgt spid="255"/>
                                        </p:tgtEl>
                                        <p:attrNameLst>
                                          <p:attrName>style.visibility</p:attrName>
                                        </p:attrNameLst>
                                      </p:cBhvr>
                                      <p:to>
                                        <p:strVal val="visible"/>
                                      </p:to>
                                    </p:set>
                                    <p:anim calcmode="lin" valueType="num">
                                      <p:cBhvr additive="base">
                                        <p:cTn dur="450"/>
                                        <p:tgtEl>
                                          <p:spTgt spid="255"/>
                                        </p:tgtEl>
                                        <p:attrNameLst>
                                          <p:attrName>ppt_w</p:attrName>
                                        </p:attrNameLst>
                                      </p:cBhvr>
                                      <p:tavLst>
                                        <p:tav fmla="" tm="0">
                                          <p:val>
                                            <p:strVal val="0"/>
                                          </p:val>
                                        </p:tav>
                                        <p:tav fmla="" tm="100000">
                                          <p:val>
                                            <p:strVal val="#ppt_w"/>
                                          </p:val>
                                        </p:tav>
                                      </p:tavLst>
                                    </p:anim>
                                    <p:anim calcmode="lin" valueType="num">
                                      <p:cBhvr additive="base">
                                        <p:cTn dur="450"/>
                                        <p:tgtEl>
                                          <p:spTgt spid="25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620"/>
                                  </p:stCondLst>
                                  <p:childTnLst>
                                    <p:set>
                                      <p:cBhvr>
                                        <p:cTn dur="1" fill="hold">
                                          <p:stCondLst>
                                            <p:cond delay="0"/>
                                          </p:stCondLst>
                                        </p:cTn>
                                        <p:tgtEl>
                                          <p:spTgt spid="266"/>
                                        </p:tgtEl>
                                        <p:attrNameLst>
                                          <p:attrName>style.visibility</p:attrName>
                                        </p:attrNameLst>
                                      </p:cBhvr>
                                      <p:to>
                                        <p:strVal val="visible"/>
                                      </p:to>
                                    </p:set>
                                    <p:anim calcmode="lin" valueType="num">
                                      <p:cBhvr additive="base">
                                        <p:cTn dur="300"/>
                                        <p:tgtEl>
                                          <p:spTgt spid="266"/>
                                        </p:tgtEl>
                                        <p:attrNameLst>
                                          <p:attrName>ppt_w</p:attrName>
                                        </p:attrNameLst>
                                      </p:cBhvr>
                                      <p:tavLst>
                                        <p:tav fmla="" tm="0">
                                          <p:val>
                                            <p:strVal val="0"/>
                                          </p:val>
                                        </p:tav>
                                        <p:tav fmla="" tm="100000">
                                          <p:val>
                                            <p:strVal val="#ppt_w"/>
                                          </p:val>
                                        </p:tav>
                                      </p:tavLst>
                                    </p:anim>
                                    <p:anim calcmode="lin" valueType="num">
                                      <p:cBhvr additive="base">
                                        <p:cTn dur="300"/>
                                        <p:tgtEl>
                                          <p:spTgt spid="26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670"/>
                                  </p:stCondLst>
                                  <p:childTnLst>
                                    <p:set>
                                      <p:cBhvr>
                                        <p:cTn dur="1" fill="hold">
                                          <p:stCondLst>
                                            <p:cond delay="0"/>
                                          </p:stCondLst>
                                        </p:cTn>
                                        <p:tgtEl>
                                          <p:spTgt spid="267"/>
                                        </p:tgtEl>
                                        <p:attrNameLst>
                                          <p:attrName>style.visibility</p:attrName>
                                        </p:attrNameLst>
                                      </p:cBhvr>
                                      <p:to>
                                        <p:strVal val="visible"/>
                                      </p:to>
                                    </p:set>
                                    <p:animEffect filter="fade" transition="in">
                                      <p:cBhvr>
                                        <p:cTn dur="420"/>
                                        <p:tgtEl>
                                          <p:spTgt spid="267"/>
                                        </p:tgtEl>
                                      </p:cBhvr>
                                    </p:animEffect>
                                  </p:childTnLst>
                                </p:cTn>
                              </p:par>
                              <p:par>
                                <p:cTn fill="hold" nodeType="withEffect" presetClass="entr" presetID="10" presetSubtype="0">
                                  <p:stCondLst>
                                    <p:cond delay="1770"/>
                                  </p:stCondLst>
                                  <p:childTnLst>
                                    <p:set>
                                      <p:cBhvr>
                                        <p:cTn dur="1" fill="hold">
                                          <p:stCondLst>
                                            <p:cond delay="0"/>
                                          </p:stCondLst>
                                        </p:cTn>
                                        <p:tgtEl>
                                          <p:spTgt spid="268"/>
                                        </p:tgtEl>
                                        <p:attrNameLst>
                                          <p:attrName>style.visibility</p:attrName>
                                        </p:attrNameLst>
                                      </p:cBhvr>
                                      <p:to>
                                        <p:strVal val="visible"/>
                                      </p:to>
                                    </p:set>
                                    <p:animEffect filter="fade" transition="in">
                                      <p:cBhvr>
                                        <p:cTn dur="400"/>
                                        <p:tgtEl>
                                          <p:spTgt spid="268"/>
                                        </p:tgtEl>
                                      </p:cBhvr>
                                    </p:animEffect>
                                  </p:childTnLst>
                                </p:cTn>
                              </p:par>
                              <p:par>
                                <p:cTn fill="hold" nodeType="withEffect" presetClass="entr" presetID="2" presetSubtype="4">
                                  <p:stCondLst>
                                    <p:cond delay="192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420"/>
                                        <p:tgtEl>
                                          <p:spTgt spid="2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05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420"/>
                                        <p:tgtEl>
                                          <p:spTgt spid="27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18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420"/>
                                        <p:tgtEl>
                                          <p:spTgt spid="27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310"/>
                                  </p:stCondLst>
                                  <p:childTnLst>
                                    <p:set>
                                      <p:cBhvr>
                                        <p:cTn dur="1" fill="hold">
                                          <p:stCondLst>
                                            <p:cond delay="0"/>
                                          </p:stCondLst>
                                        </p:cTn>
                                        <p:tgtEl>
                                          <p:spTgt spid="272"/>
                                        </p:tgtEl>
                                        <p:attrNameLst>
                                          <p:attrName>style.visibility</p:attrName>
                                        </p:attrNameLst>
                                      </p:cBhvr>
                                      <p:to>
                                        <p:strVal val="visible"/>
                                      </p:to>
                                    </p:set>
                                    <p:anim calcmode="lin" valueType="num">
                                      <p:cBhvr additive="base">
                                        <p:cTn dur="420"/>
                                        <p:tgtEl>
                                          <p:spTgt spid="27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44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420"/>
                                        <p:tgtEl>
                                          <p:spTgt spid="27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7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420"/>
                                        <p:tgtEl>
                                          <p:spTgt spid="27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1"/>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Literature Review</a:t>
            </a:r>
            <a:endParaRPr/>
          </a:p>
        </p:txBody>
      </p:sp>
      <p:sp>
        <p:nvSpPr>
          <p:cNvPr id="281" name="Google Shape;281;p21"/>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282" name="Google Shape;282;p21"/>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283" name="Google Shape;283;p21"/>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cxnSp>
        <p:nvCxnSpPr>
          <p:cNvPr id="284" name="Google Shape;284;p21"/>
          <p:cNvCxnSpPr/>
          <p:nvPr/>
        </p:nvCxnSpPr>
        <p:spPr>
          <a:xfrm>
            <a:off x="457200" y="3200400"/>
            <a:ext cx="8229600" cy="0"/>
          </a:xfrm>
          <a:prstGeom prst="straightConnector1">
            <a:avLst/>
          </a:prstGeom>
          <a:noFill/>
          <a:ln cap="flat" cmpd="sng" w="38100">
            <a:gradFill rotWithShape="1">
              <a:gsLst>
                <a:gs pos="0">
                  <a:srgbClr val="018D87"/>
                </a:gs>
                <a:gs pos="25000">
                  <a:srgbClr val="0B85B2"/>
                </a:gs>
                <a:gs pos="50000">
                  <a:srgbClr val="5F72CC"/>
                </a:gs>
                <a:gs pos="75000">
                  <a:srgbClr val="985EB4"/>
                </a:gs>
                <a:gs pos="100000">
                  <a:srgbClr val="B8527E"/>
                </a:gs>
              </a:gsLst>
              <a:lin ang="0" scaled="0"/>
            </a:gradFill>
            <a:prstDash val="solid"/>
            <a:round/>
            <a:headEnd len="sm" w="sm" type="none"/>
            <a:tailEnd len="med" w="med" type="triangle"/>
          </a:ln>
        </p:spPr>
      </p:cxnSp>
      <p:sp>
        <p:nvSpPr>
          <p:cNvPr id="285" name="Google Shape;285;p21"/>
          <p:cNvSpPr/>
          <p:nvPr/>
        </p:nvSpPr>
        <p:spPr>
          <a:xfrm>
            <a:off x="411480" y="1207008"/>
            <a:ext cx="2560320" cy="1627632"/>
          </a:xfrm>
          <a:prstGeom prst="roundRect">
            <a:avLst>
              <a:gd fmla="val 7000" name="adj"/>
            </a:avLst>
          </a:prstGeom>
          <a:gradFill rotWithShape="1">
            <a:gsLst>
              <a:gs pos="0">
                <a:srgbClr val="FFFFFF"/>
              </a:gs>
              <a:gs pos="100000">
                <a:srgbClr val="DAF7F4"/>
              </a:gs>
            </a:gsLst>
            <a:lin ang="5400000" scaled="0"/>
          </a:gradFill>
          <a:ln cap="flat" cmpd="sng" w="158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5350"/>
                </a:solidFill>
                <a:latin typeface="Times New Roman"/>
                <a:ea typeface="Times New Roman"/>
                <a:cs typeface="Times New Roman"/>
                <a:sym typeface="Times New Roman"/>
              </a:rPr>
              <a:t>20</a:t>
            </a:r>
            <a:r>
              <a:rPr b="1" lang="en-US" sz="1300">
                <a:solidFill>
                  <a:srgbClr val="005350"/>
                </a:solidFill>
                <a:latin typeface="Times New Roman"/>
                <a:ea typeface="Times New Roman"/>
                <a:cs typeface="Times New Roman"/>
                <a:sym typeface="Times New Roman"/>
              </a:rPr>
              <a:t>26</a:t>
            </a:r>
            <a:r>
              <a:rPr b="1" i="0" lang="en-US" sz="1300" u="none" cap="none" strike="noStrike">
                <a:solidFill>
                  <a:srgbClr val="005350"/>
                </a:solidFill>
                <a:latin typeface="Times New Roman"/>
                <a:ea typeface="Times New Roman"/>
                <a:cs typeface="Times New Roman"/>
                <a:sym typeface="Times New Roman"/>
              </a:rPr>
              <a:t>  [2]</a:t>
            </a:r>
            <a:endParaRPr/>
          </a:p>
          <a:p>
            <a:pPr indent="0" lvl="0" marL="0" marR="0" rtl="0" algn="l">
              <a:lnSpc>
                <a:spcPct val="100000"/>
              </a:lnSpc>
              <a:spcBef>
                <a:spcPts val="10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Bandit-based task assignment</a:t>
            </a:r>
            <a:endParaRPr/>
          </a:p>
          <a:p>
            <a:pPr indent="0" lvl="0" marL="0" marR="0" rtl="0" algn="l">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Active-learning task selection: least confidence, margin, information density</a:t>
            </a:r>
            <a:endParaRPr/>
          </a:p>
          <a:p>
            <a:pPr indent="0" lvl="0" marL="0" marR="0" rtl="0" algn="l">
              <a:lnSpc>
                <a:spcPct val="100000"/>
              </a:lnSpc>
              <a:spcBef>
                <a:spcPts val="200"/>
              </a:spcBef>
              <a:spcAft>
                <a:spcPts val="0"/>
              </a:spcAft>
              <a:buClr>
                <a:srgbClr val="000000"/>
              </a:buClr>
              <a:buSzPts val="1150"/>
              <a:buFont typeface="Arial"/>
              <a:buNone/>
            </a:pPr>
            <a:r>
              <a:rPr b="0" i="1" lang="en-US" sz="1150" u="none" cap="none" strike="noStrike">
                <a:solidFill>
                  <a:srgbClr val="005350"/>
                </a:solidFill>
                <a:latin typeface="Times New Roman"/>
                <a:ea typeface="Times New Roman"/>
                <a:cs typeface="Times New Roman"/>
                <a:sym typeface="Times New Roman"/>
              </a:rPr>
              <a:t>Limit: binary labels, simulated workers</a:t>
            </a:r>
            <a:endParaRPr/>
          </a:p>
        </p:txBody>
      </p:sp>
      <p:cxnSp>
        <p:nvCxnSpPr>
          <p:cNvPr id="286" name="Google Shape;286;p21"/>
          <p:cNvCxnSpPr/>
          <p:nvPr/>
        </p:nvCxnSpPr>
        <p:spPr>
          <a:xfrm>
            <a:off x="1691640" y="2834640"/>
            <a:ext cx="0" cy="210312"/>
          </a:xfrm>
          <a:prstGeom prst="straightConnector1">
            <a:avLst/>
          </a:prstGeom>
          <a:noFill/>
          <a:ln cap="flat" cmpd="sng" w="19050">
            <a:solidFill>
              <a:srgbClr val="018D87"/>
            </a:solidFill>
            <a:prstDash val="solid"/>
            <a:round/>
            <a:headEnd len="sm" w="sm" type="none"/>
            <a:tailEnd len="sm" w="sm" type="none"/>
          </a:ln>
        </p:spPr>
      </p:cxnSp>
      <p:sp>
        <p:nvSpPr>
          <p:cNvPr id="287" name="Google Shape;287;p21"/>
          <p:cNvSpPr/>
          <p:nvPr/>
        </p:nvSpPr>
        <p:spPr>
          <a:xfrm>
            <a:off x="1536192" y="3044952"/>
            <a:ext cx="310896" cy="310896"/>
          </a:xfrm>
          <a:prstGeom prst="ellipse">
            <a:avLst/>
          </a:prstGeom>
          <a:gradFill rotWithShape="1">
            <a:gsLst>
              <a:gs pos="0">
                <a:srgbClr val="006662"/>
              </a:gs>
              <a:gs pos="100000">
                <a:srgbClr val="0E9294"/>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88" name="Google Shape;288;p21"/>
          <p:cNvSpPr/>
          <p:nvPr/>
        </p:nvSpPr>
        <p:spPr>
          <a:xfrm>
            <a:off x="1874520" y="3584448"/>
            <a:ext cx="2560320" cy="1627632"/>
          </a:xfrm>
          <a:prstGeom prst="roundRect">
            <a:avLst>
              <a:gd fmla="val 7000" name="adj"/>
            </a:avLst>
          </a:prstGeom>
          <a:gradFill rotWithShape="1">
            <a:gsLst>
              <a:gs pos="0">
                <a:srgbClr val="FFFFFF"/>
              </a:gs>
              <a:gs pos="100000">
                <a:srgbClr val="E0F4FE"/>
              </a:gs>
            </a:gsLst>
            <a:lin ang="5400000" scaled="0"/>
          </a:gradFill>
          <a:ln cap="flat" cmpd="sng" w="15875">
            <a:solidFill>
              <a:srgbClr val="0B85B2"/>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24F6B"/>
                </a:solidFill>
                <a:latin typeface="Times New Roman"/>
                <a:ea typeface="Times New Roman"/>
                <a:cs typeface="Times New Roman"/>
                <a:sym typeface="Times New Roman"/>
              </a:rPr>
              <a:t>20</a:t>
            </a:r>
            <a:r>
              <a:rPr b="1" lang="en-US" sz="1300">
                <a:solidFill>
                  <a:srgbClr val="024F6B"/>
                </a:solidFill>
                <a:latin typeface="Times New Roman"/>
                <a:ea typeface="Times New Roman"/>
                <a:cs typeface="Times New Roman"/>
                <a:sym typeface="Times New Roman"/>
              </a:rPr>
              <a:t>24</a:t>
            </a:r>
            <a:r>
              <a:rPr b="1" i="0" lang="en-US" sz="1300" u="none" cap="none" strike="noStrike">
                <a:solidFill>
                  <a:srgbClr val="024F6B"/>
                </a:solidFill>
                <a:latin typeface="Times New Roman"/>
                <a:ea typeface="Times New Roman"/>
                <a:cs typeface="Times New Roman"/>
                <a:sym typeface="Times New Roman"/>
              </a:rPr>
              <a:t>  [3]</a:t>
            </a:r>
            <a:endParaRPr/>
          </a:p>
          <a:p>
            <a:pPr indent="0" lvl="0" marL="0" marR="0" rtl="0" algn="l">
              <a:lnSpc>
                <a:spcPct val="100000"/>
              </a:lnSpc>
              <a:spcBef>
                <a:spcPts val="10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Spatial crowdsourcing</a:t>
            </a:r>
            <a:endParaRPr/>
          </a:p>
          <a:p>
            <a:pPr indent="0" lvl="0" marL="0" marR="0" rtl="0" algn="l">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Semi-bandit DRR / DRR-UCB; about 80% less travel cost</a:t>
            </a:r>
            <a:endParaRPr/>
          </a:p>
          <a:p>
            <a:pPr indent="0" lvl="0" marL="0" marR="0" rtl="0" algn="l">
              <a:lnSpc>
                <a:spcPct val="100000"/>
              </a:lnSpc>
              <a:spcBef>
                <a:spcPts val="200"/>
              </a:spcBef>
              <a:spcAft>
                <a:spcPts val="0"/>
              </a:spcAft>
              <a:buClr>
                <a:srgbClr val="000000"/>
              </a:buClr>
              <a:buSzPts val="1150"/>
              <a:buFont typeface="Arial"/>
              <a:buNone/>
            </a:pPr>
            <a:r>
              <a:rPr b="0" i="1" lang="en-US" sz="1150" u="none" cap="none" strike="noStrike">
                <a:solidFill>
                  <a:srgbClr val="024F6B"/>
                </a:solidFill>
                <a:latin typeface="Times New Roman"/>
                <a:ea typeface="Times New Roman"/>
                <a:cs typeface="Times New Roman"/>
                <a:sym typeface="Times New Roman"/>
              </a:rPr>
              <a:t>Limit: reliability and travel cost only</a:t>
            </a:r>
            <a:endParaRPr/>
          </a:p>
        </p:txBody>
      </p:sp>
      <p:cxnSp>
        <p:nvCxnSpPr>
          <p:cNvPr id="289" name="Google Shape;289;p21"/>
          <p:cNvCxnSpPr/>
          <p:nvPr/>
        </p:nvCxnSpPr>
        <p:spPr>
          <a:xfrm>
            <a:off x="3154680" y="3355848"/>
            <a:ext cx="0" cy="228600"/>
          </a:xfrm>
          <a:prstGeom prst="straightConnector1">
            <a:avLst/>
          </a:prstGeom>
          <a:noFill/>
          <a:ln cap="flat" cmpd="sng" w="19050">
            <a:solidFill>
              <a:srgbClr val="0B85B2"/>
            </a:solidFill>
            <a:prstDash val="solid"/>
            <a:round/>
            <a:headEnd len="sm" w="sm" type="none"/>
            <a:tailEnd len="sm" w="sm" type="none"/>
          </a:ln>
        </p:spPr>
      </p:cxnSp>
      <p:sp>
        <p:nvSpPr>
          <p:cNvPr id="290" name="Google Shape;290;p21"/>
          <p:cNvSpPr/>
          <p:nvPr/>
        </p:nvSpPr>
        <p:spPr>
          <a:xfrm>
            <a:off x="2999232" y="3044952"/>
            <a:ext cx="310896" cy="310896"/>
          </a:xfrm>
          <a:prstGeom prst="ellipse">
            <a:avLst/>
          </a:prstGeom>
          <a:gradFill rotWithShape="1">
            <a:gsLst>
              <a:gs pos="0">
                <a:srgbClr val="06617B"/>
              </a:gs>
              <a:gs pos="100000">
                <a:srgbClr val="0D8AC4"/>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1" name="Google Shape;291;p21"/>
          <p:cNvSpPr/>
          <p:nvPr/>
        </p:nvSpPr>
        <p:spPr>
          <a:xfrm>
            <a:off x="3291840" y="1207008"/>
            <a:ext cx="2560320" cy="1627632"/>
          </a:xfrm>
          <a:prstGeom prst="roundRect">
            <a:avLst>
              <a:gd fmla="val 7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323E8C"/>
                </a:solidFill>
                <a:latin typeface="Times New Roman"/>
                <a:ea typeface="Times New Roman"/>
                <a:cs typeface="Times New Roman"/>
                <a:sym typeface="Times New Roman"/>
              </a:rPr>
              <a:t>20</a:t>
            </a:r>
            <a:r>
              <a:rPr b="1" lang="en-US" sz="1300">
                <a:solidFill>
                  <a:srgbClr val="323E8C"/>
                </a:solidFill>
                <a:latin typeface="Times New Roman"/>
                <a:ea typeface="Times New Roman"/>
                <a:cs typeface="Times New Roman"/>
                <a:sym typeface="Times New Roman"/>
              </a:rPr>
              <a:t>25</a:t>
            </a:r>
            <a:r>
              <a:rPr b="1" i="0" lang="en-US" sz="1300" u="none" cap="none" strike="noStrike">
                <a:solidFill>
                  <a:srgbClr val="323E8C"/>
                </a:solidFill>
                <a:latin typeface="Times New Roman"/>
                <a:ea typeface="Times New Roman"/>
                <a:cs typeface="Times New Roman"/>
                <a:sym typeface="Times New Roman"/>
              </a:rPr>
              <a:t> [4]</a:t>
            </a:r>
            <a:endParaRPr/>
          </a:p>
          <a:p>
            <a:pPr indent="0" lvl="0" marL="0" marR="0" rtl="0" algn="l">
              <a:lnSpc>
                <a:spcPct val="100000"/>
              </a:lnSpc>
              <a:spcBef>
                <a:spcPts val="10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Spatial assignment study</a:t>
            </a:r>
            <a:endParaRPr/>
          </a:p>
          <a:p>
            <a:pPr indent="0" lvl="0" marL="0" marR="0" rtl="0" algn="l">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Uniform open-source comparison of existing algorithms</a:t>
            </a:r>
            <a:endParaRPr/>
          </a:p>
          <a:p>
            <a:pPr indent="0" lvl="0" marL="0" marR="0" rtl="0" algn="l">
              <a:lnSpc>
                <a:spcPct val="100000"/>
              </a:lnSpc>
              <a:spcBef>
                <a:spcPts val="200"/>
              </a:spcBef>
              <a:spcAft>
                <a:spcPts val="0"/>
              </a:spcAft>
              <a:buClr>
                <a:srgbClr val="000000"/>
              </a:buClr>
              <a:buSzPts val="1150"/>
              <a:buFont typeface="Arial"/>
              <a:buNone/>
            </a:pPr>
            <a:r>
              <a:rPr b="0" i="1" lang="en-US" sz="1150" u="none" cap="none" strike="noStrike">
                <a:solidFill>
                  <a:srgbClr val="323E8C"/>
                </a:solidFill>
                <a:latin typeface="Times New Roman"/>
                <a:ea typeface="Times New Roman"/>
                <a:cs typeface="Times New Roman"/>
                <a:sym typeface="Times New Roman"/>
              </a:rPr>
              <a:t>Limit: compares, no new ranking method</a:t>
            </a:r>
            <a:endParaRPr/>
          </a:p>
        </p:txBody>
      </p:sp>
      <p:cxnSp>
        <p:nvCxnSpPr>
          <p:cNvPr id="292" name="Google Shape;292;p21"/>
          <p:cNvCxnSpPr/>
          <p:nvPr/>
        </p:nvCxnSpPr>
        <p:spPr>
          <a:xfrm>
            <a:off x="4572000" y="2834640"/>
            <a:ext cx="0" cy="210312"/>
          </a:xfrm>
          <a:prstGeom prst="straightConnector1">
            <a:avLst/>
          </a:prstGeom>
          <a:noFill/>
          <a:ln cap="flat" cmpd="sng" w="19050">
            <a:solidFill>
              <a:srgbClr val="5F72CC"/>
            </a:solidFill>
            <a:prstDash val="solid"/>
            <a:round/>
            <a:headEnd len="sm" w="sm" type="none"/>
            <a:tailEnd len="sm" w="sm" type="none"/>
          </a:ln>
        </p:spPr>
      </p:cxnSp>
      <p:sp>
        <p:nvSpPr>
          <p:cNvPr id="293" name="Google Shape;293;p21"/>
          <p:cNvSpPr/>
          <p:nvPr/>
        </p:nvSpPr>
        <p:spPr>
          <a:xfrm>
            <a:off x="4416552" y="3044952"/>
            <a:ext cx="310896" cy="310896"/>
          </a:xfrm>
          <a:prstGeom prst="ellipse">
            <a:avLst/>
          </a:prstGeom>
          <a:gradFill rotWithShape="1">
            <a:gsLst>
              <a:gs pos="0">
                <a:srgbClr val="3050AA"/>
              </a:gs>
              <a:gs pos="100000">
                <a:srgbClr val="6F73D7"/>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4" name="Google Shape;294;p21"/>
          <p:cNvSpPr/>
          <p:nvPr/>
        </p:nvSpPr>
        <p:spPr>
          <a:xfrm>
            <a:off x="4754880" y="3584448"/>
            <a:ext cx="2560320" cy="1627632"/>
          </a:xfrm>
          <a:prstGeom prst="roundRect">
            <a:avLst>
              <a:gd fmla="val 7000" name="adj"/>
            </a:avLst>
          </a:prstGeom>
          <a:gradFill rotWithShape="1">
            <a:gsLst>
              <a:gs pos="0">
                <a:srgbClr val="FFFFFF"/>
              </a:gs>
              <a:gs pos="100000">
                <a:srgbClr val="F8EBFF"/>
              </a:gs>
            </a:gsLst>
            <a:lin ang="5400000" scaled="0"/>
          </a:gradFill>
          <a:ln cap="flat" cmpd="sng" w="15875">
            <a:solidFill>
              <a:srgbClr val="985EB4"/>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602C78"/>
                </a:solidFill>
                <a:latin typeface="Times New Roman"/>
                <a:ea typeface="Times New Roman"/>
                <a:cs typeface="Times New Roman"/>
                <a:sym typeface="Times New Roman"/>
              </a:rPr>
              <a:t>20</a:t>
            </a:r>
            <a:r>
              <a:rPr b="1" lang="en-US" sz="1300">
                <a:solidFill>
                  <a:srgbClr val="602C78"/>
                </a:solidFill>
                <a:latin typeface="Times New Roman"/>
                <a:ea typeface="Times New Roman"/>
                <a:cs typeface="Times New Roman"/>
                <a:sym typeface="Times New Roman"/>
              </a:rPr>
              <a:t>24</a:t>
            </a:r>
            <a:r>
              <a:rPr b="1" i="0" lang="en-US" sz="1300" u="none" cap="none" strike="noStrike">
                <a:solidFill>
                  <a:srgbClr val="602C78"/>
                </a:solidFill>
                <a:latin typeface="Times New Roman"/>
                <a:ea typeface="Times New Roman"/>
                <a:cs typeface="Times New Roman"/>
                <a:sym typeface="Times New Roman"/>
              </a:rPr>
              <a:t>  [5]</a:t>
            </a:r>
            <a:endParaRPr/>
          </a:p>
          <a:p>
            <a:pPr indent="0" lvl="0" marL="0" marR="0" rtl="0" algn="l">
              <a:lnSpc>
                <a:spcPct val="100000"/>
              </a:lnSpc>
              <a:spcBef>
                <a:spcPts val="10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Octopus</a:t>
            </a:r>
            <a:endParaRPr/>
          </a:p>
          <a:p>
            <a:pPr indent="0" lvl="0" marL="0" marR="0" rtl="0" algn="l">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Hierarchical POMDP for cost, quality, time on Mechanical Turk</a:t>
            </a:r>
            <a:endParaRPr/>
          </a:p>
          <a:p>
            <a:pPr indent="0" lvl="0" marL="0" marR="0" rtl="0" algn="l">
              <a:lnSpc>
                <a:spcPct val="100000"/>
              </a:lnSpc>
              <a:spcBef>
                <a:spcPts val="200"/>
              </a:spcBef>
              <a:spcAft>
                <a:spcPts val="0"/>
              </a:spcAft>
              <a:buClr>
                <a:srgbClr val="000000"/>
              </a:buClr>
              <a:buSzPts val="1150"/>
              <a:buFont typeface="Arial"/>
              <a:buNone/>
            </a:pPr>
            <a:r>
              <a:rPr b="0" i="1" lang="en-US" sz="1150" u="none" cap="none" strike="noStrike">
                <a:solidFill>
                  <a:srgbClr val="602C78"/>
                </a:solidFill>
                <a:latin typeface="Times New Roman"/>
                <a:ea typeface="Times New Roman"/>
                <a:cs typeface="Times New Roman"/>
                <a:sym typeface="Times New Roman"/>
              </a:rPr>
              <a:t>Limit: micro-tasks, skill and location not central</a:t>
            </a:r>
            <a:endParaRPr/>
          </a:p>
        </p:txBody>
      </p:sp>
      <p:cxnSp>
        <p:nvCxnSpPr>
          <p:cNvPr id="295" name="Google Shape;295;p21"/>
          <p:cNvCxnSpPr/>
          <p:nvPr/>
        </p:nvCxnSpPr>
        <p:spPr>
          <a:xfrm>
            <a:off x="6035040" y="3355848"/>
            <a:ext cx="0" cy="228600"/>
          </a:xfrm>
          <a:prstGeom prst="straightConnector1">
            <a:avLst/>
          </a:prstGeom>
          <a:noFill/>
          <a:ln cap="flat" cmpd="sng" w="19050">
            <a:solidFill>
              <a:srgbClr val="985EB4"/>
            </a:solidFill>
            <a:prstDash val="solid"/>
            <a:round/>
            <a:headEnd len="sm" w="sm" type="none"/>
            <a:tailEnd len="sm" w="sm" type="none"/>
          </a:ln>
        </p:spPr>
      </p:cxnSp>
      <p:sp>
        <p:nvSpPr>
          <p:cNvPr id="296" name="Google Shape;296;p21"/>
          <p:cNvSpPr/>
          <p:nvPr/>
        </p:nvSpPr>
        <p:spPr>
          <a:xfrm>
            <a:off x="5879592" y="3044952"/>
            <a:ext cx="310896" cy="310896"/>
          </a:xfrm>
          <a:prstGeom prst="ellipse">
            <a:avLst/>
          </a:prstGeom>
          <a:gradFill rotWithShape="1">
            <a:gsLst>
              <a:gs pos="0">
                <a:srgbClr val="6E3A98"/>
              </a:gs>
              <a:gs pos="100000">
                <a:srgbClr val="A75EB7"/>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297" name="Google Shape;297;p21"/>
          <p:cNvSpPr/>
          <p:nvPr/>
        </p:nvSpPr>
        <p:spPr>
          <a:xfrm>
            <a:off x="6172200" y="1207008"/>
            <a:ext cx="2560320" cy="1627632"/>
          </a:xfrm>
          <a:prstGeom prst="roundRect">
            <a:avLst>
              <a:gd fmla="val 7000" name="adj"/>
            </a:avLst>
          </a:prstGeom>
          <a:gradFill rotWithShape="1">
            <a:gsLst>
              <a:gs pos="0">
                <a:srgbClr val="902A66"/>
              </a:gs>
              <a:gs pos="100000">
                <a:srgbClr val="C25485"/>
              </a:gs>
            </a:gsLst>
            <a:lin ang="2700000" scaled="0"/>
          </a:gradFill>
          <a:ln cap="flat" cmpd="sng" w="15875">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2026  [1]</a:t>
            </a:r>
            <a:endParaRPr/>
          </a:p>
          <a:p>
            <a:pPr indent="0" lvl="0" marL="0" marR="0" rtl="0" algn="l">
              <a:lnSpc>
                <a:spcPct val="100000"/>
              </a:lnSpc>
              <a:spcBef>
                <a:spcPts val="10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CrowdBwO (base paper)</a:t>
            </a:r>
            <a:endParaRPr/>
          </a:p>
          <a:p>
            <a:pPr indent="0" lvl="0" marL="0" marR="0" rtl="0" algn="l">
              <a:lnSpc>
                <a:spcPct val="100000"/>
              </a:lnSpc>
              <a:spcBef>
                <a:spcPts val="200"/>
              </a:spcBef>
              <a:spcAft>
                <a:spcPts val="0"/>
              </a:spcAft>
              <a:buClr>
                <a:srgbClr val="000000"/>
              </a:buClr>
              <a:buSzPts val="1150"/>
              <a:buFont typeface="Arial"/>
              <a:buNone/>
            </a:pPr>
            <a:r>
              <a:rPr b="0" i="0" lang="en-US" sz="1150" u="none" cap="none" strike="noStrike">
                <a:solidFill>
                  <a:schemeClr val="lt1"/>
                </a:solidFill>
                <a:latin typeface="Times New Roman"/>
                <a:ea typeface="Times New Roman"/>
                <a:cs typeface="Times New Roman"/>
                <a:sym typeface="Times New Roman"/>
              </a:rPr>
              <a:t>Multi-armed bandit learns worker quality; picks worker sets by quality, time, expense</a:t>
            </a:r>
            <a:endParaRPr/>
          </a:p>
          <a:p>
            <a:pPr indent="0" lvl="0" marL="0" marR="0" rtl="0" algn="l">
              <a:lnSpc>
                <a:spcPct val="100000"/>
              </a:lnSpc>
              <a:spcBef>
                <a:spcPts val="200"/>
              </a:spcBef>
              <a:spcAft>
                <a:spcPts val="0"/>
              </a:spcAft>
              <a:buClr>
                <a:srgbClr val="000000"/>
              </a:buClr>
              <a:buSzPts val="1150"/>
              <a:buFont typeface="Arial"/>
              <a:buNone/>
            </a:pPr>
            <a:r>
              <a:rPr b="0" i="1" lang="en-US" sz="1150" u="none" cap="none" strike="noStrike">
                <a:solidFill>
                  <a:schemeClr val="lt1"/>
                </a:solidFill>
                <a:latin typeface="Times New Roman"/>
                <a:ea typeface="Times New Roman"/>
                <a:cs typeface="Times New Roman"/>
                <a:sym typeface="Times New Roman"/>
              </a:rPr>
              <a:t>Basis of the Smart Worker Finder</a:t>
            </a:r>
            <a:endParaRPr/>
          </a:p>
        </p:txBody>
      </p:sp>
      <p:cxnSp>
        <p:nvCxnSpPr>
          <p:cNvPr id="298" name="Google Shape;298;p21"/>
          <p:cNvCxnSpPr/>
          <p:nvPr/>
        </p:nvCxnSpPr>
        <p:spPr>
          <a:xfrm>
            <a:off x="7452360" y="2834640"/>
            <a:ext cx="0" cy="210312"/>
          </a:xfrm>
          <a:prstGeom prst="straightConnector1">
            <a:avLst/>
          </a:prstGeom>
          <a:noFill/>
          <a:ln cap="flat" cmpd="sng" w="19050">
            <a:solidFill>
              <a:srgbClr val="B8527E"/>
            </a:solidFill>
            <a:prstDash val="solid"/>
            <a:round/>
            <a:headEnd len="sm" w="sm" type="none"/>
            <a:tailEnd len="sm" w="sm" type="none"/>
          </a:ln>
        </p:spPr>
      </p:cxnSp>
      <p:sp>
        <p:nvSpPr>
          <p:cNvPr id="299" name="Google Shape;299;p21"/>
          <p:cNvSpPr/>
          <p:nvPr/>
        </p:nvSpPr>
        <p:spPr>
          <a:xfrm>
            <a:off x="7296912" y="3044952"/>
            <a:ext cx="310896" cy="310896"/>
          </a:xfrm>
          <a:prstGeom prst="ellipse">
            <a:avLst/>
          </a:prstGeom>
          <a:gradFill rotWithShape="1">
            <a:gsLst>
              <a:gs pos="0">
                <a:srgbClr val="902A66"/>
              </a:gs>
              <a:gs pos="100000">
                <a:srgbClr val="C25485"/>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00" name="Google Shape;300;p21"/>
          <p:cNvSpPr/>
          <p:nvPr/>
        </p:nvSpPr>
        <p:spPr>
          <a:xfrm>
            <a:off x="457200" y="5303520"/>
            <a:ext cx="8229600" cy="566928"/>
          </a:xfrm>
          <a:prstGeom prst="roundRect">
            <a:avLst>
              <a:gd fmla="val 30000" name="adj"/>
            </a:avLst>
          </a:prstGeom>
          <a:gradFill rotWithShape="1">
            <a:gsLst>
              <a:gs pos="0">
                <a:srgbClr val="006662"/>
              </a:gs>
              <a:gs pos="25000">
                <a:srgbClr val="006083"/>
              </a:gs>
              <a:gs pos="50000">
                <a:srgbClr val="3E4CAA"/>
              </a:gs>
              <a:gs pos="75000">
                <a:srgbClr val="753791"/>
              </a:gs>
              <a:gs pos="100000">
                <a:srgbClr val="93285C"/>
              </a:gs>
            </a:gsLst>
            <a:lin ang="0" scaled="0"/>
          </a:gradFill>
          <a:ln>
            <a:noFill/>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Research gap: no skilled-worker finder balances skill, location, availability, quality, response time and cost together</a:t>
            </a:r>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400"/>
                                        <p:tgtEl>
                                          <p:spTgt spid="284"/>
                                        </p:tgtEl>
                                      </p:cBhvr>
                                    </p:animEffect>
                                  </p:childTnLst>
                                </p:cTn>
                              </p:par>
                              <p:par>
                                <p:cTn fill="hold" nodeType="withEffect" presetClass="entr" presetID="23" presetSubtype="16">
                                  <p:stCondLst>
                                    <p:cond delay="400"/>
                                  </p:stCondLst>
                                  <p:childTnLst>
                                    <p:set>
                                      <p:cBhvr>
                                        <p:cTn dur="1" fill="hold">
                                          <p:stCondLst>
                                            <p:cond delay="0"/>
                                          </p:stCondLst>
                                        </p:cTn>
                                        <p:tgtEl>
                                          <p:spTgt spid="287"/>
                                        </p:tgtEl>
                                        <p:attrNameLst>
                                          <p:attrName>style.visibility</p:attrName>
                                        </p:attrNameLst>
                                      </p:cBhvr>
                                      <p:to>
                                        <p:strVal val="visible"/>
                                      </p:to>
                                    </p:set>
                                    <p:anim calcmode="lin" valueType="num">
                                      <p:cBhvr additive="base">
                                        <p:cTn dur="300"/>
                                        <p:tgtEl>
                                          <p:spTgt spid="287"/>
                                        </p:tgtEl>
                                        <p:attrNameLst>
                                          <p:attrName>ppt_w</p:attrName>
                                        </p:attrNameLst>
                                      </p:cBhvr>
                                      <p:tavLst>
                                        <p:tav fmla="" tm="0">
                                          <p:val>
                                            <p:strVal val="0"/>
                                          </p:val>
                                        </p:tav>
                                        <p:tav fmla="" tm="100000">
                                          <p:val>
                                            <p:strVal val="#ppt_w"/>
                                          </p:val>
                                        </p:tav>
                                      </p:tavLst>
                                    </p:anim>
                                    <p:anim calcmode="lin" valueType="num">
                                      <p:cBhvr additive="base">
                                        <p:cTn dur="300"/>
                                        <p:tgtEl>
                                          <p:spTgt spid="28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286"/>
                                        </p:tgtEl>
                                        <p:attrNameLst>
                                          <p:attrName>style.visibility</p:attrName>
                                        </p:attrNameLst>
                                      </p:cBhvr>
                                      <p:to>
                                        <p:strVal val="visible"/>
                                      </p:to>
                                    </p:set>
                                    <p:animEffect filter="fade" transition="in">
                                      <p:cBhvr>
                                        <p:cTn dur="300"/>
                                        <p:tgtEl>
                                          <p:spTgt spid="286"/>
                                        </p:tgtEl>
                                      </p:cBhvr>
                                    </p:animEffect>
                                  </p:childTnLst>
                                </p:cTn>
                              </p:par>
                              <p:par>
                                <p:cTn fill="hold" nodeType="withEffect" presetClass="entr" presetID="23" presetSubtype="16">
                                  <p:stCondLst>
                                    <p:cond delay="600"/>
                                  </p:stCondLst>
                                  <p:childTnLst>
                                    <p:set>
                                      <p:cBhvr>
                                        <p:cTn dur="1" fill="hold">
                                          <p:stCondLst>
                                            <p:cond delay="0"/>
                                          </p:stCondLst>
                                        </p:cTn>
                                        <p:tgtEl>
                                          <p:spTgt spid="285"/>
                                        </p:tgtEl>
                                        <p:attrNameLst>
                                          <p:attrName>style.visibility</p:attrName>
                                        </p:attrNameLst>
                                      </p:cBhvr>
                                      <p:to>
                                        <p:strVal val="visible"/>
                                      </p:to>
                                    </p:set>
                                    <p:anim calcmode="lin" valueType="num">
                                      <p:cBhvr additive="base">
                                        <p:cTn dur="500"/>
                                        <p:tgtEl>
                                          <p:spTgt spid="285"/>
                                        </p:tgtEl>
                                        <p:attrNameLst>
                                          <p:attrName>ppt_w</p:attrName>
                                        </p:attrNameLst>
                                      </p:cBhvr>
                                      <p:tavLst>
                                        <p:tav fmla="" tm="0">
                                          <p:val>
                                            <p:strVal val="0"/>
                                          </p:val>
                                        </p:tav>
                                        <p:tav fmla="" tm="100000">
                                          <p:val>
                                            <p:strVal val="#ppt_w"/>
                                          </p:val>
                                        </p:tav>
                                      </p:tavLst>
                                    </p:anim>
                                    <p:anim calcmode="lin" valueType="num">
                                      <p:cBhvr additive="base">
                                        <p:cTn dur="500"/>
                                        <p:tgtEl>
                                          <p:spTgt spid="28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20"/>
                                  </p:stCondLst>
                                  <p:childTnLst>
                                    <p:set>
                                      <p:cBhvr>
                                        <p:cTn dur="1" fill="hold">
                                          <p:stCondLst>
                                            <p:cond delay="0"/>
                                          </p:stCondLst>
                                        </p:cTn>
                                        <p:tgtEl>
                                          <p:spTgt spid="290"/>
                                        </p:tgtEl>
                                        <p:attrNameLst>
                                          <p:attrName>style.visibility</p:attrName>
                                        </p:attrNameLst>
                                      </p:cBhvr>
                                      <p:to>
                                        <p:strVal val="visible"/>
                                      </p:to>
                                    </p:set>
                                    <p:anim calcmode="lin" valueType="num">
                                      <p:cBhvr additive="base">
                                        <p:cTn dur="300"/>
                                        <p:tgtEl>
                                          <p:spTgt spid="290"/>
                                        </p:tgtEl>
                                        <p:attrNameLst>
                                          <p:attrName>ppt_w</p:attrName>
                                        </p:attrNameLst>
                                      </p:cBhvr>
                                      <p:tavLst>
                                        <p:tav fmla="" tm="0">
                                          <p:val>
                                            <p:strVal val="0"/>
                                          </p:val>
                                        </p:tav>
                                        <p:tav fmla="" tm="100000">
                                          <p:val>
                                            <p:strVal val="#ppt_w"/>
                                          </p:val>
                                        </p:tav>
                                      </p:tavLst>
                                    </p:anim>
                                    <p:anim calcmode="lin" valueType="num">
                                      <p:cBhvr additive="base">
                                        <p:cTn dur="300"/>
                                        <p:tgtEl>
                                          <p:spTgt spid="29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120"/>
                                  </p:stCondLst>
                                  <p:childTnLst>
                                    <p:set>
                                      <p:cBhvr>
                                        <p:cTn dur="1" fill="hold">
                                          <p:stCondLst>
                                            <p:cond delay="0"/>
                                          </p:stCondLst>
                                        </p:cTn>
                                        <p:tgtEl>
                                          <p:spTgt spid="289"/>
                                        </p:tgtEl>
                                        <p:attrNameLst>
                                          <p:attrName>style.visibility</p:attrName>
                                        </p:attrNameLst>
                                      </p:cBhvr>
                                      <p:to>
                                        <p:strVal val="visible"/>
                                      </p:to>
                                    </p:set>
                                    <p:animEffect filter="fade" transition="in">
                                      <p:cBhvr>
                                        <p:cTn dur="300"/>
                                        <p:tgtEl>
                                          <p:spTgt spid="289"/>
                                        </p:tgtEl>
                                      </p:cBhvr>
                                    </p:animEffect>
                                  </p:childTnLst>
                                </p:cTn>
                              </p:par>
                              <p:par>
                                <p:cTn fill="hold" nodeType="withEffect" presetClass="entr" presetID="23" presetSubtype="16">
                                  <p:stCondLst>
                                    <p:cond delay="1220"/>
                                  </p:stCondLst>
                                  <p:childTnLst>
                                    <p:set>
                                      <p:cBhvr>
                                        <p:cTn dur="1" fill="hold">
                                          <p:stCondLst>
                                            <p:cond delay="0"/>
                                          </p:stCondLst>
                                        </p:cTn>
                                        <p:tgtEl>
                                          <p:spTgt spid="288"/>
                                        </p:tgtEl>
                                        <p:attrNameLst>
                                          <p:attrName>style.visibility</p:attrName>
                                        </p:attrNameLst>
                                      </p:cBhvr>
                                      <p:to>
                                        <p:strVal val="visible"/>
                                      </p:to>
                                    </p:set>
                                    <p:anim calcmode="lin" valueType="num">
                                      <p:cBhvr additive="base">
                                        <p:cTn dur="500"/>
                                        <p:tgtEl>
                                          <p:spTgt spid="288"/>
                                        </p:tgtEl>
                                        <p:attrNameLst>
                                          <p:attrName>ppt_w</p:attrName>
                                        </p:attrNameLst>
                                      </p:cBhvr>
                                      <p:tavLst>
                                        <p:tav fmla="" tm="0">
                                          <p:val>
                                            <p:strVal val="0"/>
                                          </p:val>
                                        </p:tav>
                                        <p:tav fmla="" tm="100000">
                                          <p:val>
                                            <p:strVal val="#ppt_w"/>
                                          </p:val>
                                        </p:tav>
                                      </p:tavLst>
                                    </p:anim>
                                    <p:anim calcmode="lin" valueType="num">
                                      <p:cBhvr additive="base">
                                        <p:cTn dur="500"/>
                                        <p:tgtEl>
                                          <p:spTgt spid="28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64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300"/>
                                        <p:tgtEl>
                                          <p:spTgt spid="293"/>
                                        </p:tgtEl>
                                        <p:attrNameLst>
                                          <p:attrName>ppt_w</p:attrName>
                                        </p:attrNameLst>
                                      </p:cBhvr>
                                      <p:tavLst>
                                        <p:tav fmla="" tm="0">
                                          <p:val>
                                            <p:strVal val="0"/>
                                          </p:val>
                                        </p:tav>
                                        <p:tav fmla="" tm="100000">
                                          <p:val>
                                            <p:strVal val="#ppt_w"/>
                                          </p:val>
                                        </p:tav>
                                      </p:tavLst>
                                    </p:anim>
                                    <p:anim calcmode="lin" valueType="num">
                                      <p:cBhvr additive="base">
                                        <p:cTn dur="300"/>
                                        <p:tgtEl>
                                          <p:spTgt spid="29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740"/>
                                  </p:stCondLst>
                                  <p:childTnLst>
                                    <p:set>
                                      <p:cBhvr>
                                        <p:cTn dur="1" fill="hold">
                                          <p:stCondLst>
                                            <p:cond delay="0"/>
                                          </p:stCondLst>
                                        </p:cTn>
                                        <p:tgtEl>
                                          <p:spTgt spid="292"/>
                                        </p:tgtEl>
                                        <p:attrNameLst>
                                          <p:attrName>style.visibility</p:attrName>
                                        </p:attrNameLst>
                                      </p:cBhvr>
                                      <p:to>
                                        <p:strVal val="visible"/>
                                      </p:to>
                                    </p:set>
                                    <p:animEffect filter="fade" transition="in">
                                      <p:cBhvr>
                                        <p:cTn dur="300"/>
                                        <p:tgtEl>
                                          <p:spTgt spid="292"/>
                                        </p:tgtEl>
                                      </p:cBhvr>
                                    </p:animEffect>
                                  </p:childTnLst>
                                </p:cTn>
                              </p:par>
                              <p:par>
                                <p:cTn fill="hold" nodeType="withEffect" presetClass="entr" presetID="23" presetSubtype="16">
                                  <p:stCondLst>
                                    <p:cond delay="1840"/>
                                  </p:stCondLst>
                                  <p:childTnLst>
                                    <p:set>
                                      <p:cBhvr>
                                        <p:cTn dur="1" fill="hold">
                                          <p:stCondLst>
                                            <p:cond delay="0"/>
                                          </p:stCondLst>
                                        </p:cTn>
                                        <p:tgtEl>
                                          <p:spTgt spid="291"/>
                                        </p:tgtEl>
                                        <p:attrNameLst>
                                          <p:attrName>style.visibility</p:attrName>
                                        </p:attrNameLst>
                                      </p:cBhvr>
                                      <p:to>
                                        <p:strVal val="visible"/>
                                      </p:to>
                                    </p:set>
                                    <p:anim calcmode="lin" valueType="num">
                                      <p:cBhvr additive="base">
                                        <p:cTn dur="500"/>
                                        <p:tgtEl>
                                          <p:spTgt spid="291"/>
                                        </p:tgtEl>
                                        <p:attrNameLst>
                                          <p:attrName>ppt_w</p:attrName>
                                        </p:attrNameLst>
                                      </p:cBhvr>
                                      <p:tavLst>
                                        <p:tav fmla="" tm="0">
                                          <p:val>
                                            <p:strVal val="0"/>
                                          </p:val>
                                        </p:tav>
                                        <p:tav fmla="" tm="100000">
                                          <p:val>
                                            <p:strVal val="#ppt_w"/>
                                          </p:val>
                                        </p:tav>
                                      </p:tavLst>
                                    </p:anim>
                                    <p:anim calcmode="lin" valueType="num">
                                      <p:cBhvr additive="base">
                                        <p:cTn dur="500"/>
                                        <p:tgtEl>
                                          <p:spTgt spid="29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260"/>
                                  </p:stCondLst>
                                  <p:childTnLst>
                                    <p:set>
                                      <p:cBhvr>
                                        <p:cTn dur="1" fill="hold">
                                          <p:stCondLst>
                                            <p:cond delay="0"/>
                                          </p:stCondLst>
                                        </p:cTn>
                                        <p:tgtEl>
                                          <p:spTgt spid="296"/>
                                        </p:tgtEl>
                                        <p:attrNameLst>
                                          <p:attrName>style.visibility</p:attrName>
                                        </p:attrNameLst>
                                      </p:cBhvr>
                                      <p:to>
                                        <p:strVal val="visible"/>
                                      </p:to>
                                    </p:set>
                                    <p:anim calcmode="lin" valueType="num">
                                      <p:cBhvr additive="base">
                                        <p:cTn dur="300"/>
                                        <p:tgtEl>
                                          <p:spTgt spid="296"/>
                                        </p:tgtEl>
                                        <p:attrNameLst>
                                          <p:attrName>ppt_w</p:attrName>
                                        </p:attrNameLst>
                                      </p:cBhvr>
                                      <p:tavLst>
                                        <p:tav fmla="" tm="0">
                                          <p:val>
                                            <p:strVal val="0"/>
                                          </p:val>
                                        </p:tav>
                                        <p:tav fmla="" tm="100000">
                                          <p:val>
                                            <p:strVal val="#ppt_w"/>
                                          </p:val>
                                        </p:tav>
                                      </p:tavLst>
                                    </p:anim>
                                    <p:anim calcmode="lin" valueType="num">
                                      <p:cBhvr additive="base">
                                        <p:cTn dur="300"/>
                                        <p:tgtEl>
                                          <p:spTgt spid="29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360"/>
                                  </p:stCondLst>
                                  <p:childTnLst>
                                    <p:set>
                                      <p:cBhvr>
                                        <p:cTn dur="1" fill="hold">
                                          <p:stCondLst>
                                            <p:cond delay="0"/>
                                          </p:stCondLst>
                                        </p:cTn>
                                        <p:tgtEl>
                                          <p:spTgt spid="295"/>
                                        </p:tgtEl>
                                        <p:attrNameLst>
                                          <p:attrName>style.visibility</p:attrName>
                                        </p:attrNameLst>
                                      </p:cBhvr>
                                      <p:to>
                                        <p:strVal val="visible"/>
                                      </p:to>
                                    </p:set>
                                    <p:animEffect filter="fade" transition="in">
                                      <p:cBhvr>
                                        <p:cTn dur="300"/>
                                        <p:tgtEl>
                                          <p:spTgt spid="295"/>
                                        </p:tgtEl>
                                      </p:cBhvr>
                                    </p:animEffect>
                                  </p:childTnLst>
                                </p:cTn>
                              </p:par>
                              <p:par>
                                <p:cTn fill="hold" nodeType="withEffect" presetClass="entr" presetID="23" presetSubtype="16">
                                  <p:stCondLst>
                                    <p:cond delay="246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ppt_w</p:attrName>
                                        </p:attrNameLst>
                                      </p:cBhvr>
                                      <p:tavLst>
                                        <p:tav fmla="" tm="0">
                                          <p:val>
                                            <p:strVal val="0"/>
                                          </p:val>
                                        </p:tav>
                                        <p:tav fmla="" tm="100000">
                                          <p:val>
                                            <p:strVal val="#ppt_w"/>
                                          </p:val>
                                        </p:tav>
                                      </p:tavLst>
                                    </p:anim>
                                    <p:anim calcmode="lin" valueType="num">
                                      <p:cBhvr additive="base">
                                        <p:cTn dur="500"/>
                                        <p:tgtEl>
                                          <p:spTgt spid="29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880"/>
                                  </p:stCondLst>
                                  <p:childTnLst>
                                    <p:set>
                                      <p:cBhvr>
                                        <p:cTn dur="1" fill="hold">
                                          <p:stCondLst>
                                            <p:cond delay="0"/>
                                          </p:stCondLst>
                                        </p:cTn>
                                        <p:tgtEl>
                                          <p:spTgt spid="299"/>
                                        </p:tgtEl>
                                        <p:attrNameLst>
                                          <p:attrName>style.visibility</p:attrName>
                                        </p:attrNameLst>
                                      </p:cBhvr>
                                      <p:to>
                                        <p:strVal val="visible"/>
                                      </p:to>
                                    </p:set>
                                    <p:anim calcmode="lin" valueType="num">
                                      <p:cBhvr additive="base">
                                        <p:cTn dur="300"/>
                                        <p:tgtEl>
                                          <p:spTgt spid="299"/>
                                        </p:tgtEl>
                                        <p:attrNameLst>
                                          <p:attrName>ppt_w</p:attrName>
                                        </p:attrNameLst>
                                      </p:cBhvr>
                                      <p:tavLst>
                                        <p:tav fmla="" tm="0">
                                          <p:val>
                                            <p:strVal val="0"/>
                                          </p:val>
                                        </p:tav>
                                        <p:tav fmla="" tm="100000">
                                          <p:val>
                                            <p:strVal val="#ppt_w"/>
                                          </p:val>
                                        </p:tav>
                                      </p:tavLst>
                                    </p:anim>
                                    <p:anim calcmode="lin" valueType="num">
                                      <p:cBhvr additive="base">
                                        <p:cTn dur="300"/>
                                        <p:tgtEl>
                                          <p:spTgt spid="29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980"/>
                                  </p:stCondLst>
                                  <p:childTnLst>
                                    <p:set>
                                      <p:cBhvr>
                                        <p:cTn dur="1" fill="hold">
                                          <p:stCondLst>
                                            <p:cond delay="0"/>
                                          </p:stCondLst>
                                        </p:cTn>
                                        <p:tgtEl>
                                          <p:spTgt spid="298"/>
                                        </p:tgtEl>
                                        <p:attrNameLst>
                                          <p:attrName>style.visibility</p:attrName>
                                        </p:attrNameLst>
                                      </p:cBhvr>
                                      <p:to>
                                        <p:strVal val="visible"/>
                                      </p:to>
                                    </p:set>
                                    <p:animEffect filter="fade" transition="in">
                                      <p:cBhvr>
                                        <p:cTn dur="300"/>
                                        <p:tgtEl>
                                          <p:spTgt spid="298"/>
                                        </p:tgtEl>
                                      </p:cBhvr>
                                    </p:animEffect>
                                  </p:childTnLst>
                                </p:cTn>
                              </p:par>
                              <p:par>
                                <p:cTn fill="hold" nodeType="withEffect" presetClass="entr" presetID="23" presetSubtype="16">
                                  <p:stCondLst>
                                    <p:cond delay="3080"/>
                                  </p:stCondLst>
                                  <p:childTnLst>
                                    <p:set>
                                      <p:cBhvr>
                                        <p:cTn dur="1" fill="hold">
                                          <p:stCondLst>
                                            <p:cond delay="0"/>
                                          </p:stCondLst>
                                        </p:cTn>
                                        <p:tgtEl>
                                          <p:spTgt spid="297"/>
                                        </p:tgtEl>
                                        <p:attrNameLst>
                                          <p:attrName>style.visibility</p:attrName>
                                        </p:attrNameLst>
                                      </p:cBhvr>
                                      <p:to>
                                        <p:strVal val="visible"/>
                                      </p:to>
                                    </p:set>
                                    <p:anim calcmode="lin" valueType="num">
                                      <p:cBhvr additive="base">
                                        <p:cTn dur="500"/>
                                        <p:tgtEl>
                                          <p:spTgt spid="297"/>
                                        </p:tgtEl>
                                        <p:attrNameLst>
                                          <p:attrName>ppt_w</p:attrName>
                                        </p:attrNameLst>
                                      </p:cBhvr>
                                      <p:tavLst>
                                        <p:tav fmla="" tm="0">
                                          <p:val>
                                            <p:strVal val="0"/>
                                          </p:val>
                                        </p:tav>
                                        <p:tav fmla="" tm="100000">
                                          <p:val>
                                            <p:strVal val="#ppt_w"/>
                                          </p:val>
                                        </p:tav>
                                      </p:tavLst>
                                    </p:anim>
                                    <p:anim calcmode="lin" valueType="num">
                                      <p:cBhvr additive="base">
                                        <p:cTn dur="500"/>
                                        <p:tgtEl>
                                          <p:spTgt spid="297"/>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3500"/>
                                  </p:stCondLst>
                                  <p:childTnLst>
                                    <p:set>
                                      <p:cBhvr>
                                        <p:cTn dur="1" fill="hold">
                                          <p:stCondLst>
                                            <p:cond delay="0"/>
                                          </p:stCondLst>
                                        </p:cTn>
                                        <p:tgtEl>
                                          <p:spTgt spid="300"/>
                                        </p:tgtEl>
                                        <p:attrNameLst>
                                          <p:attrName>style.visibility</p:attrName>
                                        </p:attrNameLst>
                                      </p:cBhvr>
                                      <p:to>
                                        <p:strVal val="visible"/>
                                      </p:to>
                                    </p:set>
                                    <p:anim calcmode="lin" valueType="num">
                                      <p:cBhvr additive="base">
                                        <p:cTn dur="600"/>
                                        <p:tgtEl>
                                          <p:spTgt spid="30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2"/>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Problem Statement</a:t>
            </a:r>
            <a:endParaRPr/>
          </a:p>
        </p:txBody>
      </p:sp>
      <p:sp>
        <p:nvSpPr>
          <p:cNvPr id="307" name="Google Shape;307;p22"/>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308" name="Google Shape;308;p22"/>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309" name="Google Shape;309;p22"/>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2001" name="Statement card"/>
          <p:cNvSpPr/>
          <p:nvPr/>
        </p:nvSpPr>
        <p:spPr>
          <a:xfrm>
            <a:off x="457200" y="1170432"/>
            <a:ext cx="8229600" cy="1280160"/>
          </a:xfrm>
          <a:prstGeom prst="roundRect">
            <a:avLst>
              <a:gd name="adj" fmla="val 9000"/>
            </a:avLst>
          </a:prstGeom>
          <a:gradFill rotWithShape="1">
            <a:gsLst>
              <a:gs pos="0">
                <a:srgbClr val="DCFAFE"/>
              </a:gs>
              <a:gs pos="100000">
                <a:srgbClr val="B4EFF7"/>
              </a:gs>
            </a:gsLst>
            <a:lin ang="2700000" scaled="0"/>
          </a:gradFill>
          <a:ln w="15875">
            <a:solidFill>
              <a:srgbClr val="008B98"/>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02" name="Target badge"/>
          <p:cNvSpPr/>
          <p:nvPr/>
        </p:nvSpPr>
        <p:spPr>
          <a:xfrm>
            <a:off x="621792" y="1417320"/>
            <a:ext cx="640080" cy="640080"/>
          </a:xfrm>
          <a:prstGeom prst="ellipse">
            <a:avLst/>
          </a:prstGeom>
          <a:gradFill rotWithShape="1">
            <a:gsLst>
              <a:gs pos="0">
                <a:srgbClr val="0C6468"/>
              </a:gs>
              <a:gs pos="100000">
                <a:srgbClr val="0090A6"/>
              </a:gs>
            </a:gsLst>
            <a:lin ang="2700000" scaled="0"/>
          </a:gradFill>
          <a:ln w="25400">
            <a:solidFill>
              <a:srgbClr val="FFFFFF"/>
            </a:solidFill>
          </a:ln>
        </p:spPr>
        <p:txBody>
          <a:bodyPr wrap="square" lIns="64008" tIns="36576" rIns="64008" bIns="36576" anchor="ctr">
            <a:noAutofit/>
          </a:bodyPr>
          <a:lstStyle/>
          <a:p>
            <a:endParaRPr lang="en-US"/>
          </a:p>
        </p:txBody>
      </p:sp>
      <p:pic>
        <p:nvPicPr>
          <p:cNvPr id="2003" name="Target icon" descr="Target"/>
          <p:cNvPicPr>
            <a:picLocks noChangeAspect="1"/>
          </p:cNvPicPr>
          <p:nvPr/>
        </p:nvPicPr>
        <p:blipFill>
          <a:blip r:embed="rIdTarget"/>
          <a:stretch>
            <a:fillRect/>
          </a:stretch>
        </p:blipFill>
        <p:spPr>
          <a:xfrm>
            <a:off x="777240" y="1572768"/>
            <a:ext cx="329184" cy="329184"/>
          </a:xfrm>
          <a:prstGeom prst="rect">
            <a:avLst/>
          </a:prstGeom>
        </p:spPr>
      </p:pic>
      <p:sp>
        <p:nvSpPr>
          <p:cNvPr id="2004" name="Text"/>
          <p:cNvSpPr txBox="1"/>
          <p:nvPr/>
        </p:nvSpPr>
        <p:spPr>
          <a:xfrm>
            <a:off x="1417320" y="1243584"/>
            <a:ext cx="7132320" cy="1152144"/>
          </a:xfrm>
          <a:prstGeom prst="rect">
            <a:avLst/>
          </a:prstGeom>
          <a:noFill/>
          <a:ln>
            <a:noFill/>
          </a:ln>
        </p:spPr>
        <p:txBody>
          <a:bodyPr wrap="square" lIns="0" tIns="0" rIns="0" bIns="0" anchor="ctr">
            <a:noAutofit/>
          </a:bodyPr>
          <a:lstStyle/>
          <a:p>
            <a:pPr marL="0" indent="0" algn="l">
              <a:lnSpc>
                <a:spcPct val="100000"/>
              </a:lnSpc>
              <a:spcBef>
                <a:spcPts val="0"/>
              </a:spcBef>
              <a:spcAft>
                <a:spcPts val="400"/>
              </a:spcAft>
              <a:buNone/>
            </a:pPr>
            <a:r>
              <a:rPr lang="en-US" sz="1200" b="1" i="0" dirty="0">
                <a:solidFill>
                  <a:srgbClr val="1F2937"/>
                </a:solidFill>
                <a:latin typeface="Times New Roman"/>
                <a:ea typeface="Times New Roman"/>
                <a:cs typeface="Times New Roman"/>
              </a:rPr>
              <a:t>Develop an intelligent and dynamic worker-assignment system that recommends the most suitable available worker for a customer’s service request by balancing skill, proximity, quality, time and cost, so that waiting time and inefficient worker selection are reduced.</a:t>
            </a:r>
          </a:p>
          <a:p>
            <a:pPr marL="0" indent="0" algn="l">
              <a:lnSpc>
                <a:spcPct val="100000"/>
              </a:lnSpc>
              <a:spcBef>
                <a:spcPts val="0"/>
              </a:spcBef>
              <a:spcAft>
                <a:spcPts val="0"/>
              </a:spcAft>
              <a:buNone/>
            </a:pPr>
            <a:r>
              <a:rPr lang="en-US" sz="1100" b="0" i="1" dirty="0">
                <a:solidFill>
                  <a:srgbClr val="374151"/>
                </a:solidFill>
                <a:latin typeface="Times New Roman"/>
                <a:ea typeface="Times New Roman"/>
                <a:cs typeface="Times New Roman"/>
              </a:rPr>
              <a:t>In simple words: a customer with a leaking tap should not have to phone many workers one by one. The system should read the request, find who is skilled, nearby and free, rank them fairly, and learn from every finished job.</a:t>
            </a:r>
          </a:p>
        </p:txBody>
      </p:sp>
      <p:sp>
        <p:nvSpPr>
          <p:cNvPr id="2005" name="Today pill"/>
          <p:cNvSpPr/>
          <p:nvPr/>
        </p:nvSpPr>
        <p:spPr>
          <a:xfrm>
            <a:off x="457200" y="2651760"/>
            <a:ext cx="914400" cy="457200"/>
          </a:xfrm>
          <a:prstGeom prst="roundRect">
            <a:avLst/>
          </a:prstGeom>
          <a:gradFill rotWithShape="1">
            <a:gsLst>
              <a:gs pos="0">
                <a:srgbClr val="4E5967"/>
              </a:gs>
              <a:gs pos="100000">
                <a:srgbClr val="768191"/>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TODAY</a:t>
            </a:r>
          </a:p>
        </p:txBody>
      </p:sp>
      <p:sp>
        <p:nvSpPr>
          <p:cNvPr id="2006" name="Needed pill"/>
          <p:cNvSpPr/>
          <p:nvPr/>
        </p:nvSpPr>
        <p:spPr>
          <a:xfrm>
            <a:off x="457200" y="3456432"/>
            <a:ext cx="914400" cy="457200"/>
          </a:xfrm>
          <a:prstGeom prst="roundRect">
            <a:avLst/>
          </a:prstGeom>
          <a:gradFill rotWithShape="1">
            <a:gsLst>
              <a:gs pos="0">
                <a:srgbClr val="0C6468"/>
              </a:gs>
              <a:gs pos="100000">
                <a:srgbClr val="0090A6"/>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NEEDED</a:t>
            </a:r>
          </a:p>
        </p:txBody>
      </p:sp>
      <p:sp>
        <p:nvSpPr>
          <p:cNvPr id="2007" name="Today step"/>
          <p:cNvSpPr/>
          <p:nvPr/>
        </p:nvSpPr>
        <p:spPr>
          <a:xfrm>
            <a:off x="1508760" y="2560320"/>
            <a:ext cx="1554480" cy="621792"/>
          </a:xfrm>
          <a:prstGeom prst="roundRect">
            <a:avLst/>
          </a:prstGeom>
          <a:gradFill rotWithShape="1">
            <a:gsLst>
              <a:gs pos="0">
                <a:srgbClr val="F1F4F7"/>
              </a:gs>
              <a:gs pos="100000">
                <a:srgbClr val="DEE3EA"/>
              </a:gs>
            </a:gsLst>
            <a:lin ang="2700000" scaled="0"/>
          </a:gradFill>
          <a:ln w="15875">
            <a:solidFill>
              <a:srgbClr val="717B89"/>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Describe the problem</a:t>
            </a:r>
          </a:p>
        </p:txBody>
      </p:sp>
      <p:sp>
        <p:nvSpPr>
          <p:cNvPr id="2008" name="Needed step"/>
          <p:cNvSpPr/>
          <p:nvPr/>
        </p:nvSpPr>
        <p:spPr>
          <a:xfrm>
            <a:off x="1508760" y="3364992"/>
            <a:ext cx="1554480" cy="621792"/>
          </a:xfrm>
          <a:prstGeom prst="roundRect">
            <a:avLst/>
          </a:prstGeom>
          <a:gradFill rotWithShape="1">
            <a:gsLst>
              <a:gs pos="0">
                <a:srgbClr val="006663"/>
              </a:gs>
              <a:gs pos="100000">
                <a:srgbClr val="0F919C"/>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Understand the request</a:t>
            </a:r>
          </a:p>
        </p:txBody>
      </p:sp>
      <p:cxnSp>
        <p:nvCxnSpPr>
          <p:cNvPr id="2009" name="Arrow"/>
          <p:cNvCxnSpPr/>
          <p:nvPr/>
        </p:nvCxnSpPr>
        <p:spPr>
          <a:xfrm>
            <a:off x="3081528" y="2871216"/>
            <a:ext cx="283464" cy="0"/>
          </a:xfrm>
          <a:prstGeom prst="straightConnector1">
            <a:avLst/>
          </a:prstGeom>
          <a:ln w="25400">
            <a:solidFill>
              <a:srgbClr val="717B89"/>
            </a:solidFill>
            <a:tailEnd type="triangle" w="med" len="med"/>
          </a:ln>
        </p:spPr>
      </p:cxnSp>
      <p:cxnSp>
        <p:nvCxnSpPr>
          <p:cNvPr id="2010" name="Arrow"/>
          <p:cNvCxnSpPr/>
          <p:nvPr/>
        </p:nvCxnSpPr>
        <p:spPr>
          <a:xfrm>
            <a:off x="3081528" y="3675888"/>
            <a:ext cx="283464" cy="0"/>
          </a:xfrm>
          <a:prstGeom prst="straightConnector1">
            <a:avLst/>
          </a:prstGeom>
          <a:ln w="25400">
            <a:solidFill>
              <a:srgbClr val="138B8F"/>
            </a:solidFill>
            <a:tailEnd type="triangle" w="med" len="med"/>
          </a:ln>
        </p:spPr>
      </p:cxnSp>
      <p:sp>
        <p:nvSpPr>
          <p:cNvPr id="2011" name="Today step"/>
          <p:cNvSpPr/>
          <p:nvPr/>
        </p:nvSpPr>
        <p:spPr>
          <a:xfrm>
            <a:off x="3383280" y="2560320"/>
            <a:ext cx="1554480" cy="621792"/>
          </a:xfrm>
          <a:prstGeom prst="roundRect">
            <a:avLst/>
          </a:prstGeom>
          <a:gradFill rotWithShape="1">
            <a:gsLst>
              <a:gs pos="0">
                <a:srgbClr val="F1F4F7"/>
              </a:gs>
              <a:gs pos="100000">
                <a:srgbClr val="DEE3EA"/>
              </a:gs>
            </a:gsLst>
            <a:lin ang="2700000" scaled="0"/>
          </a:gradFill>
          <a:ln w="15875">
            <a:solidFill>
              <a:srgbClr val="717B89"/>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Call workers one by one</a:t>
            </a:r>
          </a:p>
        </p:txBody>
      </p:sp>
      <p:sp>
        <p:nvSpPr>
          <p:cNvPr id="2012" name="Needed step"/>
          <p:cNvSpPr/>
          <p:nvPr/>
        </p:nvSpPr>
        <p:spPr>
          <a:xfrm>
            <a:off x="3383280" y="3364992"/>
            <a:ext cx="1554480" cy="621792"/>
          </a:xfrm>
          <a:prstGeom prst="roundRect">
            <a:avLst/>
          </a:prstGeom>
          <a:gradFill rotWithShape="1">
            <a:gsLst>
              <a:gs pos="0">
                <a:srgbClr val="005F8B"/>
              </a:gs>
              <a:gs pos="100000">
                <a:srgbClr val="2E83D6"/>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Find nearby free workers</a:t>
            </a:r>
          </a:p>
        </p:txBody>
      </p:sp>
      <p:cxnSp>
        <p:nvCxnSpPr>
          <p:cNvPr id="2013" name="Arrow"/>
          <p:cNvCxnSpPr/>
          <p:nvPr/>
        </p:nvCxnSpPr>
        <p:spPr>
          <a:xfrm>
            <a:off x="4956048" y="2871216"/>
            <a:ext cx="283464" cy="0"/>
          </a:xfrm>
          <a:prstGeom prst="straightConnector1">
            <a:avLst/>
          </a:prstGeom>
          <a:ln w="25400">
            <a:solidFill>
              <a:srgbClr val="717B89"/>
            </a:solidFill>
            <a:tailEnd type="triangle" w="med" len="med"/>
          </a:ln>
        </p:spPr>
      </p:cxnSp>
      <p:cxnSp>
        <p:nvCxnSpPr>
          <p:cNvPr id="2014" name="Arrow"/>
          <p:cNvCxnSpPr/>
          <p:nvPr/>
        </p:nvCxnSpPr>
        <p:spPr>
          <a:xfrm>
            <a:off x="4956048" y="3675888"/>
            <a:ext cx="283464" cy="0"/>
          </a:xfrm>
          <a:prstGeom prst="straightConnector1">
            <a:avLst/>
          </a:prstGeom>
          <a:ln w="25400">
            <a:solidFill>
              <a:srgbClr val="1380C7"/>
            </a:solidFill>
            <a:tailEnd type="triangle" w="med" len="med"/>
          </a:ln>
        </p:spPr>
      </p:cxnSp>
      <p:sp>
        <p:nvSpPr>
          <p:cNvPr id="2015" name="Today step"/>
          <p:cNvSpPr/>
          <p:nvPr/>
        </p:nvSpPr>
        <p:spPr>
          <a:xfrm>
            <a:off x="5257800" y="2560320"/>
            <a:ext cx="1554480" cy="621792"/>
          </a:xfrm>
          <a:prstGeom prst="roundRect">
            <a:avLst/>
          </a:prstGeom>
          <a:gradFill rotWithShape="1">
            <a:gsLst>
              <a:gs pos="0">
                <a:srgbClr val="F1F4F7"/>
              </a:gs>
              <a:gs pos="100000">
                <a:srgbClr val="DEE3EA"/>
              </a:gs>
            </a:gsLst>
            <a:lin ang="2700000" scaled="0"/>
          </a:gradFill>
          <a:ln w="15875">
            <a:solidFill>
              <a:srgbClr val="717B89"/>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Compare by hand</a:t>
            </a:r>
          </a:p>
        </p:txBody>
      </p:sp>
      <p:sp>
        <p:nvSpPr>
          <p:cNvPr id="2016" name="Needed step"/>
          <p:cNvSpPr/>
          <p:nvPr/>
        </p:nvSpPr>
        <p:spPr>
          <a:xfrm>
            <a:off x="5257800" y="3364992"/>
            <a:ext cx="1554480" cy="621792"/>
          </a:xfrm>
          <a:prstGeom prst="roundRect">
            <a:avLst/>
          </a:prstGeom>
          <a:gradFill rotWithShape="1">
            <a:gsLst>
              <a:gs pos="0">
                <a:srgbClr val="5346A6"/>
              </a:gs>
              <a:gs pos="100000">
                <a:srgbClr val="8D69CD"/>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Rank on six criteria</a:t>
            </a:r>
          </a:p>
        </p:txBody>
      </p:sp>
      <p:cxnSp>
        <p:nvCxnSpPr>
          <p:cNvPr id="2017" name="Arrow"/>
          <p:cNvCxnSpPr/>
          <p:nvPr/>
        </p:nvCxnSpPr>
        <p:spPr>
          <a:xfrm>
            <a:off x="6830568" y="2871216"/>
            <a:ext cx="283464" cy="0"/>
          </a:xfrm>
          <a:prstGeom prst="straightConnector1">
            <a:avLst/>
          </a:prstGeom>
          <a:ln w="25400">
            <a:solidFill>
              <a:srgbClr val="717B89"/>
            </a:solidFill>
            <a:tailEnd type="triangle" w="med" len="med"/>
          </a:ln>
        </p:spPr>
      </p:cxnSp>
      <p:cxnSp>
        <p:nvCxnSpPr>
          <p:cNvPr id="2018" name="Arrow"/>
          <p:cNvCxnSpPr/>
          <p:nvPr/>
        </p:nvCxnSpPr>
        <p:spPr>
          <a:xfrm>
            <a:off x="6830568" y="3675888"/>
            <a:ext cx="283464" cy="0"/>
          </a:xfrm>
          <a:prstGeom prst="straightConnector1">
            <a:avLst/>
          </a:prstGeom>
          <a:ln w="25400">
            <a:solidFill>
              <a:srgbClr val="7D68C5"/>
            </a:solidFill>
            <a:tailEnd type="triangle" w="med" len="med"/>
          </a:ln>
        </p:spPr>
      </p:cxnSp>
      <p:sp>
        <p:nvSpPr>
          <p:cNvPr id="2019" name="Today step"/>
          <p:cNvSpPr/>
          <p:nvPr/>
        </p:nvSpPr>
        <p:spPr>
          <a:xfrm>
            <a:off x="7132320" y="2560320"/>
            <a:ext cx="1554480" cy="621792"/>
          </a:xfrm>
          <a:prstGeom prst="roundRect">
            <a:avLst/>
          </a:prstGeom>
          <a:gradFill rotWithShape="1">
            <a:gsLst>
              <a:gs pos="0">
                <a:srgbClr val="F1F4F7"/>
              </a:gs>
              <a:gs pos="100000">
                <a:srgbClr val="DEE3EA"/>
              </a:gs>
            </a:gsLst>
            <a:lin ang="2700000" scaled="0"/>
          </a:gradFill>
          <a:ln w="15875">
            <a:solidFill>
              <a:srgbClr val="717B89"/>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Guess and choose</a:t>
            </a:r>
          </a:p>
        </p:txBody>
      </p:sp>
      <p:sp>
        <p:nvSpPr>
          <p:cNvPr id="2020" name="Needed step"/>
          <p:cNvSpPr/>
          <p:nvPr/>
        </p:nvSpPr>
        <p:spPr>
          <a:xfrm>
            <a:off x="7132320" y="3364992"/>
            <a:ext cx="1554480" cy="621792"/>
          </a:xfrm>
          <a:prstGeom prst="roundRect">
            <a:avLst/>
          </a:prstGeom>
          <a:gradFill rotWithShape="1">
            <a:gsLst>
              <a:gs pos="0">
                <a:srgbClr val="85307C"/>
              </a:gs>
              <a:gs pos="100000">
                <a:srgbClr val="BC5694"/>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Learn and recommend</a:t>
            </a:r>
          </a:p>
        </p:txBody>
      </p:sp>
      <p:sp>
        <p:nvSpPr>
          <p:cNvPr id="2021" name="Down arrow"/>
          <p:cNvSpPr/>
          <p:nvPr/>
        </p:nvSpPr>
        <p:spPr>
          <a:xfrm>
            <a:off x="4297680" y="3200400"/>
            <a:ext cx="548640" cy="146304"/>
          </a:xfrm>
          <a:prstGeom prst="downArrow">
            <a:avLst/>
          </a:prstGeom>
          <a:gradFill rotWithShape="1">
            <a:gsLst>
              <a:gs pos="0">
                <a:srgbClr val="0C6468"/>
              </a:gs>
              <a:gs pos="100000">
                <a:srgbClr val="0090A6"/>
              </a:gs>
            </a:gsLst>
            <a:lin ang="2700000" scaled="0"/>
          </a:gradFill>
          <a:ln>
            <a:noFill/>
          </a:ln>
        </p:spPr>
        <p:txBody>
          <a:bodyPr wrap="square" lIns="64008" tIns="36576" rIns="64008" bIns="36576" anchor="ctr">
            <a:noAutofit/>
          </a:bodyPr>
          <a:lstStyle/>
          <a:p>
            <a:endParaRPr lang="en-US"/>
          </a:p>
        </p:txBody>
      </p:sp>
      <p:sp>
        <p:nvSpPr>
          <p:cNvPr id="2022" name="Text"/>
          <p:cNvSpPr txBox="1"/>
          <p:nvPr/>
        </p:nvSpPr>
        <p:spPr>
          <a:xfrm>
            <a:off x="457200" y="4069080"/>
            <a:ext cx="8229600" cy="27432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300" b="1" i="0" dirty="0">
                <a:solidFill>
                  <a:srgbClr val="004A7F"/>
                </a:solidFill>
                <a:latin typeface="Times New Roman"/>
                <a:ea typeface="Times New Roman"/>
                <a:cs typeface="Times New Roman"/>
              </a:rPr>
              <a:t>Six challenges the system must handle</a:t>
            </a:r>
          </a:p>
        </p:txBody>
      </p:sp>
      <p:sp>
        <p:nvSpPr>
          <p:cNvPr id="2023" name="Challenge card"/>
          <p:cNvSpPr/>
          <p:nvPr/>
        </p:nvSpPr>
        <p:spPr>
          <a:xfrm>
            <a:off x="457200" y="4407408"/>
            <a:ext cx="2651760" cy="713232"/>
          </a:xfrm>
          <a:prstGeom prst="roundRect">
            <a:avLst>
              <a:gd name="adj" fmla="val 12000"/>
            </a:avLst>
          </a:prstGeom>
          <a:gradFill rotWithShape="1">
            <a:gsLst>
              <a:gs pos="0">
                <a:srgbClr val="FFFFFF"/>
              </a:gs>
              <a:gs pos="100000">
                <a:srgbClr val="DAF7F4"/>
              </a:gs>
            </a:gsLst>
            <a:lin ang="5400000" scaled="0"/>
          </a:gradFill>
          <a:ln w="15875">
            <a:solidFill>
              <a:srgbClr val="018D8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24" name="Number badge"/>
          <p:cNvSpPr/>
          <p:nvPr/>
        </p:nvSpPr>
        <p:spPr>
          <a:xfrm>
            <a:off x="548640" y="4553712"/>
            <a:ext cx="420624" cy="420624"/>
          </a:xfrm>
          <a:prstGeom prst="ellipse">
            <a:avLst/>
          </a:prstGeom>
          <a:gradFill rotWithShape="1">
            <a:gsLst>
              <a:gs pos="0">
                <a:srgbClr val="006662"/>
              </a:gs>
              <a:gs pos="100000">
                <a:srgbClr val="0E9294"/>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400" b="1" i="0" dirty="0">
                <a:solidFill>
                  <a:srgbClr val="FFFFFF"/>
                </a:solidFill>
                <a:latin typeface="Times New Roman"/>
                <a:ea typeface="Times New Roman"/>
                <a:cs typeface="Times New Roman"/>
              </a:rPr>
              <a:t>1</a:t>
            </a:r>
          </a:p>
        </p:txBody>
      </p:sp>
      <p:sp>
        <p:nvSpPr>
          <p:cNvPr id="2025" name="Text"/>
          <p:cNvSpPr txBox="1"/>
          <p:nvPr/>
        </p:nvSpPr>
        <p:spPr>
          <a:xfrm>
            <a:off x="1060704" y="4443984"/>
            <a:ext cx="1993392" cy="640080"/>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150" b="1" i="0" dirty="0">
                <a:solidFill>
                  <a:srgbClr val="005350"/>
                </a:solidFill>
                <a:latin typeface="Times New Roman"/>
                <a:ea typeface="Times New Roman"/>
                <a:cs typeface="Times New Roman"/>
              </a:rPr>
              <a:t>Understanding the request</a:t>
            </a:r>
          </a:p>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Turn free text into service, urgency and budget</a:t>
            </a:r>
          </a:p>
        </p:txBody>
      </p:sp>
      <p:sp>
        <p:nvSpPr>
          <p:cNvPr id="2026" name="Challenge card"/>
          <p:cNvSpPr/>
          <p:nvPr/>
        </p:nvSpPr>
        <p:spPr>
          <a:xfrm>
            <a:off x="3246120" y="4407408"/>
            <a:ext cx="2651760" cy="713232"/>
          </a:xfrm>
          <a:prstGeom prst="roundRect">
            <a:avLst>
              <a:gd name="adj" fmla="val 12000"/>
            </a:avLst>
          </a:prstGeom>
          <a:gradFill rotWithShape="1">
            <a:gsLst>
              <a:gs pos="0">
                <a:srgbClr val="FFFFFF"/>
              </a:gs>
              <a:gs pos="100000">
                <a:srgbClr val="DCF5FF"/>
              </a:gs>
            </a:gsLst>
            <a:lin ang="5400000" scaled="0"/>
          </a:gradFill>
          <a:ln w="15875">
            <a:solidFill>
              <a:srgbClr val="0F87A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27" name="Number badge"/>
          <p:cNvSpPr/>
          <p:nvPr/>
        </p:nvSpPr>
        <p:spPr>
          <a:xfrm>
            <a:off x="3337560" y="4553712"/>
            <a:ext cx="420624" cy="420624"/>
          </a:xfrm>
          <a:prstGeom prst="ellipse">
            <a:avLst/>
          </a:prstGeom>
          <a:gradFill rotWithShape="1">
            <a:gsLst>
              <a:gs pos="0">
                <a:srgbClr val="076375"/>
              </a:gs>
              <a:gs pos="100000">
                <a:srgbClr val="008CB9"/>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400" b="1" i="0" dirty="0">
                <a:solidFill>
                  <a:srgbClr val="FFFFFF"/>
                </a:solidFill>
                <a:latin typeface="Times New Roman"/>
                <a:ea typeface="Times New Roman"/>
                <a:cs typeface="Times New Roman"/>
              </a:rPr>
              <a:t>2</a:t>
            </a:r>
          </a:p>
        </p:txBody>
      </p:sp>
      <p:sp>
        <p:nvSpPr>
          <p:cNvPr id="2028" name="Text"/>
          <p:cNvSpPr txBox="1"/>
          <p:nvPr/>
        </p:nvSpPr>
        <p:spPr>
          <a:xfrm>
            <a:off x="3849624" y="4443984"/>
            <a:ext cx="1993392" cy="640080"/>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150" b="1" i="0" dirty="0">
                <a:solidFill>
                  <a:srgbClr val="005065"/>
                </a:solidFill>
                <a:latin typeface="Times New Roman"/>
                <a:ea typeface="Times New Roman"/>
                <a:cs typeface="Times New Roman"/>
              </a:rPr>
              <a:t>Finding the right workers</a:t>
            </a:r>
          </a:p>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Only skilled, nearby and free workers should qualify</a:t>
            </a:r>
          </a:p>
        </p:txBody>
      </p:sp>
      <p:sp>
        <p:nvSpPr>
          <p:cNvPr id="2029" name="Challenge card"/>
          <p:cNvSpPr/>
          <p:nvPr/>
        </p:nvSpPr>
        <p:spPr>
          <a:xfrm>
            <a:off x="6035040" y="4407408"/>
            <a:ext cx="2651760" cy="713232"/>
          </a:xfrm>
          <a:prstGeom prst="roundRect">
            <a:avLst>
              <a:gd name="adj" fmla="val 12000"/>
            </a:avLst>
          </a:prstGeom>
          <a:gradFill rotWithShape="1">
            <a:gsLst>
              <a:gs pos="0">
                <a:srgbClr val="FFFFFF"/>
              </a:gs>
              <a:gs pos="100000">
                <a:srgbClr val="E8F1FE"/>
              </a:gs>
            </a:gsLst>
            <a:lin ang="5400000" scaled="0"/>
          </a:gradFill>
          <a:ln w="15875">
            <a:solidFill>
              <a:srgbClr val="3C7BCB"/>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30" name="Number badge"/>
          <p:cNvSpPr/>
          <p:nvPr/>
        </p:nvSpPr>
        <p:spPr>
          <a:xfrm>
            <a:off x="6126480" y="4553712"/>
            <a:ext cx="420624" cy="420624"/>
          </a:xfrm>
          <a:prstGeom prst="ellipse">
            <a:avLst/>
          </a:prstGeom>
          <a:gradFill rotWithShape="1">
            <a:gsLst>
              <a:gs pos="0">
                <a:srgbClr val="005A9D"/>
              </a:gs>
              <a:gs pos="100000">
                <a:srgbClr val="4E7CD9"/>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400" b="1" i="0" dirty="0">
                <a:solidFill>
                  <a:srgbClr val="FFFFFF"/>
                </a:solidFill>
                <a:latin typeface="Times New Roman"/>
                <a:ea typeface="Times New Roman"/>
                <a:cs typeface="Times New Roman"/>
              </a:rPr>
              <a:t>3</a:t>
            </a:r>
          </a:p>
        </p:txBody>
      </p:sp>
      <p:sp>
        <p:nvSpPr>
          <p:cNvPr id="2031" name="Text"/>
          <p:cNvSpPr txBox="1"/>
          <p:nvPr/>
        </p:nvSpPr>
        <p:spPr>
          <a:xfrm>
            <a:off x="6638544" y="4443984"/>
            <a:ext cx="1993392" cy="640080"/>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150" b="1" i="0" dirty="0">
                <a:solidFill>
                  <a:srgbClr val="07468B"/>
                </a:solidFill>
                <a:latin typeface="Times New Roman"/>
                <a:ea typeface="Times New Roman"/>
                <a:cs typeface="Times New Roman"/>
              </a:rPr>
              <a:t>Comparing several criteria</a:t>
            </a:r>
          </a:p>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Skill, distance, quality, time and cost pull different ways</a:t>
            </a:r>
          </a:p>
        </p:txBody>
      </p:sp>
      <p:sp>
        <p:nvSpPr>
          <p:cNvPr id="2032" name="Challenge card"/>
          <p:cNvSpPr/>
          <p:nvPr/>
        </p:nvSpPr>
        <p:spPr>
          <a:xfrm>
            <a:off x="457200" y="5193792"/>
            <a:ext cx="2651760" cy="713232"/>
          </a:xfrm>
          <a:prstGeom prst="roundRect">
            <a:avLst>
              <a:gd name="adj" fmla="val 12000"/>
            </a:avLst>
          </a:prstGeom>
          <a:gradFill rotWithShape="1">
            <a:gsLst>
              <a:gs pos="0">
                <a:srgbClr val="FFFFFF"/>
              </a:gs>
              <a:gs pos="100000">
                <a:srgbClr val="EFEEFD"/>
              </a:gs>
            </a:gsLst>
            <a:lin ang="5400000" scaled="0"/>
          </a:gradFill>
          <a:ln w="15875">
            <a:solidFill>
              <a:srgbClr val="7969C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33" name="Number badge"/>
          <p:cNvSpPr/>
          <p:nvPr/>
        </p:nvSpPr>
        <p:spPr>
          <a:xfrm>
            <a:off x="548640" y="5340096"/>
            <a:ext cx="420624" cy="420624"/>
          </a:xfrm>
          <a:prstGeom prst="ellipse">
            <a:avLst/>
          </a:prstGeom>
          <a:gradFill rotWithShape="1">
            <a:gsLst>
              <a:gs pos="0">
                <a:srgbClr val="4F47A8"/>
              </a:gs>
              <a:gs pos="100000">
                <a:srgbClr val="896ACF"/>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400" b="1" i="0" dirty="0">
                <a:solidFill>
                  <a:srgbClr val="FFFFFF"/>
                </a:solidFill>
                <a:latin typeface="Times New Roman"/>
                <a:ea typeface="Times New Roman"/>
                <a:cs typeface="Times New Roman"/>
              </a:rPr>
              <a:t>4</a:t>
            </a:r>
          </a:p>
        </p:txBody>
      </p:sp>
      <p:sp>
        <p:nvSpPr>
          <p:cNvPr id="2034" name="Text"/>
          <p:cNvSpPr txBox="1"/>
          <p:nvPr/>
        </p:nvSpPr>
        <p:spPr>
          <a:xfrm>
            <a:off x="1060704" y="5230368"/>
            <a:ext cx="1993392" cy="640080"/>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150" b="1" i="0" dirty="0">
                <a:solidFill>
                  <a:srgbClr val="483788"/>
                </a:solidFill>
                <a:latin typeface="Times New Roman"/>
                <a:ea typeface="Times New Roman"/>
                <a:cs typeface="Times New Roman"/>
              </a:rPr>
              <a:t>Unknown worker quality</a:t>
            </a:r>
          </a:p>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New workers have few ratings, so true quality is uncertain</a:t>
            </a:r>
          </a:p>
        </p:txBody>
      </p:sp>
      <p:sp>
        <p:nvSpPr>
          <p:cNvPr id="2035" name="Challenge card"/>
          <p:cNvSpPr/>
          <p:nvPr/>
        </p:nvSpPr>
        <p:spPr>
          <a:xfrm>
            <a:off x="3246120" y="5193792"/>
            <a:ext cx="2651760" cy="713232"/>
          </a:xfrm>
          <a:prstGeom prst="roundRect">
            <a:avLst>
              <a:gd name="adj" fmla="val 12000"/>
            </a:avLst>
          </a:prstGeom>
          <a:gradFill rotWithShape="1">
            <a:gsLst>
              <a:gs pos="0">
                <a:srgbClr val="FFFFFF"/>
              </a:gs>
              <a:gs pos="100000">
                <a:srgbClr val="FAEAFC"/>
              </a:gs>
            </a:gsLst>
            <a:lin ang="5400000" scaled="0"/>
          </a:gradFill>
          <a:ln w="15875">
            <a:solidFill>
              <a:srgbClr val="A05BAB"/>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36" name="Number badge"/>
          <p:cNvSpPr/>
          <p:nvPr/>
        </p:nvSpPr>
        <p:spPr>
          <a:xfrm>
            <a:off x="3337560" y="5340096"/>
            <a:ext cx="420624" cy="420624"/>
          </a:xfrm>
          <a:prstGeom prst="ellipse">
            <a:avLst/>
          </a:prstGeom>
          <a:gradFill rotWithShape="1">
            <a:gsLst>
              <a:gs pos="0">
                <a:srgbClr val="773790"/>
              </a:gs>
              <a:gs pos="100000">
                <a:srgbClr val="AF5BAC"/>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400" b="1" i="0" dirty="0">
                <a:solidFill>
                  <a:srgbClr val="FFFFFF"/>
                </a:solidFill>
                <a:latin typeface="Times New Roman"/>
                <a:ea typeface="Times New Roman"/>
                <a:cs typeface="Times New Roman"/>
              </a:rPr>
              <a:t>5</a:t>
            </a:r>
          </a:p>
        </p:txBody>
      </p:sp>
      <p:sp>
        <p:nvSpPr>
          <p:cNvPr id="2037" name="Text"/>
          <p:cNvSpPr txBox="1"/>
          <p:nvPr/>
        </p:nvSpPr>
        <p:spPr>
          <a:xfrm>
            <a:off x="3849624" y="5230368"/>
            <a:ext cx="1993392" cy="640080"/>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150" b="1" i="0" dirty="0">
                <a:solidFill>
                  <a:srgbClr val="672970"/>
                </a:solidFill>
                <a:latin typeface="Times New Roman"/>
                <a:ea typeface="Times New Roman"/>
                <a:cs typeface="Times New Roman"/>
              </a:rPr>
              <a:t>Changing conditions</a:t>
            </a:r>
          </a:p>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Location and availability change from minute to minute</a:t>
            </a:r>
          </a:p>
        </p:txBody>
      </p:sp>
      <p:sp>
        <p:nvSpPr>
          <p:cNvPr id="2038" name="Challenge card"/>
          <p:cNvSpPr/>
          <p:nvPr/>
        </p:nvSpPr>
        <p:spPr>
          <a:xfrm>
            <a:off x="6035040" y="5193792"/>
            <a:ext cx="2651760" cy="713232"/>
          </a:xfrm>
          <a:prstGeom prst="roundRect">
            <a:avLst>
              <a:gd name="adj" fmla="val 12000"/>
            </a:avLst>
          </a:prstGeom>
          <a:gradFill rotWithShape="1">
            <a:gsLst>
              <a:gs pos="0">
                <a:srgbClr val="FFFFFF"/>
              </a:gs>
              <a:gs pos="100000">
                <a:srgbClr val="FFEAF1"/>
              </a:gs>
            </a:gsLst>
            <a:lin ang="5400000" scaled="0"/>
          </a:gradFill>
          <a:ln w="15875">
            <a:solidFill>
              <a:srgbClr val="B8527E"/>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39" name="Number badge"/>
          <p:cNvSpPr/>
          <p:nvPr/>
        </p:nvSpPr>
        <p:spPr>
          <a:xfrm>
            <a:off x="6126480" y="5340096"/>
            <a:ext cx="420624" cy="420624"/>
          </a:xfrm>
          <a:prstGeom prst="ellipse">
            <a:avLst/>
          </a:prstGeom>
          <a:gradFill rotWithShape="1">
            <a:gsLst>
              <a:gs pos="0">
                <a:srgbClr val="902A66"/>
              </a:gs>
              <a:gs pos="100000">
                <a:srgbClr val="C25485"/>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400" b="1" i="0" dirty="0">
                <a:solidFill>
                  <a:srgbClr val="FFFFFF"/>
                </a:solidFill>
                <a:latin typeface="Times New Roman"/>
                <a:ea typeface="Times New Roman"/>
                <a:cs typeface="Times New Roman"/>
              </a:rPr>
              <a:t>6</a:t>
            </a:r>
          </a:p>
        </p:txBody>
      </p:sp>
      <p:sp>
        <p:nvSpPr>
          <p:cNvPr id="2040" name="Text"/>
          <p:cNvSpPr txBox="1"/>
          <p:nvPr/>
        </p:nvSpPr>
        <p:spPr>
          <a:xfrm>
            <a:off x="6638544" y="5230368"/>
            <a:ext cx="1993392" cy="640080"/>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150" b="1" i="0" dirty="0">
                <a:solidFill>
                  <a:srgbClr val="79204B"/>
                </a:solidFill>
                <a:latin typeface="Times New Roman"/>
                <a:ea typeface="Times New Roman"/>
                <a:cs typeface="Times New Roman"/>
              </a:rPr>
              <a:t>Fair use of workers</a:t>
            </a:r>
          </a:p>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Good workers should not get every job; new ones need a chance</a:t>
            </a:r>
          </a:p>
        </p:txBody>
      </p:sp>
    </p:spTree>
  </p:cSld>
  <p:clrMapOvr>
    <a:masterClrMapping/>
  </p:clrMapOvr>
  <mc:AlternateContent>
    <mc:Choice Requires="p14">
      <p:transition spd="slow" p14:dur="14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800"/>
                                        <p:tgtEl>
                                          <p:spTgt spid="310"/>
                                        </p:tgtEl>
                                      </p:cBhvr>
                                    </p:animEffect>
                                  </p:childTnLst>
                                </p:cTn>
                              </p:par>
                              <p:par>
                                <p:cTn fill="hold" nodeType="withEffect" presetClass="entr" presetID="23" presetSubtype="16">
                                  <p:stCondLst>
                                    <p:cond delay="30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400"/>
                                        <p:tgtEl>
                                          <p:spTgt spid="311"/>
                                        </p:tgtEl>
                                        <p:attrNameLst>
                                          <p:attrName>ppt_w</p:attrName>
                                        </p:attrNameLst>
                                      </p:cBhvr>
                                      <p:tavLst>
                                        <p:tav fmla="" tm="0">
                                          <p:val>
                                            <p:strVal val="0"/>
                                          </p:val>
                                        </p:tav>
                                        <p:tav fmla="" tm="100000">
                                          <p:val>
                                            <p:strVal val="#ppt_w"/>
                                          </p:val>
                                        </p:tav>
                                      </p:tavLst>
                                    </p:anim>
                                    <p:anim calcmode="lin" valueType="num">
                                      <p:cBhvr additive="base">
                                        <p:cTn dur="400"/>
                                        <p:tgtEl>
                                          <p:spTgt spid="311"/>
                                        </p:tgtEl>
                                        <p:attrNameLst>
                                          <p:attrName>ppt_h</p:attrName>
                                        </p:attrNameLst>
                                      </p:cBhvr>
                                      <p:tavLst>
                                        <p:tav fmla="" tm="0">
                                          <p:val>
                                            <p:strVal val="0"/>
                                          </p:val>
                                        </p:tav>
                                        <p:tav fmla="" tm="100000">
                                          <p:val>
                                            <p:strVal val="#ppt_h"/>
                                          </p:val>
                                        </p:tav>
                                      </p:tavLst>
                                    </p:anim>
                                  </p:childTnLst>
                                </p:cTn>
                              </p:par>
                              <p:par>
                                <p:cTn fill="hold" nodeType="withEffect" presetClass="entr" presetID="2" presetSubtype="8">
                                  <p:stCondLst>
                                    <p:cond delay="600"/>
                                  </p:stCondLst>
                                  <p:childTnLst>
                                    <p:set>
                                      <p:cBhvr>
                                        <p:cTn dur="1" fill="hold">
                                          <p:stCondLst>
                                            <p:cond delay="0"/>
                                          </p:stCondLst>
                                        </p:cTn>
                                        <p:tgtEl>
                                          <p:spTgt spid="312"/>
                                        </p:tgtEl>
                                        <p:attrNameLst>
                                          <p:attrName>style.visibility</p:attrName>
                                        </p:attrNameLst>
                                      </p:cBhvr>
                                      <p:to>
                                        <p:strVal val="visible"/>
                                      </p:to>
                                    </p:set>
                                    <p:anim calcmode="lin" valueType="num">
                                      <p:cBhvr additive="base">
                                        <p:cTn dur="400"/>
                                        <p:tgtEl>
                                          <p:spTgt spid="312"/>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750"/>
                                  </p:stCondLst>
                                  <p:childTnLst>
                                    <p:set>
                                      <p:cBhvr>
                                        <p:cTn dur="1" fill="hold">
                                          <p:stCondLst>
                                            <p:cond delay="0"/>
                                          </p:stCondLst>
                                        </p:cTn>
                                        <p:tgtEl>
                                          <p:spTgt spid="313"/>
                                        </p:tgtEl>
                                        <p:attrNameLst>
                                          <p:attrName>style.visibility</p:attrName>
                                        </p:attrNameLst>
                                      </p:cBhvr>
                                      <p:to>
                                        <p:strVal val="visible"/>
                                      </p:to>
                                    </p:set>
                                    <p:anim calcmode="lin" valueType="num">
                                      <p:cBhvr additive="base">
                                        <p:cTn dur="380"/>
                                        <p:tgtEl>
                                          <p:spTgt spid="313"/>
                                        </p:tgtEl>
                                        <p:attrNameLst>
                                          <p:attrName>ppt_w</p:attrName>
                                        </p:attrNameLst>
                                      </p:cBhvr>
                                      <p:tavLst>
                                        <p:tav fmla="" tm="0">
                                          <p:val>
                                            <p:strVal val="0"/>
                                          </p:val>
                                        </p:tav>
                                        <p:tav fmla="" tm="100000">
                                          <p:val>
                                            <p:strVal val="#ppt_w"/>
                                          </p:val>
                                        </p:tav>
                                      </p:tavLst>
                                    </p:anim>
                                    <p:anim calcmode="lin" valueType="num">
                                      <p:cBhvr additive="base">
                                        <p:cTn dur="380"/>
                                        <p:tgtEl>
                                          <p:spTgt spid="31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810"/>
                                  </p:stCondLst>
                                  <p:childTnLst>
                                    <p:set>
                                      <p:cBhvr>
                                        <p:cTn dur="1" fill="hold">
                                          <p:stCondLst>
                                            <p:cond delay="0"/>
                                          </p:stCondLst>
                                        </p:cTn>
                                        <p:tgtEl>
                                          <p:spTgt spid="314"/>
                                        </p:tgtEl>
                                        <p:attrNameLst>
                                          <p:attrName>style.visibility</p:attrName>
                                        </p:attrNameLst>
                                      </p:cBhvr>
                                      <p:to>
                                        <p:strVal val="visible"/>
                                      </p:to>
                                    </p:set>
                                    <p:animEffect filter="fade" transition="in">
                                      <p:cBhvr>
                                        <p:cTn dur="260"/>
                                        <p:tgtEl>
                                          <p:spTgt spid="314"/>
                                        </p:tgtEl>
                                      </p:cBhvr>
                                    </p:animEffect>
                                  </p:childTnLst>
                                </p:cTn>
                              </p:par>
                              <p:par>
                                <p:cTn fill="hold" nodeType="withEffect" presetClass="entr" presetID="23" presetSubtype="16">
                                  <p:stCondLst>
                                    <p:cond delay="93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380"/>
                                        <p:tgtEl>
                                          <p:spTgt spid="315"/>
                                        </p:tgtEl>
                                        <p:attrNameLst>
                                          <p:attrName>ppt_w</p:attrName>
                                        </p:attrNameLst>
                                      </p:cBhvr>
                                      <p:tavLst>
                                        <p:tav fmla="" tm="0">
                                          <p:val>
                                            <p:strVal val="0"/>
                                          </p:val>
                                        </p:tav>
                                        <p:tav fmla="" tm="100000">
                                          <p:val>
                                            <p:strVal val="#ppt_w"/>
                                          </p:val>
                                        </p:tav>
                                      </p:tavLst>
                                    </p:anim>
                                    <p:anim calcmode="lin" valueType="num">
                                      <p:cBhvr additive="base">
                                        <p:cTn dur="380"/>
                                        <p:tgtEl>
                                          <p:spTgt spid="3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990"/>
                                  </p:stCondLst>
                                  <p:childTnLst>
                                    <p:set>
                                      <p:cBhvr>
                                        <p:cTn dur="1" fill="hold">
                                          <p:stCondLst>
                                            <p:cond delay="0"/>
                                          </p:stCondLst>
                                        </p:cTn>
                                        <p:tgtEl>
                                          <p:spTgt spid="316"/>
                                        </p:tgtEl>
                                        <p:attrNameLst>
                                          <p:attrName>style.visibility</p:attrName>
                                        </p:attrNameLst>
                                      </p:cBhvr>
                                      <p:to>
                                        <p:strVal val="visible"/>
                                      </p:to>
                                    </p:set>
                                    <p:animEffect filter="fade" transition="in">
                                      <p:cBhvr>
                                        <p:cTn dur="260"/>
                                        <p:tgtEl>
                                          <p:spTgt spid="316"/>
                                        </p:tgtEl>
                                      </p:cBhvr>
                                    </p:animEffect>
                                  </p:childTnLst>
                                </p:cTn>
                              </p:par>
                              <p:par>
                                <p:cTn fill="hold" nodeType="withEffect" presetClass="entr" presetID="23" presetSubtype="16">
                                  <p:stCondLst>
                                    <p:cond delay="1110"/>
                                  </p:stCondLst>
                                  <p:childTnLst>
                                    <p:set>
                                      <p:cBhvr>
                                        <p:cTn dur="1" fill="hold">
                                          <p:stCondLst>
                                            <p:cond delay="0"/>
                                          </p:stCondLst>
                                        </p:cTn>
                                        <p:tgtEl>
                                          <p:spTgt spid="317"/>
                                        </p:tgtEl>
                                        <p:attrNameLst>
                                          <p:attrName>style.visibility</p:attrName>
                                        </p:attrNameLst>
                                      </p:cBhvr>
                                      <p:to>
                                        <p:strVal val="visible"/>
                                      </p:to>
                                    </p:set>
                                    <p:anim calcmode="lin" valueType="num">
                                      <p:cBhvr additive="base">
                                        <p:cTn dur="380"/>
                                        <p:tgtEl>
                                          <p:spTgt spid="317"/>
                                        </p:tgtEl>
                                        <p:attrNameLst>
                                          <p:attrName>ppt_w</p:attrName>
                                        </p:attrNameLst>
                                      </p:cBhvr>
                                      <p:tavLst>
                                        <p:tav fmla="" tm="0">
                                          <p:val>
                                            <p:strVal val="0"/>
                                          </p:val>
                                        </p:tav>
                                        <p:tav fmla="" tm="100000">
                                          <p:val>
                                            <p:strVal val="#ppt_w"/>
                                          </p:val>
                                        </p:tav>
                                      </p:tavLst>
                                    </p:anim>
                                    <p:anim calcmode="lin" valueType="num">
                                      <p:cBhvr additive="base">
                                        <p:cTn dur="380"/>
                                        <p:tgtEl>
                                          <p:spTgt spid="31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170"/>
                                  </p:stCondLst>
                                  <p:childTnLst>
                                    <p:set>
                                      <p:cBhvr>
                                        <p:cTn dur="1" fill="hold">
                                          <p:stCondLst>
                                            <p:cond delay="0"/>
                                          </p:stCondLst>
                                        </p:cTn>
                                        <p:tgtEl>
                                          <p:spTgt spid="318"/>
                                        </p:tgtEl>
                                        <p:attrNameLst>
                                          <p:attrName>style.visibility</p:attrName>
                                        </p:attrNameLst>
                                      </p:cBhvr>
                                      <p:to>
                                        <p:strVal val="visible"/>
                                      </p:to>
                                    </p:set>
                                    <p:animEffect filter="fade" transition="in">
                                      <p:cBhvr>
                                        <p:cTn dur="260"/>
                                        <p:tgtEl>
                                          <p:spTgt spid="318"/>
                                        </p:tgtEl>
                                      </p:cBhvr>
                                    </p:animEffect>
                                  </p:childTnLst>
                                </p:cTn>
                              </p:par>
                              <p:par>
                                <p:cTn fill="hold" nodeType="withEffect" presetClass="entr" presetID="23" presetSubtype="16">
                                  <p:stCondLst>
                                    <p:cond delay="129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380"/>
                                        <p:tgtEl>
                                          <p:spTgt spid="319"/>
                                        </p:tgtEl>
                                        <p:attrNameLst>
                                          <p:attrName>ppt_w</p:attrName>
                                        </p:attrNameLst>
                                      </p:cBhvr>
                                      <p:tavLst>
                                        <p:tav fmla="" tm="0">
                                          <p:val>
                                            <p:strVal val="0"/>
                                          </p:val>
                                        </p:tav>
                                        <p:tav fmla="" tm="100000">
                                          <p:val>
                                            <p:strVal val="#ppt_w"/>
                                          </p:val>
                                        </p:tav>
                                      </p:tavLst>
                                    </p:anim>
                                    <p:anim calcmode="lin" valueType="num">
                                      <p:cBhvr additive="base">
                                        <p:cTn dur="380"/>
                                        <p:tgtEl>
                                          <p:spTgt spid="31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350"/>
                                  </p:stCondLst>
                                  <p:childTnLst>
                                    <p:set>
                                      <p:cBhvr>
                                        <p:cTn dur="1" fill="hold">
                                          <p:stCondLst>
                                            <p:cond delay="0"/>
                                          </p:stCondLst>
                                        </p:cTn>
                                        <p:tgtEl>
                                          <p:spTgt spid="328"/>
                                        </p:tgtEl>
                                        <p:attrNameLst>
                                          <p:attrName>style.visibility</p:attrName>
                                        </p:attrNameLst>
                                      </p:cBhvr>
                                      <p:to>
                                        <p:strVal val="visible"/>
                                      </p:to>
                                    </p:set>
                                    <p:animEffect filter="fade" transition="in">
                                      <p:cBhvr>
                                        <p:cTn dur="300"/>
                                        <p:tgtEl>
                                          <p:spTgt spid="328"/>
                                        </p:tgtEl>
                                      </p:cBhvr>
                                    </p:animEffect>
                                  </p:childTnLst>
                                </p:cTn>
                              </p:par>
                              <p:par>
                                <p:cTn fill="hold" nodeType="withEffect" presetClass="entr" presetID="2" presetSubtype="8">
                                  <p:stCondLst>
                                    <p:cond delay="165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400"/>
                                        <p:tgtEl>
                                          <p:spTgt spid="320"/>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1800"/>
                                  </p:stCondLst>
                                  <p:childTnLst>
                                    <p:set>
                                      <p:cBhvr>
                                        <p:cTn dur="1" fill="hold">
                                          <p:stCondLst>
                                            <p:cond delay="0"/>
                                          </p:stCondLst>
                                        </p:cTn>
                                        <p:tgtEl>
                                          <p:spTgt spid="321"/>
                                        </p:tgtEl>
                                        <p:attrNameLst>
                                          <p:attrName>style.visibility</p:attrName>
                                        </p:attrNameLst>
                                      </p:cBhvr>
                                      <p:to>
                                        <p:strVal val="visible"/>
                                      </p:to>
                                    </p:set>
                                    <p:anim calcmode="lin" valueType="num">
                                      <p:cBhvr additive="base">
                                        <p:cTn dur="380"/>
                                        <p:tgtEl>
                                          <p:spTgt spid="321"/>
                                        </p:tgtEl>
                                        <p:attrNameLst>
                                          <p:attrName>ppt_w</p:attrName>
                                        </p:attrNameLst>
                                      </p:cBhvr>
                                      <p:tavLst>
                                        <p:tav fmla="" tm="0">
                                          <p:val>
                                            <p:strVal val="0"/>
                                          </p:val>
                                        </p:tav>
                                        <p:tav fmla="" tm="100000">
                                          <p:val>
                                            <p:strVal val="#ppt_w"/>
                                          </p:val>
                                        </p:tav>
                                      </p:tavLst>
                                    </p:anim>
                                    <p:anim calcmode="lin" valueType="num">
                                      <p:cBhvr additive="base">
                                        <p:cTn dur="380"/>
                                        <p:tgtEl>
                                          <p:spTgt spid="32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860"/>
                                  </p:stCondLst>
                                  <p:childTnLst>
                                    <p:set>
                                      <p:cBhvr>
                                        <p:cTn dur="1" fill="hold">
                                          <p:stCondLst>
                                            <p:cond delay="0"/>
                                          </p:stCondLst>
                                        </p:cTn>
                                        <p:tgtEl>
                                          <p:spTgt spid="322"/>
                                        </p:tgtEl>
                                        <p:attrNameLst>
                                          <p:attrName>style.visibility</p:attrName>
                                        </p:attrNameLst>
                                      </p:cBhvr>
                                      <p:to>
                                        <p:strVal val="visible"/>
                                      </p:to>
                                    </p:set>
                                    <p:animEffect filter="fade" transition="in">
                                      <p:cBhvr>
                                        <p:cTn dur="260"/>
                                        <p:tgtEl>
                                          <p:spTgt spid="322"/>
                                        </p:tgtEl>
                                      </p:cBhvr>
                                    </p:animEffect>
                                  </p:childTnLst>
                                </p:cTn>
                              </p:par>
                              <p:par>
                                <p:cTn fill="hold" nodeType="withEffect" presetClass="entr" presetID="23" presetSubtype="16">
                                  <p:stCondLst>
                                    <p:cond delay="1980"/>
                                  </p:stCondLst>
                                  <p:childTnLst>
                                    <p:set>
                                      <p:cBhvr>
                                        <p:cTn dur="1" fill="hold">
                                          <p:stCondLst>
                                            <p:cond delay="0"/>
                                          </p:stCondLst>
                                        </p:cTn>
                                        <p:tgtEl>
                                          <p:spTgt spid="323"/>
                                        </p:tgtEl>
                                        <p:attrNameLst>
                                          <p:attrName>style.visibility</p:attrName>
                                        </p:attrNameLst>
                                      </p:cBhvr>
                                      <p:to>
                                        <p:strVal val="visible"/>
                                      </p:to>
                                    </p:set>
                                    <p:anim calcmode="lin" valueType="num">
                                      <p:cBhvr additive="base">
                                        <p:cTn dur="380"/>
                                        <p:tgtEl>
                                          <p:spTgt spid="323"/>
                                        </p:tgtEl>
                                        <p:attrNameLst>
                                          <p:attrName>ppt_w</p:attrName>
                                        </p:attrNameLst>
                                      </p:cBhvr>
                                      <p:tavLst>
                                        <p:tav fmla="" tm="0">
                                          <p:val>
                                            <p:strVal val="0"/>
                                          </p:val>
                                        </p:tav>
                                        <p:tav fmla="" tm="100000">
                                          <p:val>
                                            <p:strVal val="#ppt_w"/>
                                          </p:val>
                                        </p:tav>
                                      </p:tavLst>
                                    </p:anim>
                                    <p:anim calcmode="lin" valueType="num">
                                      <p:cBhvr additive="base">
                                        <p:cTn dur="380"/>
                                        <p:tgtEl>
                                          <p:spTgt spid="32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040"/>
                                  </p:stCondLst>
                                  <p:childTnLst>
                                    <p:set>
                                      <p:cBhvr>
                                        <p:cTn dur="1" fill="hold">
                                          <p:stCondLst>
                                            <p:cond delay="0"/>
                                          </p:stCondLst>
                                        </p:cTn>
                                        <p:tgtEl>
                                          <p:spTgt spid="324"/>
                                        </p:tgtEl>
                                        <p:attrNameLst>
                                          <p:attrName>style.visibility</p:attrName>
                                        </p:attrNameLst>
                                      </p:cBhvr>
                                      <p:to>
                                        <p:strVal val="visible"/>
                                      </p:to>
                                    </p:set>
                                    <p:animEffect filter="fade" transition="in">
                                      <p:cBhvr>
                                        <p:cTn dur="260"/>
                                        <p:tgtEl>
                                          <p:spTgt spid="324"/>
                                        </p:tgtEl>
                                      </p:cBhvr>
                                    </p:animEffect>
                                  </p:childTnLst>
                                </p:cTn>
                              </p:par>
                              <p:par>
                                <p:cTn fill="hold" nodeType="withEffect" presetClass="entr" presetID="23" presetSubtype="16">
                                  <p:stCondLst>
                                    <p:cond delay="2160"/>
                                  </p:stCondLst>
                                  <p:childTnLst>
                                    <p:set>
                                      <p:cBhvr>
                                        <p:cTn dur="1" fill="hold">
                                          <p:stCondLst>
                                            <p:cond delay="0"/>
                                          </p:stCondLst>
                                        </p:cTn>
                                        <p:tgtEl>
                                          <p:spTgt spid="325"/>
                                        </p:tgtEl>
                                        <p:attrNameLst>
                                          <p:attrName>style.visibility</p:attrName>
                                        </p:attrNameLst>
                                      </p:cBhvr>
                                      <p:to>
                                        <p:strVal val="visible"/>
                                      </p:to>
                                    </p:set>
                                    <p:anim calcmode="lin" valueType="num">
                                      <p:cBhvr additive="base">
                                        <p:cTn dur="380"/>
                                        <p:tgtEl>
                                          <p:spTgt spid="325"/>
                                        </p:tgtEl>
                                        <p:attrNameLst>
                                          <p:attrName>ppt_w</p:attrName>
                                        </p:attrNameLst>
                                      </p:cBhvr>
                                      <p:tavLst>
                                        <p:tav fmla="" tm="0">
                                          <p:val>
                                            <p:strVal val="0"/>
                                          </p:val>
                                        </p:tav>
                                        <p:tav fmla="" tm="100000">
                                          <p:val>
                                            <p:strVal val="#ppt_w"/>
                                          </p:val>
                                        </p:tav>
                                      </p:tavLst>
                                    </p:anim>
                                    <p:anim calcmode="lin" valueType="num">
                                      <p:cBhvr additive="base">
                                        <p:cTn dur="380"/>
                                        <p:tgtEl>
                                          <p:spTgt spid="32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220"/>
                                  </p:stCondLst>
                                  <p:childTnLst>
                                    <p:set>
                                      <p:cBhvr>
                                        <p:cTn dur="1" fill="hold">
                                          <p:stCondLst>
                                            <p:cond delay="0"/>
                                          </p:stCondLst>
                                        </p:cTn>
                                        <p:tgtEl>
                                          <p:spTgt spid="326"/>
                                        </p:tgtEl>
                                        <p:attrNameLst>
                                          <p:attrName>style.visibility</p:attrName>
                                        </p:attrNameLst>
                                      </p:cBhvr>
                                      <p:to>
                                        <p:strVal val="visible"/>
                                      </p:to>
                                    </p:set>
                                    <p:animEffect filter="fade" transition="in">
                                      <p:cBhvr>
                                        <p:cTn dur="260"/>
                                        <p:tgtEl>
                                          <p:spTgt spid="326"/>
                                        </p:tgtEl>
                                      </p:cBhvr>
                                    </p:animEffect>
                                  </p:childTnLst>
                                </p:cTn>
                              </p:par>
                              <p:par>
                                <p:cTn fill="hold" nodeType="withEffect" presetClass="entr" presetID="23" presetSubtype="16">
                                  <p:stCondLst>
                                    <p:cond delay="2340"/>
                                  </p:stCondLst>
                                  <p:childTnLst>
                                    <p:set>
                                      <p:cBhvr>
                                        <p:cTn dur="1" fill="hold">
                                          <p:stCondLst>
                                            <p:cond delay="0"/>
                                          </p:stCondLst>
                                        </p:cTn>
                                        <p:tgtEl>
                                          <p:spTgt spid="327"/>
                                        </p:tgtEl>
                                        <p:attrNameLst>
                                          <p:attrName>style.visibility</p:attrName>
                                        </p:attrNameLst>
                                      </p:cBhvr>
                                      <p:to>
                                        <p:strVal val="visible"/>
                                      </p:to>
                                    </p:set>
                                    <p:anim calcmode="lin" valueType="num">
                                      <p:cBhvr additive="base">
                                        <p:cTn dur="380"/>
                                        <p:tgtEl>
                                          <p:spTgt spid="327"/>
                                        </p:tgtEl>
                                        <p:attrNameLst>
                                          <p:attrName>ppt_w</p:attrName>
                                        </p:attrNameLst>
                                      </p:cBhvr>
                                      <p:tavLst>
                                        <p:tav fmla="" tm="0">
                                          <p:val>
                                            <p:strVal val="0"/>
                                          </p:val>
                                        </p:tav>
                                        <p:tav fmla="" tm="100000">
                                          <p:val>
                                            <p:strVal val="#ppt_w"/>
                                          </p:val>
                                        </p:tav>
                                      </p:tavLst>
                                    </p:anim>
                                    <p:anim calcmode="lin" valueType="num">
                                      <p:cBhvr additive="base">
                                        <p:cTn dur="380"/>
                                        <p:tgtEl>
                                          <p:spTgt spid="32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400"/>
                                  </p:stCondLst>
                                  <p:childTnLst>
                                    <p:set>
                                      <p:cBhvr>
                                        <p:cTn dur="1" fill="hold">
                                          <p:stCondLst>
                                            <p:cond delay="0"/>
                                          </p:stCondLst>
                                        </p:cTn>
                                        <p:tgtEl>
                                          <p:spTgt spid="329"/>
                                        </p:tgtEl>
                                        <p:attrNameLst>
                                          <p:attrName>style.visibility</p:attrName>
                                        </p:attrNameLst>
                                      </p:cBhvr>
                                      <p:to>
                                        <p:strVal val="visible"/>
                                      </p:to>
                                    </p:set>
                                    <p:animEffect filter="fade" transition="in">
                                      <p:cBhvr>
                                        <p:cTn dur="400"/>
                                        <p:tgtEl>
                                          <p:spTgt spid="329"/>
                                        </p:tgtEl>
                                      </p:cBhvr>
                                    </p:animEffect>
                                  </p:childTnLst>
                                </p:cTn>
                              </p:par>
                              <p:par>
                                <p:cTn fill="hold" nodeType="withEffect" presetClass="entr" presetID="2" presetSubtype="4">
                                  <p:stCondLst>
                                    <p:cond delay="2600"/>
                                  </p:stCondLst>
                                  <p:childTnLst>
                                    <p:set>
                                      <p:cBhvr>
                                        <p:cTn dur="1" fill="hold">
                                          <p:stCondLst>
                                            <p:cond delay="0"/>
                                          </p:stCondLst>
                                        </p:cTn>
                                        <p:tgtEl>
                                          <p:spTgt spid="330"/>
                                        </p:tgtEl>
                                        <p:attrNameLst>
                                          <p:attrName>style.visibility</p:attrName>
                                        </p:attrNameLst>
                                      </p:cBhvr>
                                      <p:to>
                                        <p:strVal val="visible"/>
                                      </p:to>
                                    </p:set>
                                    <p:anim calcmode="lin" valueType="num">
                                      <p:cBhvr additive="base">
                                        <p:cTn dur="420"/>
                                        <p:tgtEl>
                                          <p:spTgt spid="3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770"/>
                                  </p:stCondLst>
                                  <p:childTnLst>
                                    <p:set>
                                      <p:cBhvr>
                                        <p:cTn dur="1" fill="hold">
                                          <p:stCondLst>
                                            <p:cond delay="0"/>
                                          </p:stCondLst>
                                        </p:cTn>
                                        <p:tgtEl>
                                          <p:spTgt spid="331"/>
                                        </p:tgtEl>
                                        <p:attrNameLst>
                                          <p:attrName>style.visibility</p:attrName>
                                        </p:attrNameLst>
                                      </p:cBhvr>
                                      <p:to>
                                        <p:strVal val="visible"/>
                                      </p:to>
                                    </p:set>
                                    <p:anim calcmode="lin" valueType="num">
                                      <p:cBhvr additive="base">
                                        <p:cTn dur="420"/>
                                        <p:tgtEl>
                                          <p:spTgt spid="33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940"/>
                                  </p:stCondLst>
                                  <p:childTnLst>
                                    <p:set>
                                      <p:cBhvr>
                                        <p:cTn dur="1" fill="hold">
                                          <p:stCondLst>
                                            <p:cond delay="0"/>
                                          </p:stCondLst>
                                        </p:cTn>
                                        <p:tgtEl>
                                          <p:spTgt spid="332"/>
                                        </p:tgtEl>
                                        <p:attrNameLst>
                                          <p:attrName>style.visibility</p:attrName>
                                        </p:attrNameLst>
                                      </p:cBhvr>
                                      <p:to>
                                        <p:strVal val="visible"/>
                                      </p:to>
                                    </p:set>
                                    <p:anim calcmode="lin" valueType="num">
                                      <p:cBhvr additive="base">
                                        <p:cTn dur="420"/>
                                        <p:tgtEl>
                                          <p:spTgt spid="33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110"/>
                                  </p:stCondLst>
                                  <p:childTnLst>
                                    <p:set>
                                      <p:cBhvr>
                                        <p:cTn dur="1" fill="hold">
                                          <p:stCondLst>
                                            <p:cond delay="0"/>
                                          </p:stCondLst>
                                        </p:cTn>
                                        <p:tgtEl>
                                          <p:spTgt spid="333"/>
                                        </p:tgtEl>
                                        <p:attrNameLst>
                                          <p:attrName>style.visibility</p:attrName>
                                        </p:attrNameLst>
                                      </p:cBhvr>
                                      <p:to>
                                        <p:strVal val="visible"/>
                                      </p:to>
                                    </p:set>
                                    <p:anim calcmode="lin" valueType="num">
                                      <p:cBhvr additive="base">
                                        <p:cTn dur="420"/>
                                        <p:tgtEl>
                                          <p:spTgt spid="3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280"/>
                                  </p:stCondLst>
                                  <p:childTnLst>
                                    <p:set>
                                      <p:cBhvr>
                                        <p:cTn dur="1" fill="hold">
                                          <p:stCondLst>
                                            <p:cond delay="0"/>
                                          </p:stCondLst>
                                        </p:cTn>
                                        <p:tgtEl>
                                          <p:spTgt spid="334"/>
                                        </p:tgtEl>
                                        <p:attrNameLst>
                                          <p:attrName>style.visibility</p:attrName>
                                        </p:attrNameLst>
                                      </p:cBhvr>
                                      <p:to>
                                        <p:strVal val="visible"/>
                                      </p:to>
                                    </p:set>
                                    <p:anim calcmode="lin" valueType="num">
                                      <p:cBhvr additive="base">
                                        <p:cTn dur="420"/>
                                        <p:tgtEl>
                                          <p:spTgt spid="33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450"/>
                                  </p:stCondLst>
                                  <p:childTnLst>
                                    <p:set>
                                      <p:cBhvr>
                                        <p:cTn dur="1" fill="hold">
                                          <p:stCondLst>
                                            <p:cond delay="0"/>
                                          </p:stCondLst>
                                        </p:cTn>
                                        <p:tgtEl>
                                          <p:spTgt spid="335"/>
                                        </p:tgtEl>
                                        <p:attrNameLst>
                                          <p:attrName>style.visibility</p:attrName>
                                        </p:attrNameLst>
                                      </p:cBhvr>
                                      <p:to>
                                        <p:strVal val="visible"/>
                                      </p:to>
                                    </p:set>
                                    <p:anim calcmode="lin" valueType="num">
                                      <p:cBhvr additive="base">
                                        <p:cTn dur="420"/>
                                        <p:tgtEl>
                                          <p:spTgt spid="33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23"/>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Objectives</a:t>
            </a:r>
            <a:endParaRPr/>
          </a:p>
        </p:txBody>
      </p:sp>
      <p:sp>
        <p:nvSpPr>
          <p:cNvPr id="342" name="Google Shape;342;p23"/>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343" name="Google Shape;343;p23"/>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344" name="Google Shape;344;p23"/>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345" name="Google Shape;345;p23"/>
          <p:cNvSpPr/>
          <p:nvPr/>
        </p:nvSpPr>
        <p:spPr>
          <a:xfrm>
            <a:off x="457200" y="1261875"/>
            <a:ext cx="5360100" cy="1005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4A7F"/>
                </a:solidFill>
                <a:latin typeface="Times New Roman"/>
                <a:ea typeface="Times New Roman"/>
                <a:cs typeface="Times New Roman"/>
                <a:sym typeface="Times New Roman"/>
              </a:rPr>
              <a:t>Aim</a:t>
            </a:r>
            <a:endParaRPr/>
          </a:p>
          <a:p>
            <a:pPr indent="0" lvl="0" marL="0" marR="0" rtl="0" algn="l">
              <a:lnSpc>
                <a:spcPct val="100000"/>
              </a:lnSpc>
              <a:spcBef>
                <a:spcPts val="200"/>
              </a:spcBef>
              <a:spcAft>
                <a:spcPts val="0"/>
              </a:spcAft>
              <a:buClr>
                <a:srgbClr val="000000"/>
              </a:buClr>
              <a:buSzPts val="1500"/>
              <a:buFont typeface="Arial"/>
              <a:buNone/>
            </a:pPr>
            <a:r>
              <a:rPr b="1" i="0" lang="en-US" sz="1500" u="none" cap="none" strike="noStrike">
                <a:solidFill>
                  <a:srgbClr val="004A7F"/>
                </a:solidFill>
                <a:latin typeface="Times New Roman"/>
                <a:ea typeface="Times New Roman"/>
                <a:cs typeface="Times New Roman"/>
                <a:sym typeface="Times New Roman"/>
              </a:rPr>
              <a:t>Find</a:t>
            </a:r>
            <a:r>
              <a:rPr b="1" lang="en-US" sz="1500">
                <a:solidFill>
                  <a:srgbClr val="004A7F"/>
                </a:solidFill>
                <a:latin typeface="Times New Roman"/>
                <a:ea typeface="Times New Roman"/>
                <a:cs typeface="Times New Roman"/>
                <a:sym typeface="Times New Roman"/>
              </a:rPr>
              <a:t> </a:t>
            </a:r>
            <a:r>
              <a:rPr b="1" i="0" lang="en-US" sz="1500" u="none" cap="none" strike="noStrike">
                <a:solidFill>
                  <a:srgbClr val="004A7F"/>
                </a:solidFill>
                <a:latin typeface="Times New Roman"/>
                <a:ea typeface="Times New Roman"/>
                <a:cs typeface="Times New Roman"/>
                <a:sym typeface="Times New Roman"/>
              </a:rPr>
              <a:t>rank and recommend the most suitable skilled worker for a customer’s request</a:t>
            </a:r>
            <a:endParaRPr/>
          </a:p>
        </p:txBody>
      </p:sp>
      <p:sp>
        <p:nvSpPr>
          <p:cNvPr id="346" name="Google Shape;346;p23"/>
          <p:cNvSpPr/>
          <p:nvPr/>
        </p:nvSpPr>
        <p:spPr>
          <a:xfrm>
            <a:off x="457200" y="4389120"/>
            <a:ext cx="1335024" cy="1463040"/>
          </a:xfrm>
          <a:prstGeom prst="rect">
            <a:avLst/>
          </a:prstGeom>
          <a:gradFill rotWithShape="1">
            <a:gsLst>
              <a:gs pos="0">
                <a:srgbClr val="006662"/>
              </a:gs>
              <a:gs pos="100000">
                <a:srgbClr val="0E9294"/>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Study AI, ML and recommender systems for worker search</a:t>
            </a:r>
            <a:endParaRPr/>
          </a:p>
        </p:txBody>
      </p:sp>
      <p:sp>
        <p:nvSpPr>
          <p:cNvPr id="347" name="Google Shape;347;p23"/>
          <p:cNvSpPr/>
          <p:nvPr/>
        </p:nvSpPr>
        <p:spPr>
          <a:xfrm>
            <a:off x="896112" y="4142232"/>
            <a:ext cx="457200" cy="457200"/>
          </a:xfrm>
          <a:prstGeom prst="ellipse">
            <a:avLst/>
          </a:prstGeom>
          <a:solidFill>
            <a:srgbClr val="FFFFFF"/>
          </a:solidFill>
          <a:ln cap="flat" cmpd="sng" w="285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5350"/>
                </a:solidFill>
                <a:latin typeface="Times New Roman"/>
                <a:ea typeface="Times New Roman"/>
                <a:cs typeface="Times New Roman"/>
                <a:sym typeface="Times New Roman"/>
              </a:rPr>
              <a:t>1</a:t>
            </a:r>
            <a:endParaRPr/>
          </a:p>
        </p:txBody>
      </p:sp>
      <p:sp>
        <p:nvSpPr>
          <p:cNvPr id="348" name="Google Shape;348;p23"/>
          <p:cNvSpPr/>
          <p:nvPr/>
        </p:nvSpPr>
        <p:spPr>
          <a:xfrm>
            <a:off x="1847088" y="3886200"/>
            <a:ext cx="1335024" cy="1965960"/>
          </a:xfrm>
          <a:prstGeom prst="rect">
            <a:avLst/>
          </a:prstGeom>
          <a:gradFill rotWithShape="1">
            <a:gsLst>
              <a:gs pos="0">
                <a:srgbClr val="076375"/>
              </a:gs>
              <a:gs pos="100000">
                <a:srgbClr val="008CB9"/>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Analyze CrowdBwO task assignment by quality, time, expense</a:t>
            </a:r>
            <a:endParaRPr/>
          </a:p>
        </p:txBody>
      </p:sp>
      <p:sp>
        <p:nvSpPr>
          <p:cNvPr id="349" name="Google Shape;349;p23"/>
          <p:cNvSpPr/>
          <p:nvPr/>
        </p:nvSpPr>
        <p:spPr>
          <a:xfrm>
            <a:off x="2286000" y="3639312"/>
            <a:ext cx="457200" cy="457200"/>
          </a:xfrm>
          <a:prstGeom prst="ellipse">
            <a:avLst/>
          </a:prstGeom>
          <a:solidFill>
            <a:srgbClr val="FFFFFF"/>
          </a:solidFill>
          <a:ln cap="flat" cmpd="sng" w="28575">
            <a:solidFill>
              <a:srgbClr val="0F87A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5065"/>
                </a:solidFill>
                <a:latin typeface="Times New Roman"/>
                <a:ea typeface="Times New Roman"/>
                <a:cs typeface="Times New Roman"/>
                <a:sym typeface="Times New Roman"/>
              </a:rPr>
              <a:t>2</a:t>
            </a:r>
            <a:endParaRPr/>
          </a:p>
        </p:txBody>
      </p:sp>
      <p:sp>
        <p:nvSpPr>
          <p:cNvPr id="350" name="Google Shape;350;p23"/>
          <p:cNvSpPr/>
          <p:nvPr/>
        </p:nvSpPr>
        <p:spPr>
          <a:xfrm>
            <a:off x="3236976" y="3383280"/>
            <a:ext cx="1335024" cy="2468880"/>
          </a:xfrm>
          <a:prstGeom prst="rect">
            <a:avLst/>
          </a:prstGeom>
          <a:gradFill rotWithShape="1">
            <a:gsLst>
              <a:gs pos="0">
                <a:srgbClr val="005A9D"/>
              </a:gs>
              <a:gs pos="100000">
                <a:srgbClr val="4E7CD9"/>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Combine six criteria to rank the best worker</a:t>
            </a:r>
            <a:endParaRPr/>
          </a:p>
        </p:txBody>
      </p:sp>
      <p:sp>
        <p:nvSpPr>
          <p:cNvPr id="351" name="Google Shape;351;p23"/>
          <p:cNvSpPr/>
          <p:nvPr/>
        </p:nvSpPr>
        <p:spPr>
          <a:xfrm>
            <a:off x="3675888" y="3136392"/>
            <a:ext cx="457200" cy="457200"/>
          </a:xfrm>
          <a:prstGeom prst="ellipse">
            <a:avLst/>
          </a:prstGeom>
          <a:solidFill>
            <a:srgbClr val="FFFFFF"/>
          </a:solidFill>
          <a:ln cap="flat" cmpd="sng" w="28575">
            <a:solidFill>
              <a:srgbClr val="3C7BC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7468B"/>
                </a:solidFill>
                <a:latin typeface="Times New Roman"/>
                <a:ea typeface="Times New Roman"/>
                <a:cs typeface="Times New Roman"/>
                <a:sym typeface="Times New Roman"/>
              </a:rPr>
              <a:t>3</a:t>
            </a:r>
            <a:endParaRPr/>
          </a:p>
        </p:txBody>
      </p:sp>
      <p:sp>
        <p:nvSpPr>
          <p:cNvPr id="352" name="Google Shape;352;p23"/>
          <p:cNvSpPr/>
          <p:nvPr/>
        </p:nvSpPr>
        <p:spPr>
          <a:xfrm>
            <a:off x="4626864" y="2880360"/>
            <a:ext cx="1335024" cy="2971800"/>
          </a:xfrm>
          <a:prstGeom prst="rect">
            <a:avLst/>
          </a:prstGeom>
          <a:gradFill rotWithShape="1">
            <a:gsLst>
              <a:gs pos="0">
                <a:srgbClr val="4F47A8"/>
              </a:gs>
              <a:gs pos="100000">
                <a:srgbClr val="896ACF"/>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Examine location, real-time and cloud support</a:t>
            </a:r>
            <a:endParaRPr/>
          </a:p>
        </p:txBody>
      </p:sp>
      <p:sp>
        <p:nvSpPr>
          <p:cNvPr id="353" name="Google Shape;353;p23"/>
          <p:cNvSpPr/>
          <p:nvPr/>
        </p:nvSpPr>
        <p:spPr>
          <a:xfrm>
            <a:off x="5065776" y="2633472"/>
            <a:ext cx="457200" cy="457200"/>
          </a:xfrm>
          <a:prstGeom prst="ellipse">
            <a:avLst/>
          </a:prstGeom>
          <a:solidFill>
            <a:srgbClr val="FFFFFF"/>
          </a:solidFill>
          <a:ln cap="flat" cmpd="sng" w="28575">
            <a:solidFill>
              <a:srgbClr val="7969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483788"/>
                </a:solidFill>
                <a:latin typeface="Times New Roman"/>
                <a:ea typeface="Times New Roman"/>
                <a:cs typeface="Times New Roman"/>
                <a:sym typeface="Times New Roman"/>
              </a:rPr>
              <a:t>4</a:t>
            </a:r>
            <a:endParaRPr/>
          </a:p>
        </p:txBody>
      </p:sp>
      <p:sp>
        <p:nvSpPr>
          <p:cNvPr id="354" name="Google Shape;354;p23"/>
          <p:cNvSpPr/>
          <p:nvPr/>
        </p:nvSpPr>
        <p:spPr>
          <a:xfrm>
            <a:off x="6016752" y="2377440"/>
            <a:ext cx="1335024" cy="3474720"/>
          </a:xfrm>
          <a:prstGeom prst="rect">
            <a:avLst/>
          </a:prstGeom>
          <a:gradFill rotWithShape="1">
            <a:gsLst>
              <a:gs pos="0">
                <a:srgbClr val="773790"/>
              </a:gs>
              <a:gs pos="100000">
                <a:srgbClr val="AF5BAC"/>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Explore NLP / GenAI to understand the problem</a:t>
            </a:r>
            <a:endParaRPr/>
          </a:p>
        </p:txBody>
      </p:sp>
      <p:sp>
        <p:nvSpPr>
          <p:cNvPr id="355" name="Google Shape;355;p23"/>
          <p:cNvSpPr/>
          <p:nvPr/>
        </p:nvSpPr>
        <p:spPr>
          <a:xfrm>
            <a:off x="6455664" y="2130552"/>
            <a:ext cx="457200" cy="457200"/>
          </a:xfrm>
          <a:prstGeom prst="ellipse">
            <a:avLst/>
          </a:prstGeom>
          <a:solidFill>
            <a:srgbClr val="FFFFFF"/>
          </a:solidFill>
          <a:ln cap="flat" cmpd="sng" w="28575">
            <a:solidFill>
              <a:srgbClr val="A05BA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672970"/>
                </a:solidFill>
                <a:latin typeface="Times New Roman"/>
                <a:ea typeface="Times New Roman"/>
                <a:cs typeface="Times New Roman"/>
                <a:sym typeface="Times New Roman"/>
              </a:rPr>
              <a:t>5</a:t>
            </a:r>
            <a:endParaRPr/>
          </a:p>
        </p:txBody>
      </p:sp>
      <p:sp>
        <p:nvSpPr>
          <p:cNvPr id="356" name="Google Shape;356;p23"/>
          <p:cNvSpPr/>
          <p:nvPr/>
        </p:nvSpPr>
        <p:spPr>
          <a:xfrm>
            <a:off x="7406640" y="1874520"/>
            <a:ext cx="1335024" cy="3977640"/>
          </a:xfrm>
          <a:prstGeom prst="rect">
            <a:avLst/>
          </a:prstGeom>
          <a:gradFill rotWithShape="1">
            <a:gsLst>
              <a:gs pos="0">
                <a:srgbClr val="902A66"/>
              </a:gs>
              <a:gs pos="100000">
                <a:srgbClr val="C25485"/>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Learn from feedback; fair chance for new workers</a:t>
            </a:r>
            <a:endParaRPr/>
          </a:p>
        </p:txBody>
      </p:sp>
      <p:sp>
        <p:nvSpPr>
          <p:cNvPr id="357" name="Google Shape;357;p23"/>
          <p:cNvSpPr/>
          <p:nvPr/>
        </p:nvSpPr>
        <p:spPr>
          <a:xfrm>
            <a:off x="7845552" y="1627632"/>
            <a:ext cx="457200" cy="457200"/>
          </a:xfrm>
          <a:prstGeom prst="ellipse">
            <a:avLst/>
          </a:prstGeom>
          <a:solidFill>
            <a:srgbClr val="FFFFFF"/>
          </a:solidFill>
          <a:ln cap="flat" cmpd="sng" w="28575">
            <a:solidFill>
              <a:srgbClr val="7B69C6"/>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493687"/>
                </a:solidFill>
                <a:latin typeface="Times New Roman"/>
                <a:ea typeface="Times New Roman"/>
                <a:cs typeface="Times New Roman"/>
                <a:sym typeface="Times New Roman"/>
              </a:rPr>
              <a:t>6</a:t>
            </a:r>
            <a:endParaRPr/>
          </a:p>
        </p:txBody>
      </p:sp>
      <p:pic>
        <p:nvPicPr>
          <p:cNvPr descr="FaRocket" id="358" name="Google Shape;358;p23"/>
          <p:cNvPicPr preferRelativeResize="0"/>
          <p:nvPr/>
        </p:nvPicPr>
        <p:blipFill rotWithShape="1">
          <a:blip r:embed="rIdRc358">
            <a:alphaModFix/>
          </a:blip>
          <a:srcRect b="0" l="0" r="0" t="0"/>
          <a:stretch/>
        </p:blipFill>
        <p:spPr>
          <a:xfrm>
            <a:off x="7863840" y="1170432"/>
            <a:ext cx="457200" cy="457200"/>
          </a:xfrm>
          <a:prstGeom prst="rect">
            <a:avLst/>
          </a:prstGeom>
          <a:noFill/>
          <a:ln>
            <a:noFill/>
          </a:ln>
        </p:spPr>
      </p:pic>
    </p:spTree>
  </p:cSld>
  <p:clrMapOvr>
    <a:masterClrMapping/>
  </p:clrMapOvr>
  <mc:AlternateContent>
    <mc:Choice Requires="p14">
      <p:transition spd="slow" p14:dur="14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700"/>
                                        <p:tgtEl>
                                          <p:spTgt spid="345"/>
                                        </p:tgtEl>
                                      </p:cBhvr>
                                    </p:animEffect>
                                  </p:childTnLst>
                                </p:cTn>
                              </p:par>
                              <p:par>
                                <p:cTn fill="hold" nodeType="withEffect" presetClass="entr" presetID="10" presetSubtype="0">
                                  <p:stCondLst>
                                    <p:cond delay="500"/>
                                  </p:stCondLst>
                                  <p:childTnLst>
                                    <p:set>
                                      <p:cBhvr>
                                        <p:cTn dur="1" fill="hold">
                                          <p:stCondLst>
                                            <p:cond delay="0"/>
                                          </p:stCondLst>
                                        </p:cTn>
                                        <p:tgtEl>
                                          <p:spTgt spid="346"/>
                                        </p:tgtEl>
                                        <p:attrNameLst>
                                          <p:attrName>style.visibility</p:attrName>
                                        </p:attrNameLst>
                                      </p:cBhvr>
                                      <p:to>
                                        <p:strVal val="visible"/>
                                      </p:to>
                                    </p:set>
                                    <p:animEffect filter="fade" transition="in">
                                      <p:cBhvr>
                                        <p:cTn dur="500"/>
                                        <p:tgtEl>
                                          <p:spTgt spid="346"/>
                                        </p:tgtEl>
                                      </p:cBhvr>
                                    </p:animEffect>
                                  </p:childTnLst>
                                </p:cTn>
                              </p:par>
                              <p:par>
                                <p:cTn fill="hold" nodeType="withEffect" presetClass="entr" presetID="23" presetSubtype="16">
                                  <p:stCondLst>
                                    <p:cond delay="650"/>
                                  </p:stCondLst>
                                  <p:childTnLst>
                                    <p:set>
                                      <p:cBhvr>
                                        <p:cTn dur="1" fill="hold">
                                          <p:stCondLst>
                                            <p:cond delay="0"/>
                                          </p:stCondLst>
                                        </p:cTn>
                                        <p:tgtEl>
                                          <p:spTgt spid="347"/>
                                        </p:tgtEl>
                                        <p:attrNameLst>
                                          <p:attrName>style.visibility</p:attrName>
                                        </p:attrNameLst>
                                      </p:cBhvr>
                                      <p:to>
                                        <p:strVal val="visible"/>
                                      </p:to>
                                    </p:set>
                                    <p:anim calcmode="lin" valueType="num">
                                      <p:cBhvr additive="base">
                                        <p:cTn dur="350"/>
                                        <p:tgtEl>
                                          <p:spTgt spid="347"/>
                                        </p:tgtEl>
                                        <p:attrNameLst>
                                          <p:attrName>ppt_w</p:attrName>
                                        </p:attrNameLst>
                                      </p:cBhvr>
                                      <p:tavLst>
                                        <p:tav fmla="" tm="0">
                                          <p:val>
                                            <p:strVal val="0"/>
                                          </p:val>
                                        </p:tav>
                                        <p:tav fmla="" tm="100000">
                                          <p:val>
                                            <p:strVal val="#ppt_w"/>
                                          </p:val>
                                        </p:tav>
                                      </p:tavLst>
                                    </p:anim>
                                    <p:anim calcmode="lin" valueType="num">
                                      <p:cBhvr additive="base">
                                        <p:cTn dur="350"/>
                                        <p:tgtEl>
                                          <p:spTgt spid="34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900"/>
                                  </p:stCondLst>
                                  <p:childTnLst>
                                    <p:set>
                                      <p:cBhvr>
                                        <p:cTn dur="1" fill="hold">
                                          <p:stCondLst>
                                            <p:cond delay="0"/>
                                          </p:stCondLst>
                                        </p:cTn>
                                        <p:tgtEl>
                                          <p:spTgt spid="348"/>
                                        </p:tgtEl>
                                        <p:attrNameLst>
                                          <p:attrName>style.visibility</p:attrName>
                                        </p:attrNameLst>
                                      </p:cBhvr>
                                      <p:to>
                                        <p:strVal val="visible"/>
                                      </p:to>
                                    </p:set>
                                    <p:animEffect filter="fade" transition="in">
                                      <p:cBhvr>
                                        <p:cTn dur="500"/>
                                        <p:tgtEl>
                                          <p:spTgt spid="348"/>
                                        </p:tgtEl>
                                      </p:cBhvr>
                                    </p:animEffect>
                                  </p:childTnLst>
                                </p:cTn>
                              </p:par>
                              <p:par>
                                <p:cTn fill="hold" nodeType="withEffect" presetClass="entr" presetID="23" presetSubtype="16">
                                  <p:stCondLst>
                                    <p:cond delay="1050"/>
                                  </p:stCondLst>
                                  <p:childTnLst>
                                    <p:set>
                                      <p:cBhvr>
                                        <p:cTn dur="1" fill="hold">
                                          <p:stCondLst>
                                            <p:cond delay="0"/>
                                          </p:stCondLst>
                                        </p:cTn>
                                        <p:tgtEl>
                                          <p:spTgt spid="349"/>
                                        </p:tgtEl>
                                        <p:attrNameLst>
                                          <p:attrName>style.visibility</p:attrName>
                                        </p:attrNameLst>
                                      </p:cBhvr>
                                      <p:to>
                                        <p:strVal val="visible"/>
                                      </p:to>
                                    </p:set>
                                    <p:anim calcmode="lin" valueType="num">
                                      <p:cBhvr additive="base">
                                        <p:cTn dur="350"/>
                                        <p:tgtEl>
                                          <p:spTgt spid="349"/>
                                        </p:tgtEl>
                                        <p:attrNameLst>
                                          <p:attrName>ppt_w</p:attrName>
                                        </p:attrNameLst>
                                      </p:cBhvr>
                                      <p:tavLst>
                                        <p:tav fmla="" tm="0">
                                          <p:val>
                                            <p:strVal val="0"/>
                                          </p:val>
                                        </p:tav>
                                        <p:tav fmla="" tm="100000">
                                          <p:val>
                                            <p:strVal val="#ppt_w"/>
                                          </p:val>
                                        </p:tav>
                                      </p:tavLst>
                                    </p:anim>
                                    <p:anim calcmode="lin" valueType="num">
                                      <p:cBhvr additive="base">
                                        <p:cTn dur="350"/>
                                        <p:tgtEl>
                                          <p:spTgt spid="34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30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par>
                                <p:cTn fill="hold" nodeType="withEffect" presetClass="entr" presetID="23" presetSubtype="16">
                                  <p:stCondLst>
                                    <p:cond delay="1450"/>
                                  </p:stCondLst>
                                  <p:childTnLst>
                                    <p:set>
                                      <p:cBhvr>
                                        <p:cTn dur="1" fill="hold">
                                          <p:stCondLst>
                                            <p:cond delay="0"/>
                                          </p:stCondLst>
                                        </p:cTn>
                                        <p:tgtEl>
                                          <p:spTgt spid="351"/>
                                        </p:tgtEl>
                                        <p:attrNameLst>
                                          <p:attrName>style.visibility</p:attrName>
                                        </p:attrNameLst>
                                      </p:cBhvr>
                                      <p:to>
                                        <p:strVal val="visible"/>
                                      </p:to>
                                    </p:set>
                                    <p:anim calcmode="lin" valueType="num">
                                      <p:cBhvr additive="base">
                                        <p:cTn dur="350"/>
                                        <p:tgtEl>
                                          <p:spTgt spid="351"/>
                                        </p:tgtEl>
                                        <p:attrNameLst>
                                          <p:attrName>ppt_w</p:attrName>
                                        </p:attrNameLst>
                                      </p:cBhvr>
                                      <p:tavLst>
                                        <p:tav fmla="" tm="0">
                                          <p:val>
                                            <p:strVal val="0"/>
                                          </p:val>
                                        </p:tav>
                                        <p:tav fmla="" tm="100000">
                                          <p:val>
                                            <p:strVal val="#ppt_w"/>
                                          </p:val>
                                        </p:tav>
                                      </p:tavLst>
                                    </p:anim>
                                    <p:anim calcmode="lin" valueType="num">
                                      <p:cBhvr additive="base">
                                        <p:cTn dur="350"/>
                                        <p:tgtEl>
                                          <p:spTgt spid="35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700"/>
                                  </p:stCondLst>
                                  <p:childTnLst>
                                    <p:set>
                                      <p:cBhvr>
                                        <p:cTn dur="1" fill="hold">
                                          <p:stCondLst>
                                            <p:cond delay="0"/>
                                          </p:stCondLst>
                                        </p:cTn>
                                        <p:tgtEl>
                                          <p:spTgt spid="352"/>
                                        </p:tgtEl>
                                        <p:attrNameLst>
                                          <p:attrName>style.visibility</p:attrName>
                                        </p:attrNameLst>
                                      </p:cBhvr>
                                      <p:to>
                                        <p:strVal val="visible"/>
                                      </p:to>
                                    </p:set>
                                    <p:animEffect filter="fade" transition="in">
                                      <p:cBhvr>
                                        <p:cTn dur="500"/>
                                        <p:tgtEl>
                                          <p:spTgt spid="352"/>
                                        </p:tgtEl>
                                      </p:cBhvr>
                                    </p:animEffect>
                                  </p:childTnLst>
                                </p:cTn>
                              </p:par>
                              <p:par>
                                <p:cTn fill="hold" nodeType="withEffect" presetClass="entr" presetID="23" presetSubtype="16">
                                  <p:stCondLst>
                                    <p:cond delay="1850"/>
                                  </p:stCondLst>
                                  <p:childTnLst>
                                    <p:set>
                                      <p:cBhvr>
                                        <p:cTn dur="1" fill="hold">
                                          <p:stCondLst>
                                            <p:cond delay="0"/>
                                          </p:stCondLst>
                                        </p:cTn>
                                        <p:tgtEl>
                                          <p:spTgt spid="353"/>
                                        </p:tgtEl>
                                        <p:attrNameLst>
                                          <p:attrName>style.visibility</p:attrName>
                                        </p:attrNameLst>
                                      </p:cBhvr>
                                      <p:to>
                                        <p:strVal val="visible"/>
                                      </p:to>
                                    </p:set>
                                    <p:anim calcmode="lin" valueType="num">
                                      <p:cBhvr additive="base">
                                        <p:cTn dur="350"/>
                                        <p:tgtEl>
                                          <p:spTgt spid="353"/>
                                        </p:tgtEl>
                                        <p:attrNameLst>
                                          <p:attrName>ppt_w</p:attrName>
                                        </p:attrNameLst>
                                      </p:cBhvr>
                                      <p:tavLst>
                                        <p:tav fmla="" tm="0">
                                          <p:val>
                                            <p:strVal val="0"/>
                                          </p:val>
                                        </p:tav>
                                        <p:tav fmla="" tm="100000">
                                          <p:val>
                                            <p:strVal val="#ppt_w"/>
                                          </p:val>
                                        </p:tav>
                                      </p:tavLst>
                                    </p:anim>
                                    <p:anim calcmode="lin" valueType="num">
                                      <p:cBhvr additive="base">
                                        <p:cTn dur="350"/>
                                        <p:tgtEl>
                                          <p:spTgt spid="3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100"/>
                                  </p:stCondLst>
                                  <p:childTnLst>
                                    <p:set>
                                      <p:cBhvr>
                                        <p:cTn dur="1" fill="hold">
                                          <p:stCondLst>
                                            <p:cond delay="0"/>
                                          </p:stCondLst>
                                        </p:cTn>
                                        <p:tgtEl>
                                          <p:spTgt spid="354"/>
                                        </p:tgtEl>
                                        <p:attrNameLst>
                                          <p:attrName>style.visibility</p:attrName>
                                        </p:attrNameLst>
                                      </p:cBhvr>
                                      <p:to>
                                        <p:strVal val="visible"/>
                                      </p:to>
                                    </p:set>
                                    <p:animEffect filter="fade" transition="in">
                                      <p:cBhvr>
                                        <p:cTn dur="500"/>
                                        <p:tgtEl>
                                          <p:spTgt spid="354"/>
                                        </p:tgtEl>
                                      </p:cBhvr>
                                    </p:animEffect>
                                  </p:childTnLst>
                                </p:cTn>
                              </p:par>
                              <p:par>
                                <p:cTn fill="hold" nodeType="withEffect" presetClass="entr" presetID="23" presetSubtype="16">
                                  <p:stCondLst>
                                    <p:cond delay="2250"/>
                                  </p:stCondLst>
                                  <p:childTnLst>
                                    <p:set>
                                      <p:cBhvr>
                                        <p:cTn dur="1" fill="hold">
                                          <p:stCondLst>
                                            <p:cond delay="0"/>
                                          </p:stCondLst>
                                        </p:cTn>
                                        <p:tgtEl>
                                          <p:spTgt spid="355"/>
                                        </p:tgtEl>
                                        <p:attrNameLst>
                                          <p:attrName>style.visibility</p:attrName>
                                        </p:attrNameLst>
                                      </p:cBhvr>
                                      <p:to>
                                        <p:strVal val="visible"/>
                                      </p:to>
                                    </p:set>
                                    <p:anim calcmode="lin" valueType="num">
                                      <p:cBhvr additive="base">
                                        <p:cTn dur="350"/>
                                        <p:tgtEl>
                                          <p:spTgt spid="355"/>
                                        </p:tgtEl>
                                        <p:attrNameLst>
                                          <p:attrName>ppt_w</p:attrName>
                                        </p:attrNameLst>
                                      </p:cBhvr>
                                      <p:tavLst>
                                        <p:tav fmla="" tm="0">
                                          <p:val>
                                            <p:strVal val="0"/>
                                          </p:val>
                                        </p:tav>
                                        <p:tav fmla="" tm="100000">
                                          <p:val>
                                            <p:strVal val="#ppt_w"/>
                                          </p:val>
                                        </p:tav>
                                      </p:tavLst>
                                    </p:anim>
                                    <p:anim calcmode="lin" valueType="num">
                                      <p:cBhvr additive="base">
                                        <p:cTn dur="350"/>
                                        <p:tgtEl>
                                          <p:spTgt spid="35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500"/>
                                  </p:stCondLst>
                                  <p:childTnLst>
                                    <p:set>
                                      <p:cBhvr>
                                        <p:cTn dur="1" fill="hold">
                                          <p:stCondLst>
                                            <p:cond delay="0"/>
                                          </p:stCondLst>
                                        </p:cTn>
                                        <p:tgtEl>
                                          <p:spTgt spid="356"/>
                                        </p:tgtEl>
                                        <p:attrNameLst>
                                          <p:attrName>style.visibility</p:attrName>
                                        </p:attrNameLst>
                                      </p:cBhvr>
                                      <p:to>
                                        <p:strVal val="visible"/>
                                      </p:to>
                                    </p:set>
                                    <p:animEffect filter="fade" transition="in">
                                      <p:cBhvr>
                                        <p:cTn dur="500"/>
                                        <p:tgtEl>
                                          <p:spTgt spid="356"/>
                                        </p:tgtEl>
                                      </p:cBhvr>
                                    </p:animEffect>
                                  </p:childTnLst>
                                </p:cTn>
                              </p:par>
                              <p:par>
                                <p:cTn fill="hold" nodeType="withEffect" presetClass="entr" presetID="23" presetSubtype="16">
                                  <p:stCondLst>
                                    <p:cond delay="2650"/>
                                  </p:stCondLst>
                                  <p:childTnLst>
                                    <p:set>
                                      <p:cBhvr>
                                        <p:cTn dur="1" fill="hold">
                                          <p:stCondLst>
                                            <p:cond delay="0"/>
                                          </p:stCondLst>
                                        </p:cTn>
                                        <p:tgtEl>
                                          <p:spTgt spid="357"/>
                                        </p:tgtEl>
                                        <p:attrNameLst>
                                          <p:attrName>style.visibility</p:attrName>
                                        </p:attrNameLst>
                                      </p:cBhvr>
                                      <p:to>
                                        <p:strVal val="visible"/>
                                      </p:to>
                                    </p:set>
                                    <p:anim calcmode="lin" valueType="num">
                                      <p:cBhvr additive="base">
                                        <p:cTn dur="350"/>
                                        <p:tgtEl>
                                          <p:spTgt spid="357"/>
                                        </p:tgtEl>
                                        <p:attrNameLst>
                                          <p:attrName>ppt_w</p:attrName>
                                        </p:attrNameLst>
                                      </p:cBhvr>
                                      <p:tavLst>
                                        <p:tav fmla="" tm="0">
                                          <p:val>
                                            <p:strVal val="0"/>
                                          </p:val>
                                        </p:tav>
                                        <p:tav fmla="" tm="100000">
                                          <p:val>
                                            <p:strVal val="#ppt_w"/>
                                          </p:val>
                                        </p:tav>
                                      </p:tavLst>
                                    </p:anim>
                                    <p:anim calcmode="lin" valueType="num">
                                      <p:cBhvr additive="base">
                                        <p:cTn dur="350"/>
                                        <p:tgtEl>
                                          <p:spTgt spid="357"/>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2900"/>
                                  </p:stCondLst>
                                  <p:childTnLst>
                                    <p:set>
                                      <p:cBhvr>
                                        <p:cTn dur="1" fill="hold">
                                          <p:stCondLst>
                                            <p:cond delay="0"/>
                                          </p:stCondLst>
                                        </p:cTn>
                                        <p:tgtEl>
                                          <p:spTgt spid="358"/>
                                        </p:tgtEl>
                                        <p:attrNameLst>
                                          <p:attrName>style.visibility</p:attrName>
                                        </p:attrNameLst>
                                      </p:cBhvr>
                                      <p:to>
                                        <p:strVal val="visible"/>
                                      </p:to>
                                    </p:set>
                                    <p:anim calcmode="lin" valueType="num">
                                      <p:cBhvr additive="base">
                                        <p:cTn dur="700"/>
                                        <p:tgtEl>
                                          <p:spTgt spid="35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24"/>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Proposed Seminar Scope / Proposed Framework</a:t>
            </a:r>
            <a:endParaRPr/>
          </a:p>
        </p:txBody>
      </p:sp>
      <p:sp>
        <p:nvSpPr>
          <p:cNvPr id="365" name="Google Shape;365;p24"/>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366" name="Google Shape;366;p24"/>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367" name="Google Shape;367;p24"/>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368" name="Google Shape;368;p24"/>
          <p:cNvSpPr/>
          <p:nvPr/>
        </p:nvSpPr>
        <p:spPr>
          <a:xfrm>
            <a:off x="457200" y="1261872"/>
            <a:ext cx="1536192" cy="1188720"/>
          </a:xfrm>
          <a:prstGeom prst="homePlate">
            <a:avLst>
              <a:gd fmla="val 22000" name="adj"/>
            </a:avLst>
          </a:prstGeom>
          <a:gradFill rotWithShape="1">
            <a:gsLst>
              <a:gs pos="0">
                <a:srgbClr val="006662"/>
              </a:gs>
              <a:gs pos="100000">
                <a:srgbClr val="0E9294"/>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Request Understanding</a:t>
            </a:r>
            <a:endParaRPr/>
          </a:p>
          <a:p>
            <a:pPr indent="0" lvl="0" marL="0" marR="0" rtl="0" algn="ctr">
              <a:lnSpc>
                <a:spcPct val="100000"/>
              </a:lnSpc>
              <a:spcBef>
                <a:spcPts val="100"/>
              </a:spcBef>
              <a:spcAft>
                <a:spcPts val="0"/>
              </a:spcAft>
              <a:buClr>
                <a:srgbClr val="000000"/>
              </a:buClr>
              <a:buSzPts val="1100"/>
              <a:buFont typeface="Arial"/>
              <a:buNone/>
            </a:pPr>
            <a:r>
              <a:rPr b="0" i="0" lang="en-US" sz="1100" u="none" cap="none" strike="noStrike">
                <a:solidFill>
                  <a:srgbClr val="FEFEFE"/>
                </a:solidFill>
                <a:latin typeface="Times New Roman"/>
                <a:ea typeface="Times New Roman"/>
                <a:cs typeface="Times New Roman"/>
                <a:sym typeface="Times New Roman"/>
              </a:rPr>
              <a:t>NLP / GenAI</a:t>
            </a:r>
            <a:endParaRPr/>
          </a:p>
        </p:txBody>
      </p:sp>
      <p:pic>
        <p:nvPicPr>
          <p:cNvPr descr="FaLanguage" id="369" name="Google Shape;369;p24"/>
          <p:cNvPicPr preferRelativeResize="0"/>
          <p:nvPr/>
        </p:nvPicPr>
        <p:blipFill rotWithShape="1">
          <a:blip r:embed="rId3">
            <a:alphaModFix/>
          </a:blip>
          <a:srcRect b="0" l="0" r="0" t="0"/>
          <a:stretch/>
        </p:blipFill>
        <p:spPr>
          <a:xfrm>
            <a:off x="987552" y="1353312"/>
            <a:ext cx="329184" cy="329184"/>
          </a:xfrm>
          <a:prstGeom prst="rect">
            <a:avLst/>
          </a:prstGeom>
          <a:noFill/>
          <a:ln>
            <a:noFill/>
          </a:ln>
        </p:spPr>
      </p:pic>
      <p:sp>
        <p:nvSpPr>
          <p:cNvPr id="370" name="Google Shape;370;p24"/>
          <p:cNvSpPr/>
          <p:nvPr/>
        </p:nvSpPr>
        <p:spPr>
          <a:xfrm>
            <a:off x="2103120" y="1261872"/>
            <a:ext cx="1536192" cy="1188720"/>
          </a:xfrm>
          <a:prstGeom prst="homePlate">
            <a:avLst>
              <a:gd fmla="val 22000" name="adj"/>
            </a:avLst>
          </a:prstGeom>
          <a:gradFill rotWithShape="1">
            <a:gsLst>
              <a:gs pos="0">
                <a:srgbClr val="06617B"/>
              </a:gs>
              <a:gs pos="100000">
                <a:srgbClr val="0D8AC4"/>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Location-Based Search</a:t>
            </a:r>
            <a:endParaRPr/>
          </a:p>
          <a:p>
            <a:pPr indent="0" lvl="0" marL="0" marR="0" rtl="0" algn="ctr">
              <a:lnSpc>
                <a:spcPct val="100000"/>
              </a:lnSpc>
              <a:spcBef>
                <a:spcPts val="100"/>
              </a:spcBef>
              <a:spcAft>
                <a:spcPts val="0"/>
              </a:spcAft>
              <a:buClr>
                <a:srgbClr val="000000"/>
              </a:buClr>
              <a:buSzPts val="1100"/>
              <a:buFont typeface="Arial"/>
              <a:buNone/>
            </a:pPr>
            <a:r>
              <a:rPr b="0" i="0" lang="en-US" sz="1100" u="none" cap="none" strike="noStrike">
                <a:solidFill>
                  <a:srgbClr val="FEFEFE"/>
                </a:solidFill>
                <a:latin typeface="Times New Roman"/>
                <a:ea typeface="Times New Roman"/>
                <a:cs typeface="Times New Roman"/>
                <a:sym typeface="Times New Roman"/>
              </a:rPr>
              <a:t>Nearby, skilled</a:t>
            </a:r>
            <a:endParaRPr/>
          </a:p>
        </p:txBody>
      </p:sp>
      <p:pic>
        <p:nvPicPr>
          <p:cNvPr descr="FaSearchLocation" id="371" name="Google Shape;371;p24"/>
          <p:cNvPicPr preferRelativeResize="0"/>
          <p:nvPr/>
        </p:nvPicPr>
        <p:blipFill rotWithShape="1">
          <a:blip r:embed="rId4">
            <a:alphaModFix/>
          </a:blip>
          <a:srcRect b="0" l="0" r="0" t="0"/>
          <a:stretch/>
        </p:blipFill>
        <p:spPr>
          <a:xfrm>
            <a:off x="2633472" y="1353312"/>
            <a:ext cx="329184" cy="329184"/>
          </a:xfrm>
          <a:prstGeom prst="rect">
            <a:avLst/>
          </a:prstGeom>
          <a:noFill/>
          <a:ln>
            <a:noFill/>
          </a:ln>
        </p:spPr>
      </p:pic>
      <p:sp>
        <p:nvSpPr>
          <p:cNvPr id="372" name="Google Shape;372;p24"/>
          <p:cNvSpPr/>
          <p:nvPr/>
        </p:nvSpPr>
        <p:spPr>
          <a:xfrm>
            <a:off x="3749040" y="1261872"/>
            <a:ext cx="1536192" cy="1188720"/>
          </a:xfrm>
          <a:prstGeom prst="homePlate">
            <a:avLst>
              <a:gd fmla="val 22000" name="adj"/>
            </a:avLst>
          </a:prstGeom>
          <a:gradFill rotWithShape="1">
            <a:gsLst>
              <a:gs pos="0">
                <a:srgbClr val="3050AA"/>
              </a:gs>
              <a:gs pos="100000">
                <a:srgbClr val="6F73D7"/>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Real-Time Availability</a:t>
            </a:r>
            <a:endParaRPr/>
          </a:p>
          <a:p>
            <a:pPr indent="0" lvl="0" marL="0" marR="0" rtl="0" algn="ctr">
              <a:lnSpc>
                <a:spcPct val="100000"/>
              </a:lnSpc>
              <a:spcBef>
                <a:spcPts val="100"/>
              </a:spcBef>
              <a:spcAft>
                <a:spcPts val="0"/>
              </a:spcAft>
              <a:buClr>
                <a:srgbClr val="000000"/>
              </a:buClr>
              <a:buSzPts val="1100"/>
              <a:buFont typeface="Arial"/>
              <a:buNone/>
            </a:pPr>
            <a:r>
              <a:rPr b="0" i="0" lang="en-US" sz="1100" u="none" cap="none" strike="noStrike">
                <a:solidFill>
                  <a:srgbClr val="FEFEFE"/>
                </a:solidFill>
                <a:latin typeface="Times New Roman"/>
                <a:ea typeface="Times New Roman"/>
                <a:cs typeface="Times New Roman"/>
                <a:sym typeface="Times New Roman"/>
              </a:rPr>
              <a:t>Live worker status</a:t>
            </a:r>
            <a:endParaRPr/>
          </a:p>
        </p:txBody>
      </p:sp>
      <p:pic>
        <p:nvPicPr>
          <p:cNvPr descr="FaWifi" id="373" name="Google Shape;373;p24"/>
          <p:cNvPicPr preferRelativeResize="0"/>
          <p:nvPr/>
        </p:nvPicPr>
        <p:blipFill rotWithShape="1">
          <a:blip r:embed="rId5">
            <a:alphaModFix/>
          </a:blip>
          <a:srcRect b="0" l="0" r="0" t="0"/>
          <a:stretch/>
        </p:blipFill>
        <p:spPr>
          <a:xfrm>
            <a:off x="4279392" y="1353312"/>
            <a:ext cx="329184" cy="329184"/>
          </a:xfrm>
          <a:prstGeom prst="rect">
            <a:avLst/>
          </a:prstGeom>
          <a:noFill/>
          <a:ln>
            <a:noFill/>
          </a:ln>
        </p:spPr>
      </p:pic>
      <p:sp>
        <p:nvSpPr>
          <p:cNvPr id="374" name="Google Shape;374;p24"/>
          <p:cNvSpPr/>
          <p:nvPr/>
        </p:nvSpPr>
        <p:spPr>
          <a:xfrm>
            <a:off x="5394960" y="1261872"/>
            <a:ext cx="1536192" cy="1188720"/>
          </a:xfrm>
          <a:prstGeom prst="homePlate">
            <a:avLst>
              <a:gd fmla="val 22000" name="adj"/>
            </a:avLst>
          </a:prstGeom>
          <a:gradFill rotWithShape="1">
            <a:gsLst>
              <a:gs pos="0">
                <a:srgbClr val="6E3A98"/>
              </a:gs>
              <a:gs pos="100000">
                <a:srgbClr val="A75EB7"/>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Ranking Engine</a:t>
            </a:r>
            <a:endParaRPr/>
          </a:p>
          <a:p>
            <a:pPr indent="0" lvl="0" marL="0" marR="0" rtl="0" algn="ctr">
              <a:lnSpc>
                <a:spcPct val="100000"/>
              </a:lnSpc>
              <a:spcBef>
                <a:spcPts val="100"/>
              </a:spcBef>
              <a:spcAft>
                <a:spcPts val="0"/>
              </a:spcAft>
              <a:buClr>
                <a:srgbClr val="000000"/>
              </a:buClr>
              <a:buSzPts val="1100"/>
              <a:buFont typeface="Arial"/>
              <a:buNone/>
            </a:pPr>
            <a:r>
              <a:rPr b="0" i="0" lang="en-US" sz="1100" u="none" cap="none" strike="noStrike">
                <a:solidFill>
                  <a:srgbClr val="FEFEFE"/>
                </a:solidFill>
                <a:latin typeface="Times New Roman"/>
                <a:ea typeface="Times New Roman"/>
                <a:cs typeface="Times New Roman"/>
                <a:sym typeface="Times New Roman"/>
              </a:rPr>
              <a:t>Weighted score</a:t>
            </a:r>
            <a:endParaRPr/>
          </a:p>
        </p:txBody>
      </p:sp>
      <p:pic>
        <p:nvPicPr>
          <p:cNvPr descr="FaBalanceScale" id="375" name="Google Shape;375;p24"/>
          <p:cNvPicPr preferRelativeResize="0"/>
          <p:nvPr/>
        </p:nvPicPr>
        <p:blipFill rotWithShape="1">
          <a:blip r:embed="rId6">
            <a:alphaModFix/>
          </a:blip>
          <a:srcRect b="0" l="0" r="0" t="0"/>
          <a:stretch/>
        </p:blipFill>
        <p:spPr>
          <a:xfrm>
            <a:off x="5925312" y="1353312"/>
            <a:ext cx="329184" cy="329184"/>
          </a:xfrm>
          <a:prstGeom prst="rect">
            <a:avLst/>
          </a:prstGeom>
          <a:noFill/>
          <a:ln>
            <a:noFill/>
          </a:ln>
        </p:spPr>
      </p:pic>
      <p:sp>
        <p:nvSpPr>
          <p:cNvPr id="376" name="Google Shape;376;p24"/>
          <p:cNvSpPr/>
          <p:nvPr/>
        </p:nvSpPr>
        <p:spPr>
          <a:xfrm>
            <a:off x="7040880" y="1261872"/>
            <a:ext cx="1536192" cy="1188720"/>
          </a:xfrm>
          <a:prstGeom prst="homePlate">
            <a:avLst>
              <a:gd fmla="val 22000" name="adj"/>
            </a:avLst>
          </a:prstGeom>
          <a:gradFill rotWithShape="1">
            <a:gsLst>
              <a:gs pos="0">
                <a:srgbClr val="902A66"/>
              </a:gs>
              <a:gs pos="100000">
                <a:srgbClr val="C25485"/>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Learning Module</a:t>
            </a:r>
            <a:endParaRPr/>
          </a:p>
          <a:p>
            <a:pPr indent="0" lvl="0" marL="0" marR="0" rtl="0" algn="ctr">
              <a:lnSpc>
                <a:spcPct val="100000"/>
              </a:lnSpc>
              <a:spcBef>
                <a:spcPts val="100"/>
              </a:spcBef>
              <a:spcAft>
                <a:spcPts val="0"/>
              </a:spcAft>
              <a:buClr>
                <a:srgbClr val="000000"/>
              </a:buClr>
              <a:buSzPts val="1100"/>
              <a:buFont typeface="Arial"/>
              <a:buNone/>
            </a:pPr>
            <a:r>
              <a:rPr b="0" i="0" lang="en-US" sz="1100" u="none" cap="none" strike="noStrike">
                <a:solidFill>
                  <a:srgbClr val="FEFEFE"/>
                </a:solidFill>
                <a:latin typeface="Times New Roman"/>
                <a:ea typeface="Times New Roman"/>
                <a:cs typeface="Times New Roman"/>
                <a:sym typeface="Times New Roman"/>
              </a:rPr>
              <a:t>Bandit update</a:t>
            </a:r>
            <a:endParaRPr/>
          </a:p>
        </p:txBody>
      </p:sp>
      <p:pic>
        <p:nvPicPr>
          <p:cNvPr descr="FaSyncAlt" id="377" name="Google Shape;377;p24"/>
          <p:cNvPicPr preferRelativeResize="0"/>
          <p:nvPr/>
        </p:nvPicPr>
        <p:blipFill rotWithShape="1">
          <a:blip r:embed="rId7">
            <a:alphaModFix/>
          </a:blip>
          <a:srcRect b="0" l="0" r="0" t="0"/>
          <a:stretch/>
        </p:blipFill>
        <p:spPr>
          <a:xfrm>
            <a:off x="7571232" y="1353312"/>
            <a:ext cx="329184" cy="329184"/>
          </a:xfrm>
          <a:prstGeom prst="rect">
            <a:avLst/>
          </a:prstGeom>
          <a:noFill/>
          <a:ln>
            <a:noFill/>
          </a:ln>
        </p:spPr>
      </p:pic>
      <p:sp>
        <p:nvSpPr>
          <p:cNvPr id="378" name="Google Shape;378;p24"/>
          <p:cNvSpPr/>
          <p:nvPr/>
        </p:nvSpPr>
        <p:spPr>
          <a:xfrm>
            <a:off x="457200" y="2651760"/>
            <a:ext cx="8229600" cy="502920"/>
          </a:xfrm>
          <a:prstGeom prst="roundRect">
            <a:avLst>
              <a:gd fmla="val 30000" name="adj"/>
            </a:avLst>
          </a:prstGeom>
          <a:gradFill rotWithShape="1">
            <a:gsLst>
              <a:gs pos="0">
                <a:srgbClr val="F0F3FC"/>
              </a:gs>
              <a:gs pos="100000">
                <a:srgbClr val="D9E2FE"/>
              </a:gs>
            </a:gsLst>
            <a:lin ang="2700000" scaled="0"/>
          </a:gradFill>
          <a:ln cap="flat" cmpd="sng" w="15875">
            <a:solidFill>
              <a:srgbClr val="5F72CC"/>
            </a:solidFill>
            <a:prstDash val="dash"/>
            <a:round/>
            <a:headEnd len="sm" w="sm" type="none"/>
            <a:tailEnd len="sm" w="sm" type="none"/>
          </a:ln>
        </p:spPr>
        <p:txBody>
          <a:bodyPr anchorCtr="0" anchor="ctr" bIns="45700" lIns="548625"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Cloud platform hosts all services and both databases (Worker Profile, Booking &amp; Feedback) and scales with demand</a:t>
            </a:r>
            <a:endParaRPr/>
          </a:p>
        </p:txBody>
      </p:sp>
      <p:pic>
        <p:nvPicPr>
          <p:cNvPr descr="FaCloud" id="379" name="Google Shape;379;p24"/>
          <p:cNvPicPr preferRelativeResize="0"/>
          <p:nvPr/>
        </p:nvPicPr>
        <p:blipFill rotWithShape="1">
          <a:blip r:embed="rIdRc379">
            <a:alphaModFix/>
          </a:blip>
          <a:srcRect b="0" l="0" r="0" t="0"/>
          <a:stretch/>
        </p:blipFill>
        <p:spPr>
          <a:xfrm>
            <a:off x="621792" y="2734056"/>
            <a:ext cx="329184" cy="329184"/>
          </a:xfrm>
          <a:prstGeom prst="rect">
            <a:avLst/>
          </a:prstGeom>
          <a:noFill/>
          <a:ln>
            <a:noFill/>
          </a:ln>
        </p:spPr>
      </p:pic>
      <p:sp>
        <p:nvSpPr>
          <p:cNvPr id="380" name="Google Shape;380;p24"/>
          <p:cNvSpPr/>
          <p:nvPr/>
        </p:nvSpPr>
        <p:spPr>
          <a:xfrm>
            <a:off x="457200" y="3337560"/>
            <a:ext cx="4023360" cy="2542032"/>
          </a:xfrm>
          <a:prstGeom prst="roundRect">
            <a:avLst>
              <a:gd fmla="val 6000" name="adj"/>
            </a:avLst>
          </a:prstGeom>
          <a:gradFill rotWithShape="1">
            <a:gsLst>
              <a:gs pos="0">
                <a:srgbClr val="E6F9EA"/>
              </a:gs>
              <a:gs pos="100000">
                <a:srgbClr val="C9EED2"/>
              </a:gs>
            </a:gsLst>
            <a:lin ang="2700000" scaled="0"/>
          </a:gradFill>
          <a:ln cap="flat" cmpd="sng" w="15875">
            <a:solidFill>
              <a:srgbClr val="328F54"/>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81" name="Google Shape;381;p24"/>
          <p:cNvSpPr/>
          <p:nvPr/>
        </p:nvSpPr>
        <p:spPr>
          <a:xfrm>
            <a:off x="4663440" y="3337560"/>
            <a:ext cx="4023360" cy="2542032"/>
          </a:xfrm>
          <a:prstGeom prst="roundRect">
            <a:avLst>
              <a:gd fmla="val 6000" name="adj"/>
            </a:avLst>
          </a:prstGeom>
          <a:gradFill rotWithShape="1">
            <a:gsLst>
              <a:gs pos="0">
                <a:srgbClr val="FEF0F1"/>
              </a:gs>
              <a:gs pos="100000">
                <a:srgbClr val="FDD8DC"/>
              </a:gs>
            </a:gsLst>
            <a:lin ang="2700000" scaled="0"/>
          </a:gradFill>
          <a:ln cap="flat" cmpd="sng" w="15875">
            <a:solidFill>
              <a:srgbClr val="C34B62"/>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382" name="Google Shape;382;p24"/>
          <p:cNvSpPr/>
          <p:nvPr/>
        </p:nvSpPr>
        <p:spPr>
          <a:xfrm>
            <a:off x="1124658" y="3424363"/>
            <a:ext cx="33834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5729"/>
                </a:solidFill>
                <a:latin typeface="Times New Roman"/>
                <a:ea typeface="Times New Roman"/>
                <a:cs typeface="Times New Roman"/>
                <a:sym typeface="Times New Roman"/>
              </a:rPr>
              <a:t>In scope</a:t>
            </a:r>
            <a:endParaRPr/>
          </a:p>
        </p:txBody>
      </p:sp>
      <p:sp>
        <p:nvSpPr>
          <p:cNvPr id="383" name="Google Shape;383;p24"/>
          <p:cNvSpPr/>
          <p:nvPr/>
        </p:nvSpPr>
        <p:spPr>
          <a:xfrm>
            <a:off x="5285235" y="3429000"/>
            <a:ext cx="3383400" cy="411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2"/>
                </a:solidFill>
                <a:latin typeface="Times New Roman"/>
                <a:ea typeface="Times New Roman"/>
                <a:cs typeface="Times New Roman"/>
                <a:sym typeface="Times New Roman"/>
              </a:rPr>
              <a:t>Out of scope</a:t>
            </a:r>
            <a:endParaRPr/>
          </a:p>
        </p:txBody>
      </p:sp>
      <p:pic>
        <p:nvPicPr>
          <p:cNvPr descr="FaCheckCircle" id="384" name="Google Shape;384;p24"/>
          <p:cNvPicPr preferRelativeResize="0"/>
          <p:nvPr/>
        </p:nvPicPr>
        <p:blipFill rotWithShape="1">
          <a:blip r:embed="rIdRc384">
            <a:alphaModFix/>
          </a:blip>
          <a:srcRect b="0" l="0" r="0" t="0"/>
          <a:stretch/>
        </p:blipFill>
        <p:spPr>
          <a:xfrm>
            <a:off x="621792" y="3456432"/>
            <a:ext cx="347472" cy="347472"/>
          </a:xfrm>
          <a:prstGeom prst="rect">
            <a:avLst/>
          </a:prstGeom>
          <a:noFill/>
          <a:ln>
            <a:noFill/>
          </a:ln>
        </p:spPr>
      </p:pic>
      <p:pic>
        <p:nvPicPr>
          <p:cNvPr descr="FaTimesCircle" id="385" name="Google Shape;385;p24"/>
          <p:cNvPicPr preferRelativeResize="0"/>
          <p:nvPr/>
        </p:nvPicPr>
        <p:blipFill rotWithShape="1">
          <a:blip r:embed="rIdRc385">
            <a:alphaModFix/>
          </a:blip>
          <a:srcRect b="0" l="0" r="0" t="0"/>
          <a:stretch/>
        </p:blipFill>
        <p:spPr>
          <a:xfrm>
            <a:off x="4828032" y="3456432"/>
            <a:ext cx="347472" cy="347472"/>
          </a:xfrm>
          <a:prstGeom prst="rect">
            <a:avLst/>
          </a:prstGeom>
          <a:noFill/>
          <a:ln>
            <a:noFill/>
          </a:ln>
        </p:spPr>
      </p:pic>
      <p:sp>
        <p:nvSpPr>
          <p:cNvPr id="386" name="Google Shape;386;p24"/>
          <p:cNvSpPr/>
          <p:nvPr/>
        </p:nvSpPr>
        <p:spPr>
          <a:xfrm>
            <a:off x="685800" y="3931920"/>
            <a:ext cx="3657600" cy="187452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rgbClr val="005729"/>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Understanding the request</a:t>
            </a:r>
            <a:endParaRPr/>
          </a:p>
          <a:p>
            <a:pPr indent="-182880" lvl="0" marL="182880" marR="0" rtl="0" algn="l">
              <a:lnSpc>
                <a:spcPct val="100000"/>
              </a:lnSpc>
              <a:spcBef>
                <a:spcPts val="500"/>
              </a:spcBef>
              <a:spcAft>
                <a:spcPts val="0"/>
              </a:spcAft>
              <a:buClr>
                <a:srgbClr val="005729"/>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Search for nearby workers</a:t>
            </a:r>
            <a:endParaRPr/>
          </a:p>
          <a:p>
            <a:pPr indent="-182880" lvl="0" marL="182880" marR="0" rtl="0" algn="l">
              <a:lnSpc>
                <a:spcPct val="100000"/>
              </a:lnSpc>
              <a:spcBef>
                <a:spcPts val="500"/>
              </a:spcBef>
              <a:spcAft>
                <a:spcPts val="0"/>
              </a:spcAft>
              <a:buClr>
                <a:srgbClr val="005729"/>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Ranking with a weighted score</a:t>
            </a:r>
            <a:endParaRPr/>
          </a:p>
          <a:p>
            <a:pPr indent="-182880" lvl="0" marL="182880" marR="0" rtl="0" algn="l">
              <a:lnSpc>
                <a:spcPct val="100000"/>
              </a:lnSpc>
              <a:spcBef>
                <a:spcPts val="500"/>
              </a:spcBef>
              <a:spcAft>
                <a:spcPts val="0"/>
              </a:spcAft>
              <a:buClr>
                <a:srgbClr val="005729"/>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Bandit-based quality estimate</a:t>
            </a:r>
            <a:endParaRPr/>
          </a:p>
          <a:p>
            <a:pPr indent="-182880" lvl="0" marL="182880" marR="0" rtl="0" algn="l">
              <a:lnSpc>
                <a:spcPct val="100000"/>
              </a:lnSpc>
              <a:spcBef>
                <a:spcPts val="500"/>
              </a:spcBef>
              <a:spcAft>
                <a:spcPts val="0"/>
              </a:spcAft>
              <a:buClr>
                <a:srgbClr val="005729"/>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Learning update after each job</a:t>
            </a:r>
            <a:endParaRPr/>
          </a:p>
        </p:txBody>
      </p:sp>
      <p:sp>
        <p:nvSpPr>
          <p:cNvPr id="387" name="Google Shape;387;p24"/>
          <p:cNvSpPr/>
          <p:nvPr/>
        </p:nvSpPr>
        <p:spPr>
          <a:xfrm>
            <a:off x="4892040" y="3931920"/>
            <a:ext cx="3657600" cy="1874520"/>
          </a:xfrm>
          <a:prstGeom prst="rect">
            <a:avLst/>
          </a:prstGeom>
          <a:noFill/>
          <a:ln>
            <a:noFill/>
          </a:ln>
        </p:spPr>
        <p:txBody>
          <a:bodyPr anchorCtr="0" anchor="t" bIns="0" lIns="0" spcFirstLastPara="1" rIns="0" wrap="square" tIns="0">
            <a:noAutofit/>
          </a:bodyPr>
          <a:lstStyle/>
          <a:p>
            <a:pPr indent="-182880" lvl="0" marL="182880" marR="0" rtl="0" algn="l">
              <a:lnSpc>
                <a:spcPct val="100000"/>
              </a:lnSpc>
              <a:spcBef>
                <a:spcPts val="0"/>
              </a:spcBef>
              <a:spcAft>
                <a:spcPts val="0"/>
              </a:spcAft>
              <a:buClr>
                <a:schemeClr val="dk2"/>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Building a working mobile app</a:t>
            </a:r>
            <a:endParaRPr/>
          </a:p>
          <a:p>
            <a:pPr indent="-182880" lvl="0" marL="182880" marR="0" rtl="0" algn="l">
              <a:lnSpc>
                <a:spcPct val="100000"/>
              </a:lnSpc>
              <a:spcBef>
                <a:spcPts val="300"/>
              </a:spcBef>
              <a:spcAft>
                <a:spcPts val="0"/>
              </a:spcAft>
              <a:buClr>
                <a:schemeClr val="dk2"/>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Handling online payments</a:t>
            </a:r>
            <a:endParaRPr/>
          </a:p>
          <a:p>
            <a:pPr indent="-182880" lvl="0" marL="182880" marR="0" rtl="0" algn="l">
              <a:lnSpc>
                <a:spcPct val="100000"/>
              </a:lnSpc>
              <a:spcBef>
                <a:spcPts val="300"/>
              </a:spcBef>
              <a:spcAft>
                <a:spcPts val="0"/>
              </a:spcAft>
              <a:buClr>
                <a:schemeClr val="dk2"/>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Legal and tax matters</a:t>
            </a:r>
            <a:endParaRPr/>
          </a:p>
          <a:p>
            <a:pPr indent="-182880" lvl="0" marL="182880" marR="0" rtl="0" algn="l">
              <a:lnSpc>
                <a:spcPct val="100000"/>
              </a:lnSpc>
              <a:spcBef>
                <a:spcPts val="300"/>
              </a:spcBef>
              <a:spcAft>
                <a:spcPts val="0"/>
              </a:spcAft>
              <a:buClr>
                <a:schemeClr val="dk2"/>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Verifying worker identity</a:t>
            </a:r>
            <a:endParaRPr/>
          </a:p>
          <a:p>
            <a:pPr indent="-182880" lvl="0" marL="182880" marR="0" rtl="0" algn="l">
              <a:lnSpc>
                <a:spcPct val="100000"/>
              </a:lnSpc>
              <a:spcBef>
                <a:spcPts val="300"/>
              </a:spcBef>
              <a:spcAft>
                <a:spcPts val="0"/>
              </a:spcAft>
              <a:buClr>
                <a:schemeClr val="dk2"/>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Full marketplace deployment</a:t>
            </a:r>
            <a:endParaRPr/>
          </a:p>
          <a:p>
            <a:pPr indent="-182880" lvl="0" marL="182880" marR="0" rtl="0" algn="l">
              <a:lnSpc>
                <a:spcPct val="100000"/>
              </a:lnSpc>
              <a:spcBef>
                <a:spcPts val="300"/>
              </a:spcBef>
              <a:spcAft>
                <a:spcPts val="0"/>
              </a:spcAft>
              <a:buClr>
                <a:schemeClr val="dk2"/>
              </a:buClr>
              <a:buSzPts val="1350"/>
              <a:buFont typeface="Arial"/>
              <a:buChar char="•"/>
            </a:pPr>
            <a:r>
              <a:rPr b="0" i="0" lang="en-US" sz="1350" u="none" cap="none" strike="noStrike">
                <a:solidFill>
                  <a:schemeClr val="dk1"/>
                </a:solidFill>
                <a:latin typeface="Times New Roman"/>
                <a:ea typeface="Times New Roman"/>
                <a:cs typeface="Times New Roman"/>
                <a:sym typeface="Times New Roman"/>
              </a:rPr>
              <a:t>Deriving bandit algorithms</a:t>
            </a:r>
            <a:endParaRPr/>
          </a:p>
        </p:txBody>
      </p:sp>
    </p:spTree>
  </p:cSld>
  <p:clrMapOvr>
    <a:masterClrMapping/>
  </p:clrMapOvr>
  <mc:AlternateContent>
    <mc:Choice Requires="p14">
      <p:transition spd="slow" p14:dur="1400">
        <p14:doors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450"/>
                                        <p:tgtEl>
                                          <p:spTgt spid="368"/>
                                        </p:tgtEl>
                                      </p:cBhvr>
                                    </p:animEffect>
                                  </p:childTnLst>
                                </p:cTn>
                              </p:par>
                              <p:par>
                                <p:cTn fill="hold" nodeType="with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450"/>
                                        <p:tgtEl>
                                          <p:spTgt spid="369"/>
                                        </p:tgtEl>
                                      </p:cBhvr>
                                    </p:animEffect>
                                  </p:childTnLst>
                                </p:cTn>
                              </p:par>
                              <p:par>
                                <p:cTn fill="hold" nodeType="withEffect" presetClass="entr" presetID="10" presetSubtype="0">
                                  <p:stCondLst>
                                    <p:cond delay="300"/>
                                  </p:stCondLst>
                                  <p:childTnLst>
                                    <p:set>
                                      <p:cBhvr>
                                        <p:cTn dur="1" fill="hold">
                                          <p:stCondLst>
                                            <p:cond delay="0"/>
                                          </p:stCondLst>
                                        </p:cTn>
                                        <p:tgtEl>
                                          <p:spTgt spid="370"/>
                                        </p:tgtEl>
                                        <p:attrNameLst>
                                          <p:attrName>style.visibility</p:attrName>
                                        </p:attrNameLst>
                                      </p:cBhvr>
                                      <p:to>
                                        <p:strVal val="visible"/>
                                      </p:to>
                                    </p:set>
                                    <p:animEffect filter="fade" transition="in">
                                      <p:cBhvr>
                                        <p:cTn dur="450"/>
                                        <p:tgtEl>
                                          <p:spTgt spid="370"/>
                                        </p:tgtEl>
                                      </p:cBhvr>
                                    </p:animEffect>
                                  </p:childTnLst>
                                </p:cTn>
                              </p:par>
                              <p:par>
                                <p:cTn fill="hold" nodeType="withEffect" presetClass="entr" presetID="10" presetSubtype="0">
                                  <p:stCondLst>
                                    <p:cond delay="300"/>
                                  </p:stCondLst>
                                  <p:childTnLst>
                                    <p:set>
                                      <p:cBhvr>
                                        <p:cTn dur="1" fill="hold">
                                          <p:stCondLst>
                                            <p:cond delay="0"/>
                                          </p:stCondLst>
                                        </p:cTn>
                                        <p:tgtEl>
                                          <p:spTgt spid="371"/>
                                        </p:tgtEl>
                                        <p:attrNameLst>
                                          <p:attrName>style.visibility</p:attrName>
                                        </p:attrNameLst>
                                      </p:cBhvr>
                                      <p:to>
                                        <p:strVal val="visible"/>
                                      </p:to>
                                    </p:set>
                                    <p:animEffect filter="fade" transition="in">
                                      <p:cBhvr>
                                        <p:cTn dur="450"/>
                                        <p:tgtEl>
                                          <p:spTgt spid="371"/>
                                        </p:tgtEl>
                                      </p:cBhvr>
                                    </p:animEffect>
                                  </p:childTnLst>
                                </p:cTn>
                              </p:par>
                              <p:par>
                                <p:cTn fill="hold" nodeType="withEffect" presetClass="entr" presetID="10" presetSubtype="0">
                                  <p:stCondLst>
                                    <p:cond delay="600"/>
                                  </p:stCondLst>
                                  <p:childTnLst>
                                    <p:set>
                                      <p:cBhvr>
                                        <p:cTn dur="1" fill="hold">
                                          <p:stCondLst>
                                            <p:cond delay="0"/>
                                          </p:stCondLst>
                                        </p:cTn>
                                        <p:tgtEl>
                                          <p:spTgt spid="372"/>
                                        </p:tgtEl>
                                        <p:attrNameLst>
                                          <p:attrName>style.visibility</p:attrName>
                                        </p:attrNameLst>
                                      </p:cBhvr>
                                      <p:to>
                                        <p:strVal val="visible"/>
                                      </p:to>
                                    </p:set>
                                    <p:animEffect filter="fade" transition="in">
                                      <p:cBhvr>
                                        <p:cTn dur="450"/>
                                        <p:tgtEl>
                                          <p:spTgt spid="372"/>
                                        </p:tgtEl>
                                      </p:cBhvr>
                                    </p:animEffect>
                                  </p:childTnLst>
                                </p:cTn>
                              </p:par>
                              <p:par>
                                <p:cTn fill="hold" nodeType="withEffect" presetClass="entr" presetID="10" presetSubtype="0">
                                  <p:stCondLst>
                                    <p:cond delay="600"/>
                                  </p:stCondLst>
                                  <p:childTnLst>
                                    <p:set>
                                      <p:cBhvr>
                                        <p:cTn dur="1" fill="hold">
                                          <p:stCondLst>
                                            <p:cond delay="0"/>
                                          </p:stCondLst>
                                        </p:cTn>
                                        <p:tgtEl>
                                          <p:spTgt spid="373"/>
                                        </p:tgtEl>
                                        <p:attrNameLst>
                                          <p:attrName>style.visibility</p:attrName>
                                        </p:attrNameLst>
                                      </p:cBhvr>
                                      <p:to>
                                        <p:strVal val="visible"/>
                                      </p:to>
                                    </p:set>
                                    <p:animEffect filter="fade" transition="in">
                                      <p:cBhvr>
                                        <p:cTn dur="450"/>
                                        <p:tgtEl>
                                          <p:spTgt spid="373"/>
                                        </p:tgtEl>
                                      </p:cBhvr>
                                    </p:animEffect>
                                  </p:childTnLst>
                                </p:cTn>
                              </p:par>
                              <p:par>
                                <p:cTn fill="hold" nodeType="withEffect" presetClass="entr" presetID="10" presetSubtype="0">
                                  <p:stCondLst>
                                    <p:cond delay="900"/>
                                  </p:stCondLst>
                                  <p:childTnLst>
                                    <p:set>
                                      <p:cBhvr>
                                        <p:cTn dur="1" fill="hold">
                                          <p:stCondLst>
                                            <p:cond delay="0"/>
                                          </p:stCondLst>
                                        </p:cTn>
                                        <p:tgtEl>
                                          <p:spTgt spid="374"/>
                                        </p:tgtEl>
                                        <p:attrNameLst>
                                          <p:attrName>style.visibility</p:attrName>
                                        </p:attrNameLst>
                                      </p:cBhvr>
                                      <p:to>
                                        <p:strVal val="visible"/>
                                      </p:to>
                                    </p:set>
                                    <p:animEffect filter="fade" transition="in">
                                      <p:cBhvr>
                                        <p:cTn dur="450"/>
                                        <p:tgtEl>
                                          <p:spTgt spid="374"/>
                                        </p:tgtEl>
                                      </p:cBhvr>
                                    </p:animEffect>
                                  </p:childTnLst>
                                </p:cTn>
                              </p:par>
                              <p:par>
                                <p:cTn fill="hold" nodeType="withEffect" presetClass="entr" presetID="10" presetSubtype="0">
                                  <p:stCondLst>
                                    <p:cond delay="900"/>
                                  </p:stCondLst>
                                  <p:childTnLst>
                                    <p:set>
                                      <p:cBhvr>
                                        <p:cTn dur="1" fill="hold">
                                          <p:stCondLst>
                                            <p:cond delay="0"/>
                                          </p:stCondLst>
                                        </p:cTn>
                                        <p:tgtEl>
                                          <p:spTgt spid="375"/>
                                        </p:tgtEl>
                                        <p:attrNameLst>
                                          <p:attrName>style.visibility</p:attrName>
                                        </p:attrNameLst>
                                      </p:cBhvr>
                                      <p:to>
                                        <p:strVal val="visible"/>
                                      </p:to>
                                    </p:set>
                                    <p:animEffect filter="fade" transition="in">
                                      <p:cBhvr>
                                        <p:cTn dur="450"/>
                                        <p:tgtEl>
                                          <p:spTgt spid="375"/>
                                        </p:tgtEl>
                                      </p:cBhvr>
                                    </p:animEffect>
                                  </p:childTnLst>
                                </p:cTn>
                              </p:par>
                              <p:par>
                                <p:cTn fill="hold" nodeType="withEffect" presetClass="entr" presetID="10" presetSubtype="0">
                                  <p:stCondLst>
                                    <p:cond delay="1200"/>
                                  </p:stCondLst>
                                  <p:childTnLst>
                                    <p:set>
                                      <p:cBhvr>
                                        <p:cTn dur="1" fill="hold">
                                          <p:stCondLst>
                                            <p:cond delay="0"/>
                                          </p:stCondLst>
                                        </p:cTn>
                                        <p:tgtEl>
                                          <p:spTgt spid="376"/>
                                        </p:tgtEl>
                                        <p:attrNameLst>
                                          <p:attrName>style.visibility</p:attrName>
                                        </p:attrNameLst>
                                      </p:cBhvr>
                                      <p:to>
                                        <p:strVal val="visible"/>
                                      </p:to>
                                    </p:set>
                                    <p:animEffect filter="fade" transition="in">
                                      <p:cBhvr>
                                        <p:cTn dur="450"/>
                                        <p:tgtEl>
                                          <p:spTgt spid="376"/>
                                        </p:tgtEl>
                                      </p:cBhvr>
                                    </p:animEffect>
                                  </p:childTnLst>
                                </p:cTn>
                              </p:par>
                              <p:par>
                                <p:cTn fill="hold" nodeType="withEffect" presetClass="entr" presetID="10" presetSubtype="0">
                                  <p:stCondLst>
                                    <p:cond delay="1200"/>
                                  </p:stCondLst>
                                  <p:childTnLst>
                                    <p:set>
                                      <p:cBhvr>
                                        <p:cTn dur="1" fill="hold">
                                          <p:stCondLst>
                                            <p:cond delay="0"/>
                                          </p:stCondLst>
                                        </p:cTn>
                                        <p:tgtEl>
                                          <p:spTgt spid="377"/>
                                        </p:tgtEl>
                                        <p:attrNameLst>
                                          <p:attrName>style.visibility</p:attrName>
                                        </p:attrNameLst>
                                      </p:cBhvr>
                                      <p:to>
                                        <p:strVal val="visible"/>
                                      </p:to>
                                    </p:set>
                                    <p:animEffect filter="fade" transition="in">
                                      <p:cBhvr>
                                        <p:cTn dur="450"/>
                                        <p:tgtEl>
                                          <p:spTgt spid="377"/>
                                        </p:tgtEl>
                                      </p:cBhvr>
                                    </p:animEffect>
                                  </p:childTnLst>
                                </p:cTn>
                              </p:par>
                              <p:par>
                                <p:cTn fill="hold" nodeType="withEffect" presetClass="entr" presetID="2" presetSubtype="4">
                                  <p:stCondLst>
                                    <p:cond delay="1500"/>
                                  </p:stCondLst>
                                  <p:childTnLst>
                                    <p:set>
                                      <p:cBhvr>
                                        <p:cTn dur="1" fill="hold">
                                          <p:stCondLst>
                                            <p:cond delay="0"/>
                                          </p:stCondLst>
                                        </p:cTn>
                                        <p:tgtEl>
                                          <p:spTgt spid="378"/>
                                        </p:tgtEl>
                                        <p:attrNameLst>
                                          <p:attrName>style.visibility</p:attrName>
                                        </p:attrNameLst>
                                      </p:cBhvr>
                                      <p:to>
                                        <p:strVal val="visible"/>
                                      </p:to>
                                    </p:set>
                                    <p:anim calcmode="lin" valueType="num">
                                      <p:cBhvr additive="base">
                                        <p:cTn dur="500"/>
                                        <p:tgtEl>
                                          <p:spTgt spid="37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500"/>
                                  </p:stCondLst>
                                  <p:childTnLst>
                                    <p:set>
                                      <p:cBhvr>
                                        <p:cTn dur="1" fill="hold">
                                          <p:stCondLst>
                                            <p:cond delay="0"/>
                                          </p:stCondLst>
                                        </p:cTn>
                                        <p:tgtEl>
                                          <p:spTgt spid="379"/>
                                        </p:tgtEl>
                                        <p:attrNameLst>
                                          <p:attrName>style.visibility</p:attrName>
                                        </p:attrNameLst>
                                      </p:cBhvr>
                                      <p:to>
                                        <p:strVal val="visible"/>
                                      </p:to>
                                    </p:set>
                                    <p:anim calcmode="lin" valueType="num">
                                      <p:cBhvr additive="base">
                                        <p:cTn dur="500"/>
                                        <p:tgtEl>
                                          <p:spTgt spid="37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8">
                                  <p:stCondLst>
                                    <p:cond delay="1800"/>
                                  </p:stCondLst>
                                  <p:childTnLst>
                                    <p:set>
                                      <p:cBhvr>
                                        <p:cTn dur="1" fill="hold">
                                          <p:stCondLst>
                                            <p:cond delay="0"/>
                                          </p:stCondLst>
                                        </p:cTn>
                                        <p:tgtEl>
                                          <p:spTgt spid="380"/>
                                        </p:tgtEl>
                                        <p:attrNameLst>
                                          <p:attrName>style.visibility</p:attrName>
                                        </p:attrNameLst>
                                      </p:cBhvr>
                                      <p:to>
                                        <p:strVal val="visible"/>
                                      </p:to>
                                    </p:set>
                                    <p:anim calcmode="lin" valueType="num">
                                      <p:cBhvr additive="base">
                                        <p:cTn dur="500"/>
                                        <p:tgtEl>
                                          <p:spTgt spid="380"/>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1800"/>
                                  </p:stCondLst>
                                  <p:childTnLst>
                                    <p:set>
                                      <p:cBhvr>
                                        <p:cTn dur="1" fill="hold">
                                          <p:stCondLst>
                                            <p:cond delay="0"/>
                                          </p:stCondLst>
                                        </p:cTn>
                                        <p:tgtEl>
                                          <p:spTgt spid="382"/>
                                        </p:tgtEl>
                                        <p:attrNameLst>
                                          <p:attrName>style.visibility</p:attrName>
                                        </p:attrNameLst>
                                      </p:cBhvr>
                                      <p:to>
                                        <p:strVal val="visible"/>
                                      </p:to>
                                    </p:set>
                                    <p:anim calcmode="lin" valueType="num">
                                      <p:cBhvr additive="base">
                                        <p:cTn dur="500"/>
                                        <p:tgtEl>
                                          <p:spTgt spid="382"/>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1800"/>
                                  </p:stCondLst>
                                  <p:childTnLst>
                                    <p:set>
                                      <p:cBhvr>
                                        <p:cTn dur="1" fill="hold">
                                          <p:stCondLst>
                                            <p:cond delay="0"/>
                                          </p:stCondLst>
                                        </p:cTn>
                                        <p:tgtEl>
                                          <p:spTgt spid="384"/>
                                        </p:tgtEl>
                                        <p:attrNameLst>
                                          <p:attrName>style.visibility</p:attrName>
                                        </p:attrNameLst>
                                      </p:cBhvr>
                                      <p:to>
                                        <p:strVal val="visible"/>
                                      </p:to>
                                    </p:set>
                                    <p:anim calcmode="lin" valueType="num">
                                      <p:cBhvr additive="base">
                                        <p:cTn dur="500"/>
                                        <p:tgtEl>
                                          <p:spTgt spid="384"/>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2050"/>
                                  </p:stCondLst>
                                  <p:childTnLst>
                                    <p:set>
                                      <p:cBhvr>
                                        <p:cTn dur="1" fill="hold">
                                          <p:stCondLst>
                                            <p:cond delay="0"/>
                                          </p:stCondLst>
                                        </p:cTn>
                                        <p:tgtEl>
                                          <p:spTgt spid="386"/>
                                        </p:tgtEl>
                                        <p:attrNameLst>
                                          <p:attrName>style.visibility</p:attrName>
                                        </p:attrNameLst>
                                      </p:cBhvr>
                                      <p:to>
                                        <p:strVal val="visible"/>
                                      </p:to>
                                    </p:set>
                                    <p:animEffect filter="fade" transition="in">
                                      <p:cBhvr>
                                        <p:cTn dur="900"/>
                                        <p:tgtEl>
                                          <p:spTgt spid="386"/>
                                        </p:tgtEl>
                                      </p:cBhvr>
                                    </p:animEffect>
                                  </p:childTnLst>
                                </p:cTn>
                              </p:par>
                              <p:par>
                                <p:cTn fill="hold" nodeType="withEffect" presetClass="entr" presetID="2" presetSubtype="2">
                                  <p:stCondLst>
                                    <p:cond delay="2350"/>
                                  </p:stCondLst>
                                  <p:childTnLst>
                                    <p:set>
                                      <p:cBhvr>
                                        <p:cTn dur="1" fill="hold">
                                          <p:stCondLst>
                                            <p:cond delay="0"/>
                                          </p:stCondLst>
                                        </p:cTn>
                                        <p:tgtEl>
                                          <p:spTgt spid="381"/>
                                        </p:tgtEl>
                                        <p:attrNameLst>
                                          <p:attrName>style.visibility</p:attrName>
                                        </p:attrNameLst>
                                      </p:cBhvr>
                                      <p:to>
                                        <p:strVal val="visible"/>
                                      </p:to>
                                    </p:set>
                                    <p:anim calcmode="lin" valueType="num">
                                      <p:cBhvr additive="base">
                                        <p:cTn dur="500"/>
                                        <p:tgtEl>
                                          <p:spTgt spid="38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2350"/>
                                  </p:stCondLst>
                                  <p:childTnLst>
                                    <p:set>
                                      <p:cBhvr>
                                        <p:cTn dur="1" fill="hold">
                                          <p:stCondLst>
                                            <p:cond delay="0"/>
                                          </p:stCondLst>
                                        </p:cTn>
                                        <p:tgtEl>
                                          <p:spTgt spid="383"/>
                                        </p:tgtEl>
                                        <p:attrNameLst>
                                          <p:attrName>style.visibility</p:attrName>
                                        </p:attrNameLst>
                                      </p:cBhvr>
                                      <p:to>
                                        <p:strVal val="visible"/>
                                      </p:to>
                                    </p:set>
                                    <p:anim calcmode="lin" valueType="num">
                                      <p:cBhvr additive="base">
                                        <p:cTn dur="500"/>
                                        <p:tgtEl>
                                          <p:spTgt spid="38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2350"/>
                                  </p:stCondLst>
                                  <p:childTnLst>
                                    <p:set>
                                      <p:cBhvr>
                                        <p:cTn dur="1" fill="hold">
                                          <p:stCondLst>
                                            <p:cond delay="0"/>
                                          </p:stCondLst>
                                        </p:cTn>
                                        <p:tgtEl>
                                          <p:spTgt spid="385"/>
                                        </p:tgtEl>
                                        <p:attrNameLst>
                                          <p:attrName>style.visibility</p:attrName>
                                        </p:attrNameLst>
                                      </p:cBhvr>
                                      <p:to>
                                        <p:strVal val="visible"/>
                                      </p:to>
                                    </p:set>
                                    <p:anim calcmode="lin" valueType="num">
                                      <p:cBhvr additive="base">
                                        <p:cTn dur="500"/>
                                        <p:tgtEl>
                                          <p:spTgt spid="385"/>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2600"/>
                                  </p:stCondLst>
                                  <p:childTnLst>
                                    <p:set>
                                      <p:cBhvr>
                                        <p:cTn dur="1" fill="hold">
                                          <p:stCondLst>
                                            <p:cond delay="0"/>
                                          </p:stCondLst>
                                        </p:cTn>
                                        <p:tgtEl>
                                          <p:spTgt spid="387"/>
                                        </p:tgtEl>
                                        <p:attrNameLst>
                                          <p:attrName>style.visibility</p:attrName>
                                        </p:attrNameLst>
                                      </p:cBhvr>
                                      <p:to>
                                        <p:strVal val="visible"/>
                                      </p:to>
                                    </p:set>
                                    <p:animEffect filter="fade" transition="in">
                                      <p:cBhvr>
                                        <p:cTn dur="900"/>
                                        <p:tgtEl>
                                          <p:spTgt spid="3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5"/>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System Architecture</a:t>
            </a:r>
            <a:endParaRPr/>
          </a:p>
        </p:txBody>
      </p:sp>
      <p:sp>
        <p:nvSpPr>
          <p:cNvPr id="394" name="Google Shape;394;p25"/>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395" name="Google Shape;395;p25"/>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396" name="Google Shape;396;p25"/>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397" name="Google Shape;397;p25"/>
          <p:cNvSpPr/>
          <p:nvPr/>
        </p:nvSpPr>
        <p:spPr>
          <a:xfrm>
            <a:off x="457200" y="1261872"/>
            <a:ext cx="1097280" cy="804672"/>
          </a:xfrm>
          <a:prstGeom prst="roundRect">
            <a:avLst>
              <a:gd fmla="val 14000" name="adj"/>
            </a:avLst>
          </a:prstGeom>
          <a:gradFill rotWithShape="1">
            <a:gsLst>
              <a:gs pos="0">
                <a:srgbClr val="006662"/>
              </a:gs>
              <a:gs pos="100000">
                <a:srgbClr val="0E9294"/>
              </a:gs>
            </a:gsLst>
            <a:lin ang="2700000" scaled="0"/>
          </a:gradFill>
          <a:ln>
            <a:noFill/>
          </a:ln>
          <a:effectLst>
            <a:outerShdw blurRad="63500" rotWithShape="0" algn="t" dir="5400000" dist="31750">
              <a:srgbClr val="000000">
                <a:alpha val="21961"/>
              </a:srgbClr>
            </a:outerShdw>
          </a:effectLst>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Customer Input</a:t>
            </a:r>
            <a:endParaRPr/>
          </a:p>
          <a:p>
            <a:pPr indent="0" lvl="0" marL="0" marR="0" rtl="0" algn="ctr">
              <a:lnSpc>
                <a:spcPct val="100000"/>
              </a:lnSpc>
              <a:spcBef>
                <a:spcPts val="100"/>
              </a:spcBef>
              <a:spcAft>
                <a:spcPts val="0"/>
              </a:spcAft>
              <a:buClr>
                <a:srgbClr val="000000"/>
              </a:buClr>
              <a:buSzPts val="1050"/>
              <a:buFont typeface="Arial"/>
              <a:buNone/>
            </a:pPr>
            <a:r>
              <a:rPr b="0" i="0" lang="en-US" sz="1050" u="none" cap="none" strike="noStrike">
                <a:solidFill>
                  <a:schemeClr val="lt1"/>
                </a:solidFill>
                <a:latin typeface="Times New Roman"/>
                <a:ea typeface="Times New Roman"/>
                <a:cs typeface="Times New Roman"/>
                <a:sym typeface="Times New Roman"/>
              </a:rPr>
              <a:t>text, GPS, budget</a:t>
            </a:r>
            <a:endParaRPr/>
          </a:p>
        </p:txBody>
      </p:sp>
      <p:cxnSp>
        <p:nvCxnSpPr>
          <p:cNvPr id="398" name="Google Shape;398;p25"/>
          <p:cNvCxnSpPr/>
          <p:nvPr/>
        </p:nvCxnSpPr>
        <p:spPr>
          <a:xfrm>
            <a:off x="1572768" y="1664208"/>
            <a:ext cx="164592" cy="0"/>
          </a:xfrm>
          <a:prstGeom prst="straightConnector1">
            <a:avLst/>
          </a:prstGeom>
          <a:noFill/>
          <a:ln cap="flat" cmpd="sng" w="25400">
            <a:solidFill>
              <a:srgbClr val="018D87"/>
            </a:solidFill>
            <a:prstDash val="solid"/>
            <a:round/>
            <a:headEnd len="sm" w="sm" type="none"/>
            <a:tailEnd len="med" w="med" type="triangle"/>
          </a:ln>
        </p:spPr>
      </p:cxnSp>
      <p:sp>
        <p:nvSpPr>
          <p:cNvPr id="399" name="Google Shape;399;p25"/>
          <p:cNvSpPr/>
          <p:nvPr/>
        </p:nvSpPr>
        <p:spPr>
          <a:xfrm>
            <a:off x="1737360" y="1261872"/>
            <a:ext cx="5212080" cy="804672"/>
          </a:xfrm>
          <a:prstGeom prst="roundRect">
            <a:avLst>
              <a:gd fmla="val 10000" name="adj"/>
            </a:avLst>
          </a:prstGeom>
          <a:gradFill rotWithShape="1">
            <a:gsLst>
              <a:gs pos="0">
                <a:srgbClr val="DCFBF8"/>
              </a:gs>
              <a:gs pos="100000">
                <a:srgbClr val="B5F0EC"/>
              </a:gs>
            </a:gsLst>
            <a:lin ang="2700000" scaled="0"/>
          </a:gradFill>
          <a:ln cap="flat" cmpd="sng" w="12700">
            <a:solidFill>
              <a:srgbClr val="018D87"/>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00" name="Google Shape;400;p25"/>
          <p:cNvSpPr/>
          <p:nvPr/>
        </p:nvSpPr>
        <p:spPr>
          <a:xfrm>
            <a:off x="1783080" y="1307592"/>
            <a:ext cx="1417320" cy="713232"/>
          </a:xfrm>
          <a:prstGeom prst="roundRect">
            <a:avLst>
              <a:gd fmla="val 14000" name="adj"/>
            </a:avLst>
          </a:prstGeom>
          <a:gradFill rotWithShape="1">
            <a:gsLst>
              <a:gs pos="0">
                <a:srgbClr val="006662"/>
              </a:gs>
              <a:gs pos="100000">
                <a:srgbClr val="0E9294"/>
              </a:gs>
            </a:gsLst>
            <a:lin ang="2700000" scaled="0"/>
          </a:gradFill>
          <a:ln>
            <a:noFill/>
          </a:ln>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1  Request Understanding</a:t>
            </a:r>
            <a:endParaRPr/>
          </a:p>
          <a:p>
            <a:pPr indent="0" lvl="0" marL="0" marR="0" rtl="0" algn="ctr">
              <a:lnSpc>
                <a:spcPct val="100000"/>
              </a:lnSpc>
              <a:spcBef>
                <a:spcPts val="100"/>
              </a:spcBef>
              <a:spcAft>
                <a:spcPts val="0"/>
              </a:spcAft>
              <a:buClr>
                <a:srgbClr val="000000"/>
              </a:buClr>
              <a:buSzPts val="1050"/>
              <a:buFont typeface="Arial"/>
              <a:buNone/>
            </a:pPr>
            <a:r>
              <a:rPr b="0" i="0" lang="en-US" sz="1050" u="none" cap="none" strike="noStrike">
                <a:solidFill>
                  <a:schemeClr val="lt1"/>
                </a:solidFill>
                <a:latin typeface="Times New Roman"/>
                <a:ea typeface="Times New Roman"/>
                <a:cs typeface="Times New Roman"/>
                <a:sym typeface="Times New Roman"/>
              </a:rPr>
              <a:t>(NLP / GenAI)</a:t>
            </a:r>
            <a:endParaRPr/>
          </a:p>
        </p:txBody>
      </p:sp>
      <p:sp>
        <p:nvSpPr>
          <p:cNvPr id="401" name="Google Shape;401;p25"/>
          <p:cNvSpPr/>
          <p:nvPr/>
        </p:nvSpPr>
        <p:spPr>
          <a:xfrm>
            <a:off x="3264408" y="1325880"/>
            <a:ext cx="1152144" cy="676656"/>
          </a:xfrm>
          <a:prstGeom prst="roundRect">
            <a:avLst>
              <a:gd fmla="val 14000" name="adj"/>
            </a:avLst>
          </a:prstGeom>
          <a:gradFill rotWithShape="1">
            <a:gsLst>
              <a:gs pos="0">
                <a:srgbClr val="FFFFFF"/>
              </a:gs>
              <a:gs pos="100000">
                <a:srgbClr val="DAF7F4"/>
              </a:gs>
            </a:gsLst>
            <a:lin ang="5400000" scaled="0"/>
          </a:gradFill>
          <a:ln cap="flat" cmpd="sng" w="12700">
            <a:solidFill>
              <a:srgbClr val="018D87"/>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Service classification</a:t>
            </a:r>
            <a:endParaRPr/>
          </a:p>
        </p:txBody>
      </p:sp>
      <p:sp>
        <p:nvSpPr>
          <p:cNvPr id="402" name="Google Shape;402;p25"/>
          <p:cNvSpPr/>
          <p:nvPr/>
        </p:nvSpPr>
        <p:spPr>
          <a:xfrm>
            <a:off x="4489704" y="1325880"/>
            <a:ext cx="1152144" cy="676656"/>
          </a:xfrm>
          <a:prstGeom prst="roundRect">
            <a:avLst>
              <a:gd fmla="val 14000" name="adj"/>
            </a:avLst>
          </a:prstGeom>
          <a:gradFill rotWithShape="1">
            <a:gsLst>
              <a:gs pos="0">
                <a:srgbClr val="FFFFFF"/>
              </a:gs>
              <a:gs pos="100000">
                <a:srgbClr val="DAF7F4"/>
              </a:gs>
            </a:gsLst>
            <a:lin ang="5400000" scaled="0"/>
          </a:gradFill>
          <a:ln cap="flat" cmpd="sng" w="12700">
            <a:solidFill>
              <a:srgbClr val="018D87"/>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Detail extraction</a:t>
            </a:r>
            <a:endParaRPr/>
          </a:p>
        </p:txBody>
      </p:sp>
      <p:sp>
        <p:nvSpPr>
          <p:cNvPr id="403" name="Google Shape;403;p25"/>
          <p:cNvSpPr/>
          <p:nvPr/>
        </p:nvSpPr>
        <p:spPr>
          <a:xfrm>
            <a:off x="5715000" y="1325880"/>
            <a:ext cx="1152144" cy="676656"/>
          </a:xfrm>
          <a:prstGeom prst="roundRect">
            <a:avLst>
              <a:gd fmla="val 14000" name="adj"/>
            </a:avLst>
          </a:prstGeom>
          <a:gradFill rotWithShape="1">
            <a:gsLst>
              <a:gs pos="0">
                <a:srgbClr val="FFFFFF"/>
              </a:gs>
              <a:gs pos="100000">
                <a:srgbClr val="DAF7F4"/>
              </a:gs>
            </a:gsLst>
            <a:lin ang="5400000" scaled="0"/>
          </a:gradFill>
          <a:ln cap="flat" cmpd="sng" w="12700">
            <a:solidFill>
              <a:srgbClr val="018D87"/>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Requirement profile</a:t>
            </a:r>
            <a:endParaRPr/>
          </a:p>
        </p:txBody>
      </p:sp>
      <p:sp>
        <p:nvSpPr>
          <p:cNvPr id="404" name="Google Shape;404;p25"/>
          <p:cNvSpPr/>
          <p:nvPr/>
        </p:nvSpPr>
        <p:spPr>
          <a:xfrm>
            <a:off x="4224528" y="2057400"/>
            <a:ext cx="219456" cy="150876"/>
          </a:xfrm>
          <a:prstGeom prst="downArrow">
            <a:avLst>
              <a:gd fmla="val 50000" name="adj1"/>
              <a:gd fmla="val 50000" name="adj2"/>
            </a:avLst>
          </a:prstGeom>
          <a:gradFill rotWithShape="1">
            <a:gsLst>
              <a:gs pos="0">
                <a:srgbClr val="006662"/>
              </a:gs>
              <a:gs pos="100000">
                <a:srgbClr val="0E9294"/>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05" name="Google Shape;405;p25"/>
          <p:cNvSpPr/>
          <p:nvPr/>
        </p:nvSpPr>
        <p:spPr>
          <a:xfrm>
            <a:off x="1737360" y="2199132"/>
            <a:ext cx="5212080" cy="804672"/>
          </a:xfrm>
          <a:prstGeom prst="roundRect">
            <a:avLst>
              <a:gd fmla="val 10000" name="adj"/>
            </a:avLst>
          </a:prstGeom>
          <a:gradFill rotWithShape="1">
            <a:gsLst>
              <a:gs pos="0">
                <a:srgbClr val="E9F6FD"/>
              </a:gs>
              <a:gs pos="100000">
                <a:srgbClr val="C2EAFF"/>
              </a:gs>
            </a:gsLst>
            <a:lin ang="2700000" scaled="0"/>
          </a:gradFill>
          <a:ln cap="flat" cmpd="sng" w="12700">
            <a:solidFill>
              <a:srgbClr val="0B85B2"/>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06" name="Google Shape;406;p25"/>
          <p:cNvSpPr/>
          <p:nvPr/>
        </p:nvSpPr>
        <p:spPr>
          <a:xfrm>
            <a:off x="1783080" y="2244852"/>
            <a:ext cx="1417320" cy="713232"/>
          </a:xfrm>
          <a:prstGeom prst="roundRect">
            <a:avLst>
              <a:gd fmla="val 14000" name="adj"/>
            </a:avLst>
          </a:prstGeom>
          <a:gradFill rotWithShape="1">
            <a:gsLst>
              <a:gs pos="0">
                <a:srgbClr val="06617B"/>
              </a:gs>
              <a:gs pos="100000">
                <a:srgbClr val="0D8AC4"/>
              </a:gs>
            </a:gsLst>
            <a:lin ang="2700000" scaled="0"/>
          </a:gradFill>
          <a:ln>
            <a:noFill/>
          </a:ln>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2  Nearby Worker Search</a:t>
            </a:r>
            <a:endParaRPr/>
          </a:p>
          <a:p>
            <a:pPr indent="0" lvl="0" marL="0" marR="0" rtl="0" algn="ctr">
              <a:lnSpc>
                <a:spcPct val="100000"/>
              </a:lnSpc>
              <a:spcBef>
                <a:spcPts val="100"/>
              </a:spcBef>
              <a:spcAft>
                <a:spcPts val="0"/>
              </a:spcAft>
              <a:buClr>
                <a:srgbClr val="000000"/>
              </a:buClr>
              <a:buSzPts val="1050"/>
              <a:buFont typeface="Arial"/>
              <a:buNone/>
            </a:pPr>
            <a:r>
              <a:rPr b="0" i="0" lang="en-US" sz="1050" u="none" cap="none" strike="noStrike">
                <a:solidFill>
                  <a:schemeClr val="lt1"/>
                </a:solidFill>
                <a:latin typeface="Times New Roman"/>
                <a:ea typeface="Times New Roman"/>
                <a:cs typeface="Times New Roman"/>
                <a:sym typeface="Times New Roman"/>
              </a:rPr>
              <a:t>(Location-based)</a:t>
            </a:r>
            <a:endParaRPr/>
          </a:p>
        </p:txBody>
      </p:sp>
      <p:sp>
        <p:nvSpPr>
          <p:cNvPr id="407" name="Google Shape;407;p25"/>
          <p:cNvSpPr/>
          <p:nvPr/>
        </p:nvSpPr>
        <p:spPr>
          <a:xfrm>
            <a:off x="3264408" y="2263140"/>
            <a:ext cx="1152144" cy="676656"/>
          </a:xfrm>
          <a:prstGeom prst="roundRect">
            <a:avLst>
              <a:gd fmla="val 14000" name="adj"/>
            </a:avLst>
          </a:prstGeom>
          <a:gradFill rotWithShape="1">
            <a:gsLst>
              <a:gs pos="0">
                <a:srgbClr val="FFFFFF"/>
              </a:gs>
              <a:gs pos="100000">
                <a:srgbClr val="E0F4FE"/>
              </a:gs>
            </a:gsLst>
            <a:lin ang="5400000" scaled="0"/>
          </a:gradFill>
          <a:ln cap="flat" cmpd="sng" w="12700">
            <a:solidFill>
              <a:srgbClr val="0B85B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Geo search in radius</a:t>
            </a:r>
            <a:endParaRPr/>
          </a:p>
        </p:txBody>
      </p:sp>
      <p:sp>
        <p:nvSpPr>
          <p:cNvPr id="408" name="Google Shape;408;p25"/>
          <p:cNvSpPr/>
          <p:nvPr/>
        </p:nvSpPr>
        <p:spPr>
          <a:xfrm>
            <a:off x="4489704" y="2263140"/>
            <a:ext cx="1152144" cy="676656"/>
          </a:xfrm>
          <a:prstGeom prst="roundRect">
            <a:avLst>
              <a:gd fmla="val 14000" name="adj"/>
            </a:avLst>
          </a:prstGeom>
          <a:gradFill rotWithShape="1">
            <a:gsLst>
              <a:gs pos="0">
                <a:srgbClr val="FFFFFF"/>
              </a:gs>
              <a:gs pos="100000">
                <a:srgbClr val="E0F4FE"/>
              </a:gs>
            </a:gsLst>
            <a:lin ang="5400000" scaled="0"/>
          </a:gradFill>
          <a:ln cap="flat" cmpd="sng" w="12700">
            <a:solidFill>
              <a:srgbClr val="0B85B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Availability check</a:t>
            </a:r>
            <a:endParaRPr/>
          </a:p>
        </p:txBody>
      </p:sp>
      <p:sp>
        <p:nvSpPr>
          <p:cNvPr id="409" name="Google Shape;409;p25"/>
          <p:cNvSpPr/>
          <p:nvPr/>
        </p:nvSpPr>
        <p:spPr>
          <a:xfrm>
            <a:off x="5715000" y="2263140"/>
            <a:ext cx="1152144" cy="676656"/>
          </a:xfrm>
          <a:prstGeom prst="roundRect">
            <a:avLst>
              <a:gd fmla="val 14000" name="adj"/>
            </a:avLst>
          </a:prstGeom>
          <a:gradFill rotWithShape="1">
            <a:gsLst>
              <a:gs pos="0">
                <a:srgbClr val="FFFFFF"/>
              </a:gs>
              <a:gs pos="100000">
                <a:srgbClr val="E0F4FE"/>
              </a:gs>
            </a:gsLst>
            <a:lin ang="5400000" scaled="0"/>
          </a:gradFill>
          <a:ln cap="flat" cmpd="sng" w="12700">
            <a:solidFill>
              <a:srgbClr val="0B85B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Candidate list</a:t>
            </a:r>
            <a:endParaRPr/>
          </a:p>
        </p:txBody>
      </p:sp>
      <p:sp>
        <p:nvSpPr>
          <p:cNvPr id="410" name="Google Shape;410;p25"/>
          <p:cNvSpPr/>
          <p:nvPr/>
        </p:nvSpPr>
        <p:spPr>
          <a:xfrm>
            <a:off x="4224528" y="2994660"/>
            <a:ext cx="219456" cy="150876"/>
          </a:xfrm>
          <a:prstGeom prst="downArrow">
            <a:avLst>
              <a:gd fmla="val 50000" name="adj1"/>
              <a:gd fmla="val 50000" name="adj2"/>
            </a:avLst>
          </a:prstGeom>
          <a:gradFill rotWithShape="1">
            <a:gsLst>
              <a:gs pos="0">
                <a:srgbClr val="06617B"/>
              </a:gs>
              <a:gs pos="100000">
                <a:srgbClr val="0D8AC4"/>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11" name="Google Shape;411;p25"/>
          <p:cNvSpPr/>
          <p:nvPr/>
        </p:nvSpPr>
        <p:spPr>
          <a:xfrm>
            <a:off x="1737360" y="3136392"/>
            <a:ext cx="5212080" cy="804672"/>
          </a:xfrm>
          <a:prstGeom prst="roundRect">
            <a:avLst>
              <a:gd fmla="val 10000" name="adj"/>
            </a:avLst>
          </a:prstGeom>
          <a:gradFill rotWithShape="1">
            <a:gsLst>
              <a:gs pos="0">
                <a:srgbClr val="F0F3FC"/>
              </a:gs>
              <a:gs pos="100000">
                <a:srgbClr val="D9E2FE"/>
              </a:gs>
            </a:gsLst>
            <a:lin ang="2700000" scaled="0"/>
          </a:gradFill>
          <a:ln cap="flat" cmpd="sng" w="12700">
            <a:solidFill>
              <a:srgbClr val="5F72CC"/>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12" name="Google Shape;412;p25"/>
          <p:cNvSpPr/>
          <p:nvPr/>
        </p:nvSpPr>
        <p:spPr>
          <a:xfrm>
            <a:off x="1783080" y="3182112"/>
            <a:ext cx="1417320" cy="713232"/>
          </a:xfrm>
          <a:prstGeom prst="roundRect">
            <a:avLst>
              <a:gd fmla="val 14000" name="adj"/>
            </a:avLst>
          </a:prstGeom>
          <a:gradFill rotWithShape="1">
            <a:gsLst>
              <a:gs pos="0">
                <a:srgbClr val="3050AA"/>
              </a:gs>
              <a:gs pos="100000">
                <a:srgbClr val="6F73D7"/>
              </a:gs>
            </a:gsLst>
            <a:lin ang="2700000" scaled="0"/>
          </a:gradFill>
          <a:ln>
            <a:noFill/>
          </a:ln>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3  AI Ranking and Selection</a:t>
            </a:r>
            <a:endParaRPr/>
          </a:p>
          <a:p>
            <a:pPr indent="0" lvl="0" marL="0" marR="0" rtl="0" algn="ctr">
              <a:lnSpc>
                <a:spcPct val="100000"/>
              </a:lnSpc>
              <a:spcBef>
                <a:spcPts val="100"/>
              </a:spcBef>
              <a:spcAft>
                <a:spcPts val="0"/>
              </a:spcAft>
              <a:buClr>
                <a:srgbClr val="000000"/>
              </a:buClr>
              <a:buSzPts val="1050"/>
              <a:buFont typeface="Arial"/>
              <a:buNone/>
            </a:pPr>
            <a:r>
              <a:rPr b="0" i="0" lang="en-US" sz="1050" u="none" cap="none" strike="noStrike">
                <a:solidFill>
                  <a:schemeClr val="lt1"/>
                </a:solidFill>
                <a:latin typeface="Times New Roman"/>
                <a:ea typeface="Times New Roman"/>
                <a:cs typeface="Times New Roman"/>
                <a:sym typeface="Times New Roman"/>
              </a:rPr>
              <a:t>(CrowdBwO)</a:t>
            </a:r>
            <a:endParaRPr/>
          </a:p>
        </p:txBody>
      </p:sp>
      <p:sp>
        <p:nvSpPr>
          <p:cNvPr id="413" name="Google Shape;413;p25"/>
          <p:cNvSpPr/>
          <p:nvPr/>
        </p:nvSpPr>
        <p:spPr>
          <a:xfrm>
            <a:off x="3264408" y="3200400"/>
            <a:ext cx="1152144" cy="676656"/>
          </a:xfrm>
          <a:prstGeom prst="roundRect">
            <a:avLst>
              <a:gd fmla="val 14000" name="adj"/>
            </a:avLst>
          </a:prstGeom>
          <a:gradFill rotWithShape="1">
            <a:gsLst>
              <a:gs pos="0">
                <a:srgbClr val="FFFFFF"/>
              </a:gs>
              <a:gs pos="100000">
                <a:srgbClr val="EBF0FE"/>
              </a:gs>
            </a:gsLst>
            <a:lin ang="5400000" scaled="0"/>
          </a:gradFill>
          <a:ln cap="flat" cmpd="sng" w="12700">
            <a:solidFill>
              <a:srgbClr val="5F72CC"/>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Feature builder</a:t>
            </a:r>
            <a:endParaRPr/>
          </a:p>
        </p:txBody>
      </p:sp>
      <p:sp>
        <p:nvSpPr>
          <p:cNvPr id="414" name="Google Shape;414;p25"/>
          <p:cNvSpPr/>
          <p:nvPr/>
        </p:nvSpPr>
        <p:spPr>
          <a:xfrm>
            <a:off x="4489704" y="3200400"/>
            <a:ext cx="1152144" cy="676656"/>
          </a:xfrm>
          <a:prstGeom prst="roundRect">
            <a:avLst>
              <a:gd fmla="val 14000" name="adj"/>
            </a:avLst>
          </a:prstGeom>
          <a:gradFill rotWithShape="1">
            <a:gsLst>
              <a:gs pos="0">
                <a:srgbClr val="FFFFFF"/>
              </a:gs>
              <a:gs pos="100000">
                <a:srgbClr val="EBF0FE"/>
              </a:gs>
            </a:gsLst>
            <a:lin ang="5400000" scaled="0"/>
          </a:gradFill>
          <a:ln cap="flat" cmpd="sng" w="12700">
            <a:solidFill>
              <a:srgbClr val="5F72CC"/>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Bandit learner</a:t>
            </a:r>
            <a:endParaRPr/>
          </a:p>
        </p:txBody>
      </p:sp>
      <p:sp>
        <p:nvSpPr>
          <p:cNvPr id="415" name="Google Shape;415;p25"/>
          <p:cNvSpPr/>
          <p:nvPr/>
        </p:nvSpPr>
        <p:spPr>
          <a:xfrm>
            <a:off x="5715000" y="3200400"/>
            <a:ext cx="1152144" cy="676656"/>
          </a:xfrm>
          <a:prstGeom prst="roundRect">
            <a:avLst>
              <a:gd fmla="val 14000" name="adj"/>
            </a:avLst>
          </a:prstGeom>
          <a:gradFill rotWithShape="1">
            <a:gsLst>
              <a:gs pos="0">
                <a:srgbClr val="FFFFFF"/>
              </a:gs>
              <a:gs pos="100000">
                <a:srgbClr val="EBF0FE"/>
              </a:gs>
            </a:gsLst>
            <a:lin ang="5400000" scaled="0"/>
          </a:gradFill>
          <a:ln cap="flat" cmpd="sng" w="12700">
            <a:solidFill>
              <a:srgbClr val="5F72CC"/>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Scorer and optimizer</a:t>
            </a:r>
            <a:endParaRPr/>
          </a:p>
        </p:txBody>
      </p:sp>
      <p:sp>
        <p:nvSpPr>
          <p:cNvPr id="416" name="Google Shape;416;p25"/>
          <p:cNvSpPr/>
          <p:nvPr/>
        </p:nvSpPr>
        <p:spPr>
          <a:xfrm>
            <a:off x="4224528" y="3931920"/>
            <a:ext cx="219456" cy="150876"/>
          </a:xfrm>
          <a:prstGeom prst="downArrow">
            <a:avLst>
              <a:gd fmla="val 50000" name="adj1"/>
              <a:gd fmla="val 50000" name="adj2"/>
            </a:avLst>
          </a:prstGeom>
          <a:gradFill rotWithShape="1">
            <a:gsLst>
              <a:gs pos="0">
                <a:srgbClr val="3050AA"/>
              </a:gs>
              <a:gs pos="100000">
                <a:srgbClr val="6F73D7"/>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17" name="Google Shape;417;p25"/>
          <p:cNvSpPr/>
          <p:nvPr/>
        </p:nvSpPr>
        <p:spPr>
          <a:xfrm>
            <a:off x="1737360" y="4073652"/>
            <a:ext cx="5212080" cy="804672"/>
          </a:xfrm>
          <a:prstGeom prst="roundRect">
            <a:avLst>
              <a:gd fmla="val 10000" name="adj"/>
            </a:avLst>
          </a:prstGeom>
          <a:gradFill rotWithShape="1">
            <a:gsLst>
              <a:gs pos="0">
                <a:srgbClr val="F9EFFE"/>
              </a:gs>
              <a:gs pos="100000">
                <a:srgbClr val="F0D9FD"/>
              </a:gs>
            </a:gsLst>
            <a:lin ang="2700000" scaled="0"/>
          </a:gradFill>
          <a:ln cap="flat" cmpd="sng" w="12700">
            <a:solidFill>
              <a:srgbClr val="985EB4"/>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18" name="Google Shape;418;p25"/>
          <p:cNvSpPr/>
          <p:nvPr/>
        </p:nvSpPr>
        <p:spPr>
          <a:xfrm>
            <a:off x="1783080" y="4119372"/>
            <a:ext cx="1417320" cy="713232"/>
          </a:xfrm>
          <a:prstGeom prst="roundRect">
            <a:avLst>
              <a:gd fmla="val 14000" name="adj"/>
            </a:avLst>
          </a:prstGeom>
          <a:gradFill rotWithShape="1">
            <a:gsLst>
              <a:gs pos="0">
                <a:srgbClr val="6E3A98"/>
              </a:gs>
              <a:gs pos="100000">
                <a:srgbClr val="A75EB7"/>
              </a:gs>
            </a:gsLst>
            <a:lin ang="2700000" scaled="0"/>
          </a:gradFill>
          <a:ln>
            <a:noFill/>
          </a:ln>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4  Recommendation and Booking</a:t>
            </a:r>
            <a:endParaRPr/>
          </a:p>
        </p:txBody>
      </p:sp>
      <p:sp>
        <p:nvSpPr>
          <p:cNvPr id="419" name="Google Shape;419;p25"/>
          <p:cNvSpPr/>
          <p:nvPr/>
        </p:nvSpPr>
        <p:spPr>
          <a:xfrm>
            <a:off x="3264408" y="4137660"/>
            <a:ext cx="1152144" cy="676656"/>
          </a:xfrm>
          <a:prstGeom prst="roundRect">
            <a:avLst>
              <a:gd fmla="val 14000" name="adj"/>
            </a:avLst>
          </a:prstGeom>
          <a:gradFill rotWithShape="1">
            <a:gsLst>
              <a:gs pos="0">
                <a:srgbClr val="FFFFFF"/>
              </a:gs>
              <a:gs pos="100000">
                <a:srgbClr val="F8EBFF"/>
              </a:gs>
            </a:gsLst>
            <a:lin ang="5400000" scaled="0"/>
          </a:gradFill>
          <a:ln cap="flat" cmpd="sng" w="12700">
            <a:solidFill>
              <a:srgbClr val="985EB4"/>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Best worker + alternatives</a:t>
            </a:r>
            <a:endParaRPr/>
          </a:p>
        </p:txBody>
      </p:sp>
      <p:sp>
        <p:nvSpPr>
          <p:cNvPr id="420" name="Google Shape;420;p25"/>
          <p:cNvSpPr/>
          <p:nvPr/>
        </p:nvSpPr>
        <p:spPr>
          <a:xfrm>
            <a:off x="4489704" y="4137660"/>
            <a:ext cx="1152144" cy="676656"/>
          </a:xfrm>
          <a:prstGeom prst="roundRect">
            <a:avLst>
              <a:gd fmla="val 14000" name="adj"/>
            </a:avLst>
          </a:prstGeom>
          <a:gradFill rotWithShape="1">
            <a:gsLst>
              <a:gs pos="0">
                <a:srgbClr val="FFFFFF"/>
              </a:gs>
              <a:gs pos="100000">
                <a:srgbClr val="F8EBFF"/>
              </a:gs>
            </a:gsLst>
            <a:lin ang="5400000" scaled="0"/>
          </a:gradFill>
          <a:ln cap="flat" cmpd="sng" w="12700">
            <a:solidFill>
              <a:srgbClr val="985EB4"/>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Booking request</a:t>
            </a:r>
            <a:endParaRPr/>
          </a:p>
        </p:txBody>
      </p:sp>
      <p:sp>
        <p:nvSpPr>
          <p:cNvPr id="421" name="Google Shape;421;p25"/>
          <p:cNvSpPr/>
          <p:nvPr/>
        </p:nvSpPr>
        <p:spPr>
          <a:xfrm>
            <a:off x="5715000" y="4137660"/>
            <a:ext cx="1152144" cy="676656"/>
          </a:xfrm>
          <a:prstGeom prst="roundRect">
            <a:avLst>
              <a:gd fmla="val 14000" name="adj"/>
            </a:avLst>
          </a:prstGeom>
          <a:gradFill rotWithShape="1">
            <a:gsLst>
              <a:gs pos="0">
                <a:srgbClr val="FFFFFF"/>
              </a:gs>
              <a:gs pos="100000">
                <a:srgbClr val="F8EBFF"/>
              </a:gs>
            </a:gsLst>
            <a:lin ang="5400000" scaled="0"/>
          </a:gradFill>
          <a:ln cap="flat" cmpd="sng" w="12700">
            <a:solidFill>
              <a:srgbClr val="985EB4"/>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Notification</a:t>
            </a:r>
            <a:endParaRPr/>
          </a:p>
        </p:txBody>
      </p:sp>
      <p:sp>
        <p:nvSpPr>
          <p:cNvPr id="422" name="Google Shape;422;p25"/>
          <p:cNvSpPr/>
          <p:nvPr/>
        </p:nvSpPr>
        <p:spPr>
          <a:xfrm>
            <a:off x="4224528" y="4869180"/>
            <a:ext cx="219456" cy="150876"/>
          </a:xfrm>
          <a:prstGeom prst="downArrow">
            <a:avLst>
              <a:gd fmla="val 50000" name="adj1"/>
              <a:gd fmla="val 50000" name="adj2"/>
            </a:avLst>
          </a:prstGeom>
          <a:gradFill rotWithShape="1">
            <a:gsLst>
              <a:gs pos="0">
                <a:srgbClr val="6E3A98"/>
              </a:gs>
              <a:gs pos="100000">
                <a:srgbClr val="A75EB7"/>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23" name="Google Shape;423;p25"/>
          <p:cNvSpPr/>
          <p:nvPr/>
        </p:nvSpPr>
        <p:spPr>
          <a:xfrm>
            <a:off x="1737360" y="5010912"/>
            <a:ext cx="5212080" cy="804672"/>
          </a:xfrm>
          <a:prstGeom prst="roundRect">
            <a:avLst>
              <a:gd fmla="val 10000" name="adj"/>
            </a:avLst>
          </a:prstGeom>
          <a:gradFill rotWithShape="1">
            <a:gsLst>
              <a:gs pos="0">
                <a:srgbClr val="FEEFF4"/>
              </a:gs>
              <a:gs pos="100000">
                <a:srgbClr val="FDD7E4"/>
              </a:gs>
            </a:gsLst>
            <a:lin ang="2700000" scaled="0"/>
          </a:gradFill>
          <a:ln cap="flat" cmpd="sng" w="12700">
            <a:solidFill>
              <a:srgbClr val="B8527E"/>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24" name="Google Shape;424;p25"/>
          <p:cNvSpPr/>
          <p:nvPr/>
        </p:nvSpPr>
        <p:spPr>
          <a:xfrm>
            <a:off x="1783080" y="5056632"/>
            <a:ext cx="1417320" cy="713232"/>
          </a:xfrm>
          <a:prstGeom prst="roundRect">
            <a:avLst>
              <a:gd fmla="val 14000" name="adj"/>
            </a:avLst>
          </a:prstGeom>
          <a:gradFill rotWithShape="1">
            <a:gsLst>
              <a:gs pos="0">
                <a:srgbClr val="902A66"/>
              </a:gs>
              <a:gs pos="100000">
                <a:srgbClr val="C25485"/>
              </a:gs>
            </a:gsLst>
            <a:lin ang="2700000" scaled="0"/>
          </a:gradFill>
          <a:ln>
            <a:noFill/>
          </a:ln>
        </p:spPr>
        <p:txBody>
          <a:bodyPr anchorCtr="0" anchor="ctr" bIns="36575" lIns="36575" spcFirstLastPara="1" rIns="36575" wrap="square" tIns="36575">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5  Service and Feedback</a:t>
            </a:r>
            <a:endParaRPr/>
          </a:p>
        </p:txBody>
      </p:sp>
      <p:sp>
        <p:nvSpPr>
          <p:cNvPr id="425" name="Google Shape;425;p25"/>
          <p:cNvSpPr/>
          <p:nvPr/>
        </p:nvSpPr>
        <p:spPr>
          <a:xfrm>
            <a:off x="3264408" y="5074920"/>
            <a:ext cx="1152144" cy="676656"/>
          </a:xfrm>
          <a:prstGeom prst="roundRect">
            <a:avLst>
              <a:gd fmla="val 14000" name="adj"/>
            </a:avLst>
          </a:prstGeom>
          <a:gradFill rotWithShape="1">
            <a:gsLst>
              <a:gs pos="0">
                <a:srgbClr val="FFFFFF"/>
              </a:gs>
              <a:gs pos="100000">
                <a:srgbClr val="FFEAF1"/>
              </a:gs>
            </a:gsLst>
            <a:lin ang="5400000" scaled="0"/>
          </a:gradFill>
          <a:ln cap="flat" cmpd="sng" w="12700">
            <a:solidFill>
              <a:srgbClr val="B8527E"/>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Service visit</a:t>
            </a:r>
            <a:endParaRPr/>
          </a:p>
        </p:txBody>
      </p:sp>
      <p:sp>
        <p:nvSpPr>
          <p:cNvPr id="426" name="Google Shape;426;p25"/>
          <p:cNvSpPr/>
          <p:nvPr/>
        </p:nvSpPr>
        <p:spPr>
          <a:xfrm>
            <a:off x="4489704" y="5074920"/>
            <a:ext cx="1152144" cy="676656"/>
          </a:xfrm>
          <a:prstGeom prst="roundRect">
            <a:avLst>
              <a:gd fmla="val 14000" name="adj"/>
            </a:avLst>
          </a:prstGeom>
          <a:gradFill rotWithShape="1">
            <a:gsLst>
              <a:gs pos="0">
                <a:srgbClr val="FFFFFF"/>
              </a:gs>
              <a:gs pos="100000">
                <a:srgbClr val="FFEAF1"/>
              </a:gs>
            </a:gsLst>
            <a:lin ang="5400000" scaled="0"/>
          </a:gradFill>
          <a:ln cap="flat" cmpd="sng" w="12700">
            <a:solidFill>
              <a:srgbClr val="B8527E"/>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Customer rating</a:t>
            </a:r>
            <a:endParaRPr/>
          </a:p>
        </p:txBody>
      </p:sp>
      <p:sp>
        <p:nvSpPr>
          <p:cNvPr id="427" name="Google Shape;427;p25"/>
          <p:cNvSpPr/>
          <p:nvPr/>
        </p:nvSpPr>
        <p:spPr>
          <a:xfrm>
            <a:off x="5715000" y="5074920"/>
            <a:ext cx="1152144" cy="676656"/>
          </a:xfrm>
          <a:prstGeom prst="roundRect">
            <a:avLst>
              <a:gd fmla="val 14000" name="adj"/>
            </a:avLst>
          </a:prstGeom>
          <a:gradFill rotWithShape="1">
            <a:gsLst>
              <a:gs pos="0">
                <a:srgbClr val="FFFFFF"/>
              </a:gs>
              <a:gs pos="100000">
                <a:srgbClr val="FFEAF1"/>
              </a:gs>
            </a:gsLst>
            <a:lin ang="5400000" scaled="0"/>
          </a:gradFill>
          <a:ln cap="flat" cmpd="sng" w="12700">
            <a:solidFill>
              <a:srgbClr val="B8527E"/>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Times New Roman"/>
                <a:ea typeface="Times New Roman"/>
                <a:cs typeface="Times New Roman"/>
                <a:sym typeface="Times New Roman"/>
              </a:rPr>
              <a:t>Learning update</a:t>
            </a:r>
            <a:endParaRPr/>
          </a:p>
        </p:txBody>
      </p:sp>
      <p:sp>
        <p:nvSpPr>
          <p:cNvPr id="428" name="Google Shape;428;p25"/>
          <p:cNvSpPr/>
          <p:nvPr/>
        </p:nvSpPr>
        <p:spPr>
          <a:xfrm>
            <a:off x="1417320" y="3538728"/>
            <a:ext cx="320040" cy="1874520"/>
          </a:xfrm>
          <a:custGeom>
            <a:rect b="b" l="l" r="r" t="t"/>
            <a:pathLst>
              <a:path extrusionOk="0" fill="none" h="1874520" w="320040">
                <a:moveTo>
                  <a:pt x="320040" y="1874520"/>
                </a:moveTo>
                <a:lnTo>
                  <a:pt x="0" y="1874520"/>
                </a:lnTo>
                <a:lnTo>
                  <a:pt x="0" y="0"/>
                </a:lnTo>
                <a:lnTo>
                  <a:pt x="301752" y="0"/>
                </a:lnTo>
              </a:path>
            </a:pathLst>
          </a:custGeom>
          <a:noFill/>
          <a:ln cap="flat" cmpd="sng" w="28575">
            <a:solidFill>
              <a:srgbClr val="A758A1"/>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9" name="Google Shape;429;p25"/>
          <p:cNvSpPr/>
          <p:nvPr/>
        </p:nvSpPr>
        <p:spPr>
          <a:xfrm rot="-5400000">
            <a:off x="-182880" y="4087368"/>
            <a:ext cx="2057400" cy="77724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rgbClr val="6C2768"/>
                </a:solidFill>
                <a:latin typeface="Times New Roman"/>
                <a:ea typeface="Times New Roman"/>
                <a:cs typeface="Times New Roman"/>
                <a:sym typeface="Times New Roman"/>
              </a:rPr>
              <a:t>Ratings and outcomes improve later rankings</a:t>
            </a:r>
            <a:endParaRPr/>
          </a:p>
        </p:txBody>
      </p:sp>
      <p:sp>
        <p:nvSpPr>
          <p:cNvPr id="430" name="Google Shape;430;p25"/>
          <p:cNvSpPr/>
          <p:nvPr/>
        </p:nvSpPr>
        <p:spPr>
          <a:xfrm>
            <a:off x="7086600" y="1243584"/>
            <a:ext cx="1645920" cy="36576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rgbClr val="07468B"/>
                </a:solidFill>
                <a:latin typeface="Times New Roman"/>
                <a:ea typeface="Times New Roman"/>
                <a:cs typeface="Times New Roman"/>
                <a:sym typeface="Times New Roman"/>
              </a:rPr>
              <a:t>Data and Cloud Layer</a:t>
            </a:r>
            <a:endParaRPr/>
          </a:p>
        </p:txBody>
      </p:sp>
      <p:sp>
        <p:nvSpPr>
          <p:cNvPr id="431" name="Google Shape;431;p25"/>
          <p:cNvSpPr/>
          <p:nvPr/>
        </p:nvSpPr>
        <p:spPr>
          <a:xfrm>
            <a:off x="7178040" y="1783080"/>
            <a:ext cx="1463040" cy="1188720"/>
          </a:xfrm>
          <a:prstGeom prst="can">
            <a:avLst>
              <a:gd fmla="val 25000" name="adj"/>
            </a:avLst>
          </a:prstGeom>
          <a:gradFill rotWithShape="1">
            <a:gsLst>
              <a:gs pos="0">
                <a:srgbClr val="006084"/>
              </a:gs>
              <a:gs pos="100000">
                <a:srgbClr val="1086D3"/>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Worker Profile Database</a:t>
            </a:r>
            <a:endParaRPr/>
          </a:p>
        </p:txBody>
      </p:sp>
      <p:sp>
        <p:nvSpPr>
          <p:cNvPr id="432" name="Google Shape;432;p25"/>
          <p:cNvSpPr/>
          <p:nvPr/>
        </p:nvSpPr>
        <p:spPr>
          <a:xfrm>
            <a:off x="7178040" y="3246120"/>
            <a:ext cx="1463040" cy="1188720"/>
          </a:xfrm>
          <a:prstGeom prst="can">
            <a:avLst>
              <a:gd fmla="val 25000" name="adj"/>
            </a:avLst>
          </a:prstGeom>
          <a:gradFill rotWithShape="1">
            <a:gsLst>
              <a:gs pos="0">
                <a:srgbClr val="4F47A8"/>
              </a:gs>
              <a:gs pos="100000">
                <a:srgbClr val="896ACF"/>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Booking and Feedback Database</a:t>
            </a:r>
            <a:endParaRPr/>
          </a:p>
        </p:txBody>
      </p:sp>
      <p:sp>
        <p:nvSpPr>
          <p:cNvPr id="433" name="Google Shape;433;p25"/>
          <p:cNvSpPr/>
          <p:nvPr/>
        </p:nvSpPr>
        <p:spPr>
          <a:xfrm>
            <a:off x="7132320" y="4617720"/>
            <a:ext cx="1554480" cy="1097280"/>
          </a:xfrm>
          <a:prstGeom prst="cloud">
            <a:avLst/>
          </a:prstGeom>
          <a:gradFill rotWithShape="1">
            <a:gsLst>
              <a:gs pos="0">
                <a:srgbClr val="902A66"/>
              </a:gs>
              <a:gs pos="100000">
                <a:srgbClr val="C25485"/>
              </a:gs>
            </a:gsLst>
            <a:lin ang="2700000" scaled="0"/>
          </a:gradFill>
          <a:ln>
            <a:noFill/>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Cloud Platform</a:t>
            </a:r>
            <a:endParaRPr/>
          </a:p>
          <a:p>
            <a:pPr indent="0" lvl="0" marL="0" marR="0" rtl="0" algn="ctr">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Times New Roman"/>
                <a:ea typeface="Times New Roman"/>
                <a:cs typeface="Times New Roman"/>
                <a:sym typeface="Times New Roman"/>
              </a:rPr>
              <a:t>live updates, scalable</a:t>
            </a:r>
            <a:endParaRPr/>
          </a:p>
        </p:txBody>
      </p:sp>
      <p:cxnSp>
        <p:nvCxnSpPr>
          <p:cNvPr id="434" name="Google Shape;434;p25"/>
          <p:cNvCxnSpPr/>
          <p:nvPr/>
        </p:nvCxnSpPr>
        <p:spPr>
          <a:xfrm flipH="1">
            <a:off x="6967728" y="2377440"/>
            <a:ext cx="210312" cy="182880"/>
          </a:xfrm>
          <a:prstGeom prst="straightConnector1">
            <a:avLst/>
          </a:prstGeom>
          <a:noFill/>
          <a:ln cap="flat" cmpd="sng" w="19050">
            <a:solidFill>
              <a:srgbClr val="0783BE"/>
            </a:solidFill>
            <a:prstDash val="dash"/>
            <a:round/>
            <a:headEnd len="sm" w="sm" type="none"/>
            <a:tailEnd len="med" w="med" type="triangle"/>
          </a:ln>
        </p:spPr>
      </p:cxnSp>
      <p:cxnSp>
        <p:nvCxnSpPr>
          <p:cNvPr id="435" name="Google Shape;435;p25"/>
          <p:cNvCxnSpPr/>
          <p:nvPr/>
        </p:nvCxnSpPr>
        <p:spPr>
          <a:xfrm rot="10800000">
            <a:off x="6967728" y="3566160"/>
            <a:ext cx="210312" cy="274320"/>
          </a:xfrm>
          <a:prstGeom prst="straightConnector1">
            <a:avLst/>
          </a:prstGeom>
          <a:noFill/>
          <a:ln cap="flat" cmpd="sng" w="19050">
            <a:solidFill>
              <a:srgbClr val="7969C7"/>
            </a:solidFill>
            <a:prstDash val="dash"/>
            <a:round/>
            <a:headEnd len="sm" w="sm" type="none"/>
            <a:tailEnd len="med" w="med" type="triangle"/>
          </a:ln>
        </p:spPr>
      </p:cxnSp>
      <p:cxnSp>
        <p:nvCxnSpPr>
          <p:cNvPr id="436" name="Google Shape;436;p25"/>
          <p:cNvCxnSpPr/>
          <p:nvPr/>
        </p:nvCxnSpPr>
        <p:spPr>
          <a:xfrm flipH="1">
            <a:off x="6967728" y="3977640"/>
            <a:ext cx="210312" cy="1417320"/>
          </a:xfrm>
          <a:prstGeom prst="straightConnector1">
            <a:avLst/>
          </a:prstGeom>
          <a:noFill/>
          <a:ln cap="flat" cmpd="sng" w="19050">
            <a:solidFill>
              <a:srgbClr val="B8527E"/>
            </a:solidFill>
            <a:prstDash val="dash"/>
            <a:round/>
            <a:headEnd len="sm" w="sm" type="none"/>
            <a:tailEnd len="med" w="med" type="triangle"/>
          </a:ln>
        </p:spPr>
      </p:cxnSp>
    </p:spTree>
  </p:cSld>
  <p:clrMapOvr>
    <a:masterClrMapping/>
  </p:clrMapOvr>
  <mc:AlternateContent>
    <mc:Choice Requires="p14">
      <p:transition spd="slow" p14:dur="1400">
        <p14:flip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397"/>
                                        </p:tgtEl>
                                        <p:attrNameLst>
                                          <p:attrName>style.visibility</p:attrName>
                                        </p:attrNameLst>
                                      </p:cBhvr>
                                      <p:to>
                                        <p:strVal val="visible"/>
                                      </p:to>
                                    </p:set>
                                    <p:anim calcmode="lin" valueType="num">
                                      <p:cBhvr additive="base">
                                        <p:cTn dur="500"/>
                                        <p:tgtEl>
                                          <p:spTgt spid="397"/>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300"/>
                                  </p:stCondLst>
                                  <p:childTnLst>
                                    <p:set>
                                      <p:cBhvr>
                                        <p:cTn dur="1" fill="hold">
                                          <p:stCondLst>
                                            <p:cond delay="0"/>
                                          </p:stCondLst>
                                        </p:cTn>
                                        <p:tgtEl>
                                          <p:spTgt spid="398"/>
                                        </p:tgtEl>
                                        <p:attrNameLst>
                                          <p:attrName>style.visibility</p:attrName>
                                        </p:attrNameLst>
                                      </p:cBhvr>
                                      <p:to>
                                        <p:strVal val="visible"/>
                                      </p:to>
                                    </p:set>
                                    <p:animEffect filter="fade" transition="in">
                                      <p:cBhvr>
                                        <p:cTn dur="250"/>
                                        <p:tgtEl>
                                          <p:spTgt spid="398"/>
                                        </p:tgtEl>
                                      </p:cBhvr>
                                    </p:animEffect>
                                  </p:childTnLst>
                                </p:cTn>
                              </p:par>
                              <p:par>
                                <p:cTn fill="hold" nodeType="withEffect" presetClass="entr" presetID="10" presetSubtype="0">
                                  <p:stCondLst>
                                    <p:cond delay="450"/>
                                  </p:stCondLst>
                                  <p:childTnLst>
                                    <p:set>
                                      <p:cBhvr>
                                        <p:cTn dur="1" fill="hold">
                                          <p:stCondLst>
                                            <p:cond delay="0"/>
                                          </p:stCondLst>
                                        </p:cTn>
                                        <p:tgtEl>
                                          <p:spTgt spid="399"/>
                                        </p:tgtEl>
                                        <p:attrNameLst>
                                          <p:attrName>style.visibility</p:attrName>
                                        </p:attrNameLst>
                                      </p:cBhvr>
                                      <p:to>
                                        <p:strVal val="visible"/>
                                      </p:to>
                                    </p:set>
                                    <p:animEffect filter="fade" transition="in">
                                      <p:cBhvr>
                                        <p:cTn dur="450"/>
                                        <p:tgtEl>
                                          <p:spTgt spid="399"/>
                                        </p:tgtEl>
                                      </p:cBhvr>
                                    </p:animEffect>
                                  </p:childTnLst>
                                </p:cTn>
                              </p:par>
                              <p:par>
                                <p:cTn fill="hold" nodeType="withEffect" presetClass="entr" presetID="23" presetSubtype="16">
                                  <p:stCondLst>
                                    <p:cond delay="550"/>
                                  </p:stCondLst>
                                  <p:childTnLst>
                                    <p:set>
                                      <p:cBhvr>
                                        <p:cTn dur="1" fill="hold">
                                          <p:stCondLst>
                                            <p:cond delay="0"/>
                                          </p:stCondLst>
                                        </p:cTn>
                                        <p:tgtEl>
                                          <p:spTgt spid="400"/>
                                        </p:tgtEl>
                                        <p:attrNameLst>
                                          <p:attrName>style.visibility</p:attrName>
                                        </p:attrNameLst>
                                      </p:cBhvr>
                                      <p:to>
                                        <p:strVal val="visible"/>
                                      </p:to>
                                    </p:set>
                                    <p:anim calcmode="lin" valueType="num">
                                      <p:cBhvr additive="base">
                                        <p:cTn dur="350"/>
                                        <p:tgtEl>
                                          <p:spTgt spid="400"/>
                                        </p:tgtEl>
                                        <p:attrNameLst>
                                          <p:attrName>ppt_w</p:attrName>
                                        </p:attrNameLst>
                                      </p:cBhvr>
                                      <p:tavLst>
                                        <p:tav fmla="" tm="0">
                                          <p:val>
                                            <p:strVal val="0"/>
                                          </p:val>
                                        </p:tav>
                                        <p:tav fmla="" tm="100000">
                                          <p:val>
                                            <p:strVal val="#ppt_w"/>
                                          </p:val>
                                        </p:tav>
                                      </p:tavLst>
                                    </p:anim>
                                    <p:anim calcmode="lin" valueType="num">
                                      <p:cBhvr additive="base">
                                        <p:cTn dur="350"/>
                                        <p:tgtEl>
                                          <p:spTgt spid="40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650"/>
                                  </p:stCondLst>
                                  <p:childTnLst>
                                    <p:set>
                                      <p:cBhvr>
                                        <p:cTn dur="1" fill="hold">
                                          <p:stCondLst>
                                            <p:cond delay="0"/>
                                          </p:stCondLst>
                                        </p:cTn>
                                        <p:tgtEl>
                                          <p:spTgt spid="401"/>
                                        </p:tgtEl>
                                        <p:attrNameLst>
                                          <p:attrName>style.visibility</p:attrName>
                                        </p:attrNameLst>
                                      </p:cBhvr>
                                      <p:to>
                                        <p:strVal val="visible"/>
                                      </p:to>
                                    </p:set>
                                    <p:animEffect filter="fade" transition="in">
                                      <p:cBhvr>
                                        <p:cTn dur="300"/>
                                        <p:tgtEl>
                                          <p:spTgt spid="401"/>
                                        </p:tgtEl>
                                      </p:cBhvr>
                                    </p:animEffect>
                                  </p:childTnLst>
                                </p:cTn>
                              </p:par>
                              <p:par>
                                <p:cTn fill="hold" nodeType="withEffect" presetClass="entr" presetID="10" presetSubtype="0">
                                  <p:stCondLst>
                                    <p:cond delay="740"/>
                                  </p:stCondLst>
                                  <p:childTnLst>
                                    <p:set>
                                      <p:cBhvr>
                                        <p:cTn dur="1" fill="hold">
                                          <p:stCondLst>
                                            <p:cond delay="0"/>
                                          </p:stCondLst>
                                        </p:cTn>
                                        <p:tgtEl>
                                          <p:spTgt spid="402"/>
                                        </p:tgtEl>
                                        <p:attrNameLst>
                                          <p:attrName>style.visibility</p:attrName>
                                        </p:attrNameLst>
                                      </p:cBhvr>
                                      <p:to>
                                        <p:strVal val="visible"/>
                                      </p:to>
                                    </p:set>
                                    <p:animEffect filter="fade" transition="in">
                                      <p:cBhvr>
                                        <p:cTn dur="300"/>
                                        <p:tgtEl>
                                          <p:spTgt spid="402"/>
                                        </p:tgtEl>
                                      </p:cBhvr>
                                    </p:animEffect>
                                  </p:childTnLst>
                                </p:cTn>
                              </p:par>
                              <p:par>
                                <p:cTn fill="hold" nodeType="withEffect" presetClass="entr" presetID="10" presetSubtype="0">
                                  <p:stCondLst>
                                    <p:cond delay="830"/>
                                  </p:stCondLst>
                                  <p:childTnLst>
                                    <p:set>
                                      <p:cBhvr>
                                        <p:cTn dur="1" fill="hold">
                                          <p:stCondLst>
                                            <p:cond delay="0"/>
                                          </p:stCondLst>
                                        </p:cTn>
                                        <p:tgtEl>
                                          <p:spTgt spid="403"/>
                                        </p:tgtEl>
                                        <p:attrNameLst>
                                          <p:attrName>style.visibility</p:attrName>
                                        </p:attrNameLst>
                                      </p:cBhvr>
                                      <p:to>
                                        <p:strVal val="visible"/>
                                      </p:to>
                                    </p:set>
                                    <p:animEffect filter="fade" transition="in">
                                      <p:cBhvr>
                                        <p:cTn dur="300"/>
                                        <p:tgtEl>
                                          <p:spTgt spid="403"/>
                                        </p:tgtEl>
                                      </p:cBhvr>
                                    </p:animEffect>
                                  </p:childTnLst>
                                </p:cTn>
                              </p:par>
                              <p:par>
                                <p:cTn fill="hold" nodeType="withEffect" presetClass="entr" presetID="10" presetSubtype="0">
                                  <p:stCondLst>
                                    <p:cond delay="920"/>
                                  </p:stCondLst>
                                  <p:childTnLst>
                                    <p:set>
                                      <p:cBhvr>
                                        <p:cTn dur="1" fill="hold">
                                          <p:stCondLst>
                                            <p:cond delay="0"/>
                                          </p:stCondLst>
                                        </p:cTn>
                                        <p:tgtEl>
                                          <p:spTgt spid="404"/>
                                        </p:tgtEl>
                                        <p:attrNameLst>
                                          <p:attrName>style.visibility</p:attrName>
                                        </p:attrNameLst>
                                      </p:cBhvr>
                                      <p:to>
                                        <p:strVal val="visible"/>
                                      </p:to>
                                    </p:set>
                                    <p:animEffect filter="fade" transition="in">
                                      <p:cBhvr>
                                        <p:cTn dur="220"/>
                                        <p:tgtEl>
                                          <p:spTgt spid="404"/>
                                        </p:tgtEl>
                                      </p:cBhvr>
                                    </p:animEffect>
                                  </p:childTnLst>
                                </p:cTn>
                              </p:par>
                              <p:par>
                                <p:cTn fill="hold" nodeType="withEffect" presetClass="entr" presetID="10" presetSubtype="0">
                                  <p:stCondLst>
                                    <p:cond delay="1000"/>
                                  </p:stCondLst>
                                  <p:childTnLst>
                                    <p:set>
                                      <p:cBhvr>
                                        <p:cTn dur="1" fill="hold">
                                          <p:stCondLst>
                                            <p:cond delay="0"/>
                                          </p:stCondLst>
                                        </p:cTn>
                                        <p:tgtEl>
                                          <p:spTgt spid="405"/>
                                        </p:tgtEl>
                                        <p:attrNameLst>
                                          <p:attrName>style.visibility</p:attrName>
                                        </p:attrNameLst>
                                      </p:cBhvr>
                                      <p:to>
                                        <p:strVal val="visible"/>
                                      </p:to>
                                    </p:set>
                                    <p:animEffect filter="fade" transition="in">
                                      <p:cBhvr>
                                        <p:cTn dur="450"/>
                                        <p:tgtEl>
                                          <p:spTgt spid="405"/>
                                        </p:tgtEl>
                                      </p:cBhvr>
                                    </p:animEffect>
                                  </p:childTnLst>
                                </p:cTn>
                              </p:par>
                              <p:par>
                                <p:cTn fill="hold" nodeType="withEffect" presetClass="entr" presetID="23" presetSubtype="16">
                                  <p:stCondLst>
                                    <p:cond delay="110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350"/>
                                        <p:tgtEl>
                                          <p:spTgt spid="406"/>
                                        </p:tgtEl>
                                        <p:attrNameLst>
                                          <p:attrName>ppt_w</p:attrName>
                                        </p:attrNameLst>
                                      </p:cBhvr>
                                      <p:tavLst>
                                        <p:tav fmla="" tm="0">
                                          <p:val>
                                            <p:strVal val="0"/>
                                          </p:val>
                                        </p:tav>
                                        <p:tav fmla="" tm="100000">
                                          <p:val>
                                            <p:strVal val="#ppt_w"/>
                                          </p:val>
                                        </p:tav>
                                      </p:tavLst>
                                    </p:anim>
                                    <p:anim calcmode="lin" valueType="num">
                                      <p:cBhvr additive="base">
                                        <p:cTn dur="350"/>
                                        <p:tgtEl>
                                          <p:spTgt spid="40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200"/>
                                  </p:stCondLst>
                                  <p:childTnLst>
                                    <p:set>
                                      <p:cBhvr>
                                        <p:cTn dur="1" fill="hold">
                                          <p:stCondLst>
                                            <p:cond delay="0"/>
                                          </p:stCondLst>
                                        </p:cTn>
                                        <p:tgtEl>
                                          <p:spTgt spid="407"/>
                                        </p:tgtEl>
                                        <p:attrNameLst>
                                          <p:attrName>style.visibility</p:attrName>
                                        </p:attrNameLst>
                                      </p:cBhvr>
                                      <p:to>
                                        <p:strVal val="visible"/>
                                      </p:to>
                                    </p:set>
                                    <p:animEffect filter="fade" transition="in">
                                      <p:cBhvr>
                                        <p:cTn dur="300"/>
                                        <p:tgtEl>
                                          <p:spTgt spid="407"/>
                                        </p:tgtEl>
                                      </p:cBhvr>
                                    </p:animEffect>
                                  </p:childTnLst>
                                </p:cTn>
                              </p:par>
                              <p:par>
                                <p:cTn fill="hold" nodeType="withEffect" presetClass="entr" presetID="10" presetSubtype="0">
                                  <p:stCondLst>
                                    <p:cond delay="1290"/>
                                  </p:stCondLst>
                                  <p:childTnLst>
                                    <p:set>
                                      <p:cBhvr>
                                        <p:cTn dur="1" fill="hold">
                                          <p:stCondLst>
                                            <p:cond delay="0"/>
                                          </p:stCondLst>
                                        </p:cTn>
                                        <p:tgtEl>
                                          <p:spTgt spid="408"/>
                                        </p:tgtEl>
                                        <p:attrNameLst>
                                          <p:attrName>style.visibility</p:attrName>
                                        </p:attrNameLst>
                                      </p:cBhvr>
                                      <p:to>
                                        <p:strVal val="visible"/>
                                      </p:to>
                                    </p:set>
                                    <p:animEffect filter="fade" transition="in">
                                      <p:cBhvr>
                                        <p:cTn dur="300"/>
                                        <p:tgtEl>
                                          <p:spTgt spid="408"/>
                                        </p:tgtEl>
                                      </p:cBhvr>
                                    </p:animEffect>
                                  </p:childTnLst>
                                </p:cTn>
                              </p:par>
                              <p:par>
                                <p:cTn fill="hold" nodeType="withEffect" presetClass="entr" presetID="10" presetSubtype="0">
                                  <p:stCondLst>
                                    <p:cond delay="1380"/>
                                  </p:stCondLst>
                                  <p:childTnLst>
                                    <p:set>
                                      <p:cBhvr>
                                        <p:cTn dur="1" fill="hold">
                                          <p:stCondLst>
                                            <p:cond delay="0"/>
                                          </p:stCondLst>
                                        </p:cTn>
                                        <p:tgtEl>
                                          <p:spTgt spid="409"/>
                                        </p:tgtEl>
                                        <p:attrNameLst>
                                          <p:attrName>style.visibility</p:attrName>
                                        </p:attrNameLst>
                                      </p:cBhvr>
                                      <p:to>
                                        <p:strVal val="visible"/>
                                      </p:to>
                                    </p:set>
                                    <p:animEffect filter="fade" transition="in">
                                      <p:cBhvr>
                                        <p:cTn dur="300"/>
                                        <p:tgtEl>
                                          <p:spTgt spid="409"/>
                                        </p:tgtEl>
                                      </p:cBhvr>
                                    </p:animEffect>
                                  </p:childTnLst>
                                </p:cTn>
                              </p:par>
                              <p:par>
                                <p:cTn fill="hold" nodeType="withEffect" presetClass="entr" presetID="10" presetSubtype="0">
                                  <p:stCondLst>
                                    <p:cond delay="1470"/>
                                  </p:stCondLst>
                                  <p:childTnLst>
                                    <p:set>
                                      <p:cBhvr>
                                        <p:cTn dur="1" fill="hold">
                                          <p:stCondLst>
                                            <p:cond delay="0"/>
                                          </p:stCondLst>
                                        </p:cTn>
                                        <p:tgtEl>
                                          <p:spTgt spid="410"/>
                                        </p:tgtEl>
                                        <p:attrNameLst>
                                          <p:attrName>style.visibility</p:attrName>
                                        </p:attrNameLst>
                                      </p:cBhvr>
                                      <p:to>
                                        <p:strVal val="visible"/>
                                      </p:to>
                                    </p:set>
                                    <p:animEffect filter="fade" transition="in">
                                      <p:cBhvr>
                                        <p:cTn dur="220"/>
                                        <p:tgtEl>
                                          <p:spTgt spid="410"/>
                                        </p:tgtEl>
                                      </p:cBhvr>
                                    </p:animEffect>
                                  </p:childTnLst>
                                </p:cTn>
                              </p:par>
                              <p:par>
                                <p:cTn fill="hold" nodeType="withEffect" presetClass="entr" presetID="10" presetSubtype="0">
                                  <p:stCondLst>
                                    <p:cond delay="1550"/>
                                  </p:stCondLst>
                                  <p:childTnLst>
                                    <p:set>
                                      <p:cBhvr>
                                        <p:cTn dur="1" fill="hold">
                                          <p:stCondLst>
                                            <p:cond delay="0"/>
                                          </p:stCondLst>
                                        </p:cTn>
                                        <p:tgtEl>
                                          <p:spTgt spid="411"/>
                                        </p:tgtEl>
                                        <p:attrNameLst>
                                          <p:attrName>style.visibility</p:attrName>
                                        </p:attrNameLst>
                                      </p:cBhvr>
                                      <p:to>
                                        <p:strVal val="visible"/>
                                      </p:to>
                                    </p:set>
                                    <p:animEffect filter="fade" transition="in">
                                      <p:cBhvr>
                                        <p:cTn dur="450"/>
                                        <p:tgtEl>
                                          <p:spTgt spid="411"/>
                                        </p:tgtEl>
                                      </p:cBhvr>
                                    </p:animEffect>
                                  </p:childTnLst>
                                </p:cTn>
                              </p:par>
                              <p:par>
                                <p:cTn fill="hold" nodeType="withEffect" presetClass="entr" presetID="23" presetSubtype="16">
                                  <p:stCondLst>
                                    <p:cond delay="1650"/>
                                  </p:stCondLst>
                                  <p:childTnLst>
                                    <p:set>
                                      <p:cBhvr>
                                        <p:cTn dur="1" fill="hold">
                                          <p:stCondLst>
                                            <p:cond delay="0"/>
                                          </p:stCondLst>
                                        </p:cTn>
                                        <p:tgtEl>
                                          <p:spTgt spid="412"/>
                                        </p:tgtEl>
                                        <p:attrNameLst>
                                          <p:attrName>style.visibility</p:attrName>
                                        </p:attrNameLst>
                                      </p:cBhvr>
                                      <p:to>
                                        <p:strVal val="visible"/>
                                      </p:to>
                                    </p:set>
                                    <p:anim calcmode="lin" valueType="num">
                                      <p:cBhvr additive="base">
                                        <p:cTn dur="350"/>
                                        <p:tgtEl>
                                          <p:spTgt spid="412"/>
                                        </p:tgtEl>
                                        <p:attrNameLst>
                                          <p:attrName>ppt_w</p:attrName>
                                        </p:attrNameLst>
                                      </p:cBhvr>
                                      <p:tavLst>
                                        <p:tav fmla="" tm="0">
                                          <p:val>
                                            <p:strVal val="0"/>
                                          </p:val>
                                        </p:tav>
                                        <p:tav fmla="" tm="100000">
                                          <p:val>
                                            <p:strVal val="#ppt_w"/>
                                          </p:val>
                                        </p:tav>
                                      </p:tavLst>
                                    </p:anim>
                                    <p:anim calcmode="lin" valueType="num">
                                      <p:cBhvr additive="base">
                                        <p:cTn dur="350"/>
                                        <p:tgtEl>
                                          <p:spTgt spid="41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750"/>
                                  </p:stCondLst>
                                  <p:childTnLst>
                                    <p:set>
                                      <p:cBhvr>
                                        <p:cTn dur="1" fill="hold">
                                          <p:stCondLst>
                                            <p:cond delay="0"/>
                                          </p:stCondLst>
                                        </p:cTn>
                                        <p:tgtEl>
                                          <p:spTgt spid="413"/>
                                        </p:tgtEl>
                                        <p:attrNameLst>
                                          <p:attrName>style.visibility</p:attrName>
                                        </p:attrNameLst>
                                      </p:cBhvr>
                                      <p:to>
                                        <p:strVal val="visible"/>
                                      </p:to>
                                    </p:set>
                                    <p:animEffect filter="fade" transition="in">
                                      <p:cBhvr>
                                        <p:cTn dur="300"/>
                                        <p:tgtEl>
                                          <p:spTgt spid="413"/>
                                        </p:tgtEl>
                                      </p:cBhvr>
                                    </p:animEffect>
                                  </p:childTnLst>
                                </p:cTn>
                              </p:par>
                              <p:par>
                                <p:cTn fill="hold" nodeType="withEffect" presetClass="entr" presetID="10" presetSubtype="0">
                                  <p:stCondLst>
                                    <p:cond delay="1840"/>
                                  </p:stCondLst>
                                  <p:childTnLst>
                                    <p:set>
                                      <p:cBhvr>
                                        <p:cTn dur="1" fill="hold">
                                          <p:stCondLst>
                                            <p:cond delay="0"/>
                                          </p:stCondLst>
                                        </p:cTn>
                                        <p:tgtEl>
                                          <p:spTgt spid="414"/>
                                        </p:tgtEl>
                                        <p:attrNameLst>
                                          <p:attrName>style.visibility</p:attrName>
                                        </p:attrNameLst>
                                      </p:cBhvr>
                                      <p:to>
                                        <p:strVal val="visible"/>
                                      </p:to>
                                    </p:set>
                                    <p:animEffect filter="fade" transition="in">
                                      <p:cBhvr>
                                        <p:cTn dur="300"/>
                                        <p:tgtEl>
                                          <p:spTgt spid="414"/>
                                        </p:tgtEl>
                                      </p:cBhvr>
                                    </p:animEffect>
                                  </p:childTnLst>
                                </p:cTn>
                              </p:par>
                              <p:par>
                                <p:cTn fill="hold" nodeType="withEffect" presetClass="entr" presetID="10" presetSubtype="0">
                                  <p:stCondLst>
                                    <p:cond delay="1930"/>
                                  </p:stCondLst>
                                  <p:childTnLst>
                                    <p:set>
                                      <p:cBhvr>
                                        <p:cTn dur="1" fill="hold">
                                          <p:stCondLst>
                                            <p:cond delay="0"/>
                                          </p:stCondLst>
                                        </p:cTn>
                                        <p:tgtEl>
                                          <p:spTgt spid="415"/>
                                        </p:tgtEl>
                                        <p:attrNameLst>
                                          <p:attrName>style.visibility</p:attrName>
                                        </p:attrNameLst>
                                      </p:cBhvr>
                                      <p:to>
                                        <p:strVal val="visible"/>
                                      </p:to>
                                    </p:set>
                                    <p:animEffect filter="fade" transition="in">
                                      <p:cBhvr>
                                        <p:cTn dur="300"/>
                                        <p:tgtEl>
                                          <p:spTgt spid="415"/>
                                        </p:tgtEl>
                                      </p:cBhvr>
                                    </p:animEffect>
                                  </p:childTnLst>
                                </p:cTn>
                              </p:par>
                              <p:par>
                                <p:cTn fill="hold" nodeType="withEffect" presetClass="entr" presetID="10" presetSubtype="0">
                                  <p:stCondLst>
                                    <p:cond delay="2020"/>
                                  </p:stCondLst>
                                  <p:childTnLst>
                                    <p:set>
                                      <p:cBhvr>
                                        <p:cTn dur="1" fill="hold">
                                          <p:stCondLst>
                                            <p:cond delay="0"/>
                                          </p:stCondLst>
                                        </p:cTn>
                                        <p:tgtEl>
                                          <p:spTgt spid="416"/>
                                        </p:tgtEl>
                                        <p:attrNameLst>
                                          <p:attrName>style.visibility</p:attrName>
                                        </p:attrNameLst>
                                      </p:cBhvr>
                                      <p:to>
                                        <p:strVal val="visible"/>
                                      </p:to>
                                    </p:set>
                                    <p:animEffect filter="fade" transition="in">
                                      <p:cBhvr>
                                        <p:cTn dur="220"/>
                                        <p:tgtEl>
                                          <p:spTgt spid="416"/>
                                        </p:tgtEl>
                                      </p:cBhvr>
                                    </p:animEffect>
                                  </p:childTnLst>
                                </p:cTn>
                              </p:par>
                              <p:par>
                                <p:cTn fill="hold" nodeType="withEffect" presetClass="entr" presetID="10" presetSubtype="0">
                                  <p:stCondLst>
                                    <p:cond delay="2100"/>
                                  </p:stCondLst>
                                  <p:childTnLst>
                                    <p:set>
                                      <p:cBhvr>
                                        <p:cTn dur="1" fill="hold">
                                          <p:stCondLst>
                                            <p:cond delay="0"/>
                                          </p:stCondLst>
                                        </p:cTn>
                                        <p:tgtEl>
                                          <p:spTgt spid="417"/>
                                        </p:tgtEl>
                                        <p:attrNameLst>
                                          <p:attrName>style.visibility</p:attrName>
                                        </p:attrNameLst>
                                      </p:cBhvr>
                                      <p:to>
                                        <p:strVal val="visible"/>
                                      </p:to>
                                    </p:set>
                                    <p:animEffect filter="fade" transition="in">
                                      <p:cBhvr>
                                        <p:cTn dur="450"/>
                                        <p:tgtEl>
                                          <p:spTgt spid="417"/>
                                        </p:tgtEl>
                                      </p:cBhvr>
                                    </p:animEffect>
                                  </p:childTnLst>
                                </p:cTn>
                              </p:par>
                              <p:par>
                                <p:cTn fill="hold" nodeType="withEffect" presetClass="entr" presetID="23" presetSubtype="16">
                                  <p:stCondLst>
                                    <p:cond delay="2200"/>
                                  </p:stCondLst>
                                  <p:childTnLst>
                                    <p:set>
                                      <p:cBhvr>
                                        <p:cTn dur="1" fill="hold">
                                          <p:stCondLst>
                                            <p:cond delay="0"/>
                                          </p:stCondLst>
                                        </p:cTn>
                                        <p:tgtEl>
                                          <p:spTgt spid="418"/>
                                        </p:tgtEl>
                                        <p:attrNameLst>
                                          <p:attrName>style.visibility</p:attrName>
                                        </p:attrNameLst>
                                      </p:cBhvr>
                                      <p:to>
                                        <p:strVal val="visible"/>
                                      </p:to>
                                    </p:set>
                                    <p:anim calcmode="lin" valueType="num">
                                      <p:cBhvr additive="base">
                                        <p:cTn dur="350"/>
                                        <p:tgtEl>
                                          <p:spTgt spid="418"/>
                                        </p:tgtEl>
                                        <p:attrNameLst>
                                          <p:attrName>ppt_w</p:attrName>
                                        </p:attrNameLst>
                                      </p:cBhvr>
                                      <p:tavLst>
                                        <p:tav fmla="" tm="0">
                                          <p:val>
                                            <p:strVal val="0"/>
                                          </p:val>
                                        </p:tav>
                                        <p:tav fmla="" tm="100000">
                                          <p:val>
                                            <p:strVal val="#ppt_w"/>
                                          </p:val>
                                        </p:tav>
                                      </p:tavLst>
                                    </p:anim>
                                    <p:anim calcmode="lin" valueType="num">
                                      <p:cBhvr additive="base">
                                        <p:cTn dur="350"/>
                                        <p:tgtEl>
                                          <p:spTgt spid="41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300"/>
                                  </p:stCondLst>
                                  <p:childTnLst>
                                    <p:set>
                                      <p:cBhvr>
                                        <p:cTn dur="1" fill="hold">
                                          <p:stCondLst>
                                            <p:cond delay="0"/>
                                          </p:stCondLst>
                                        </p:cTn>
                                        <p:tgtEl>
                                          <p:spTgt spid="419"/>
                                        </p:tgtEl>
                                        <p:attrNameLst>
                                          <p:attrName>style.visibility</p:attrName>
                                        </p:attrNameLst>
                                      </p:cBhvr>
                                      <p:to>
                                        <p:strVal val="visible"/>
                                      </p:to>
                                    </p:set>
                                    <p:animEffect filter="fade" transition="in">
                                      <p:cBhvr>
                                        <p:cTn dur="300"/>
                                        <p:tgtEl>
                                          <p:spTgt spid="419"/>
                                        </p:tgtEl>
                                      </p:cBhvr>
                                    </p:animEffect>
                                  </p:childTnLst>
                                </p:cTn>
                              </p:par>
                              <p:par>
                                <p:cTn fill="hold" nodeType="withEffect" presetClass="entr" presetID="10" presetSubtype="0">
                                  <p:stCondLst>
                                    <p:cond delay="2390"/>
                                  </p:stCondLst>
                                  <p:childTnLst>
                                    <p:set>
                                      <p:cBhvr>
                                        <p:cTn dur="1" fill="hold">
                                          <p:stCondLst>
                                            <p:cond delay="0"/>
                                          </p:stCondLst>
                                        </p:cTn>
                                        <p:tgtEl>
                                          <p:spTgt spid="420"/>
                                        </p:tgtEl>
                                        <p:attrNameLst>
                                          <p:attrName>style.visibility</p:attrName>
                                        </p:attrNameLst>
                                      </p:cBhvr>
                                      <p:to>
                                        <p:strVal val="visible"/>
                                      </p:to>
                                    </p:set>
                                    <p:animEffect filter="fade" transition="in">
                                      <p:cBhvr>
                                        <p:cTn dur="300"/>
                                        <p:tgtEl>
                                          <p:spTgt spid="420"/>
                                        </p:tgtEl>
                                      </p:cBhvr>
                                    </p:animEffect>
                                  </p:childTnLst>
                                </p:cTn>
                              </p:par>
                              <p:par>
                                <p:cTn fill="hold" nodeType="withEffect" presetClass="entr" presetID="10" presetSubtype="0">
                                  <p:stCondLst>
                                    <p:cond delay="2480"/>
                                  </p:stCondLst>
                                  <p:childTnLst>
                                    <p:set>
                                      <p:cBhvr>
                                        <p:cTn dur="1" fill="hold">
                                          <p:stCondLst>
                                            <p:cond delay="0"/>
                                          </p:stCondLst>
                                        </p:cTn>
                                        <p:tgtEl>
                                          <p:spTgt spid="421"/>
                                        </p:tgtEl>
                                        <p:attrNameLst>
                                          <p:attrName>style.visibility</p:attrName>
                                        </p:attrNameLst>
                                      </p:cBhvr>
                                      <p:to>
                                        <p:strVal val="visible"/>
                                      </p:to>
                                    </p:set>
                                    <p:animEffect filter="fade" transition="in">
                                      <p:cBhvr>
                                        <p:cTn dur="300"/>
                                        <p:tgtEl>
                                          <p:spTgt spid="421"/>
                                        </p:tgtEl>
                                      </p:cBhvr>
                                    </p:animEffect>
                                  </p:childTnLst>
                                </p:cTn>
                              </p:par>
                              <p:par>
                                <p:cTn fill="hold" nodeType="withEffect" presetClass="entr" presetID="10" presetSubtype="0">
                                  <p:stCondLst>
                                    <p:cond delay="2570"/>
                                  </p:stCondLst>
                                  <p:childTnLst>
                                    <p:set>
                                      <p:cBhvr>
                                        <p:cTn dur="1" fill="hold">
                                          <p:stCondLst>
                                            <p:cond delay="0"/>
                                          </p:stCondLst>
                                        </p:cTn>
                                        <p:tgtEl>
                                          <p:spTgt spid="422"/>
                                        </p:tgtEl>
                                        <p:attrNameLst>
                                          <p:attrName>style.visibility</p:attrName>
                                        </p:attrNameLst>
                                      </p:cBhvr>
                                      <p:to>
                                        <p:strVal val="visible"/>
                                      </p:to>
                                    </p:set>
                                    <p:animEffect filter="fade" transition="in">
                                      <p:cBhvr>
                                        <p:cTn dur="220"/>
                                        <p:tgtEl>
                                          <p:spTgt spid="422"/>
                                        </p:tgtEl>
                                      </p:cBhvr>
                                    </p:animEffect>
                                  </p:childTnLst>
                                </p:cTn>
                              </p:par>
                              <p:par>
                                <p:cTn fill="hold" nodeType="withEffect" presetClass="entr" presetID="10" presetSubtype="0">
                                  <p:stCondLst>
                                    <p:cond delay="2650"/>
                                  </p:stCondLst>
                                  <p:childTnLst>
                                    <p:set>
                                      <p:cBhvr>
                                        <p:cTn dur="1" fill="hold">
                                          <p:stCondLst>
                                            <p:cond delay="0"/>
                                          </p:stCondLst>
                                        </p:cTn>
                                        <p:tgtEl>
                                          <p:spTgt spid="423"/>
                                        </p:tgtEl>
                                        <p:attrNameLst>
                                          <p:attrName>style.visibility</p:attrName>
                                        </p:attrNameLst>
                                      </p:cBhvr>
                                      <p:to>
                                        <p:strVal val="visible"/>
                                      </p:to>
                                    </p:set>
                                    <p:animEffect filter="fade" transition="in">
                                      <p:cBhvr>
                                        <p:cTn dur="450"/>
                                        <p:tgtEl>
                                          <p:spTgt spid="423"/>
                                        </p:tgtEl>
                                      </p:cBhvr>
                                    </p:animEffect>
                                  </p:childTnLst>
                                </p:cTn>
                              </p:par>
                              <p:par>
                                <p:cTn fill="hold" nodeType="withEffect" presetClass="entr" presetID="23" presetSubtype="16">
                                  <p:stCondLst>
                                    <p:cond delay="2750"/>
                                  </p:stCondLst>
                                  <p:childTnLst>
                                    <p:set>
                                      <p:cBhvr>
                                        <p:cTn dur="1" fill="hold">
                                          <p:stCondLst>
                                            <p:cond delay="0"/>
                                          </p:stCondLst>
                                        </p:cTn>
                                        <p:tgtEl>
                                          <p:spTgt spid="424"/>
                                        </p:tgtEl>
                                        <p:attrNameLst>
                                          <p:attrName>style.visibility</p:attrName>
                                        </p:attrNameLst>
                                      </p:cBhvr>
                                      <p:to>
                                        <p:strVal val="visible"/>
                                      </p:to>
                                    </p:set>
                                    <p:anim calcmode="lin" valueType="num">
                                      <p:cBhvr additive="base">
                                        <p:cTn dur="350"/>
                                        <p:tgtEl>
                                          <p:spTgt spid="424"/>
                                        </p:tgtEl>
                                        <p:attrNameLst>
                                          <p:attrName>ppt_w</p:attrName>
                                        </p:attrNameLst>
                                      </p:cBhvr>
                                      <p:tavLst>
                                        <p:tav fmla="" tm="0">
                                          <p:val>
                                            <p:strVal val="0"/>
                                          </p:val>
                                        </p:tav>
                                        <p:tav fmla="" tm="100000">
                                          <p:val>
                                            <p:strVal val="#ppt_w"/>
                                          </p:val>
                                        </p:tav>
                                      </p:tavLst>
                                    </p:anim>
                                    <p:anim calcmode="lin" valueType="num">
                                      <p:cBhvr additive="base">
                                        <p:cTn dur="350"/>
                                        <p:tgtEl>
                                          <p:spTgt spid="42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850"/>
                                  </p:stCondLst>
                                  <p:childTnLst>
                                    <p:set>
                                      <p:cBhvr>
                                        <p:cTn dur="1" fill="hold">
                                          <p:stCondLst>
                                            <p:cond delay="0"/>
                                          </p:stCondLst>
                                        </p:cTn>
                                        <p:tgtEl>
                                          <p:spTgt spid="425"/>
                                        </p:tgtEl>
                                        <p:attrNameLst>
                                          <p:attrName>style.visibility</p:attrName>
                                        </p:attrNameLst>
                                      </p:cBhvr>
                                      <p:to>
                                        <p:strVal val="visible"/>
                                      </p:to>
                                    </p:set>
                                    <p:animEffect filter="fade" transition="in">
                                      <p:cBhvr>
                                        <p:cTn dur="300"/>
                                        <p:tgtEl>
                                          <p:spTgt spid="425"/>
                                        </p:tgtEl>
                                      </p:cBhvr>
                                    </p:animEffect>
                                  </p:childTnLst>
                                </p:cTn>
                              </p:par>
                              <p:par>
                                <p:cTn fill="hold" nodeType="withEffect" presetClass="entr" presetID="10" presetSubtype="0">
                                  <p:stCondLst>
                                    <p:cond delay="2940"/>
                                  </p:stCondLst>
                                  <p:childTnLst>
                                    <p:set>
                                      <p:cBhvr>
                                        <p:cTn dur="1" fill="hold">
                                          <p:stCondLst>
                                            <p:cond delay="0"/>
                                          </p:stCondLst>
                                        </p:cTn>
                                        <p:tgtEl>
                                          <p:spTgt spid="426"/>
                                        </p:tgtEl>
                                        <p:attrNameLst>
                                          <p:attrName>style.visibility</p:attrName>
                                        </p:attrNameLst>
                                      </p:cBhvr>
                                      <p:to>
                                        <p:strVal val="visible"/>
                                      </p:to>
                                    </p:set>
                                    <p:animEffect filter="fade" transition="in">
                                      <p:cBhvr>
                                        <p:cTn dur="300"/>
                                        <p:tgtEl>
                                          <p:spTgt spid="426"/>
                                        </p:tgtEl>
                                      </p:cBhvr>
                                    </p:animEffect>
                                  </p:childTnLst>
                                </p:cTn>
                              </p:par>
                              <p:par>
                                <p:cTn fill="hold" nodeType="withEffect" presetClass="entr" presetID="10" presetSubtype="0">
                                  <p:stCondLst>
                                    <p:cond delay="3030"/>
                                  </p:stCondLst>
                                  <p:childTnLst>
                                    <p:set>
                                      <p:cBhvr>
                                        <p:cTn dur="1" fill="hold">
                                          <p:stCondLst>
                                            <p:cond delay="0"/>
                                          </p:stCondLst>
                                        </p:cTn>
                                        <p:tgtEl>
                                          <p:spTgt spid="427"/>
                                        </p:tgtEl>
                                        <p:attrNameLst>
                                          <p:attrName>style.visibility</p:attrName>
                                        </p:attrNameLst>
                                      </p:cBhvr>
                                      <p:to>
                                        <p:strVal val="visible"/>
                                      </p:to>
                                    </p:set>
                                    <p:animEffect filter="fade" transition="in">
                                      <p:cBhvr>
                                        <p:cTn dur="300"/>
                                        <p:tgtEl>
                                          <p:spTgt spid="427"/>
                                        </p:tgtEl>
                                      </p:cBhvr>
                                    </p:animEffect>
                                  </p:childTnLst>
                                </p:cTn>
                              </p:par>
                              <p:par>
                                <p:cTn fill="hold" nodeType="withEffect" presetClass="entr" presetID="10" presetSubtype="0">
                                  <p:stCondLst>
                                    <p:cond delay="3120"/>
                                  </p:stCondLst>
                                  <p:childTnLst>
                                    <p:set>
                                      <p:cBhvr>
                                        <p:cTn dur="1" fill="hold">
                                          <p:stCondLst>
                                            <p:cond delay="0"/>
                                          </p:stCondLst>
                                        </p:cTn>
                                        <p:tgtEl>
                                          <p:spTgt spid="430"/>
                                        </p:tgtEl>
                                        <p:attrNameLst>
                                          <p:attrName>style.visibility</p:attrName>
                                        </p:attrNameLst>
                                      </p:cBhvr>
                                      <p:to>
                                        <p:strVal val="visible"/>
                                      </p:to>
                                    </p:set>
                                    <p:animEffect filter="fade" transition="in">
                                      <p:cBhvr>
                                        <p:cTn dur="400"/>
                                        <p:tgtEl>
                                          <p:spTgt spid="430"/>
                                        </p:tgtEl>
                                      </p:cBhvr>
                                    </p:animEffect>
                                  </p:childTnLst>
                                </p:cTn>
                              </p:par>
                              <p:par>
                                <p:cTn fill="hold" nodeType="withEffect" presetClass="entr" presetID="23" presetSubtype="16">
                                  <p:stCondLst>
                                    <p:cond delay="3320"/>
                                  </p:stCondLst>
                                  <p:childTnLst>
                                    <p:set>
                                      <p:cBhvr>
                                        <p:cTn dur="1" fill="hold">
                                          <p:stCondLst>
                                            <p:cond delay="0"/>
                                          </p:stCondLst>
                                        </p:cTn>
                                        <p:tgtEl>
                                          <p:spTgt spid="431"/>
                                        </p:tgtEl>
                                        <p:attrNameLst>
                                          <p:attrName>style.visibility</p:attrName>
                                        </p:attrNameLst>
                                      </p:cBhvr>
                                      <p:to>
                                        <p:strVal val="visible"/>
                                      </p:to>
                                    </p:set>
                                    <p:anim calcmode="lin" valueType="num">
                                      <p:cBhvr additive="base">
                                        <p:cTn dur="450"/>
                                        <p:tgtEl>
                                          <p:spTgt spid="431"/>
                                        </p:tgtEl>
                                        <p:attrNameLst>
                                          <p:attrName>ppt_w</p:attrName>
                                        </p:attrNameLst>
                                      </p:cBhvr>
                                      <p:tavLst>
                                        <p:tav fmla="" tm="0">
                                          <p:val>
                                            <p:strVal val="0"/>
                                          </p:val>
                                        </p:tav>
                                        <p:tav fmla="" tm="100000">
                                          <p:val>
                                            <p:strVal val="#ppt_w"/>
                                          </p:val>
                                        </p:tav>
                                      </p:tavLst>
                                    </p:anim>
                                    <p:anim calcmode="lin" valueType="num">
                                      <p:cBhvr additive="base">
                                        <p:cTn dur="450"/>
                                        <p:tgtEl>
                                          <p:spTgt spid="43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520"/>
                                  </p:stCondLst>
                                  <p:childTnLst>
                                    <p:set>
                                      <p:cBhvr>
                                        <p:cTn dur="1" fill="hold">
                                          <p:stCondLst>
                                            <p:cond delay="0"/>
                                          </p:stCondLst>
                                        </p:cTn>
                                        <p:tgtEl>
                                          <p:spTgt spid="432"/>
                                        </p:tgtEl>
                                        <p:attrNameLst>
                                          <p:attrName>style.visibility</p:attrName>
                                        </p:attrNameLst>
                                      </p:cBhvr>
                                      <p:to>
                                        <p:strVal val="visible"/>
                                      </p:to>
                                    </p:set>
                                    <p:anim calcmode="lin" valueType="num">
                                      <p:cBhvr additive="base">
                                        <p:cTn dur="450"/>
                                        <p:tgtEl>
                                          <p:spTgt spid="432"/>
                                        </p:tgtEl>
                                        <p:attrNameLst>
                                          <p:attrName>ppt_w</p:attrName>
                                        </p:attrNameLst>
                                      </p:cBhvr>
                                      <p:tavLst>
                                        <p:tav fmla="" tm="0">
                                          <p:val>
                                            <p:strVal val="0"/>
                                          </p:val>
                                        </p:tav>
                                        <p:tav fmla="" tm="100000">
                                          <p:val>
                                            <p:strVal val="#ppt_w"/>
                                          </p:val>
                                        </p:tav>
                                      </p:tavLst>
                                    </p:anim>
                                    <p:anim calcmode="lin" valueType="num">
                                      <p:cBhvr additive="base">
                                        <p:cTn dur="450"/>
                                        <p:tgtEl>
                                          <p:spTgt spid="43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720"/>
                                  </p:stCondLst>
                                  <p:childTnLst>
                                    <p:set>
                                      <p:cBhvr>
                                        <p:cTn dur="1" fill="hold">
                                          <p:stCondLst>
                                            <p:cond delay="0"/>
                                          </p:stCondLst>
                                        </p:cTn>
                                        <p:tgtEl>
                                          <p:spTgt spid="433"/>
                                        </p:tgtEl>
                                        <p:attrNameLst>
                                          <p:attrName>style.visibility</p:attrName>
                                        </p:attrNameLst>
                                      </p:cBhvr>
                                      <p:to>
                                        <p:strVal val="visible"/>
                                      </p:to>
                                    </p:set>
                                    <p:anim calcmode="lin" valueType="num">
                                      <p:cBhvr additive="base">
                                        <p:cTn dur="450"/>
                                        <p:tgtEl>
                                          <p:spTgt spid="433"/>
                                        </p:tgtEl>
                                        <p:attrNameLst>
                                          <p:attrName>ppt_w</p:attrName>
                                        </p:attrNameLst>
                                      </p:cBhvr>
                                      <p:tavLst>
                                        <p:tav fmla="" tm="0">
                                          <p:val>
                                            <p:strVal val="0"/>
                                          </p:val>
                                        </p:tav>
                                        <p:tav fmla="" tm="100000">
                                          <p:val>
                                            <p:strVal val="#ppt_w"/>
                                          </p:val>
                                        </p:tav>
                                      </p:tavLst>
                                    </p:anim>
                                    <p:anim calcmode="lin" valueType="num">
                                      <p:cBhvr additive="base">
                                        <p:cTn dur="450"/>
                                        <p:tgtEl>
                                          <p:spTgt spid="43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970"/>
                                  </p:stCondLst>
                                  <p:childTnLst>
                                    <p:set>
                                      <p:cBhvr>
                                        <p:cTn dur="1" fill="hold">
                                          <p:stCondLst>
                                            <p:cond delay="0"/>
                                          </p:stCondLst>
                                        </p:cTn>
                                        <p:tgtEl>
                                          <p:spTgt spid="434"/>
                                        </p:tgtEl>
                                        <p:attrNameLst>
                                          <p:attrName>style.visibility</p:attrName>
                                        </p:attrNameLst>
                                      </p:cBhvr>
                                      <p:to>
                                        <p:strVal val="visible"/>
                                      </p:to>
                                    </p:set>
                                    <p:animEffect filter="fade" transition="in">
                                      <p:cBhvr>
                                        <p:cTn dur="350"/>
                                        <p:tgtEl>
                                          <p:spTgt spid="434"/>
                                        </p:tgtEl>
                                      </p:cBhvr>
                                    </p:animEffect>
                                  </p:childTnLst>
                                </p:cTn>
                              </p:par>
                              <p:par>
                                <p:cTn fill="hold" nodeType="withEffect" presetClass="entr" presetID="10" presetSubtype="0">
                                  <p:stCondLst>
                                    <p:cond delay="3970"/>
                                  </p:stCondLst>
                                  <p:childTnLst>
                                    <p:set>
                                      <p:cBhvr>
                                        <p:cTn dur="1" fill="hold">
                                          <p:stCondLst>
                                            <p:cond delay="0"/>
                                          </p:stCondLst>
                                        </p:cTn>
                                        <p:tgtEl>
                                          <p:spTgt spid="435"/>
                                        </p:tgtEl>
                                        <p:attrNameLst>
                                          <p:attrName>style.visibility</p:attrName>
                                        </p:attrNameLst>
                                      </p:cBhvr>
                                      <p:to>
                                        <p:strVal val="visible"/>
                                      </p:to>
                                    </p:set>
                                    <p:animEffect filter="fade" transition="in">
                                      <p:cBhvr>
                                        <p:cTn dur="350"/>
                                        <p:tgtEl>
                                          <p:spTgt spid="435"/>
                                        </p:tgtEl>
                                      </p:cBhvr>
                                    </p:animEffect>
                                  </p:childTnLst>
                                </p:cTn>
                              </p:par>
                              <p:par>
                                <p:cTn fill="hold" nodeType="withEffect" presetClass="entr" presetID="10" presetSubtype="0">
                                  <p:stCondLst>
                                    <p:cond delay="3970"/>
                                  </p:stCondLst>
                                  <p:childTnLst>
                                    <p:set>
                                      <p:cBhvr>
                                        <p:cTn dur="1" fill="hold">
                                          <p:stCondLst>
                                            <p:cond delay="0"/>
                                          </p:stCondLst>
                                        </p:cTn>
                                        <p:tgtEl>
                                          <p:spTgt spid="436"/>
                                        </p:tgtEl>
                                        <p:attrNameLst>
                                          <p:attrName>style.visibility</p:attrName>
                                        </p:attrNameLst>
                                      </p:cBhvr>
                                      <p:to>
                                        <p:strVal val="visible"/>
                                      </p:to>
                                    </p:set>
                                    <p:animEffect filter="fade" transition="in">
                                      <p:cBhvr>
                                        <p:cTn dur="350"/>
                                        <p:tgtEl>
                                          <p:spTgt spid="436"/>
                                        </p:tgtEl>
                                      </p:cBhvr>
                                    </p:animEffect>
                                  </p:childTnLst>
                                </p:cTn>
                              </p:par>
                              <p:par>
                                <p:cTn fill="hold" nodeType="withEffect" presetClass="entr" presetID="10" presetSubtype="0">
                                  <p:stCondLst>
                                    <p:cond delay="4170"/>
                                  </p:stCondLst>
                                  <p:childTnLst>
                                    <p:set>
                                      <p:cBhvr>
                                        <p:cTn dur="1" fill="hold">
                                          <p:stCondLst>
                                            <p:cond delay="0"/>
                                          </p:stCondLst>
                                        </p:cTn>
                                        <p:tgtEl>
                                          <p:spTgt spid="428"/>
                                        </p:tgtEl>
                                        <p:attrNameLst>
                                          <p:attrName>style.visibility</p:attrName>
                                        </p:attrNameLst>
                                      </p:cBhvr>
                                      <p:to>
                                        <p:strVal val="visible"/>
                                      </p:to>
                                    </p:set>
                                    <p:animEffect filter="fade" transition="in">
                                      <p:cBhvr>
                                        <p:cTn dur="900"/>
                                        <p:tgtEl>
                                          <p:spTgt spid="428"/>
                                        </p:tgtEl>
                                      </p:cBhvr>
                                    </p:animEffect>
                                  </p:childTnLst>
                                </p:cTn>
                              </p:par>
                              <p:par>
                                <p:cTn fill="hold" nodeType="withEffect" presetClass="entr" presetID="10" presetSubtype="0">
                                  <p:stCondLst>
                                    <p:cond delay="4170"/>
                                  </p:stCondLst>
                                  <p:childTnLst>
                                    <p:set>
                                      <p:cBhvr>
                                        <p:cTn dur="1" fill="hold">
                                          <p:stCondLst>
                                            <p:cond delay="0"/>
                                          </p:stCondLst>
                                        </p:cTn>
                                        <p:tgtEl>
                                          <p:spTgt spid="429"/>
                                        </p:tgtEl>
                                        <p:attrNameLst>
                                          <p:attrName>style.visibility</p:attrName>
                                        </p:attrNameLst>
                                      </p:cBhvr>
                                      <p:to>
                                        <p:strVal val="visible"/>
                                      </p:to>
                                    </p:set>
                                    <p:animEffect filter="fade" transition="in">
                                      <p:cBhvr>
                                        <p:cTn dur="900"/>
                                        <p:tgtEl>
                                          <p:spTgt spid="4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6"/>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Methodology: Working of the System</a:t>
            </a:r>
            <a:endParaRPr/>
          </a:p>
        </p:txBody>
      </p:sp>
      <p:sp>
        <p:nvSpPr>
          <p:cNvPr id="443" name="Google Shape;443;p26"/>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444" name="Google Shape;444;p26"/>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445" name="Google Shape;445;p26"/>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446" name="Google Shape;446;p26"/>
          <p:cNvSpPr/>
          <p:nvPr/>
        </p:nvSpPr>
        <p:spPr>
          <a:xfrm>
            <a:off x="457200" y="1261872"/>
            <a:ext cx="658368" cy="658368"/>
          </a:xfrm>
          <a:prstGeom prst="ellipse">
            <a:avLst/>
          </a:prstGeom>
          <a:gradFill rotWithShape="1">
            <a:gsLst>
              <a:gs pos="0">
                <a:srgbClr val="0C6468"/>
              </a:gs>
              <a:gs pos="100000">
                <a:srgbClr val="0090A6"/>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UserAlt" id="447" name="Google Shape;447;p26"/>
          <p:cNvPicPr preferRelativeResize="0"/>
          <p:nvPr/>
        </p:nvPicPr>
        <p:blipFill rotWithShape="1">
          <a:blip r:embed="rId3">
            <a:alphaModFix/>
          </a:blip>
          <a:srcRect b="0" l="0" r="0" t="0"/>
          <a:stretch/>
        </p:blipFill>
        <p:spPr>
          <a:xfrm>
            <a:off x="630936" y="1408176"/>
            <a:ext cx="310896" cy="310896"/>
          </a:xfrm>
          <a:prstGeom prst="rect">
            <a:avLst/>
          </a:prstGeom>
          <a:noFill/>
          <a:ln>
            <a:noFill/>
          </a:ln>
        </p:spPr>
      </p:pic>
      <p:sp>
        <p:nvSpPr>
          <p:cNvPr id="448" name="Google Shape;448;p26"/>
          <p:cNvSpPr/>
          <p:nvPr/>
        </p:nvSpPr>
        <p:spPr>
          <a:xfrm>
            <a:off x="1280160" y="1225296"/>
            <a:ext cx="7406640" cy="731520"/>
          </a:xfrm>
          <a:prstGeom prst="wedgeRoundRectCallout">
            <a:avLst>
              <a:gd fmla="val -56000" name="adj1"/>
              <a:gd fmla="val 10000" name="adj2"/>
              <a:gd fmla="val 16667" name="adj3"/>
            </a:avLst>
          </a:prstGeom>
          <a:gradFill rotWithShape="1">
            <a:gsLst>
              <a:gs pos="0">
                <a:srgbClr val="DCFAFE"/>
              </a:gs>
              <a:gs pos="100000">
                <a:srgbClr val="B4EFF7"/>
              </a:gs>
            </a:gsLst>
            <a:lin ang="2700000" scaled="0"/>
          </a:gradFill>
          <a:ln cap="flat" cmpd="sng" w="15875">
            <a:solidFill>
              <a:srgbClr val="008B98"/>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28600" spcFirstLastPara="1" rIns="45700" wrap="square" tIns="45700">
            <a:no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chemeClr val="dk1"/>
                </a:solidFill>
                <a:latin typeface="Times New Roman"/>
                <a:ea typeface="Times New Roman"/>
                <a:cs typeface="Times New Roman"/>
                <a:sym typeface="Times New Roman"/>
              </a:rPr>
              <a:t>“My kitchen tap is leaking badly. I need someone within an hour. Budget around Rs 800.”</a:t>
            </a:r>
            <a:endParaRPr/>
          </a:p>
        </p:txBody>
      </p:sp>
      <p:sp>
        <p:nvSpPr>
          <p:cNvPr id="449" name="Google Shape;449;p26"/>
          <p:cNvSpPr/>
          <p:nvPr/>
        </p:nvSpPr>
        <p:spPr>
          <a:xfrm>
            <a:off x="448056" y="2103120"/>
            <a:ext cx="1325880" cy="566928"/>
          </a:xfrm>
          <a:prstGeom prst="homePlate">
            <a:avLst>
              <a:gd fmla="val 25000" name="adj"/>
            </a:avLst>
          </a:prstGeom>
          <a:gradFill rotWithShape="1">
            <a:gsLst>
              <a:gs pos="0">
                <a:srgbClr val="006662"/>
              </a:gs>
              <a:gs pos="100000">
                <a:srgbClr val="0E9294"/>
              </a:gs>
            </a:gsLst>
            <a:lin ang="2700000" scaled="0"/>
          </a:gradFill>
          <a:ln cap="flat" cmpd="sng" w="15875">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1 Request</a:t>
            </a:r>
            <a:endParaRPr/>
          </a:p>
        </p:txBody>
      </p:sp>
      <p:sp>
        <p:nvSpPr>
          <p:cNvPr id="450" name="Google Shape;450;p26"/>
          <p:cNvSpPr/>
          <p:nvPr/>
        </p:nvSpPr>
        <p:spPr>
          <a:xfrm>
            <a:off x="448056" y="2743200"/>
            <a:ext cx="1307592" cy="1481328"/>
          </a:xfrm>
          <a:prstGeom prst="roundRect">
            <a:avLst>
              <a:gd fmla="val 8000" name="adj"/>
            </a:avLst>
          </a:prstGeom>
          <a:gradFill rotWithShape="1">
            <a:gsLst>
              <a:gs pos="0">
                <a:srgbClr val="FFFFFF"/>
              </a:gs>
              <a:gs pos="100000">
                <a:srgbClr val="DAF7F4"/>
              </a:gs>
            </a:gsLst>
            <a:lin ang="5400000" scaled="0"/>
          </a:gradFill>
          <a:ln cap="flat" cmpd="sng" w="12700">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182880" lvl="0" marL="182880" marR="0" rtl="0" algn="l">
              <a:lnSpc>
                <a:spcPct val="100000"/>
              </a:lnSpc>
              <a:spcBef>
                <a:spcPts val="0"/>
              </a:spcBef>
              <a:spcAft>
                <a:spcPts val="0"/>
              </a:spcAft>
              <a:buClr>
                <a:srgbClr val="005350"/>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Problem text</a:t>
            </a:r>
            <a:endParaRPr/>
          </a:p>
          <a:p>
            <a:pPr indent="-182880" lvl="0" marL="182880" marR="0" rtl="0" algn="l">
              <a:lnSpc>
                <a:spcPct val="100000"/>
              </a:lnSpc>
              <a:spcBef>
                <a:spcPts val="300"/>
              </a:spcBef>
              <a:spcAft>
                <a:spcPts val="0"/>
              </a:spcAft>
              <a:buClr>
                <a:srgbClr val="005350"/>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GPS location</a:t>
            </a:r>
            <a:endParaRPr/>
          </a:p>
          <a:p>
            <a:pPr indent="-182880" lvl="0" marL="182880" marR="0" rtl="0" algn="l">
              <a:lnSpc>
                <a:spcPct val="100000"/>
              </a:lnSpc>
              <a:spcBef>
                <a:spcPts val="300"/>
              </a:spcBef>
              <a:spcAft>
                <a:spcPts val="0"/>
              </a:spcAft>
              <a:buClr>
                <a:srgbClr val="005350"/>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Urgency, budget</a:t>
            </a:r>
            <a:endParaRPr/>
          </a:p>
        </p:txBody>
      </p:sp>
      <p:sp>
        <p:nvSpPr>
          <p:cNvPr id="451" name="Google Shape;451;p26"/>
          <p:cNvSpPr/>
          <p:nvPr/>
        </p:nvSpPr>
        <p:spPr>
          <a:xfrm>
            <a:off x="1837944" y="2103120"/>
            <a:ext cx="1325880" cy="566928"/>
          </a:xfrm>
          <a:prstGeom prst="chevron">
            <a:avLst>
              <a:gd fmla="val 25000" name="adj"/>
            </a:avLst>
          </a:prstGeom>
          <a:gradFill rotWithShape="1">
            <a:gsLst>
              <a:gs pos="0">
                <a:srgbClr val="076375"/>
              </a:gs>
              <a:gs pos="100000">
                <a:srgbClr val="008CB9"/>
              </a:gs>
            </a:gsLst>
            <a:lin ang="2700000" scaled="0"/>
          </a:gradFill>
          <a:ln cap="flat" cmpd="sng" w="15875">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2 Understand</a:t>
            </a:r>
            <a:endParaRPr/>
          </a:p>
        </p:txBody>
      </p:sp>
      <p:sp>
        <p:nvSpPr>
          <p:cNvPr id="452" name="Google Shape;452;p26"/>
          <p:cNvSpPr/>
          <p:nvPr/>
        </p:nvSpPr>
        <p:spPr>
          <a:xfrm>
            <a:off x="1837944" y="2743200"/>
            <a:ext cx="1307592" cy="1481328"/>
          </a:xfrm>
          <a:prstGeom prst="roundRect">
            <a:avLst>
              <a:gd fmla="val 8000" name="adj"/>
            </a:avLst>
          </a:prstGeom>
          <a:gradFill rotWithShape="1">
            <a:gsLst>
              <a:gs pos="0">
                <a:srgbClr val="FFFFFF"/>
              </a:gs>
              <a:gs pos="100000">
                <a:srgbClr val="DCF5FF"/>
              </a:gs>
            </a:gsLst>
            <a:lin ang="5400000" scaled="0"/>
          </a:gradFill>
          <a:ln cap="flat" cmpd="sng" w="12700">
            <a:solidFill>
              <a:srgbClr val="0F87A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182880" lvl="0" marL="182880" marR="0" rtl="0" algn="l">
              <a:lnSpc>
                <a:spcPct val="100000"/>
              </a:lnSpc>
              <a:spcBef>
                <a:spcPts val="0"/>
              </a:spcBef>
              <a:spcAft>
                <a:spcPts val="0"/>
              </a:spcAft>
              <a:buClr>
                <a:srgbClr val="005065"/>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Service: plumber</a:t>
            </a:r>
            <a:endParaRPr/>
          </a:p>
          <a:p>
            <a:pPr indent="-182880" lvl="0" marL="182880" marR="0" rtl="0" algn="l">
              <a:lnSpc>
                <a:spcPct val="100000"/>
              </a:lnSpc>
              <a:spcBef>
                <a:spcPts val="300"/>
              </a:spcBef>
              <a:spcAft>
                <a:spcPts val="0"/>
              </a:spcAft>
              <a:buClr>
                <a:srgbClr val="005065"/>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Time limit: 60 min</a:t>
            </a:r>
            <a:endParaRPr/>
          </a:p>
          <a:p>
            <a:pPr indent="-182880" lvl="0" marL="182880" marR="0" rtl="0" algn="l">
              <a:lnSpc>
                <a:spcPct val="100000"/>
              </a:lnSpc>
              <a:spcBef>
                <a:spcPts val="300"/>
              </a:spcBef>
              <a:spcAft>
                <a:spcPts val="0"/>
              </a:spcAft>
              <a:buClr>
                <a:srgbClr val="005065"/>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Urgency: high</a:t>
            </a:r>
            <a:endParaRPr/>
          </a:p>
          <a:p>
            <a:pPr indent="-182880" lvl="0" marL="182880" marR="0" rtl="0" algn="l">
              <a:lnSpc>
                <a:spcPct val="100000"/>
              </a:lnSpc>
              <a:spcBef>
                <a:spcPts val="300"/>
              </a:spcBef>
              <a:spcAft>
                <a:spcPts val="0"/>
              </a:spcAft>
              <a:buClr>
                <a:srgbClr val="005065"/>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Budget: Rs 800</a:t>
            </a:r>
            <a:endParaRPr/>
          </a:p>
        </p:txBody>
      </p:sp>
      <p:sp>
        <p:nvSpPr>
          <p:cNvPr id="453" name="Google Shape;453;p26"/>
          <p:cNvSpPr/>
          <p:nvPr/>
        </p:nvSpPr>
        <p:spPr>
          <a:xfrm>
            <a:off x="3227832" y="2103120"/>
            <a:ext cx="1325880" cy="566928"/>
          </a:xfrm>
          <a:prstGeom prst="chevron">
            <a:avLst>
              <a:gd fmla="val 25000" name="adj"/>
            </a:avLst>
          </a:prstGeom>
          <a:gradFill rotWithShape="1">
            <a:gsLst>
              <a:gs pos="0">
                <a:srgbClr val="005A9D"/>
              </a:gs>
              <a:gs pos="100000">
                <a:srgbClr val="4E7CD9"/>
              </a:gs>
            </a:gsLst>
            <a:lin ang="2700000" scaled="0"/>
          </a:gradFill>
          <a:ln cap="flat" cmpd="sng" w="15875">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3 Search</a:t>
            </a:r>
            <a:endParaRPr/>
          </a:p>
        </p:txBody>
      </p:sp>
      <p:sp>
        <p:nvSpPr>
          <p:cNvPr id="454" name="Google Shape;454;p26"/>
          <p:cNvSpPr/>
          <p:nvPr/>
        </p:nvSpPr>
        <p:spPr>
          <a:xfrm>
            <a:off x="3227832" y="2743200"/>
            <a:ext cx="1307592" cy="1481328"/>
          </a:xfrm>
          <a:prstGeom prst="roundRect">
            <a:avLst>
              <a:gd fmla="val 8000" name="adj"/>
            </a:avLst>
          </a:prstGeom>
          <a:gradFill rotWithShape="1">
            <a:gsLst>
              <a:gs pos="0">
                <a:srgbClr val="FFFFFF"/>
              </a:gs>
              <a:gs pos="100000">
                <a:srgbClr val="E8F1FE"/>
              </a:gs>
            </a:gsLst>
            <a:lin ang="5400000" scaled="0"/>
          </a:gradFill>
          <a:ln cap="flat" cmpd="sng" w="12700">
            <a:solidFill>
              <a:srgbClr val="3C7BC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182880" lvl="0" marL="182880" marR="0" rtl="0" algn="l">
              <a:lnSpc>
                <a:spcPct val="100000"/>
              </a:lnSpc>
              <a:spcBef>
                <a:spcPts val="0"/>
              </a:spcBef>
              <a:spcAft>
                <a:spcPts val="0"/>
              </a:spcAft>
              <a:buClr>
                <a:srgbClr val="07468B"/>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Radius: 10 km</a:t>
            </a:r>
            <a:endParaRPr/>
          </a:p>
          <a:p>
            <a:pPr indent="-182880" lvl="0" marL="182880" marR="0" rtl="0" algn="l">
              <a:lnSpc>
                <a:spcPct val="100000"/>
              </a:lnSpc>
              <a:spcBef>
                <a:spcPts val="300"/>
              </a:spcBef>
              <a:spcAft>
                <a:spcPts val="0"/>
              </a:spcAft>
              <a:buClr>
                <a:srgbClr val="07468B"/>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Skilled and free only</a:t>
            </a:r>
            <a:endParaRPr/>
          </a:p>
          <a:p>
            <a:pPr indent="-182880" lvl="0" marL="182880" marR="0" rtl="0" algn="l">
              <a:lnSpc>
                <a:spcPct val="100000"/>
              </a:lnSpc>
              <a:spcBef>
                <a:spcPts val="300"/>
              </a:spcBef>
              <a:spcAft>
                <a:spcPts val="0"/>
              </a:spcAft>
              <a:buClr>
                <a:srgbClr val="07468B"/>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Candidates: A, B, C</a:t>
            </a:r>
            <a:endParaRPr/>
          </a:p>
        </p:txBody>
      </p:sp>
      <p:sp>
        <p:nvSpPr>
          <p:cNvPr id="455" name="Google Shape;455;p26"/>
          <p:cNvSpPr/>
          <p:nvPr/>
        </p:nvSpPr>
        <p:spPr>
          <a:xfrm>
            <a:off x="4617720" y="2103120"/>
            <a:ext cx="1325880" cy="566928"/>
          </a:xfrm>
          <a:prstGeom prst="chevron">
            <a:avLst>
              <a:gd fmla="val 25000" name="adj"/>
            </a:avLst>
          </a:prstGeom>
          <a:gradFill rotWithShape="1">
            <a:gsLst>
              <a:gs pos="0">
                <a:srgbClr val="4F47A8"/>
              </a:gs>
              <a:gs pos="100000">
                <a:srgbClr val="896ACF"/>
              </a:gs>
            </a:gsLst>
            <a:lin ang="2700000" scaled="0"/>
          </a:gradFill>
          <a:ln cap="flat" cmpd="sng" w="15875">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4 Rank</a:t>
            </a:r>
            <a:endParaRPr/>
          </a:p>
        </p:txBody>
      </p:sp>
      <p:sp>
        <p:nvSpPr>
          <p:cNvPr id="456" name="Google Shape;456;p26"/>
          <p:cNvSpPr/>
          <p:nvPr/>
        </p:nvSpPr>
        <p:spPr>
          <a:xfrm>
            <a:off x="4617720" y="2743200"/>
            <a:ext cx="1307592" cy="1481328"/>
          </a:xfrm>
          <a:prstGeom prst="roundRect">
            <a:avLst>
              <a:gd fmla="val 8000" name="adj"/>
            </a:avLst>
          </a:prstGeom>
          <a:gradFill rotWithShape="1">
            <a:gsLst>
              <a:gs pos="0">
                <a:srgbClr val="FFFFFF"/>
              </a:gs>
              <a:gs pos="100000">
                <a:srgbClr val="EFEEFD"/>
              </a:gs>
            </a:gsLst>
            <a:lin ang="5400000" scaled="0"/>
          </a:gradFill>
          <a:ln cap="flat" cmpd="sng" w="12700">
            <a:solidFill>
              <a:srgbClr val="7969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182880" lvl="0" marL="182880" marR="0" rtl="0" algn="l">
              <a:lnSpc>
                <a:spcPct val="100000"/>
              </a:lnSpc>
              <a:spcBef>
                <a:spcPts val="0"/>
              </a:spcBef>
              <a:spcAft>
                <a:spcPts val="0"/>
              </a:spcAft>
              <a:buClr>
                <a:srgbClr val="483788"/>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Values in 0 to 1</a:t>
            </a:r>
            <a:endParaRPr/>
          </a:p>
          <a:p>
            <a:pPr indent="-182880" lvl="0" marL="182880" marR="0" rtl="0" algn="l">
              <a:lnSpc>
                <a:spcPct val="100000"/>
              </a:lnSpc>
              <a:spcBef>
                <a:spcPts val="300"/>
              </a:spcBef>
              <a:spcAft>
                <a:spcPts val="0"/>
              </a:spcAft>
              <a:buClr>
                <a:srgbClr val="483788"/>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Bandit quality</a:t>
            </a:r>
            <a:endParaRPr/>
          </a:p>
          <a:p>
            <a:pPr indent="-182880" lvl="0" marL="182880" marR="0" rtl="0" algn="l">
              <a:lnSpc>
                <a:spcPct val="100000"/>
              </a:lnSpc>
              <a:spcBef>
                <a:spcPts val="300"/>
              </a:spcBef>
              <a:spcAft>
                <a:spcPts val="0"/>
              </a:spcAft>
              <a:buClr>
                <a:srgbClr val="483788"/>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Weighted score</a:t>
            </a:r>
            <a:endParaRPr/>
          </a:p>
        </p:txBody>
      </p:sp>
      <p:sp>
        <p:nvSpPr>
          <p:cNvPr id="457" name="Google Shape;457;p26"/>
          <p:cNvSpPr/>
          <p:nvPr/>
        </p:nvSpPr>
        <p:spPr>
          <a:xfrm>
            <a:off x="6007608" y="2103120"/>
            <a:ext cx="1325880" cy="566928"/>
          </a:xfrm>
          <a:prstGeom prst="chevron">
            <a:avLst>
              <a:gd fmla="val 25000" name="adj"/>
            </a:avLst>
          </a:prstGeom>
          <a:gradFill rotWithShape="1">
            <a:gsLst>
              <a:gs pos="0">
                <a:srgbClr val="773790"/>
              </a:gs>
              <a:gs pos="100000">
                <a:srgbClr val="AF5BAC"/>
              </a:gs>
            </a:gsLst>
            <a:lin ang="2700000" scaled="0"/>
          </a:gradFill>
          <a:ln cap="flat" cmpd="sng" w="15875">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5 Recommend</a:t>
            </a:r>
            <a:endParaRPr/>
          </a:p>
        </p:txBody>
      </p:sp>
      <p:sp>
        <p:nvSpPr>
          <p:cNvPr id="458" name="Google Shape;458;p26"/>
          <p:cNvSpPr/>
          <p:nvPr/>
        </p:nvSpPr>
        <p:spPr>
          <a:xfrm>
            <a:off x="6007608" y="2743200"/>
            <a:ext cx="1307592" cy="1481328"/>
          </a:xfrm>
          <a:prstGeom prst="roundRect">
            <a:avLst>
              <a:gd fmla="val 8000" name="adj"/>
            </a:avLst>
          </a:prstGeom>
          <a:gradFill rotWithShape="1">
            <a:gsLst>
              <a:gs pos="0">
                <a:srgbClr val="FFFFFF"/>
              </a:gs>
              <a:gs pos="100000">
                <a:srgbClr val="FAEAFC"/>
              </a:gs>
            </a:gsLst>
            <a:lin ang="5400000" scaled="0"/>
          </a:gradFill>
          <a:ln cap="flat" cmpd="sng" w="12700">
            <a:solidFill>
              <a:srgbClr val="A05BA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182880" lvl="0" marL="182880" marR="0" rtl="0" algn="l">
              <a:lnSpc>
                <a:spcPct val="100000"/>
              </a:lnSpc>
              <a:spcBef>
                <a:spcPts val="0"/>
              </a:spcBef>
              <a:spcAft>
                <a:spcPts val="0"/>
              </a:spcAft>
              <a:buClr>
                <a:srgbClr val="672970"/>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A is best</a:t>
            </a:r>
            <a:endParaRPr/>
          </a:p>
          <a:p>
            <a:pPr indent="-182880" lvl="0" marL="182880" marR="0" rtl="0" algn="l">
              <a:lnSpc>
                <a:spcPct val="100000"/>
              </a:lnSpc>
              <a:spcBef>
                <a:spcPts val="300"/>
              </a:spcBef>
              <a:spcAft>
                <a:spcPts val="0"/>
              </a:spcAft>
              <a:buClr>
                <a:srgbClr val="672970"/>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B, C alternatives</a:t>
            </a:r>
            <a:endParaRPr/>
          </a:p>
          <a:p>
            <a:pPr indent="-182880" lvl="0" marL="182880" marR="0" rtl="0" algn="l">
              <a:lnSpc>
                <a:spcPct val="100000"/>
              </a:lnSpc>
              <a:spcBef>
                <a:spcPts val="300"/>
              </a:spcBef>
              <a:spcAft>
                <a:spcPts val="0"/>
              </a:spcAft>
              <a:buClr>
                <a:srgbClr val="672970"/>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Booking sent to A</a:t>
            </a:r>
            <a:endParaRPr/>
          </a:p>
        </p:txBody>
      </p:sp>
      <p:sp>
        <p:nvSpPr>
          <p:cNvPr id="459" name="Google Shape;459;p26"/>
          <p:cNvSpPr/>
          <p:nvPr/>
        </p:nvSpPr>
        <p:spPr>
          <a:xfrm>
            <a:off x="7397496" y="2103120"/>
            <a:ext cx="1325880" cy="566928"/>
          </a:xfrm>
          <a:prstGeom prst="chevron">
            <a:avLst>
              <a:gd fmla="val 25000" name="adj"/>
            </a:avLst>
          </a:prstGeom>
          <a:gradFill rotWithShape="1">
            <a:gsLst>
              <a:gs pos="0">
                <a:srgbClr val="902A66"/>
              </a:gs>
              <a:gs pos="100000">
                <a:srgbClr val="C25485"/>
              </a:gs>
            </a:gsLst>
            <a:lin ang="2700000" scaled="0"/>
          </a:gradFill>
          <a:ln cap="flat" cmpd="sng" w="15875">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6 Feedback</a:t>
            </a:r>
            <a:endParaRPr/>
          </a:p>
        </p:txBody>
      </p:sp>
      <p:sp>
        <p:nvSpPr>
          <p:cNvPr id="460" name="Google Shape;460;p26"/>
          <p:cNvSpPr/>
          <p:nvPr/>
        </p:nvSpPr>
        <p:spPr>
          <a:xfrm>
            <a:off x="7397496" y="2743200"/>
            <a:ext cx="1307592" cy="1481328"/>
          </a:xfrm>
          <a:prstGeom prst="roundRect">
            <a:avLst>
              <a:gd fmla="val 8000" name="adj"/>
            </a:avLst>
          </a:prstGeom>
          <a:gradFill rotWithShape="1">
            <a:gsLst>
              <a:gs pos="0">
                <a:srgbClr val="FFFFFF"/>
              </a:gs>
              <a:gs pos="100000">
                <a:srgbClr val="FFEAF1"/>
              </a:gs>
            </a:gsLst>
            <a:lin ang="5400000" scaled="0"/>
          </a:gradFill>
          <a:ln cap="flat" cmpd="sng" w="12700">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64000" lIns="64000" spcFirstLastPara="1" rIns="64000" wrap="square" tIns="64000">
            <a:noAutofit/>
          </a:bodyPr>
          <a:lstStyle/>
          <a:p>
            <a:pPr indent="-182880" lvl="0" marL="182880" marR="0" rtl="0" algn="l">
              <a:lnSpc>
                <a:spcPct val="100000"/>
              </a:lnSpc>
              <a:spcBef>
                <a:spcPts val="0"/>
              </a:spcBef>
              <a:spcAft>
                <a:spcPts val="0"/>
              </a:spcAft>
              <a:buClr>
                <a:srgbClr val="79204B"/>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Rating, time, cost</a:t>
            </a:r>
            <a:endParaRPr/>
          </a:p>
          <a:p>
            <a:pPr indent="-182880" lvl="0" marL="182880" marR="0" rtl="0" algn="l">
              <a:lnSpc>
                <a:spcPct val="100000"/>
              </a:lnSpc>
              <a:spcBef>
                <a:spcPts val="300"/>
              </a:spcBef>
              <a:spcAft>
                <a:spcPts val="0"/>
              </a:spcAft>
              <a:buClr>
                <a:srgbClr val="79204B"/>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Update n and mean</a:t>
            </a:r>
            <a:endParaRPr/>
          </a:p>
          <a:p>
            <a:pPr indent="-182880" lvl="0" marL="182880" marR="0" rtl="0" algn="l">
              <a:lnSpc>
                <a:spcPct val="100000"/>
              </a:lnSpc>
              <a:spcBef>
                <a:spcPts val="300"/>
              </a:spcBef>
              <a:spcAft>
                <a:spcPts val="0"/>
              </a:spcAft>
              <a:buClr>
                <a:srgbClr val="79204B"/>
              </a:buClr>
              <a:buSzPts val="1150"/>
              <a:buFont typeface="Arial"/>
              <a:buChar char="•"/>
            </a:pPr>
            <a:r>
              <a:rPr b="0" i="0" lang="en-US" sz="1150" u="none" cap="none" strike="noStrike">
                <a:solidFill>
                  <a:schemeClr val="dk1"/>
                </a:solidFill>
                <a:latin typeface="Times New Roman"/>
                <a:ea typeface="Times New Roman"/>
                <a:cs typeface="Times New Roman"/>
                <a:sym typeface="Times New Roman"/>
              </a:rPr>
              <a:t>Better next time</a:t>
            </a:r>
            <a:endParaRPr/>
          </a:p>
        </p:txBody>
      </p:sp>
      <p:sp>
        <p:nvSpPr>
          <p:cNvPr id="461" name="Google Shape;461;p26"/>
          <p:cNvSpPr/>
          <p:nvPr/>
        </p:nvSpPr>
        <p:spPr>
          <a:xfrm>
            <a:off x="457200" y="4370832"/>
            <a:ext cx="237744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004A7F"/>
                </a:solidFill>
                <a:latin typeface="Times New Roman"/>
                <a:ea typeface="Times New Roman"/>
                <a:cs typeface="Times New Roman"/>
                <a:sym typeface="Times New Roman"/>
              </a:rPr>
              <a:t>Ranking result (score)</a:t>
            </a:r>
            <a:endParaRPr/>
          </a:p>
        </p:txBody>
      </p:sp>
      <p:sp>
        <p:nvSpPr>
          <p:cNvPr id="462" name="Google Shape;462;p26"/>
          <p:cNvSpPr/>
          <p:nvPr/>
        </p:nvSpPr>
        <p:spPr>
          <a:xfrm>
            <a:off x="457200" y="4754880"/>
            <a:ext cx="118872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Worker A</a:t>
            </a:r>
            <a:endParaRPr/>
          </a:p>
        </p:txBody>
      </p:sp>
      <p:sp>
        <p:nvSpPr>
          <p:cNvPr id="463" name="Google Shape;463;p26"/>
          <p:cNvSpPr/>
          <p:nvPr/>
        </p:nvSpPr>
        <p:spPr>
          <a:xfrm>
            <a:off x="1691640" y="4754880"/>
            <a:ext cx="4197096" cy="310896"/>
          </a:xfrm>
          <a:prstGeom prst="rect">
            <a:avLst/>
          </a:prstGeom>
          <a:gradFill rotWithShape="1">
            <a:gsLst>
              <a:gs pos="0">
                <a:srgbClr val="036A34"/>
              </a:gs>
              <a:gs pos="100000">
                <a:srgbClr val="309656"/>
              </a:gs>
            </a:gsLst>
            <a:lin ang="2700000" scaled="0"/>
          </a:gradFill>
          <a:ln>
            <a:noFill/>
          </a:ln>
        </p:spPr>
        <p:txBody>
          <a:bodyPr anchorCtr="0" anchor="ctr" bIns="73150" lIns="73150" spcFirstLastPara="1" rIns="73150" wrap="square" tIns="7315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0.850</a:t>
            </a:r>
            <a:endParaRPr/>
          </a:p>
        </p:txBody>
      </p:sp>
      <p:sp>
        <p:nvSpPr>
          <p:cNvPr id="464" name="Google Shape;464;p26"/>
          <p:cNvSpPr/>
          <p:nvPr/>
        </p:nvSpPr>
        <p:spPr>
          <a:xfrm>
            <a:off x="457200" y="5138928"/>
            <a:ext cx="118872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Worker B</a:t>
            </a:r>
            <a:endParaRPr/>
          </a:p>
        </p:txBody>
      </p:sp>
      <p:sp>
        <p:nvSpPr>
          <p:cNvPr id="465" name="Google Shape;465;p26"/>
          <p:cNvSpPr/>
          <p:nvPr/>
        </p:nvSpPr>
        <p:spPr>
          <a:xfrm>
            <a:off x="1691640" y="5138928"/>
            <a:ext cx="4132905" cy="310896"/>
          </a:xfrm>
          <a:prstGeom prst="rect">
            <a:avLst/>
          </a:prstGeom>
          <a:gradFill rotWithShape="1">
            <a:gsLst>
              <a:gs pos="0">
                <a:srgbClr val="1555A9"/>
              </a:gs>
              <a:gs pos="100000">
                <a:srgbClr val="6078D9"/>
              </a:gs>
            </a:gsLst>
            <a:lin ang="2700000" scaled="0"/>
          </a:gradFill>
          <a:ln>
            <a:noFill/>
          </a:ln>
        </p:spPr>
        <p:txBody>
          <a:bodyPr anchorCtr="0" anchor="ctr" bIns="73150" lIns="73150" spcFirstLastPara="1" rIns="73150" wrap="square" tIns="7315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0.837</a:t>
            </a:r>
            <a:endParaRPr/>
          </a:p>
        </p:txBody>
      </p:sp>
      <p:sp>
        <p:nvSpPr>
          <p:cNvPr id="466" name="Google Shape;466;p26"/>
          <p:cNvSpPr/>
          <p:nvPr/>
        </p:nvSpPr>
        <p:spPr>
          <a:xfrm>
            <a:off x="457200" y="5522976"/>
            <a:ext cx="118872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Worker C</a:t>
            </a:r>
            <a:endParaRPr/>
          </a:p>
        </p:txBody>
      </p:sp>
      <p:sp>
        <p:nvSpPr>
          <p:cNvPr id="467" name="Google Shape;467;p26"/>
          <p:cNvSpPr/>
          <p:nvPr/>
        </p:nvSpPr>
        <p:spPr>
          <a:xfrm>
            <a:off x="1691640" y="5522976"/>
            <a:ext cx="3456432" cy="310896"/>
          </a:xfrm>
          <a:prstGeom prst="rect">
            <a:avLst/>
          </a:prstGeom>
          <a:gradFill rotWithShape="1">
            <a:gsLst>
              <a:gs pos="0">
                <a:srgbClr val="85307C"/>
              </a:gs>
              <a:gs pos="100000">
                <a:srgbClr val="BC5694"/>
              </a:gs>
            </a:gsLst>
            <a:lin ang="2700000" scaled="0"/>
          </a:gradFill>
          <a:ln>
            <a:noFill/>
          </a:ln>
        </p:spPr>
        <p:txBody>
          <a:bodyPr anchorCtr="0" anchor="ctr" bIns="73150" lIns="73150" spcFirstLastPara="1" rIns="73150" wrap="square" tIns="73150">
            <a:noAutofit/>
          </a:bodyPr>
          <a:lstStyle/>
          <a:p>
            <a:pPr indent="0" lvl="0" marL="0" marR="0" rtl="0" algn="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0.700</a:t>
            </a:r>
            <a:endParaRPr/>
          </a:p>
        </p:txBody>
      </p:sp>
      <p:sp>
        <p:nvSpPr>
          <p:cNvPr id="468" name="Google Shape;468;p26"/>
          <p:cNvSpPr/>
          <p:nvPr/>
        </p:nvSpPr>
        <p:spPr>
          <a:xfrm>
            <a:off x="6812280" y="4754880"/>
            <a:ext cx="1874520" cy="310896"/>
          </a:xfrm>
          <a:prstGeom prst="roundRect">
            <a:avLst>
              <a:gd fmla="val 50000" name="adj"/>
            </a:avLst>
          </a:prstGeom>
          <a:gradFill rotWithShape="1">
            <a:gsLst>
              <a:gs pos="0">
                <a:srgbClr val="036A34"/>
              </a:gs>
              <a:gs pos="100000">
                <a:srgbClr val="309656"/>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Times New Roman"/>
                <a:ea typeface="Times New Roman"/>
                <a:cs typeface="Times New Roman"/>
                <a:sym typeface="Times New Roman"/>
              </a:rPr>
              <a:t>Recommended: A</a:t>
            </a:r>
            <a:endParaRPr/>
          </a:p>
        </p:txBody>
      </p:sp>
    </p:spTree>
  </p:cSld>
  <p:clrMapOvr>
    <a:masterClrMapping/>
  </p:clrMapOvr>
  <mc:AlternateContent>
    <mc:Choice Requires="p14">
      <p:transition spd="slow" p14:dur="1400">
        <p14:ferris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46"/>
                                        </p:tgtEl>
                                        <p:attrNameLst>
                                          <p:attrName>style.visibility</p:attrName>
                                        </p:attrNameLst>
                                      </p:cBhvr>
                                      <p:to>
                                        <p:strVal val="visible"/>
                                      </p:to>
                                    </p:set>
                                    <p:anim calcmode="lin" valueType="num">
                                      <p:cBhvr additive="base">
                                        <p:cTn dur="400"/>
                                        <p:tgtEl>
                                          <p:spTgt spid="446"/>
                                        </p:tgtEl>
                                        <p:attrNameLst>
                                          <p:attrName>ppt_w</p:attrName>
                                        </p:attrNameLst>
                                      </p:cBhvr>
                                      <p:tavLst>
                                        <p:tav fmla="" tm="0">
                                          <p:val>
                                            <p:strVal val="0"/>
                                          </p:val>
                                        </p:tav>
                                        <p:tav fmla="" tm="100000">
                                          <p:val>
                                            <p:strVal val="#ppt_w"/>
                                          </p:val>
                                        </p:tav>
                                      </p:tavLst>
                                    </p:anim>
                                    <p:anim calcmode="lin" valueType="num">
                                      <p:cBhvr additive="base">
                                        <p:cTn dur="400"/>
                                        <p:tgtEl>
                                          <p:spTgt spid="44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0"/>
                                  </p:stCondLst>
                                  <p:childTnLst>
                                    <p:set>
                                      <p:cBhvr>
                                        <p:cTn dur="1" fill="hold">
                                          <p:stCondLst>
                                            <p:cond delay="0"/>
                                          </p:stCondLst>
                                        </p:cTn>
                                        <p:tgtEl>
                                          <p:spTgt spid="447"/>
                                        </p:tgtEl>
                                        <p:attrNameLst>
                                          <p:attrName>style.visibility</p:attrName>
                                        </p:attrNameLst>
                                      </p:cBhvr>
                                      <p:to>
                                        <p:strVal val="visible"/>
                                      </p:to>
                                    </p:set>
                                    <p:animEffect filter="fade" transition="in">
                                      <p:cBhvr>
                                        <p:cTn dur="300"/>
                                        <p:tgtEl>
                                          <p:spTgt spid="447"/>
                                        </p:tgtEl>
                                      </p:cBhvr>
                                    </p:animEffect>
                                  </p:childTnLst>
                                </p:cTn>
                              </p:par>
                              <p:par>
                                <p:cTn fill="hold" nodeType="withEffect" presetClass="entr" presetID="10" presetSubtype="0">
                                  <p:stCondLst>
                                    <p:cond delay="200"/>
                                  </p:stCondLst>
                                  <p:childTnLst>
                                    <p:set>
                                      <p:cBhvr>
                                        <p:cTn dur="1" fill="hold">
                                          <p:stCondLst>
                                            <p:cond delay="0"/>
                                          </p:stCondLst>
                                        </p:cTn>
                                        <p:tgtEl>
                                          <p:spTgt spid="448"/>
                                        </p:tgtEl>
                                        <p:attrNameLst>
                                          <p:attrName>style.visibility</p:attrName>
                                        </p:attrNameLst>
                                      </p:cBhvr>
                                      <p:to>
                                        <p:strVal val="visible"/>
                                      </p:to>
                                    </p:set>
                                    <p:animEffect filter="fade" transition="in">
                                      <p:cBhvr>
                                        <p:cTn dur="800"/>
                                        <p:tgtEl>
                                          <p:spTgt spid="448"/>
                                        </p:tgtEl>
                                      </p:cBhvr>
                                    </p:animEffect>
                                  </p:childTnLst>
                                </p:cTn>
                              </p:par>
                              <p:par>
                                <p:cTn fill="hold" nodeType="withEffect" presetClass="entr" presetID="10" presetSubtype="0">
                                  <p:stCondLst>
                                    <p:cond delay="600"/>
                                  </p:stCondLst>
                                  <p:childTnLst>
                                    <p:set>
                                      <p:cBhvr>
                                        <p:cTn dur="1" fill="hold">
                                          <p:stCondLst>
                                            <p:cond delay="0"/>
                                          </p:stCondLst>
                                        </p:cTn>
                                        <p:tgtEl>
                                          <p:spTgt spid="449"/>
                                        </p:tgtEl>
                                        <p:attrNameLst>
                                          <p:attrName>style.visibility</p:attrName>
                                        </p:attrNameLst>
                                      </p:cBhvr>
                                      <p:to>
                                        <p:strVal val="visible"/>
                                      </p:to>
                                    </p:set>
                                    <p:animEffect filter="fade" transition="in">
                                      <p:cBhvr>
                                        <p:cTn dur="350"/>
                                        <p:tgtEl>
                                          <p:spTgt spid="449"/>
                                        </p:tgtEl>
                                      </p:cBhvr>
                                    </p:animEffect>
                                  </p:childTnLst>
                                </p:cTn>
                              </p:par>
                              <p:par>
                                <p:cTn fill="hold" nodeType="withEffect" presetClass="entr" presetID="10" presetSubtype="0">
                                  <p:stCondLst>
                                    <p:cond delay="720"/>
                                  </p:stCondLst>
                                  <p:childTnLst>
                                    <p:set>
                                      <p:cBhvr>
                                        <p:cTn dur="1" fill="hold">
                                          <p:stCondLst>
                                            <p:cond delay="0"/>
                                          </p:stCondLst>
                                        </p:cTn>
                                        <p:tgtEl>
                                          <p:spTgt spid="450"/>
                                        </p:tgtEl>
                                        <p:attrNameLst>
                                          <p:attrName>style.visibility</p:attrName>
                                        </p:attrNameLst>
                                      </p:cBhvr>
                                      <p:to>
                                        <p:strVal val="visible"/>
                                      </p:to>
                                    </p:set>
                                    <p:animEffect filter="fade" transition="in">
                                      <p:cBhvr>
                                        <p:cTn dur="450"/>
                                        <p:tgtEl>
                                          <p:spTgt spid="450"/>
                                        </p:tgtEl>
                                      </p:cBhvr>
                                    </p:animEffect>
                                  </p:childTnLst>
                                </p:cTn>
                              </p:par>
                              <p:par>
                                <p:cTn fill="hold" nodeType="withEffect" presetClass="entr" presetID="10" presetSubtype="0">
                                  <p:stCondLst>
                                    <p:cond delay="1050"/>
                                  </p:stCondLst>
                                  <p:childTnLst>
                                    <p:set>
                                      <p:cBhvr>
                                        <p:cTn dur="1" fill="hold">
                                          <p:stCondLst>
                                            <p:cond delay="0"/>
                                          </p:stCondLst>
                                        </p:cTn>
                                        <p:tgtEl>
                                          <p:spTgt spid="451"/>
                                        </p:tgtEl>
                                        <p:attrNameLst>
                                          <p:attrName>style.visibility</p:attrName>
                                        </p:attrNameLst>
                                      </p:cBhvr>
                                      <p:to>
                                        <p:strVal val="visible"/>
                                      </p:to>
                                    </p:set>
                                    <p:animEffect filter="fade" transition="in">
                                      <p:cBhvr>
                                        <p:cTn dur="350"/>
                                        <p:tgtEl>
                                          <p:spTgt spid="451"/>
                                        </p:tgtEl>
                                      </p:cBhvr>
                                    </p:animEffect>
                                  </p:childTnLst>
                                </p:cTn>
                              </p:par>
                              <p:par>
                                <p:cTn fill="hold" nodeType="withEffect" presetClass="entr" presetID="10" presetSubtype="0">
                                  <p:stCondLst>
                                    <p:cond delay="1170"/>
                                  </p:stCondLst>
                                  <p:childTnLst>
                                    <p:set>
                                      <p:cBhvr>
                                        <p:cTn dur="1" fill="hold">
                                          <p:stCondLst>
                                            <p:cond delay="0"/>
                                          </p:stCondLst>
                                        </p:cTn>
                                        <p:tgtEl>
                                          <p:spTgt spid="452"/>
                                        </p:tgtEl>
                                        <p:attrNameLst>
                                          <p:attrName>style.visibility</p:attrName>
                                        </p:attrNameLst>
                                      </p:cBhvr>
                                      <p:to>
                                        <p:strVal val="visible"/>
                                      </p:to>
                                    </p:set>
                                    <p:animEffect filter="fade" transition="in">
                                      <p:cBhvr>
                                        <p:cTn dur="450"/>
                                        <p:tgtEl>
                                          <p:spTgt spid="452"/>
                                        </p:tgtEl>
                                      </p:cBhvr>
                                    </p:animEffect>
                                  </p:childTnLst>
                                </p:cTn>
                              </p:par>
                              <p:par>
                                <p:cTn fill="hold" nodeType="withEffect" presetClass="entr" presetID="10" presetSubtype="0">
                                  <p:stCondLst>
                                    <p:cond delay="1500"/>
                                  </p:stCondLst>
                                  <p:childTnLst>
                                    <p:set>
                                      <p:cBhvr>
                                        <p:cTn dur="1" fill="hold">
                                          <p:stCondLst>
                                            <p:cond delay="0"/>
                                          </p:stCondLst>
                                        </p:cTn>
                                        <p:tgtEl>
                                          <p:spTgt spid="453"/>
                                        </p:tgtEl>
                                        <p:attrNameLst>
                                          <p:attrName>style.visibility</p:attrName>
                                        </p:attrNameLst>
                                      </p:cBhvr>
                                      <p:to>
                                        <p:strVal val="visible"/>
                                      </p:to>
                                    </p:set>
                                    <p:animEffect filter="fade" transition="in">
                                      <p:cBhvr>
                                        <p:cTn dur="350"/>
                                        <p:tgtEl>
                                          <p:spTgt spid="453"/>
                                        </p:tgtEl>
                                      </p:cBhvr>
                                    </p:animEffect>
                                  </p:childTnLst>
                                </p:cTn>
                              </p:par>
                              <p:par>
                                <p:cTn fill="hold" nodeType="withEffect" presetClass="entr" presetID="10" presetSubtype="0">
                                  <p:stCondLst>
                                    <p:cond delay="1620"/>
                                  </p:stCondLst>
                                  <p:childTnLst>
                                    <p:set>
                                      <p:cBhvr>
                                        <p:cTn dur="1" fill="hold">
                                          <p:stCondLst>
                                            <p:cond delay="0"/>
                                          </p:stCondLst>
                                        </p:cTn>
                                        <p:tgtEl>
                                          <p:spTgt spid="454"/>
                                        </p:tgtEl>
                                        <p:attrNameLst>
                                          <p:attrName>style.visibility</p:attrName>
                                        </p:attrNameLst>
                                      </p:cBhvr>
                                      <p:to>
                                        <p:strVal val="visible"/>
                                      </p:to>
                                    </p:set>
                                    <p:animEffect filter="fade" transition="in">
                                      <p:cBhvr>
                                        <p:cTn dur="450"/>
                                        <p:tgtEl>
                                          <p:spTgt spid="454"/>
                                        </p:tgtEl>
                                      </p:cBhvr>
                                    </p:animEffect>
                                  </p:childTnLst>
                                </p:cTn>
                              </p:par>
                              <p:par>
                                <p:cTn fill="hold" nodeType="withEffect" presetClass="entr" presetID="10" presetSubtype="0">
                                  <p:stCondLst>
                                    <p:cond delay="1950"/>
                                  </p:stCondLst>
                                  <p:childTnLst>
                                    <p:set>
                                      <p:cBhvr>
                                        <p:cTn dur="1" fill="hold">
                                          <p:stCondLst>
                                            <p:cond delay="0"/>
                                          </p:stCondLst>
                                        </p:cTn>
                                        <p:tgtEl>
                                          <p:spTgt spid="455"/>
                                        </p:tgtEl>
                                        <p:attrNameLst>
                                          <p:attrName>style.visibility</p:attrName>
                                        </p:attrNameLst>
                                      </p:cBhvr>
                                      <p:to>
                                        <p:strVal val="visible"/>
                                      </p:to>
                                    </p:set>
                                    <p:animEffect filter="fade" transition="in">
                                      <p:cBhvr>
                                        <p:cTn dur="350"/>
                                        <p:tgtEl>
                                          <p:spTgt spid="455"/>
                                        </p:tgtEl>
                                      </p:cBhvr>
                                    </p:animEffect>
                                  </p:childTnLst>
                                </p:cTn>
                              </p:par>
                              <p:par>
                                <p:cTn fill="hold" nodeType="withEffect" presetClass="entr" presetID="10" presetSubtype="0">
                                  <p:stCondLst>
                                    <p:cond delay="2070"/>
                                  </p:stCondLst>
                                  <p:childTnLst>
                                    <p:set>
                                      <p:cBhvr>
                                        <p:cTn dur="1" fill="hold">
                                          <p:stCondLst>
                                            <p:cond delay="0"/>
                                          </p:stCondLst>
                                        </p:cTn>
                                        <p:tgtEl>
                                          <p:spTgt spid="456"/>
                                        </p:tgtEl>
                                        <p:attrNameLst>
                                          <p:attrName>style.visibility</p:attrName>
                                        </p:attrNameLst>
                                      </p:cBhvr>
                                      <p:to>
                                        <p:strVal val="visible"/>
                                      </p:to>
                                    </p:set>
                                    <p:animEffect filter="fade" transition="in">
                                      <p:cBhvr>
                                        <p:cTn dur="450"/>
                                        <p:tgtEl>
                                          <p:spTgt spid="456"/>
                                        </p:tgtEl>
                                      </p:cBhvr>
                                    </p:animEffect>
                                  </p:childTnLst>
                                </p:cTn>
                              </p:par>
                              <p:par>
                                <p:cTn fill="hold" nodeType="withEffect" presetClass="entr" presetID="10" presetSubtype="0">
                                  <p:stCondLst>
                                    <p:cond delay="2400"/>
                                  </p:stCondLst>
                                  <p:childTnLst>
                                    <p:set>
                                      <p:cBhvr>
                                        <p:cTn dur="1" fill="hold">
                                          <p:stCondLst>
                                            <p:cond delay="0"/>
                                          </p:stCondLst>
                                        </p:cTn>
                                        <p:tgtEl>
                                          <p:spTgt spid="457"/>
                                        </p:tgtEl>
                                        <p:attrNameLst>
                                          <p:attrName>style.visibility</p:attrName>
                                        </p:attrNameLst>
                                      </p:cBhvr>
                                      <p:to>
                                        <p:strVal val="visible"/>
                                      </p:to>
                                    </p:set>
                                    <p:animEffect filter="fade" transition="in">
                                      <p:cBhvr>
                                        <p:cTn dur="350"/>
                                        <p:tgtEl>
                                          <p:spTgt spid="457"/>
                                        </p:tgtEl>
                                      </p:cBhvr>
                                    </p:animEffect>
                                  </p:childTnLst>
                                </p:cTn>
                              </p:par>
                              <p:par>
                                <p:cTn fill="hold" nodeType="withEffect" presetClass="entr" presetID="10" presetSubtype="0">
                                  <p:stCondLst>
                                    <p:cond delay="2520"/>
                                  </p:stCondLst>
                                  <p:childTnLst>
                                    <p:set>
                                      <p:cBhvr>
                                        <p:cTn dur="1" fill="hold">
                                          <p:stCondLst>
                                            <p:cond delay="0"/>
                                          </p:stCondLst>
                                        </p:cTn>
                                        <p:tgtEl>
                                          <p:spTgt spid="458"/>
                                        </p:tgtEl>
                                        <p:attrNameLst>
                                          <p:attrName>style.visibility</p:attrName>
                                        </p:attrNameLst>
                                      </p:cBhvr>
                                      <p:to>
                                        <p:strVal val="visible"/>
                                      </p:to>
                                    </p:set>
                                    <p:animEffect filter="fade" transition="in">
                                      <p:cBhvr>
                                        <p:cTn dur="450"/>
                                        <p:tgtEl>
                                          <p:spTgt spid="458"/>
                                        </p:tgtEl>
                                      </p:cBhvr>
                                    </p:animEffect>
                                  </p:childTnLst>
                                </p:cTn>
                              </p:par>
                              <p:par>
                                <p:cTn fill="hold" nodeType="withEffect" presetClass="entr" presetID="10" presetSubtype="0">
                                  <p:stCondLst>
                                    <p:cond delay="2850"/>
                                  </p:stCondLst>
                                  <p:childTnLst>
                                    <p:set>
                                      <p:cBhvr>
                                        <p:cTn dur="1" fill="hold">
                                          <p:stCondLst>
                                            <p:cond delay="0"/>
                                          </p:stCondLst>
                                        </p:cTn>
                                        <p:tgtEl>
                                          <p:spTgt spid="459"/>
                                        </p:tgtEl>
                                        <p:attrNameLst>
                                          <p:attrName>style.visibility</p:attrName>
                                        </p:attrNameLst>
                                      </p:cBhvr>
                                      <p:to>
                                        <p:strVal val="visible"/>
                                      </p:to>
                                    </p:set>
                                    <p:animEffect filter="fade" transition="in">
                                      <p:cBhvr>
                                        <p:cTn dur="350"/>
                                        <p:tgtEl>
                                          <p:spTgt spid="459"/>
                                        </p:tgtEl>
                                      </p:cBhvr>
                                    </p:animEffect>
                                  </p:childTnLst>
                                </p:cTn>
                              </p:par>
                              <p:par>
                                <p:cTn fill="hold" nodeType="withEffect" presetClass="entr" presetID="10" presetSubtype="0">
                                  <p:stCondLst>
                                    <p:cond delay="2970"/>
                                  </p:stCondLst>
                                  <p:childTnLst>
                                    <p:set>
                                      <p:cBhvr>
                                        <p:cTn dur="1" fill="hold">
                                          <p:stCondLst>
                                            <p:cond delay="0"/>
                                          </p:stCondLst>
                                        </p:cTn>
                                        <p:tgtEl>
                                          <p:spTgt spid="460"/>
                                        </p:tgtEl>
                                        <p:attrNameLst>
                                          <p:attrName>style.visibility</p:attrName>
                                        </p:attrNameLst>
                                      </p:cBhvr>
                                      <p:to>
                                        <p:strVal val="visible"/>
                                      </p:to>
                                    </p:set>
                                    <p:animEffect filter="fade" transition="in">
                                      <p:cBhvr>
                                        <p:cTn dur="450"/>
                                        <p:tgtEl>
                                          <p:spTgt spid="460"/>
                                        </p:tgtEl>
                                      </p:cBhvr>
                                    </p:animEffect>
                                  </p:childTnLst>
                                </p:cTn>
                              </p:par>
                              <p:par>
                                <p:cTn fill="hold" nodeType="withEffect" presetClass="entr" presetID="10" presetSubtype="0">
                                  <p:stCondLst>
                                    <p:cond delay="3300"/>
                                  </p:stCondLst>
                                  <p:childTnLst>
                                    <p:set>
                                      <p:cBhvr>
                                        <p:cTn dur="1" fill="hold">
                                          <p:stCondLst>
                                            <p:cond delay="0"/>
                                          </p:stCondLst>
                                        </p:cTn>
                                        <p:tgtEl>
                                          <p:spTgt spid="461"/>
                                        </p:tgtEl>
                                        <p:attrNameLst>
                                          <p:attrName>style.visibility</p:attrName>
                                        </p:attrNameLst>
                                      </p:cBhvr>
                                      <p:to>
                                        <p:strVal val="visible"/>
                                      </p:to>
                                    </p:set>
                                    <p:animEffect filter="fade" transition="in">
                                      <p:cBhvr>
                                        <p:cTn dur="300"/>
                                        <p:tgtEl>
                                          <p:spTgt spid="461"/>
                                        </p:tgtEl>
                                      </p:cBhvr>
                                    </p:animEffect>
                                  </p:childTnLst>
                                </p:cTn>
                              </p:par>
                              <p:par>
                                <p:cTn fill="hold" nodeType="withEffect" presetClass="entr" presetID="10" presetSubtype="0">
                                  <p:stCondLst>
                                    <p:cond delay="3400"/>
                                  </p:stCondLst>
                                  <p:childTnLst>
                                    <p:set>
                                      <p:cBhvr>
                                        <p:cTn dur="1" fill="hold">
                                          <p:stCondLst>
                                            <p:cond delay="0"/>
                                          </p:stCondLst>
                                        </p:cTn>
                                        <p:tgtEl>
                                          <p:spTgt spid="462"/>
                                        </p:tgtEl>
                                        <p:attrNameLst>
                                          <p:attrName>style.visibility</p:attrName>
                                        </p:attrNameLst>
                                      </p:cBhvr>
                                      <p:to>
                                        <p:strVal val="visible"/>
                                      </p:to>
                                    </p:set>
                                    <p:animEffect filter="fade" transition="in">
                                      <p:cBhvr>
                                        <p:cTn dur="250"/>
                                        <p:tgtEl>
                                          <p:spTgt spid="462"/>
                                        </p:tgtEl>
                                      </p:cBhvr>
                                    </p:animEffect>
                                  </p:childTnLst>
                                </p:cTn>
                              </p:par>
                              <p:par>
                                <p:cTn fill="hold" nodeType="withEffect" presetClass="entr" presetID="10" presetSubtype="0">
                                  <p:stCondLst>
                                    <p:cond delay="3400"/>
                                  </p:stCondLst>
                                  <p:childTnLst>
                                    <p:set>
                                      <p:cBhvr>
                                        <p:cTn dur="1" fill="hold">
                                          <p:stCondLst>
                                            <p:cond delay="0"/>
                                          </p:stCondLst>
                                        </p:cTn>
                                        <p:tgtEl>
                                          <p:spTgt spid="463"/>
                                        </p:tgtEl>
                                        <p:attrNameLst>
                                          <p:attrName>style.visibility</p:attrName>
                                        </p:attrNameLst>
                                      </p:cBhvr>
                                      <p:to>
                                        <p:strVal val="visible"/>
                                      </p:to>
                                    </p:set>
                                    <p:animEffect filter="fade" transition="in">
                                      <p:cBhvr>
                                        <p:cTn dur="800"/>
                                        <p:tgtEl>
                                          <p:spTgt spid="463"/>
                                        </p:tgtEl>
                                      </p:cBhvr>
                                    </p:animEffect>
                                  </p:childTnLst>
                                </p:cTn>
                              </p:par>
                              <p:par>
                                <p:cTn fill="hold" nodeType="withEffect" presetClass="entr" presetID="10" presetSubtype="0">
                                  <p:stCondLst>
                                    <p:cond delay="3800"/>
                                  </p:stCondLst>
                                  <p:childTnLst>
                                    <p:set>
                                      <p:cBhvr>
                                        <p:cTn dur="1" fill="hold">
                                          <p:stCondLst>
                                            <p:cond delay="0"/>
                                          </p:stCondLst>
                                        </p:cTn>
                                        <p:tgtEl>
                                          <p:spTgt spid="464"/>
                                        </p:tgtEl>
                                        <p:attrNameLst>
                                          <p:attrName>style.visibility</p:attrName>
                                        </p:attrNameLst>
                                      </p:cBhvr>
                                      <p:to>
                                        <p:strVal val="visible"/>
                                      </p:to>
                                    </p:set>
                                    <p:animEffect filter="fade" transition="in">
                                      <p:cBhvr>
                                        <p:cTn dur="250"/>
                                        <p:tgtEl>
                                          <p:spTgt spid="464"/>
                                        </p:tgtEl>
                                      </p:cBhvr>
                                    </p:animEffect>
                                  </p:childTnLst>
                                </p:cTn>
                              </p:par>
                              <p:par>
                                <p:cTn fill="hold" nodeType="withEffect" presetClass="entr" presetID="10" presetSubtype="0">
                                  <p:stCondLst>
                                    <p:cond delay="3800"/>
                                  </p:stCondLst>
                                  <p:childTnLst>
                                    <p:set>
                                      <p:cBhvr>
                                        <p:cTn dur="1" fill="hold">
                                          <p:stCondLst>
                                            <p:cond delay="0"/>
                                          </p:stCondLst>
                                        </p:cTn>
                                        <p:tgtEl>
                                          <p:spTgt spid="465"/>
                                        </p:tgtEl>
                                        <p:attrNameLst>
                                          <p:attrName>style.visibility</p:attrName>
                                        </p:attrNameLst>
                                      </p:cBhvr>
                                      <p:to>
                                        <p:strVal val="visible"/>
                                      </p:to>
                                    </p:set>
                                    <p:animEffect filter="fade" transition="in">
                                      <p:cBhvr>
                                        <p:cTn dur="800"/>
                                        <p:tgtEl>
                                          <p:spTgt spid="465"/>
                                        </p:tgtEl>
                                      </p:cBhvr>
                                    </p:animEffect>
                                  </p:childTnLst>
                                </p:cTn>
                              </p:par>
                              <p:par>
                                <p:cTn fill="hold" nodeType="withEffect" presetClass="entr" presetID="10" presetSubtype="0">
                                  <p:stCondLst>
                                    <p:cond delay="4200"/>
                                  </p:stCondLst>
                                  <p:childTnLst>
                                    <p:set>
                                      <p:cBhvr>
                                        <p:cTn dur="1" fill="hold">
                                          <p:stCondLst>
                                            <p:cond delay="0"/>
                                          </p:stCondLst>
                                        </p:cTn>
                                        <p:tgtEl>
                                          <p:spTgt spid="466"/>
                                        </p:tgtEl>
                                        <p:attrNameLst>
                                          <p:attrName>style.visibility</p:attrName>
                                        </p:attrNameLst>
                                      </p:cBhvr>
                                      <p:to>
                                        <p:strVal val="visible"/>
                                      </p:to>
                                    </p:set>
                                    <p:animEffect filter="fade" transition="in">
                                      <p:cBhvr>
                                        <p:cTn dur="250"/>
                                        <p:tgtEl>
                                          <p:spTgt spid="466"/>
                                        </p:tgtEl>
                                      </p:cBhvr>
                                    </p:animEffect>
                                  </p:childTnLst>
                                </p:cTn>
                              </p:par>
                              <p:par>
                                <p:cTn fill="hold" nodeType="withEffect" presetClass="entr" presetID="10" presetSubtype="0">
                                  <p:stCondLst>
                                    <p:cond delay="4200"/>
                                  </p:stCondLst>
                                  <p:childTnLst>
                                    <p:set>
                                      <p:cBhvr>
                                        <p:cTn dur="1" fill="hold">
                                          <p:stCondLst>
                                            <p:cond delay="0"/>
                                          </p:stCondLst>
                                        </p:cTn>
                                        <p:tgtEl>
                                          <p:spTgt spid="467"/>
                                        </p:tgtEl>
                                        <p:attrNameLst>
                                          <p:attrName>style.visibility</p:attrName>
                                        </p:attrNameLst>
                                      </p:cBhvr>
                                      <p:to>
                                        <p:strVal val="visible"/>
                                      </p:to>
                                    </p:set>
                                    <p:animEffect filter="fade" transition="in">
                                      <p:cBhvr>
                                        <p:cTn dur="800"/>
                                        <p:tgtEl>
                                          <p:spTgt spid="467"/>
                                        </p:tgtEl>
                                      </p:cBhvr>
                                    </p:animEffect>
                                  </p:childTnLst>
                                </p:cTn>
                              </p:par>
                              <p:par>
                                <p:cTn fill="hold" nodeType="withEffect" presetClass="entr" presetID="23" presetSubtype="16">
                                  <p:stCondLst>
                                    <p:cond delay="4600"/>
                                  </p:stCondLst>
                                  <p:childTnLst>
                                    <p:set>
                                      <p:cBhvr>
                                        <p:cTn dur="1" fill="hold">
                                          <p:stCondLst>
                                            <p:cond delay="0"/>
                                          </p:stCondLst>
                                        </p:cTn>
                                        <p:tgtEl>
                                          <p:spTgt spid="468"/>
                                        </p:tgtEl>
                                        <p:attrNameLst>
                                          <p:attrName>style.visibility</p:attrName>
                                        </p:attrNameLst>
                                      </p:cBhvr>
                                      <p:to>
                                        <p:strVal val="visible"/>
                                      </p:to>
                                    </p:set>
                                    <p:anim calcmode="lin" valueType="num">
                                      <p:cBhvr additive="base">
                                        <p:cTn dur="450"/>
                                        <p:tgtEl>
                                          <p:spTgt spid="468"/>
                                        </p:tgtEl>
                                        <p:attrNameLst>
                                          <p:attrName>ppt_w</p:attrName>
                                        </p:attrNameLst>
                                      </p:cBhvr>
                                      <p:tavLst>
                                        <p:tav fmla="" tm="0">
                                          <p:val>
                                            <p:strVal val="0"/>
                                          </p:val>
                                        </p:tav>
                                        <p:tav fmla="" tm="100000">
                                          <p:val>
                                            <p:strVal val="#ppt_w"/>
                                          </p:val>
                                        </p:tav>
                                      </p:tavLst>
                                    </p:anim>
                                    <p:anim calcmode="lin" valueType="num">
                                      <p:cBhvr additive="base">
                                        <p:cTn dur="450"/>
                                        <p:tgtEl>
                                          <p:spTgt spid="46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7"/>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Methodology: Data Flow Diagrams</a:t>
            </a:r>
            <a:endParaRPr/>
          </a:p>
        </p:txBody>
      </p:sp>
      <p:sp>
        <p:nvSpPr>
          <p:cNvPr id="475" name="Google Shape;475;p27"/>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476" name="Google Shape;476;p27"/>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477" name="Google Shape;477;p27"/>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478" name="Google Shape;478;p27"/>
          <p:cNvSpPr/>
          <p:nvPr/>
        </p:nvSpPr>
        <p:spPr>
          <a:xfrm>
            <a:off x="411480" y="1188720"/>
            <a:ext cx="2880360" cy="3429000"/>
          </a:xfrm>
          <a:prstGeom prst="roundRect">
            <a:avLst>
              <a:gd fmla="val 4000" name="adj"/>
            </a:avLst>
          </a:prstGeom>
          <a:gradFill rotWithShape="1">
            <a:gsLst>
              <a:gs pos="0">
                <a:srgbClr val="E0F9FE"/>
              </a:gs>
              <a:gs pos="100000">
                <a:srgbClr val="B5EFF9"/>
              </a:gs>
            </a:gsLst>
            <a:lin ang="2700000" scaled="0"/>
          </a:gradFill>
          <a:ln cap="flat" cmpd="sng" w="12700">
            <a:solidFill>
              <a:srgbClr val="018A9B"/>
            </a:solidFill>
            <a:prstDash val="dash"/>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79" name="Google Shape;479;p27"/>
          <p:cNvSpPr/>
          <p:nvPr/>
        </p:nvSpPr>
        <p:spPr>
          <a:xfrm>
            <a:off x="502920" y="1261872"/>
            <a:ext cx="868680" cy="274320"/>
          </a:xfrm>
          <a:prstGeom prst="roundRect">
            <a:avLst>
              <a:gd fmla="val 50000" name="adj"/>
            </a:avLst>
          </a:prstGeom>
          <a:gradFill rotWithShape="1">
            <a:gsLst>
              <a:gs pos="0">
                <a:srgbClr val="00656C"/>
              </a:gs>
              <a:gs pos="100000">
                <a:srgbClr val="0B8FA8"/>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LEVEL 0</a:t>
            </a:r>
            <a:endParaRPr/>
          </a:p>
        </p:txBody>
      </p:sp>
      <p:sp>
        <p:nvSpPr>
          <p:cNvPr id="480" name="Google Shape;480;p27"/>
          <p:cNvSpPr/>
          <p:nvPr/>
        </p:nvSpPr>
        <p:spPr>
          <a:xfrm>
            <a:off x="1188720" y="2286000"/>
            <a:ext cx="1371600" cy="1371600"/>
          </a:xfrm>
          <a:prstGeom prst="ellipse">
            <a:avLst/>
          </a:prstGeom>
          <a:gradFill rotWithShape="1">
            <a:gsLst>
              <a:gs pos="0">
                <a:srgbClr val="00656C"/>
              </a:gs>
              <a:gs pos="100000">
                <a:srgbClr val="0B8FA8"/>
              </a:gs>
            </a:gsLst>
            <a:lin ang="2700000" scaled="0"/>
          </a:gradFill>
          <a:ln cap="flat" cmpd="sng" w="25400">
            <a:solidFill>
              <a:schemeClr val="lt1"/>
            </a:solidFill>
            <a:prstDash val="solid"/>
            <a:round/>
            <a:headEnd len="sm" w="sm" type="none"/>
            <a:tailEnd len="sm" w="sm" type="none"/>
          </a:ln>
        </p:spPr>
        <p:txBody>
          <a:bodyPr anchorCtr="0" anchor="ctr"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0</a:t>
            </a:r>
            <a:endParaRPr/>
          </a:p>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AI-Powered Smart Worker Finder System</a:t>
            </a:r>
            <a:endParaRPr/>
          </a:p>
        </p:txBody>
      </p:sp>
      <p:sp>
        <p:nvSpPr>
          <p:cNvPr id="481" name="Google Shape;481;p27"/>
          <p:cNvSpPr/>
          <p:nvPr/>
        </p:nvSpPr>
        <p:spPr>
          <a:xfrm>
            <a:off x="548640" y="1645920"/>
            <a:ext cx="960120" cy="411480"/>
          </a:xfrm>
          <a:prstGeom prst="roundRect">
            <a:avLst>
              <a:gd fmla="val 18000" name="adj"/>
            </a:avLst>
          </a:prstGeom>
          <a:gradFill rotWithShape="1">
            <a:gsLst>
              <a:gs pos="0">
                <a:srgbClr val="FFFFFF"/>
              </a:gs>
              <a:gs pos="100000">
                <a:srgbClr val="DAF6FB"/>
              </a:gs>
            </a:gsLst>
            <a:lin ang="5400000" scaled="0"/>
          </a:gradFill>
          <a:ln cap="flat" cmpd="sng" w="15875">
            <a:solidFill>
              <a:srgbClr val="018A9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Customer</a:t>
            </a:r>
            <a:endParaRPr/>
          </a:p>
        </p:txBody>
      </p:sp>
      <p:sp>
        <p:nvSpPr>
          <p:cNvPr id="482" name="Google Shape;482;p27"/>
          <p:cNvSpPr/>
          <p:nvPr/>
        </p:nvSpPr>
        <p:spPr>
          <a:xfrm>
            <a:off x="2240280" y="1645920"/>
            <a:ext cx="960120" cy="502920"/>
          </a:xfrm>
          <a:prstGeom prst="roundRect">
            <a:avLst>
              <a:gd fmla="val 18000" name="adj"/>
            </a:avLst>
          </a:prstGeom>
          <a:gradFill rotWithShape="1">
            <a:gsLst>
              <a:gs pos="0">
                <a:srgbClr val="FFFFFF"/>
              </a:gs>
              <a:gs pos="100000">
                <a:srgbClr val="DAF6FB"/>
              </a:gs>
            </a:gsLst>
            <a:lin ang="5400000" scaled="0"/>
          </a:gradFill>
          <a:ln cap="flat" cmpd="sng" w="15875">
            <a:solidFill>
              <a:srgbClr val="018A9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Location /</a:t>
            </a:r>
            <a:endParaRPr/>
          </a:p>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Map Service</a:t>
            </a:r>
            <a:endParaRPr/>
          </a:p>
        </p:txBody>
      </p:sp>
      <p:sp>
        <p:nvSpPr>
          <p:cNvPr id="483" name="Google Shape;483;p27"/>
          <p:cNvSpPr/>
          <p:nvPr/>
        </p:nvSpPr>
        <p:spPr>
          <a:xfrm>
            <a:off x="548640" y="4023360"/>
            <a:ext cx="960120" cy="411480"/>
          </a:xfrm>
          <a:prstGeom prst="roundRect">
            <a:avLst>
              <a:gd fmla="val 18000" name="adj"/>
            </a:avLst>
          </a:prstGeom>
          <a:gradFill rotWithShape="1">
            <a:gsLst>
              <a:gs pos="0">
                <a:srgbClr val="FFFFFF"/>
              </a:gs>
              <a:gs pos="100000">
                <a:srgbClr val="DAF6FB"/>
              </a:gs>
            </a:gsLst>
            <a:lin ang="5400000" scaled="0"/>
          </a:gradFill>
          <a:ln cap="flat" cmpd="sng" w="15875">
            <a:solidFill>
              <a:srgbClr val="018A9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Times New Roman"/>
                <a:ea typeface="Times New Roman"/>
                <a:cs typeface="Times New Roman"/>
                <a:sym typeface="Times New Roman"/>
              </a:rPr>
              <a:t>Worker</a:t>
            </a:r>
            <a:endParaRPr/>
          </a:p>
        </p:txBody>
      </p:sp>
      <p:cxnSp>
        <p:nvCxnSpPr>
          <p:cNvPr id="484" name="Google Shape;484;p27"/>
          <p:cNvCxnSpPr/>
          <p:nvPr/>
        </p:nvCxnSpPr>
        <p:spPr>
          <a:xfrm>
            <a:off x="1024128" y="2057400"/>
            <a:ext cx="484632" cy="429768"/>
          </a:xfrm>
          <a:prstGeom prst="straightConnector1">
            <a:avLst/>
          </a:prstGeom>
          <a:noFill/>
          <a:ln cap="flat" cmpd="sng" w="22225">
            <a:solidFill>
              <a:srgbClr val="018A9B"/>
            </a:solidFill>
            <a:prstDash val="solid"/>
            <a:round/>
            <a:headEnd len="med" w="med" type="triangle"/>
            <a:tailEnd len="med" w="med" type="triangle"/>
          </a:ln>
        </p:spPr>
      </p:cxnSp>
      <p:cxnSp>
        <p:nvCxnSpPr>
          <p:cNvPr id="485" name="Google Shape;485;p27"/>
          <p:cNvCxnSpPr/>
          <p:nvPr/>
        </p:nvCxnSpPr>
        <p:spPr>
          <a:xfrm flipH="1">
            <a:off x="2240280" y="2148840"/>
            <a:ext cx="475488" cy="338328"/>
          </a:xfrm>
          <a:prstGeom prst="straightConnector1">
            <a:avLst/>
          </a:prstGeom>
          <a:noFill/>
          <a:ln cap="flat" cmpd="sng" w="22225">
            <a:solidFill>
              <a:srgbClr val="018A9B"/>
            </a:solidFill>
            <a:prstDash val="solid"/>
            <a:round/>
            <a:headEnd len="med" w="med" type="triangle"/>
            <a:tailEnd len="med" w="med" type="triangle"/>
          </a:ln>
        </p:spPr>
      </p:cxnSp>
      <p:cxnSp>
        <p:nvCxnSpPr>
          <p:cNvPr id="486" name="Google Shape;486;p27"/>
          <p:cNvCxnSpPr/>
          <p:nvPr/>
        </p:nvCxnSpPr>
        <p:spPr>
          <a:xfrm flipH="1" rot="10800000">
            <a:off x="1024128" y="3474720"/>
            <a:ext cx="484632" cy="548640"/>
          </a:xfrm>
          <a:prstGeom prst="straightConnector1">
            <a:avLst/>
          </a:prstGeom>
          <a:noFill/>
          <a:ln cap="flat" cmpd="sng" w="22225">
            <a:solidFill>
              <a:srgbClr val="018A9B"/>
            </a:solidFill>
            <a:prstDash val="solid"/>
            <a:round/>
            <a:headEnd len="med" w="med" type="triangle"/>
            <a:tailEnd len="med" w="med" type="triangle"/>
          </a:ln>
        </p:spPr>
      </p:cxnSp>
      <p:sp>
        <p:nvSpPr>
          <p:cNvPr id="487" name="Google Shape;487;p27"/>
          <p:cNvSpPr/>
          <p:nvPr/>
        </p:nvSpPr>
        <p:spPr>
          <a:xfrm>
            <a:off x="457200" y="2286000"/>
            <a:ext cx="8686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request,</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rating</a:t>
            </a:r>
            <a:endParaRPr/>
          </a:p>
        </p:txBody>
      </p:sp>
      <p:sp>
        <p:nvSpPr>
          <p:cNvPr id="488" name="Google Shape;488;p27"/>
          <p:cNvSpPr/>
          <p:nvPr/>
        </p:nvSpPr>
        <p:spPr>
          <a:xfrm>
            <a:off x="2724912" y="2286000"/>
            <a:ext cx="56692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distances</a:t>
            </a:r>
            <a:endParaRPr/>
          </a:p>
        </p:txBody>
      </p:sp>
      <p:sp>
        <p:nvSpPr>
          <p:cNvPr id="489" name="Google Shape;489;p27"/>
          <p:cNvSpPr/>
          <p:nvPr/>
        </p:nvSpPr>
        <p:spPr>
          <a:xfrm>
            <a:off x="457200" y="3383280"/>
            <a:ext cx="86868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profile,</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job reply</a:t>
            </a:r>
            <a:endParaRPr/>
          </a:p>
        </p:txBody>
      </p:sp>
      <p:sp>
        <p:nvSpPr>
          <p:cNvPr id="490" name="Google Shape;490;p27"/>
          <p:cNvSpPr/>
          <p:nvPr/>
        </p:nvSpPr>
        <p:spPr>
          <a:xfrm>
            <a:off x="2011680" y="3703320"/>
            <a:ext cx="1234440" cy="8229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best worker</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booking</a:t>
            </a:r>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2"/>
                </a:solidFill>
                <a:latin typeface="Times New Roman"/>
                <a:ea typeface="Times New Roman"/>
                <a:cs typeface="Times New Roman"/>
                <a:sym typeface="Times New Roman"/>
              </a:rPr>
              <a:t>confirmation</a:t>
            </a:r>
            <a:endParaRPr/>
          </a:p>
        </p:txBody>
      </p:sp>
      <p:sp>
        <p:nvSpPr>
          <p:cNvPr id="491" name="Google Shape;491;p27"/>
          <p:cNvSpPr/>
          <p:nvPr/>
        </p:nvSpPr>
        <p:spPr>
          <a:xfrm>
            <a:off x="3429000" y="1188720"/>
            <a:ext cx="5303520" cy="3429000"/>
          </a:xfrm>
          <a:prstGeom prst="roundRect">
            <a:avLst>
              <a:gd fmla="val 3000" name="adj"/>
            </a:avLst>
          </a:prstGeom>
          <a:gradFill rotWithShape="1">
            <a:gsLst>
              <a:gs pos="0">
                <a:srgbClr val="F0F3FC"/>
              </a:gs>
              <a:gs pos="100000">
                <a:srgbClr val="D9E2FE"/>
              </a:gs>
            </a:gsLst>
            <a:lin ang="2700000" scaled="0"/>
          </a:gradFill>
          <a:ln cap="flat" cmpd="sng" w="12700">
            <a:solidFill>
              <a:srgbClr val="5F72CC"/>
            </a:solidFill>
            <a:prstDash val="dash"/>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492" name="Google Shape;492;p27"/>
          <p:cNvSpPr/>
          <p:nvPr/>
        </p:nvSpPr>
        <p:spPr>
          <a:xfrm>
            <a:off x="3520440" y="1261872"/>
            <a:ext cx="868680" cy="274320"/>
          </a:xfrm>
          <a:prstGeom prst="roundRect">
            <a:avLst>
              <a:gd fmla="val 50000" name="adj"/>
            </a:avLst>
          </a:prstGeom>
          <a:gradFill rotWithShape="1">
            <a:gsLst>
              <a:gs pos="0">
                <a:srgbClr val="3050AA"/>
              </a:gs>
              <a:gs pos="100000">
                <a:srgbClr val="6F73D7"/>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LEVEL 1</a:t>
            </a:r>
            <a:endParaRPr/>
          </a:p>
        </p:txBody>
      </p:sp>
      <p:sp>
        <p:nvSpPr>
          <p:cNvPr id="493" name="Google Shape;493;p27"/>
          <p:cNvSpPr/>
          <p:nvPr/>
        </p:nvSpPr>
        <p:spPr>
          <a:xfrm>
            <a:off x="3566160" y="1645920"/>
            <a:ext cx="1463040" cy="731520"/>
          </a:xfrm>
          <a:prstGeom prst="roundRect">
            <a:avLst>
              <a:gd fmla="val 14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2 Request Analysis and Classification</a:t>
            </a:r>
            <a:endParaRPr/>
          </a:p>
        </p:txBody>
      </p:sp>
      <p:sp>
        <p:nvSpPr>
          <p:cNvPr id="494" name="Google Shape;494;p27"/>
          <p:cNvSpPr/>
          <p:nvPr/>
        </p:nvSpPr>
        <p:spPr>
          <a:xfrm>
            <a:off x="5303520" y="1645920"/>
            <a:ext cx="1463040" cy="731520"/>
          </a:xfrm>
          <a:prstGeom prst="roundRect">
            <a:avLst>
              <a:gd fmla="val 14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3 Nearby Worker Search</a:t>
            </a:r>
            <a:endParaRPr/>
          </a:p>
        </p:txBody>
      </p:sp>
      <p:sp>
        <p:nvSpPr>
          <p:cNvPr id="495" name="Google Shape;495;p27"/>
          <p:cNvSpPr/>
          <p:nvPr/>
        </p:nvSpPr>
        <p:spPr>
          <a:xfrm>
            <a:off x="7040880" y="1645920"/>
            <a:ext cx="1463040" cy="731520"/>
          </a:xfrm>
          <a:prstGeom prst="roundRect">
            <a:avLst>
              <a:gd fmla="val 14000" name="adj"/>
            </a:avLst>
          </a:prstGeom>
          <a:gradFill rotWithShape="1">
            <a:gsLst>
              <a:gs pos="0">
                <a:srgbClr val="3050AA"/>
              </a:gs>
              <a:gs pos="100000">
                <a:srgbClr val="6F73D7"/>
              </a:gs>
            </a:gsLst>
            <a:lin ang="27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4 AI Ranking (Bandit + Scoring)</a:t>
            </a:r>
            <a:endParaRPr/>
          </a:p>
        </p:txBody>
      </p:sp>
      <p:sp>
        <p:nvSpPr>
          <p:cNvPr id="496" name="Google Shape;496;p27"/>
          <p:cNvSpPr/>
          <p:nvPr/>
        </p:nvSpPr>
        <p:spPr>
          <a:xfrm>
            <a:off x="3566160" y="3657600"/>
            <a:ext cx="1463040" cy="731520"/>
          </a:xfrm>
          <a:prstGeom prst="roundRect">
            <a:avLst>
              <a:gd fmla="val 14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1 Worker Profile and Status Management</a:t>
            </a:r>
            <a:endParaRPr/>
          </a:p>
        </p:txBody>
      </p:sp>
      <p:sp>
        <p:nvSpPr>
          <p:cNvPr id="497" name="Google Shape;497;p27"/>
          <p:cNvSpPr/>
          <p:nvPr/>
        </p:nvSpPr>
        <p:spPr>
          <a:xfrm>
            <a:off x="5303520" y="3657600"/>
            <a:ext cx="1463040" cy="731520"/>
          </a:xfrm>
          <a:prstGeom prst="roundRect">
            <a:avLst>
              <a:gd fmla="val 14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6 Feedback and Learning Update</a:t>
            </a:r>
            <a:endParaRPr/>
          </a:p>
        </p:txBody>
      </p:sp>
      <p:sp>
        <p:nvSpPr>
          <p:cNvPr id="498" name="Google Shape;498;p27"/>
          <p:cNvSpPr/>
          <p:nvPr/>
        </p:nvSpPr>
        <p:spPr>
          <a:xfrm>
            <a:off x="7040880" y="3657600"/>
            <a:ext cx="1463040" cy="731520"/>
          </a:xfrm>
          <a:prstGeom prst="roundRect">
            <a:avLst>
              <a:gd fmla="val 14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5 Recommendation and Booking</a:t>
            </a:r>
            <a:endParaRPr/>
          </a:p>
        </p:txBody>
      </p:sp>
      <p:sp>
        <p:nvSpPr>
          <p:cNvPr id="499" name="Google Shape;499;p27"/>
          <p:cNvSpPr/>
          <p:nvPr/>
        </p:nvSpPr>
        <p:spPr>
          <a:xfrm>
            <a:off x="3840480" y="2697480"/>
            <a:ext cx="1188720" cy="658368"/>
          </a:xfrm>
          <a:prstGeom prst="can">
            <a:avLst>
              <a:gd fmla="val 25000" name="adj"/>
            </a:avLst>
          </a:prstGeom>
          <a:gradFill rotWithShape="1">
            <a:gsLst>
              <a:gs pos="0">
                <a:srgbClr val="3050AA"/>
              </a:gs>
              <a:gs pos="100000">
                <a:srgbClr val="6F73D7"/>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D1 Worker Profiles</a:t>
            </a:r>
            <a:endParaRPr/>
          </a:p>
        </p:txBody>
      </p:sp>
      <p:sp>
        <p:nvSpPr>
          <p:cNvPr id="500" name="Google Shape;500;p27"/>
          <p:cNvSpPr/>
          <p:nvPr/>
        </p:nvSpPr>
        <p:spPr>
          <a:xfrm>
            <a:off x="5715000" y="2697480"/>
            <a:ext cx="1188720" cy="658368"/>
          </a:xfrm>
          <a:prstGeom prst="can">
            <a:avLst>
              <a:gd fmla="val 25000" name="adj"/>
            </a:avLst>
          </a:prstGeom>
          <a:gradFill rotWithShape="1">
            <a:gsLst>
              <a:gs pos="0">
                <a:srgbClr val="3050AA"/>
              </a:gs>
              <a:gs pos="100000">
                <a:srgbClr val="6F73D7"/>
              </a:gs>
            </a:gsLst>
            <a:lin ang="2700000" scaled="0"/>
          </a:gradFill>
          <a:ln cap="flat" cmpd="sng" w="127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b" bIns="18275" lIns="18275" spcFirstLastPara="1" rIns="18275" wrap="square" tIns="18275">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D2 Booking and Feedback</a:t>
            </a:r>
            <a:endParaRPr/>
          </a:p>
        </p:txBody>
      </p:sp>
      <p:cxnSp>
        <p:nvCxnSpPr>
          <p:cNvPr id="501" name="Google Shape;501;p27"/>
          <p:cNvCxnSpPr/>
          <p:nvPr/>
        </p:nvCxnSpPr>
        <p:spPr>
          <a:xfrm>
            <a:off x="5029200" y="2011680"/>
            <a:ext cx="274320" cy="0"/>
          </a:xfrm>
          <a:prstGeom prst="straightConnector1">
            <a:avLst/>
          </a:prstGeom>
          <a:noFill/>
          <a:ln cap="flat" cmpd="sng" w="25400">
            <a:solidFill>
              <a:srgbClr val="5F72CC"/>
            </a:solidFill>
            <a:prstDash val="solid"/>
            <a:round/>
            <a:headEnd len="sm" w="sm" type="none"/>
            <a:tailEnd len="med" w="med" type="triangle"/>
          </a:ln>
        </p:spPr>
      </p:cxnSp>
      <p:cxnSp>
        <p:nvCxnSpPr>
          <p:cNvPr id="502" name="Google Shape;502;p27"/>
          <p:cNvCxnSpPr/>
          <p:nvPr/>
        </p:nvCxnSpPr>
        <p:spPr>
          <a:xfrm>
            <a:off x="6766560" y="2011680"/>
            <a:ext cx="274320" cy="0"/>
          </a:xfrm>
          <a:prstGeom prst="straightConnector1">
            <a:avLst/>
          </a:prstGeom>
          <a:noFill/>
          <a:ln cap="flat" cmpd="sng" w="25400">
            <a:solidFill>
              <a:srgbClr val="5F72CC"/>
            </a:solidFill>
            <a:prstDash val="solid"/>
            <a:round/>
            <a:headEnd len="sm" w="sm" type="none"/>
            <a:tailEnd len="med" w="med" type="triangle"/>
          </a:ln>
        </p:spPr>
      </p:cxnSp>
      <p:cxnSp>
        <p:nvCxnSpPr>
          <p:cNvPr id="503" name="Google Shape;503;p27"/>
          <p:cNvCxnSpPr/>
          <p:nvPr/>
        </p:nvCxnSpPr>
        <p:spPr>
          <a:xfrm>
            <a:off x="7772400" y="2377440"/>
            <a:ext cx="0" cy="1280160"/>
          </a:xfrm>
          <a:prstGeom prst="straightConnector1">
            <a:avLst/>
          </a:prstGeom>
          <a:noFill/>
          <a:ln cap="flat" cmpd="sng" w="25400">
            <a:solidFill>
              <a:srgbClr val="5F72CC"/>
            </a:solidFill>
            <a:prstDash val="solid"/>
            <a:round/>
            <a:headEnd len="sm" w="sm" type="none"/>
            <a:tailEnd len="med" w="med" type="triangle"/>
          </a:ln>
        </p:spPr>
      </p:cxnSp>
      <p:cxnSp>
        <p:nvCxnSpPr>
          <p:cNvPr id="504" name="Google Shape;504;p27"/>
          <p:cNvCxnSpPr/>
          <p:nvPr/>
        </p:nvCxnSpPr>
        <p:spPr>
          <a:xfrm rot="10800000">
            <a:off x="6766560" y="4023360"/>
            <a:ext cx="274320" cy="0"/>
          </a:xfrm>
          <a:prstGeom prst="straightConnector1">
            <a:avLst/>
          </a:prstGeom>
          <a:noFill/>
          <a:ln cap="flat" cmpd="sng" w="25400">
            <a:solidFill>
              <a:srgbClr val="5F72CC"/>
            </a:solidFill>
            <a:prstDash val="solid"/>
            <a:round/>
            <a:headEnd len="sm" w="sm" type="none"/>
            <a:tailEnd len="med" w="med" type="triangle"/>
          </a:ln>
        </p:spPr>
      </p:cxnSp>
      <p:cxnSp>
        <p:nvCxnSpPr>
          <p:cNvPr id="505" name="Google Shape;505;p27"/>
          <p:cNvCxnSpPr/>
          <p:nvPr/>
        </p:nvCxnSpPr>
        <p:spPr>
          <a:xfrm flipH="1" rot="10800000">
            <a:off x="4297680" y="3355848"/>
            <a:ext cx="45720" cy="301752"/>
          </a:xfrm>
          <a:prstGeom prst="straightConnector1">
            <a:avLst/>
          </a:prstGeom>
          <a:noFill/>
          <a:ln cap="flat" cmpd="sng" w="19050">
            <a:solidFill>
              <a:srgbClr val="5F72CC"/>
            </a:solidFill>
            <a:prstDash val="dash"/>
            <a:round/>
            <a:headEnd len="sm" w="sm" type="none"/>
            <a:tailEnd len="med" w="med" type="triangle"/>
          </a:ln>
        </p:spPr>
      </p:cxnSp>
      <p:cxnSp>
        <p:nvCxnSpPr>
          <p:cNvPr id="506" name="Google Shape;506;p27"/>
          <p:cNvCxnSpPr/>
          <p:nvPr/>
        </p:nvCxnSpPr>
        <p:spPr>
          <a:xfrm flipH="1">
            <a:off x="5029200" y="2377440"/>
            <a:ext cx="411480" cy="457200"/>
          </a:xfrm>
          <a:prstGeom prst="straightConnector1">
            <a:avLst/>
          </a:prstGeom>
          <a:noFill/>
          <a:ln cap="flat" cmpd="sng" w="19050">
            <a:solidFill>
              <a:srgbClr val="5F72CC"/>
            </a:solidFill>
            <a:prstDash val="dash"/>
            <a:round/>
            <a:headEnd len="sm" w="sm" type="none"/>
            <a:tailEnd len="med" w="med" type="triangle"/>
          </a:ln>
        </p:spPr>
      </p:cxnSp>
      <p:cxnSp>
        <p:nvCxnSpPr>
          <p:cNvPr id="507" name="Google Shape;507;p27"/>
          <p:cNvCxnSpPr/>
          <p:nvPr/>
        </p:nvCxnSpPr>
        <p:spPr>
          <a:xfrm flipH="1">
            <a:off x="6903720" y="2286000"/>
            <a:ext cx="137160" cy="548640"/>
          </a:xfrm>
          <a:prstGeom prst="straightConnector1">
            <a:avLst/>
          </a:prstGeom>
          <a:noFill/>
          <a:ln cap="flat" cmpd="sng" w="19050">
            <a:solidFill>
              <a:srgbClr val="5F72CC"/>
            </a:solidFill>
            <a:prstDash val="dash"/>
            <a:round/>
            <a:headEnd len="sm" w="sm" type="none"/>
            <a:tailEnd len="med" w="med" type="triangle"/>
          </a:ln>
        </p:spPr>
      </p:cxnSp>
      <p:cxnSp>
        <p:nvCxnSpPr>
          <p:cNvPr id="508" name="Google Shape;508;p27"/>
          <p:cNvCxnSpPr/>
          <p:nvPr/>
        </p:nvCxnSpPr>
        <p:spPr>
          <a:xfrm rot="10800000">
            <a:off x="6903720" y="3246120"/>
            <a:ext cx="182880" cy="457200"/>
          </a:xfrm>
          <a:prstGeom prst="straightConnector1">
            <a:avLst/>
          </a:prstGeom>
          <a:noFill/>
          <a:ln cap="flat" cmpd="sng" w="19050">
            <a:solidFill>
              <a:srgbClr val="5F72CC"/>
            </a:solidFill>
            <a:prstDash val="dash"/>
            <a:round/>
            <a:headEnd len="sm" w="sm" type="none"/>
            <a:tailEnd len="med" w="med" type="triangle"/>
          </a:ln>
        </p:spPr>
      </p:cxnSp>
      <p:cxnSp>
        <p:nvCxnSpPr>
          <p:cNvPr id="509" name="Google Shape;509;p27"/>
          <p:cNvCxnSpPr/>
          <p:nvPr/>
        </p:nvCxnSpPr>
        <p:spPr>
          <a:xfrm flipH="1" rot="10800000">
            <a:off x="6035040" y="3355848"/>
            <a:ext cx="91440" cy="301752"/>
          </a:xfrm>
          <a:prstGeom prst="straightConnector1">
            <a:avLst/>
          </a:prstGeom>
          <a:noFill/>
          <a:ln cap="flat" cmpd="sng" w="19050">
            <a:solidFill>
              <a:srgbClr val="5F72CC"/>
            </a:solidFill>
            <a:prstDash val="dash"/>
            <a:round/>
            <a:headEnd len="sm" w="sm" type="none"/>
            <a:tailEnd len="med" w="med" type="triangle"/>
          </a:ln>
        </p:spPr>
      </p:cxnSp>
      <p:sp>
        <p:nvSpPr>
          <p:cNvPr id="510" name="Google Shape;510;p27"/>
          <p:cNvSpPr/>
          <p:nvPr/>
        </p:nvSpPr>
        <p:spPr>
          <a:xfrm>
            <a:off x="411480" y="4754880"/>
            <a:ext cx="8321040" cy="1170432"/>
          </a:xfrm>
          <a:prstGeom prst="roundRect">
            <a:avLst>
              <a:gd fmla="val 8000" name="adj"/>
            </a:avLst>
          </a:prstGeom>
          <a:gradFill rotWithShape="1">
            <a:gsLst>
              <a:gs pos="0">
                <a:srgbClr val="FFFFFF"/>
              </a:gs>
              <a:gs pos="100000">
                <a:srgbClr val="FFE9F7"/>
              </a:gs>
            </a:gsLst>
            <a:lin ang="5400000" scaled="0"/>
          </a:gradFill>
          <a:ln cap="flat" cmpd="sng" w="15875">
            <a:solidFill>
              <a:srgbClr val="AE5596"/>
            </a:solidFill>
            <a:prstDash val="dash"/>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511" name="Google Shape;511;p27"/>
          <p:cNvSpPr/>
          <p:nvPr/>
        </p:nvSpPr>
        <p:spPr>
          <a:xfrm>
            <a:off x="502920" y="4809744"/>
            <a:ext cx="914400" cy="274320"/>
          </a:xfrm>
          <a:prstGeom prst="roundRect">
            <a:avLst>
              <a:gd fmla="val 50000" name="adj"/>
            </a:avLst>
          </a:prstGeom>
          <a:gradFill rotWithShape="1">
            <a:gsLst>
              <a:gs pos="0">
                <a:srgbClr val="85307C"/>
              </a:gs>
              <a:gs pos="100000">
                <a:srgbClr val="BC5694"/>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1" i="0" lang="en-US" sz="1100" u="none" cap="none" strike="noStrike">
                <a:solidFill>
                  <a:schemeClr val="lt1"/>
                </a:solidFill>
                <a:latin typeface="Times New Roman"/>
                <a:ea typeface="Times New Roman"/>
                <a:cs typeface="Times New Roman"/>
                <a:sym typeface="Times New Roman"/>
              </a:rPr>
              <a:t>LEVEL 2</a:t>
            </a:r>
            <a:endParaRPr/>
          </a:p>
        </p:txBody>
      </p:sp>
      <p:sp>
        <p:nvSpPr>
          <p:cNvPr id="512" name="Google Shape;512;p27"/>
          <p:cNvSpPr/>
          <p:nvPr/>
        </p:nvSpPr>
        <p:spPr>
          <a:xfrm>
            <a:off x="1508760" y="4809744"/>
            <a:ext cx="45720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1" i="0" lang="en-US" sz="1250" u="none" cap="none" strike="noStrike">
                <a:solidFill>
                  <a:srgbClr val="71245F"/>
                </a:solidFill>
                <a:latin typeface="Times New Roman"/>
                <a:ea typeface="Times New Roman"/>
                <a:cs typeface="Times New Roman"/>
                <a:sym typeface="Times New Roman"/>
              </a:rPr>
              <a:t>Detail of Process 4: AI Ranking</a:t>
            </a:r>
            <a:endParaRPr/>
          </a:p>
        </p:txBody>
      </p:sp>
      <p:sp>
        <p:nvSpPr>
          <p:cNvPr id="513" name="Google Shape;513;p27"/>
          <p:cNvSpPr/>
          <p:nvPr/>
        </p:nvSpPr>
        <p:spPr>
          <a:xfrm>
            <a:off x="640080" y="5166360"/>
            <a:ext cx="1737360" cy="640080"/>
          </a:xfrm>
          <a:prstGeom prst="roundRect">
            <a:avLst>
              <a:gd fmla="val 14000" name="adj"/>
            </a:avLst>
          </a:prstGeom>
          <a:gradFill rotWithShape="1">
            <a:gsLst>
              <a:gs pos="0">
                <a:srgbClr val="F6F1FD"/>
              </a:gs>
              <a:gs pos="100000">
                <a:srgbClr val="EBDBFE"/>
              </a:gs>
            </a:gsLst>
            <a:lin ang="2700000" scaled="0"/>
          </a:gradFill>
          <a:ln cap="flat" cmpd="sng" w="12700">
            <a:solidFill>
              <a:srgbClr val="8E62BC"/>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4.1 Build and normalise criteria</a:t>
            </a:r>
            <a:endParaRPr/>
          </a:p>
        </p:txBody>
      </p:sp>
      <p:cxnSp>
        <p:nvCxnSpPr>
          <p:cNvPr id="514" name="Google Shape;514;p27"/>
          <p:cNvCxnSpPr/>
          <p:nvPr/>
        </p:nvCxnSpPr>
        <p:spPr>
          <a:xfrm>
            <a:off x="2395728" y="5486400"/>
            <a:ext cx="329184" cy="0"/>
          </a:xfrm>
          <a:prstGeom prst="straightConnector1">
            <a:avLst/>
          </a:prstGeom>
          <a:noFill/>
          <a:ln cap="flat" cmpd="sng" w="25400">
            <a:solidFill>
              <a:srgbClr val="8E62BC"/>
            </a:solidFill>
            <a:prstDash val="solid"/>
            <a:round/>
            <a:headEnd len="sm" w="sm" type="none"/>
            <a:tailEnd len="med" w="med" type="triangle"/>
          </a:ln>
        </p:spPr>
      </p:cxnSp>
      <p:sp>
        <p:nvSpPr>
          <p:cNvPr id="515" name="Google Shape;515;p27"/>
          <p:cNvSpPr/>
          <p:nvPr/>
        </p:nvSpPr>
        <p:spPr>
          <a:xfrm>
            <a:off x="2743200" y="5166360"/>
            <a:ext cx="1737360" cy="640080"/>
          </a:xfrm>
          <a:prstGeom prst="roundRect">
            <a:avLst>
              <a:gd fmla="val 14000" name="adj"/>
            </a:avLst>
          </a:prstGeom>
          <a:gradFill rotWithShape="1">
            <a:gsLst>
              <a:gs pos="0">
                <a:srgbClr val="FAEFFD"/>
              </a:gs>
              <a:gs pos="100000">
                <a:srgbClr val="F5D7FD"/>
              </a:gs>
            </a:gsLst>
            <a:lin ang="2700000" scaled="0"/>
          </a:gradFill>
          <a:ln cap="flat" cmpd="sng" w="12700">
            <a:solidFill>
              <a:srgbClr val="9D5CAF"/>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4.2 Estimate quality (bandit, UCB)</a:t>
            </a:r>
            <a:endParaRPr/>
          </a:p>
        </p:txBody>
      </p:sp>
      <p:cxnSp>
        <p:nvCxnSpPr>
          <p:cNvPr id="516" name="Google Shape;516;p27"/>
          <p:cNvCxnSpPr/>
          <p:nvPr/>
        </p:nvCxnSpPr>
        <p:spPr>
          <a:xfrm>
            <a:off x="4498848" y="5486400"/>
            <a:ext cx="329184" cy="0"/>
          </a:xfrm>
          <a:prstGeom prst="straightConnector1">
            <a:avLst/>
          </a:prstGeom>
          <a:noFill/>
          <a:ln cap="flat" cmpd="sng" w="25400">
            <a:solidFill>
              <a:srgbClr val="9D5CAF"/>
            </a:solidFill>
            <a:prstDash val="solid"/>
            <a:round/>
            <a:headEnd len="sm" w="sm" type="none"/>
            <a:tailEnd len="med" w="med" type="triangle"/>
          </a:ln>
        </p:spPr>
      </p:cxnSp>
      <p:sp>
        <p:nvSpPr>
          <p:cNvPr id="517" name="Google Shape;517;p27"/>
          <p:cNvSpPr/>
          <p:nvPr/>
        </p:nvSpPr>
        <p:spPr>
          <a:xfrm>
            <a:off x="4846320" y="5166360"/>
            <a:ext cx="1737360" cy="640080"/>
          </a:xfrm>
          <a:prstGeom prst="roundRect">
            <a:avLst>
              <a:gd fmla="val 14000" name="adj"/>
            </a:avLst>
          </a:prstGeom>
          <a:gradFill rotWithShape="1">
            <a:gsLst>
              <a:gs pos="0">
                <a:srgbClr val="FFEDFC"/>
              </a:gs>
              <a:gs pos="100000">
                <a:srgbClr val="FCD5F5"/>
              </a:gs>
            </a:gsLst>
            <a:lin ang="2700000" scaled="0"/>
          </a:gradFill>
          <a:ln cap="flat" cmpd="sng" w="12700">
            <a:solidFill>
              <a:srgbClr val="A9579F"/>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dk1"/>
                </a:solidFill>
                <a:latin typeface="Times New Roman"/>
                <a:ea typeface="Times New Roman"/>
                <a:cs typeface="Times New Roman"/>
                <a:sym typeface="Times New Roman"/>
              </a:rPr>
              <a:t>4.3 Compute weighted score</a:t>
            </a:r>
            <a:endParaRPr/>
          </a:p>
        </p:txBody>
      </p:sp>
      <p:cxnSp>
        <p:nvCxnSpPr>
          <p:cNvPr id="518" name="Google Shape;518;p27"/>
          <p:cNvCxnSpPr/>
          <p:nvPr/>
        </p:nvCxnSpPr>
        <p:spPr>
          <a:xfrm>
            <a:off x="6601968" y="5486400"/>
            <a:ext cx="329184" cy="0"/>
          </a:xfrm>
          <a:prstGeom prst="straightConnector1">
            <a:avLst/>
          </a:prstGeom>
          <a:noFill/>
          <a:ln cap="flat" cmpd="sng" w="25400">
            <a:solidFill>
              <a:srgbClr val="A9579F"/>
            </a:solidFill>
            <a:prstDash val="solid"/>
            <a:round/>
            <a:headEnd len="sm" w="sm" type="none"/>
            <a:tailEnd len="med" w="med" type="triangle"/>
          </a:ln>
        </p:spPr>
      </p:cxnSp>
      <p:sp>
        <p:nvSpPr>
          <p:cNvPr id="519" name="Google Shape;519;p27"/>
          <p:cNvSpPr/>
          <p:nvPr/>
        </p:nvSpPr>
        <p:spPr>
          <a:xfrm>
            <a:off x="6949440" y="5166360"/>
            <a:ext cx="1737360" cy="640080"/>
          </a:xfrm>
          <a:prstGeom prst="roundRect">
            <a:avLst>
              <a:gd fmla="val 14000" name="adj"/>
            </a:avLst>
          </a:prstGeom>
          <a:gradFill rotWithShape="1">
            <a:gsLst>
              <a:gs pos="0">
                <a:srgbClr val="902A66"/>
              </a:gs>
              <a:gs pos="100000">
                <a:srgbClr val="C25485"/>
              </a:gs>
            </a:gsLst>
            <a:lin ang="2700000" scaled="0"/>
          </a:gradFill>
          <a:ln cap="flat" cmpd="sng" w="12700">
            <a:solidFill>
              <a:srgbClr val="B8527E"/>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150"/>
              <a:buFont typeface="Arial"/>
              <a:buNone/>
            </a:pPr>
            <a:r>
              <a:rPr b="1" i="0" lang="en-US" sz="1150" u="none" cap="none" strike="noStrike">
                <a:solidFill>
                  <a:schemeClr val="lt1"/>
                </a:solidFill>
                <a:latin typeface="Times New Roman"/>
                <a:ea typeface="Times New Roman"/>
                <a:cs typeface="Times New Roman"/>
                <a:sym typeface="Times New Roman"/>
              </a:rPr>
              <a:t>4.4 Apply limits, select top worker</a:t>
            </a:r>
            <a:endParaRPr/>
          </a:p>
        </p:txBody>
      </p:sp>
      <p:sp>
        <p:nvSpPr>
          <p:cNvPr id="520" name="Google Shape;520;p27"/>
          <p:cNvSpPr/>
          <p:nvPr/>
        </p:nvSpPr>
        <p:spPr>
          <a:xfrm>
            <a:off x="6035040" y="4864608"/>
            <a:ext cx="164592" cy="164592"/>
          </a:xfrm>
          <a:prstGeom prst="ellipse">
            <a:avLst/>
          </a:prstGeom>
          <a:gradFill rotWithShape="1">
            <a:gsLst>
              <a:gs pos="0">
                <a:srgbClr val="902A66"/>
              </a:gs>
              <a:gs pos="100000">
                <a:srgbClr val="C25485"/>
              </a:gs>
            </a:gsLst>
            <a:lin ang="2700000" scaled="0"/>
          </a:gradFill>
          <a:ln cap="flat" cmpd="sng" w="15875">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1400">
        <p14:window dir="vert"/>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300"/>
                                        <p:tgtEl>
                                          <p:spTgt spid="478"/>
                                        </p:tgtEl>
                                      </p:cBhvr>
                                    </p:animEffect>
                                  </p:childTnLst>
                                </p:cTn>
                              </p:par>
                              <p:par>
                                <p:cTn fill="hold" nodeType="withEffect" presetClass="entr" presetID="10" presetSubtype="0">
                                  <p:stCondLst>
                                    <p:cond delay="100"/>
                                  </p:stCondLst>
                                  <p:childTnLst>
                                    <p:set>
                                      <p:cBhvr>
                                        <p:cTn dur="1" fill="hold">
                                          <p:stCondLst>
                                            <p:cond delay="0"/>
                                          </p:stCondLst>
                                        </p:cTn>
                                        <p:tgtEl>
                                          <p:spTgt spid="479"/>
                                        </p:tgtEl>
                                        <p:attrNameLst>
                                          <p:attrName>style.visibility</p:attrName>
                                        </p:attrNameLst>
                                      </p:cBhvr>
                                      <p:to>
                                        <p:strVal val="visible"/>
                                      </p:to>
                                    </p:set>
                                    <p:animEffect filter="fade" transition="in">
                                      <p:cBhvr>
                                        <p:cTn dur="300"/>
                                        <p:tgtEl>
                                          <p:spTgt spid="479"/>
                                        </p:tgtEl>
                                      </p:cBhvr>
                                    </p:animEffect>
                                  </p:childTnLst>
                                </p:cTn>
                              </p:par>
                              <p:par>
                                <p:cTn fill="hold" nodeType="withEffect" presetClass="entr" presetID="23" presetSubtype="16">
                                  <p:stCondLst>
                                    <p:cond delay="200"/>
                                  </p:stCondLst>
                                  <p:childTnLst>
                                    <p:set>
                                      <p:cBhvr>
                                        <p:cTn dur="1" fill="hold">
                                          <p:stCondLst>
                                            <p:cond delay="0"/>
                                          </p:stCondLst>
                                        </p:cTn>
                                        <p:tgtEl>
                                          <p:spTgt spid="480"/>
                                        </p:tgtEl>
                                        <p:attrNameLst>
                                          <p:attrName>style.visibility</p:attrName>
                                        </p:attrNameLst>
                                      </p:cBhvr>
                                      <p:to>
                                        <p:strVal val="visible"/>
                                      </p:to>
                                    </p:set>
                                    <p:anim calcmode="lin" valueType="num">
                                      <p:cBhvr additive="base">
                                        <p:cTn dur="450"/>
                                        <p:tgtEl>
                                          <p:spTgt spid="480"/>
                                        </p:tgtEl>
                                        <p:attrNameLst>
                                          <p:attrName>ppt_w</p:attrName>
                                        </p:attrNameLst>
                                      </p:cBhvr>
                                      <p:tavLst>
                                        <p:tav fmla="" tm="0">
                                          <p:val>
                                            <p:strVal val="0"/>
                                          </p:val>
                                        </p:tav>
                                        <p:tav fmla="" tm="100000">
                                          <p:val>
                                            <p:strVal val="#ppt_w"/>
                                          </p:val>
                                        </p:tav>
                                      </p:tavLst>
                                    </p:anim>
                                    <p:anim calcmode="lin" valueType="num">
                                      <p:cBhvr additive="base">
                                        <p:cTn dur="450"/>
                                        <p:tgtEl>
                                          <p:spTgt spid="480"/>
                                        </p:tgtEl>
                                        <p:attrNameLst>
                                          <p:attrName>ppt_h</p:attrName>
                                        </p:attrNameLst>
                                      </p:cBhvr>
                                      <p:tavLst>
                                        <p:tav fmla="" tm="0">
                                          <p:val>
                                            <p:strVal val="0"/>
                                          </p:val>
                                        </p:tav>
                                        <p:tav fmla="" tm="100000">
                                          <p:val>
                                            <p:strVal val="#ppt_h"/>
                                          </p:val>
                                        </p:tav>
                                      </p:tavLst>
                                    </p:anim>
                                  </p:childTnLst>
                                </p:cTn>
                              </p:par>
                              <p:par>
                                <p:cTn fill="hold" nodeType="withEffect" presetClass="entr" presetID="2" presetSubtype="8">
                                  <p:stCondLst>
                                    <p:cond delay="450"/>
                                  </p:stCondLst>
                                  <p:childTnLst>
                                    <p:set>
                                      <p:cBhvr>
                                        <p:cTn dur="1" fill="hold">
                                          <p:stCondLst>
                                            <p:cond delay="0"/>
                                          </p:stCondLst>
                                        </p:cTn>
                                        <p:tgtEl>
                                          <p:spTgt spid="481"/>
                                        </p:tgtEl>
                                        <p:attrNameLst>
                                          <p:attrName>style.visibility</p:attrName>
                                        </p:attrNameLst>
                                      </p:cBhvr>
                                      <p:to>
                                        <p:strVal val="visible"/>
                                      </p:to>
                                    </p:set>
                                    <p:anim calcmode="lin" valueType="num">
                                      <p:cBhvr additive="base">
                                        <p:cTn dur="350"/>
                                        <p:tgtEl>
                                          <p:spTgt spid="481"/>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570"/>
                                  </p:stCondLst>
                                  <p:childTnLst>
                                    <p:set>
                                      <p:cBhvr>
                                        <p:cTn dur="1" fill="hold">
                                          <p:stCondLst>
                                            <p:cond delay="0"/>
                                          </p:stCondLst>
                                        </p:cTn>
                                        <p:tgtEl>
                                          <p:spTgt spid="484"/>
                                        </p:tgtEl>
                                        <p:attrNameLst>
                                          <p:attrName>style.visibility</p:attrName>
                                        </p:attrNameLst>
                                      </p:cBhvr>
                                      <p:to>
                                        <p:strVal val="visible"/>
                                      </p:to>
                                    </p:set>
                                    <p:animEffect filter="fade" transition="in">
                                      <p:cBhvr>
                                        <p:cTn dur="300"/>
                                        <p:tgtEl>
                                          <p:spTgt spid="484"/>
                                        </p:tgtEl>
                                      </p:cBhvr>
                                    </p:animEffect>
                                  </p:childTnLst>
                                </p:cTn>
                              </p:par>
                              <p:par>
                                <p:cTn fill="hold" nodeType="withEffect" presetClass="entr" presetID="2" presetSubtype="8">
                                  <p:stCondLst>
                                    <p:cond delay="690"/>
                                  </p:stCondLst>
                                  <p:childTnLst>
                                    <p:set>
                                      <p:cBhvr>
                                        <p:cTn dur="1" fill="hold">
                                          <p:stCondLst>
                                            <p:cond delay="0"/>
                                          </p:stCondLst>
                                        </p:cTn>
                                        <p:tgtEl>
                                          <p:spTgt spid="482"/>
                                        </p:tgtEl>
                                        <p:attrNameLst>
                                          <p:attrName>style.visibility</p:attrName>
                                        </p:attrNameLst>
                                      </p:cBhvr>
                                      <p:to>
                                        <p:strVal val="visible"/>
                                      </p:to>
                                    </p:set>
                                    <p:anim calcmode="lin" valueType="num">
                                      <p:cBhvr additive="base">
                                        <p:cTn dur="350"/>
                                        <p:tgtEl>
                                          <p:spTgt spid="48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810"/>
                                  </p:stCondLst>
                                  <p:childTnLst>
                                    <p:set>
                                      <p:cBhvr>
                                        <p:cTn dur="1" fill="hold">
                                          <p:stCondLst>
                                            <p:cond delay="0"/>
                                          </p:stCondLst>
                                        </p:cTn>
                                        <p:tgtEl>
                                          <p:spTgt spid="485"/>
                                        </p:tgtEl>
                                        <p:attrNameLst>
                                          <p:attrName>style.visibility</p:attrName>
                                        </p:attrNameLst>
                                      </p:cBhvr>
                                      <p:to>
                                        <p:strVal val="visible"/>
                                      </p:to>
                                    </p:set>
                                    <p:animEffect filter="fade" transition="in">
                                      <p:cBhvr>
                                        <p:cTn dur="300"/>
                                        <p:tgtEl>
                                          <p:spTgt spid="485"/>
                                        </p:tgtEl>
                                      </p:cBhvr>
                                    </p:animEffect>
                                  </p:childTnLst>
                                </p:cTn>
                              </p:par>
                              <p:par>
                                <p:cTn fill="hold" nodeType="withEffect" presetClass="entr" presetID="2" presetSubtype="8">
                                  <p:stCondLst>
                                    <p:cond delay="930"/>
                                  </p:stCondLst>
                                  <p:childTnLst>
                                    <p:set>
                                      <p:cBhvr>
                                        <p:cTn dur="1" fill="hold">
                                          <p:stCondLst>
                                            <p:cond delay="0"/>
                                          </p:stCondLst>
                                        </p:cTn>
                                        <p:tgtEl>
                                          <p:spTgt spid="483"/>
                                        </p:tgtEl>
                                        <p:attrNameLst>
                                          <p:attrName>style.visibility</p:attrName>
                                        </p:attrNameLst>
                                      </p:cBhvr>
                                      <p:to>
                                        <p:strVal val="visible"/>
                                      </p:to>
                                    </p:set>
                                    <p:anim calcmode="lin" valueType="num">
                                      <p:cBhvr additive="base">
                                        <p:cTn dur="350"/>
                                        <p:tgtEl>
                                          <p:spTgt spid="483"/>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1050"/>
                                  </p:stCondLst>
                                  <p:childTnLst>
                                    <p:set>
                                      <p:cBhvr>
                                        <p:cTn dur="1" fill="hold">
                                          <p:stCondLst>
                                            <p:cond delay="0"/>
                                          </p:stCondLst>
                                        </p:cTn>
                                        <p:tgtEl>
                                          <p:spTgt spid="486"/>
                                        </p:tgtEl>
                                        <p:attrNameLst>
                                          <p:attrName>style.visibility</p:attrName>
                                        </p:attrNameLst>
                                      </p:cBhvr>
                                      <p:to>
                                        <p:strVal val="visible"/>
                                      </p:to>
                                    </p:set>
                                    <p:animEffect filter="fade" transition="in">
                                      <p:cBhvr>
                                        <p:cTn dur="300"/>
                                        <p:tgtEl>
                                          <p:spTgt spid="486"/>
                                        </p:tgtEl>
                                      </p:cBhvr>
                                    </p:animEffect>
                                  </p:childTnLst>
                                </p:cTn>
                              </p:par>
                              <p:par>
                                <p:cTn fill="hold" nodeType="withEffect" presetClass="entr" presetID="10" presetSubtype="0">
                                  <p:stCondLst>
                                    <p:cond delay="1170"/>
                                  </p:stCondLst>
                                  <p:childTnLst>
                                    <p:set>
                                      <p:cBhvr>
                                        <p:cTn dur="1" fill="hold">
                                          <p:stCondLst>
                                            <p:cond delay="0"/>
                                          </p:stCondLst>
                                        </p:cTn>
                                        <p:tgtEl>
                                          <p:spTgt spid="487"/>
                                        </p:tgtEl>
                                        <p:attrNameLst>
                                          <p:attrName>style.visibility</p:attrName>
                                        </p:attrNameLst>
                                      </p:cBhvr>
                                      <p:to>
                                        <p:strVal val="visible"/>
                                      </p:to>
                                    </p:set>
                                    <p:animEffect filter="fade" transition="in">
                                      <p:cBhvr>
                                        <p:cTn dur="300"/>
                                        <p:tgtEl>
                                          <p:spTgt spid="487"/>
                                        </p:tgtEl>
                                      </p:cBhvr>
                                    </p:animEffect>
                                  </p:childTnLst>
                                </p:cTn>
                              </p:par>
                              <p:par>
                                <p:cTn fill="hold" nodeType="withEffect" presetClass="entr" presetID="10" presetSubtype="0">
                                  <p:stCondLst>
                                    <p:cond delay="1170"/>
                                  </p:stCondLst>
                                  <p:childTnLst>
                                    <p:set>
                                      <p:cBhvr>
                                        <p:cTn dur="1" fill="hold">
                                          <p:stCondLst>
                                            <p:cond delay="0"/>
                                          </p:stCondLst>
                                        </p:cTn>
                                        <p:tgtEl>
                                          <p:spTgt spid="488"/>
                                        </p:tgtEl>
                                        <p:attrNameLst>
                                          <p:attrName>style.visibility</p:attrName>
                                        </p:attrNameLst>
                                      </p:cBhvr>
                                      <p:to>
                                        <p:strVal val="visible"/>
                                      </p:to>
                                    </p:set>
                                    <p:animEffect filter="fade" transition="in">
                                      <p:cBhvr>
                                        <p:cTn dur="300"/>
                                        <p:tgtEl>
                                          <p:spTgt spid="488"/>
                                        </p:tgtEl>
                                      </p:cBhvr>
                                    </p:animEffect>
                                  </p:childTnLst>
                                </p:cTn>
                              </p:par>
                              <p:par>
                                <p:cTn fill="hold" nodeType="withEffect" presetClass="entr" presetID="10" presetSubtype="0">
                                  <p:stCondLst>
                                    <p:cond delay="1170"/>
                                  </p:stCondLst>
                                  <p:childTnLst>
                                    <p:set>
                                      <p:cBhvr>
                                        <p:cTn dur="1" fill="hold">
                                          <p:stCondLst>
                                            <p:cond delay="0"/>
                                          </p:stCondLst>
                                        </p:cTn>
                                        <p:tgtEl>
                                          <p:spTgt spid="489"/>
                                        </p:tgtEl>
                                        <p:attrNameLst>
                                          <p:attrName>style.visibility</p:attrName>
                                        </p:attrNameLst>
                                      </p:cBhvr>
                                      <p:to>
                                        <p:strVal val="visible"/>
                                      </p:to>
                                    </p:set>
                                    <p:animEffect filter="fade" transition="in">
                                      <p:cBhvr>
                                        <p:cTn dur="300"/>
                                        <p:tgtEl>
                                          <p:spTgt spid="489"/>
                                        </p:tgtEl>
                                      </p:cBhvr>
                                    </p:animEffect>
                                  </p:childTnLst>
                                </p:cTn>
                              </p:par>
                              <p:par>
                                <p:cTn fill="hold" nodeType="withEffect" presetClass="entr" presetID="10" presetSubtype="0">
                                  <p:stCondLst>
                                    <p:cond delay="1170"/>
                                  </p:stCondLst>
                                  <p:childTnLst>
                                    <p:set>
                                      <p:cBhvr>
                                        <p:cTn dur="1" fill="hold">
                                          <p:stCondLst>
                                            <p:cond delay="0"/>
                                          </p:stCondLst>
                                        </p:cTn>
                                        <p:tgtEl>
                                          <p:spTgt spid="490"/>
                                        </p:tgtEl>
                                        <p:attrNameLst>
                                          <p:attrName>style.visibility</p:attrName>
                                        </p:attrNameLst>
                                      </p:cBhvr>
                                      <p:to>
                                        <p:strVal val="visible"/>
                                      </p:to>
                                    </p:set>
                                    <p:animEffect filter="fade" transition="in">
                                      <p:cBhvr>
                                        <p:cTn dur="300"/>
                                        <p:tgtEl>
                                          <p:spTgt spid="490"/>
                                        </p:tgtEl>
                                      </p:cBhvr>
                                    </p:animEffect>
                                  </p:childTnLst>
                                </p:cTn>
                              </p:par>
                              <p:par>
                                <p:cTn fill="hold" nodeType="withEffect" presetClass="entr" presetID="10" presetSubtype="0">
                                  <p:stCondLst>
                                    <p:cond delay="1370"/>
                                  </p:stCondLst>
                                  <p:childTnLst>
                                    <p:set>
                                      <p:cBhvr>
                                        <p:cTn dur="1" fill="hold">
                                          <p:stCondLst>
                                            <p:cond delay="0"/>
                                          </p:stCondLst>
                                        </p:cTn>
                                        <p:tgtEl>
                                          <p:spTgt spid="491"/>
                                        </p:tgtEl>
                                        <p:attrNameLst>
                                          <p:attrName>style.visibility</p:attrName>
                                        </p:attrNameLst>
                                      </p:cBhvr>
                                      <p:to>
                                        <p:strVal val="visible"/>
                                      </p:to>
                                    </p:set>
                                    <p:animEffect filter="fade" transition="in">
                                      <p:cBhvr>
                                        <p:cTn dur="300"/>
                                        <p:tgtEl>
                                          <p:spTgt spid="491"/>
                                        </p:tgtEl>
                                      </p:cBhvr>
                                    </p:animEffect>
                                  </p:childTnLst>
                                </p:cTn>
                              </p:par>
                              <p:par>
                                <p:cTn fill="hold" nodeType="withEffect" presetClass="entr" presetID="10" presetSubtype="0">
                                  <p:stCondLst>
                                    <p:cond delay="1370"/>
                                  </p:stCondLst>
                                  <p:childTnLst>
                                    <p:set>
                                      <p:cBhvr>
                                        <p:cTn dur="1" fill="hold">
                                          <p:stCondLst>
                                            <p:cond delay="0"/>
                                          </p:stCondLst>
                                        </p:cTn>
                                        <p:tgtEl>
                                          <p:spTgt spid="492"/>
                                        </p:tgtEl>
                                        <p:attrNameLst>
                                          <p:attrName>style.visibility</p:attrName>
                                        </p:attrNameLst>
                                      </p:cBhvr>
                                      <p:to>
                                        <p:strVal val="visible"/>
                                      </p:to>
                                    </p:set>
                                    <p:animEffect filter="fade" transition="in">
                                      <p:cBhvr>
                                        <p:cTn dur="300"/>
                                        <p:tgtEl>
                                          <p:spTgt spid="492"/>
                                        </p:tgtEl>
                                      </p:cBhvr>
                                    </p:animEffect>
                                  </p:childTnLst>
                                </p:cTn>
                              </p:par>
                              <p:par>
                                <p:cTn fill="hold" nodeType="withEffect" presetClass="entr" presetID="23" presetSubtype="16">
                                  <p:stCondLst>
                                    <p:cond delay="1520"/>
                                  </p:stCondLst>
                                  <p:childTnLst>
                                    <p:set>
                                      <p:cBhvr>
                                        <p:cTn dur="1" fill="hold">
                                          <p:stCondLst>
                                            <p:cond delay="0"/>
                                          </p:stCondLst>
                                        </p:cTn>
                                        <p:tgtEl>
                                          <p:spTgt spid="493"/>
                                        </p:tgtEl>
                                        <p:attrNameLst>
                                          <p:attrName>style.visibility</p:attrName>
                                        </p:attrNameLst>
                                      </p:cBhvr>
                                      <p:to>
                                        <p:strVal val="visible"/>
                                      </p:to>
                                    </p:set>
                                    <p:anim calcmode="lin" valueType="num">
                                      <p:cBhvr additive="base">
                                        <p:cTn dur="350"/>
                                        <p:tgtEl>
                                          <p:spTgt spid="493"/>
                                        </p:tgtEl>
                                        <p:attrNameLst>
                                          <p:attrName>ppt_w</p:attrName>
                                        </p:attrNameLst>
                                      </p:cBhvr>
                                      <p:tavLst>
                                        <p:tav fmla="" tm="0">
                                          <p:val>
                                            <p:strVal val="0"/>
                                          </p:val>
                                        </p:tav>
                                        <p:tav fmla="" tm="100000">
                                          <p:val>
                                            <p:strVal val="#ppt_w"/>
                                          </p:val>
                                        </p:tav>
                                      </p:tavLst>
                                    </p:anim>
                                    <p:anim calcmode="lin" valueType="num">
                                      <p:cBhvr additive="base">
                                        <p:cTn dur="350"/>
                                        <p:tgtEl>
                                          <p:spTgt spid="4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670"/>
                                  </p:stCondLst>
                                  <p:childTnLst>
                                    <p:set>
                                      <p:cBhvr>
                                        <p:cTn dur="1" fill="hold">
                                          <p:stCondLst>
                                            <p:cond delay="0"/>
                                          </p:stCondLst>
                                        </p:cTn>
                                        <p:tgtEl>
                                          <p:spTgt spid="494"/>
                                        </p:tgtEl>
                                        <p:attrNameLst>
                                          <p:attrName>style.visibility</p:attrName>
                                        </p:attrNameLst>
                                      </p:cBhvr>
                                      <p:to>
                                        <p:strVal val="visible"/>
                                      </p:to>
                                    </p:set>
                                    <p:anim calcmode="lin" valueType="num">
                                      <p:cBhvr additive="base">
                                        <p:cTn dur="350"/>
                                        <p:tgtEl>
                                          <p:spTgt spid="494"/>
                                        </p:tgtEl>
                                        <p:attrNameLst>
                                          <p:attrName>ppt_w</p:attrName>
                                        </p:attrNameLst>
                                      </p:cBhvr>
                                      <p:tavLst>
                                        <p:tav fmla="" tm="0">
                                          <p:val>
                                            <p:strVal val="0"/>
                                          </p:val>
                                        </p:tav>
                                        <p:tav fmla="" tm="100000">
                                          <p:val>
                                            <p:strVal val="#ppt_w"/>
                                          </p:val>
                                        </p:tav>
                                      </p:tavLst>
                                    </p:anim>
                                    <p:anim calcmode="lin" valueType="num">
                                      <p:cBhvr additive="base">
                                        <p:cTn dur="350"/>
                                        <p:tgtEl>
                                          <p:spTgt spid="49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820"/>
                                  </p:stCondLst>
                                  <p:childTnLst>
                                    <p:set>
                                      <p:cBhvr>
                                        <p:cTn dur="1" fill="hold">
                                          <p:stCondLst>
                                            <p:cond delay="0"/>
                                          </p:stCondLst>
                                        </p:cTn>
                                        <p:tgtEl>
                                          <p:spTgt spid="495"/>
                                        </p:tgtEl>
                                        <p:attrNameLst>
                                          <p:attrName>style.visibility</p:attrName>
                                        </p:attrNameLst>
                                      </p:cBhvr>
                                      <p:to>
                                        <p:strVal val="visible"/>
                                      </p:to>
                                    </p:set>
                                    <p:anim calcmode="lin" valueType="num">
                                      <p:cBhvr additive="base">
                                        <p:cTn dur="350"/>
                                        <p:tgtEl>
                                          <p:spTgt spid="495"/>
                                        </p:tgtEl>
                                        <p:attrNameLst>
                                          <p:attrName>ppt_w</p:attrName>
                                        </p:attrNameLst>
                                      </p:cBhvr>
                                      <p:tavLst>
                                        <p:tav fmla="" tm="0">
                                          <p:val>
                                            <p:strVal val="0"/>
                                          </p:val>
                                        </p:tav>
                                        <p:tav fmla="" tm="100000">
                                          <p:val>
                                            <p:strVal val="#ppt_w"/>
                                          </p:val>
                                        </p:tav>
                                      </p:tavLst>
                                    </p:anim>
                                    <p:anim calcmode="lin" valueType="num">
                                      <p:cBhvr additive="base">
                                        <p:cTn dur="350"/>
                                        <p:tgtEl>
                                          <p:spTgt spid="495"/>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970"/>
                                  </p:stCondLst>
                                  <p:childTnLst>
                                    <p:set>
                                      <p:cBhvr>
                                        <p:cTn dur="1" fill="hold">
                                          <p:stCondLst>
                                            <p:cond delay="0"/>
                                          </p:stCondLst>
                                        </p:cTn>
                                        <p:tgtEl>
                                          <p:spTgt spid="498"/>
                                        </p:tgtEl>
                                        <p:attrNameLst>
                                          <p:attrName>style.visibility</p:attrName>
                                        </p:attrNameLst>
                                      </p:cBhvr>
                                      <p:to>
                                        <p:strVal val="visible"/>
                                      </p:to>
                                    </p:set>
                                    <p:anim calcmode="lin" valueType="num">
                                      <p:cBhvr additive="base">
                                        <p:cTn dur="350"/>
                                        <p:tgtEl>
                                          <p:spTgt spid="498"/>
                                        </p:tgtEl>
                                        <p:attrNameLst>
                                          <p:attrName>ppt_w</p:attrName>
                                        </p:attrNameLst>
                                      </p:cBhvr>
                                      <p:tavLst>
                                        <p:tav fmla="" tm="0">
                                          <p:val>
                                            <p:strVal val="0"/>
                                          </p:val>
                                        </p:tav>
                                        <p:tav fmla="" tm="100000">
                                          <p:val>
                                            <p:strVal val="#ppt_w"/>
                                          </p:val>
                                        </p:tav>
                                      </p:tavLst>
                                    </p:anim>
                                    <p:anim calcmode="lin" valueType="num">
                                      <p:cBhvr additive="base">
                                        <p:cTn dur="350"/>
                                        <p:tgtEl>
                                          <p:spTgt spid="49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120"/>
                                  </p:stCondLst>
                                  <p:childTnLst>
                                    <p:set>
                                      <p:cBhvr>
                                        <p:cTn dur="1" fill="hold">
                                          <p:stCondLst>
                                            <p:cond delay="0"/>
                                          </p:stCondLst>
                                        </p:cTn>
                                        <p:tgtEl>
                                          <p:spTgt spid="497"/>
                                        </p:tgtEl>
                                        <p:attrNameLst>
                                          <p:attrName>style.visibility</p:attrName>
                                        </p:attrNameLst>
                                      </p:cBhvr>
                                      <p:to>
                                        <p:strVal val="visible"/>
                                      </p:to>
                                    </p:set>
                                    <p:anim calcmode="lin" valueType="num">
                                      <p:cBhvr additive="base">
                                        <p:cTn dur="350"/>
                                        <p:tgtEl>
                                          <p:spTgt spid="497"/>
                                        </p:tgtEl>
                                        <p:attrNameLst>
                                          <p:attrName>ppt_w</p:attrName>
                                        </p:attrNameLst>
                                      </p:cBhvr>
                                      <p:tavLst>
                                        <p:tav fmla="" tm="0">
                                          <p:val>
                                            <p:strVal val="0"/>
                                          </p:val>
                                        </p:tav>
                                        <p:tav fmla="" tm="100000">
                                          <p:val>
                                            <p:strVal val="#ppt_w"/>
                                          </p:val>
                                        </p:tav>
                                      </p:tavLst>
                                    </p:anim>
                                    <p:anim calcmode="lin" valueType="num">
                                      <p:cBhvr additive="base">
                                        <p:cTn dur="350"/>
                                        <p:tgtEl>
                                          <p:spTgt spid="49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270"/>
                                  </p:stCondLst>
                                  <p:childTnLst>
                                    <p:set>
                                      <p:cBhvr>
                                        <p:cTn dur="1" fill="hold">
                                          <p:stCondLst>
                                            <p:cond delay="0"/>
                                          </p:stCondLst>
                                        </p:cTn>
                                        <p:tgtEl>
                                          <p:spTgt spid="496"/>
                                        </p:tgtEl>
                                        <p:attrNameLst>
                                          <p:attrName>style.visibility</p:attrName>
                                        </p:attrNameLst>
                                      </p:cBhvr>
                                      <p:to>
                                        <p:strVal val="visible"/>
                                      </p:to>
                                    </p:set>
                                    <p:anim calcmode="lin" valueType="num">
                                      <p:cBhvr additive="base">
                                        <p:cTn dur="350"/>
                                        <p:tgtEl>
                                          <p:spTgt spid="496"/>
                                        </p:tgtEl>
                                        <p:attrNameLst>
                                          <p:attrName>ppt_w</p:attrName>
                                        </p:attrNameLst>
                                      </p:cBhvr>
                                      <p:tavLst>
                                        <p:tav fmla="" tm="0">
                                          <p:val>
                                            <p:strVal val="0"/>
                                          </p:val>
                                        </p:tav>
                                        <p:tav fmla="" tm="100000">
                                          <p:val>
                                            <p:strVal val="#ppt_w"/>
                                          </p:val>
                                        </p:tav>
                                      </p:tavLst>
                                    </p:anim>
                                    <p:anim calcmode="lin" valueType="num">
                                      <p:cBhvr additive="base">
                                        <p:cTn dur="350"/>
                                        <p:tgtEl>
                                          <p:spTgt spid="49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420"/>
                                  </p:stCondLst>
                                  <p:childTnLst>
                                    <p:set>
                                      <p:cBhvr>
                                        <p:cTn dur="1" fill="hold">
                                          <p:stCondLst>
                                            <p:cond delay="0"/>
                                          </p:stCondLst>
                                        </p:cTn>
                                        <p:tgtEl>
                                          <p:spTgt spid="499"/>
                                        </p:tgtEl>
                                        <p:attrNameLst>
                                          <p:attrName>style.visibility</p:attrName>
                                        </p:attrNameLst>
                                      </p:cBhvr>
                                      <p:to>
                                        <p:strVal val="visible"/>
                                      </p:to>
                                    </p:set>
                                    <p:anim calcmode="lin" valueType="num">
                                      <p:cBhvr additive="base">
                                        <p:cTn dur="350"/>
                                        <p:tgtEl>
                                          <p:spTgt spid="499"/>
                                        </p:tgtEl>
                                        <p:attrNameLst>
                                          <p:attrName>ppt_w</p:attrName>
                                        </p:attrNameLst>
                                      </p:cBhvr>
                                      <p:tavLst>
                                        <p:tav fmla="" tm="0">
                                          <p:val>
                                            <p:strVal val="0"/>
                                          </p:val>
                                        </p:tav>
                                        <p:tav fmla="" tm="100000">
                                          <p:val>
                                            <p:strVal val="#ppt_w"/>
                                          </p:val>
                                        </p:tav>
                                      </p:tavLst>
                                    </p:anim>
                                    <p:anim calcmode="lin" valueType="num">
                                      <p:cBhvr additive="base">
                                        <p:cTn dur="350"/>
                                        <p:tgtEl>
                                          <p:spTgt spid="49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420"/>
                                  </p:stCondLst>
                                  <p:childTnLst>
                                    <p:set>
                                      <p:cBhvr>
                                        <p:cTn dur="1" fill="hold">
                                          <p:stCondLst>
                                            <p:cond delay="0"/>
                                          </p:stCondLst>
                                        </p:cTn>
                                        <p:tgtEl>
                                          <p:spTgt spid="500"/>
                                        </p:tgtEl>
                                        <p:attrNameLst>
                                          <p:attrName>style.visibility</p:attrName>
                                        </p:attrNameLst>
                                      </p:cBhvr>
                                      <p:to>
                                        <p:strVal val="visible"/>
                                      </p:to>
                                    </p:set>
                                    <p:anim calcmode="lin" valueType="num">
                                      <p:cBhvr additive="base">
                                        <p:cTn dur="350"/>
                                        <p:tgtEl>
                                          <p:spTgt spid="500"/>
                                        </p:tgtEl>
                                        <p:attrNameLst>
                                          <p:attrName>ppt_w</p:attrName>
                                        </p:attrNameLst>
                                      </p:cBhvr>
                                      <p:tavLst>
                                        <p:tav fmla="" tm="0">
                                          <p:val>
                                            <p:strVal val="0"/>
                                          </p:val>
                                        </p:tav>
                                        <p:tav fmla="" tm="100000">
                                          <p:val>
                                            <p:strVal val="#ppt_w"/>
                                          </p:val>
                                        </p:tav>
                                      </p:tavLst>
                                    </p:anim>
                                    <p:anim calcmode="lin" valueType="num">
                                      <p:cBhvr additive="base">
                                        <p:cTn dur="350"/>
                                        <p:tgtEl>
                                          <p:spTgt spid="50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570"/>
                                  </p:stCondLst>
                                  <p:childTnLst>
                                    <p:set>
                                      <p:cBhvr>
                                        <p:cTn dur="1" fill="hold">
                                          <p:stCondLst>
                                            <p:cond delay="0"/>
                                          </p:stCondLst>
                                        </p:cTn>
                                        <p:tgtEl>
                                          <p:spTgt spid="501"/>
                                        </p:tgtEl>
                                        <p:attrNameLst>
                                          <p:attrName>style.visibility</p:attrName>
                                        </p:attrNameLst>
                                      </p:cBhvr>
                                      <p:to>
                                        <p:strVal val="visible"/>
                                      </p:to>
                                    </p:set>
                                    <p:animEffect filter="fade" transition="in">
                                      <p:cBhvr>
                                        <p:cTn dur="280"/>
                                        <p:tgtEl>
                                          <p:spTgt spid="501"/>
                                        </p:tgtEl>
                                      </p:cBhvr>
                                    </p:animEffect>
                                  </p:childTnLst>
                                </p:cTn>
                              </p:par>
                              <p:par>
                                <p:cTn fill="hold" nodeType="withEffect" presetClass="entr" presetID="10" presetSubtype="0">
                                  <p:stCondLst>
                                    <p:cond delay="2690"/>
                                  </p:stCondLst>
                                  <p:childTnLst>
                                    <p:set>
                                      <p:cBhvr>
                                        <p:cTn dur="1" fill="hold">
                                          <p:stCondLst>
                                            <p:cond delay="0"/>
                                          </p:stCondLst>
                                        </p:cTn>
                                        <p:tgtEl>
                                          <p:spTgt spid="502"/>
                                        </p:tgtEl>
                                        <p:attrNameLst>
                                          <p:attrName>style.visibility</p:attrName>
                                        </p:attrNameLst>
                                      </p:cBhvr>
                                      <p:to>
                                        <p:strVal val="visible"/>
                                      </p:to>
                                    </p:set>
                                    <p:animEffect filter="fade" transition="in">
                                      <p:cBhvr>
                                        <p:cTn dur="280"/>
                                        <p:tgtEl>
                                          <p:spTgt spid="502"/>
                                        </p:tgtEl>
                                      </p:cBhvr>
                                    </p:animEffect>
                                  </p:childTnLst>
                                </p:cTn>
                              </p:par>
                              <p:par>
                                <p:cTn fill="hold" nodeType="withEffect" presetClass="entr" presetID="10" presetSubtype="0">
                                  <p:stCondLst>
                                    <p:cond delay="2810"/>
                                  </p:stCondLst>
                                  <p:childTnLst>
                                    <p:set>
                                      <p:cBhvr>
                                        <p:cTn dur="1" fill="hold">
                                          <p:stCondLst>
                                            <p:cond delay="0"/>
                                          </p:stCondLst>
                                        </p:cTn>
                                        <p:tgtEl>
                                          <p:spTgt spid="503"/>
                                        </p:tgtEl>
                                        <p:attrNameLst>
                                          <p:attrName>style.visibility</p:attrName>
                                        </p:attrNameLst>
                                      </p:cBhvr>
                                      <p:to>
                                        <p:strVal val="visible"/>
                                      </p:to>
                                    </p:set>
                                    <p:animEffect filter="fade" transition="in">
                                      <p:cBhvr>
                                        <p:cTn dur="280"/>
                                        <p:tgtEl>
                                          <p:spTgt spid="503"/>
                                        </p:tgtEl>
                                      </p:cBhvr>
                                    </p:animEffect>
                                  </p:childTnLst>
                                </p:cTn>
                              </p:par>
                              <p:par>
                                <p:cTn fill="hold" nodeType="withEffect" presetClass="entr" presetID="10" presetSubtype="0">
                                  <p:stCondLst>
                                    <p:cond delay="2930"/>
                                  </p:stCondLst>
                                  <p:childTnLst>
                                    <p:set>
                                      <p:cBhvr>
                                        <p:cTn dur="1" fill="hold">
                                          <p:stCondLst>
                                            <p:cond delay="0"/>
                                          </p:stCondLst>
                                        </p:cTn>
                                        <p:tgtEl>
                                          <p:spTgt spid="504"/>
                                        </p:tgtEl>
                                        <p:attrNameLst>
                                          <p:attrName>style.visibility</p:attrName>
                                        </p:attrNameLst>
                                      </p:cBhvr>
                                      <p:to>
                                        <p:strVal val="visible"/>
                                      </p:to>
                                    </p:set>
                                    <p:animEffect filter="fade" transition="in">
                                      <p:cBhvr>
                                        <p:cTn dur="280"/>
                                        <p:tgtEl>
                                          <p:spTgt spid="504"/>
                                        </p:tgtEl>
                                      </p:cBhvr>
                                    </p:animEffect>
                                  </p:childTnLst>
                                </p:cTn>
                              </p:par>
                              <p:par>
                                <p:cTn fill="hold" nodeType="withEffect" presetClass="entr" presetID="10" presetSubtype="0">
                                  <p:stCondLst>
                                    <p:cond delay="3050"/>
                                  </p:stCondLst>
                                  <p:childTnLst>
                                    <p:set>
                                      <p:cBhvr>
                                        <p:cTn dur="1" fill="hold">
                                          <p:stCondLst>
                                            <p:cond delay="0"/>
                                          </p:stCondLst>
                                        </p:cTn>
                                        <p:tgtEl>
                                          <p:spTgt spid="505"/>
                                        </p:tgtEl>
                                        <p:attrNameLst>
                                          <p:attrName>style.visibility</p:attrName>
                                        </p:attrNameLst>
                                      </p:cBhvr>
                                      <p:to>
                                        <p:strVal val="visible"/>
                                      </p:to>
                                    </p:set>
                                    <p:animEffect filter="fade" transition="in">
                                      <p:cBhvr>
                                        <p:cTn dur="250"/>
                                        <p:tgtEl>
                                          <p:spTgt spid="505"/>
                                        </p:tgtEl>
                                      </p:cBhvr>
                                    </p:animEffect>
                                  </p:childTnLst>
                                </p:cTn>
                              </p:par>
                              <p:par>
                                <p:cTn fill="hold" nodeType="withEffect" presetClass="entr" presetID="10" presetSubtype="0">
                                  <p:stCondLst>
                                    <p:cond delay="3140"/>
                                  </p:stCondLst>
                                  <p:childTnLst>
                                    <p:set>
                                      <p:cBhvr>
                                        <p:cTn dur="1" fill="hold">
                                          <p:stCondLst>
                                            <p:cond delay="0"/>
                                          </p:stCondLst>
                                        </p:cTn>
                                        <p:tgtEl>
                                          <p:spTgt spid="506"/>
                                        </p:tgtEl>
                                        <p:attrNameLst>
                                          <p:attrName>style.visibility</p:attrName>
                                        </p:attrNameLst>
                                      </p:cBhvr>
                                      <p:to>
                                        <p:strVal val="visible"/>
                                      </p:to>
                                    </p:set>
                                    <p:animEffect filter="fade" transition="in">
                                      <p:cBhvr>
                                        <p:cTn dur="250"/>
                                        <p:tgtEl>
                                          <p:spTgt spid="506"/>
                                        </p:tgtEl>
                                      </p:cBhvr>
                                    </p:animEffect>
                                  </p:childTnLst>
                                </p:cTn>
                              </p:par>
                              <p:par>
                                <p:cTn fill="hold" nodeType="withEffect" presetClass="entr" presetID="10" presetSubtype="0">
                                  <p:stCondLst>
                                    <p:cond delay="3230"/>
                                  </p:stCondLst>
                                  <p:childTnLst>
                                    <p:set>
                                      <p:cBhvr>
                                        <p:cTn dur="1" fill="hold">
                                          <p:stCondLst>
                                            <p:cond delay="0"/>
                                          </p:stCondLst>
                                        </p:cTn>
                                        <p:tgtEl>
                                          <p:spTgt spid="507"/>
                                        </p:tgtEl>
                                        <p:attrNameLst>
                                          <p:attrName>style.visibility</p:attrName>
                                        </p:attrNameLst>
                                      </p:cBhvr>
                                      <p:to>
                                        <p:strVal val="visible"/>
                                      </p:to>
                                    </p:set>
                                    <p:animEffect filter="fade" transition="in">
                                      <p:cBhvr>
                                        <p:cTn dur="250"/>
                                        <p:tgtEl>
                                          <p:spTgt spid="507"/>
                                        </p:tgtEl>
                                      </p:cBhvr>
                                    </p:animEffect>
                                  </p:childTnLst>
                                </p:cTn>
                              </p:par>
                              <p:par>
                                <p:cTn fill="hold" nodeType="withEffect" presetClass="entr" presetID="10" presetSubtype="0">
                                  <p:stCondLst>
                                    <p:cond delay="3320"/>
                                  </p:stCondLst>
                                  <p:childTnLst>
                                    <p:set>
                                      <p:cBhvr>
                                        <p:cTn dur="1" fill="hold">
                                          <p:stCondLst>
                                            <p:cond delay="0"/>
                                          </p:stCondLst>
                                        </p:cTn>
                                        <p:tgtEl>
                                          <p:spTgt spid="508"/>
                                        </p:tgtEl>
                                        <p:attrNameLst>
                                          <p:attrName>style.visibility</p:attrName>
                                        </p:attrNameLst>
                                      </p:cBhvr>
                                      <p:to>
                                        <p:strVal val="visible"/>
                                      </p:to>
                                    </p:set>
                                    <p:animEffect filter="fade" transition="in">
                                      <p:cBhvr>
                                        <p:cTn dur="250"/>
                                        <p:tgtEl>
                                          <p:spTgt spid="508"/>
                                        </p:tgtEl>
                                      </p:cBhvr>
                                    </p:animEffect>
                                  </p:childTnLst>
                                </p:cTn>
                              </p:par>
                              <p:par>
                                <p:cTn fill="hold" nodeType="withEffect" presetClass="entr" presetID="10" presetSubtype="0">
                                  <p:stCondLst>
                                    <p:cond delay="3410"/>
                                  </p:stCondLst>
                                  <p:childTnLst>
                                    <p:set>
                                      <p:cBhvr>
                                        <p:cTn dur="1" fill="hold">
                                          <p:stCondLst>
                                            <p:cond delay="0"/>
                                          </p:stCondLst>
                                        </p:cTn>
                                        <p:tgtEl>
                                          <p:spTgt spid="509"/>
                                        </p:tgtEl>
                                        <p:attrNameLst>
                                          <p:attrName>style.visibility</p:attrName>
                                        </p:attrNameLst>
                                      </p:cBhvr>
                                      <p:to>
                                        <p:strVal val="visible"/>
                                      </p:to>
                                    </p:set>
                                    <p:animEffect filter="fade" transition="in">
                                      <p:cBhvr>
                                        <p:cTn dur="250"/>
                                        <p:tgtEl>
                                          <p:spTgt spid="509"/>
                                        </p:tgtEl>
                                      </p:cBhvr>
                                    </p:animEffect>
                                  </p:childTnLst>
                                </p:cTn>
                              </p:par>
                              <p:par>
                                <p:cTn fill="hold" nodeType="withEffect" presetClass="entr" presetID="10" presetSubtype="0">
                                  <p:stCondLst>
                                    <p:cond delay="3500"/>
                                  </p:stCondLst>
                                  <p:childTnLst>
                                    <p:set>
                                      <p:cBhvr>
                                        <p:cTn dur="1" fill="hold">
                                          <p:stCondLst>
                                            <p:cond delay="0"/>
                                          </p:stCondLst>
                                        </p:cTn>
                                        <p:tgtEl>
                                          <p:spTgt spid="510"/>
                                        </p:tgtEl>
                                        <p:attrNameLst>
                                          <p:attrName>style.visibility</p:attrName>
                                        </p:attrNameLst>
                                      </p:cBhvr>
                                      <p:to>
                                        <p:strVal val="visible"/>
                                      </p:to>
                                    </p:set>
                                    <p:animEffect filter="fade" transition="in">
                                      <p:cBhvr>
                                        <p:cTn dur="350"/>
                                        <p:tgtEl>
                                          <p:spTgt spid="510"/>
                                        </p:tgtEl>
                                      </p:cBhvr>
                                    </p:animEffect>
                                  </p:childTnLst>
                                </p:cTn>
                              </p:par>
                              <p:par>
                                <p:cTn fill="hold" nodeType="withEffect" presetClass="entr" presetID="10" presetSubtype="0">
                                  <p:stCondLst>
                                    <p:cond delay="3500"/>
                                  </p:stCondLst>
                                  <p:childTnLst>
                                    <p:set>
                                      <p:cBhvr>
                                        <p:cTn dur="1" fill="hold">
                                          <p:stCondLst>
                                            <p:cond delay="0"/>
                                          </p:stCondLst>
                                        </p:cTn>
                                        <p:tgtEl>
                                          <p:spTgt spid="511"/>
                                        </p:tgtEl>
                                        <p:attrNameLst>
                                          <p:attrName>style.visibility</p:attrName>
                                        </p:attrNameLst>
                                      </p:cBhvr>
                                      <p:to>
                                        <p:strVal val="visible"/>
                                      </p:to>
                                    </p:set>
                                    <p:animEffect filter="fade" transition="in">
                                      <p:cBhvr>
                                        <p:cTn dur="350"/>
                                        <p:tgtEl>
                                          <p:spTgt spid="511"/>
                                        </p:tgtEl>
                                      </p:cBhvr>
                                    </p:animEffect>
                                  </p:childTnLst>
                                </p:cTn>
                              </p:par>
                              <p:par>
                                <p:cTn fill="hold" nodeType="withEffect" presetClass="entr" presetID="10" presetSubtype="0">
                                  <p:stCondLst>
                                    <p:cond delay="3500"/>
                                  </p:stCondLst>
                                  <p:childTnLst>
                                    <p:set>
                                      <p:cBhvr>
                                        <p:cTn dur="1" fill="hold">
                                          <p:stCondLst>
                                            <p:cond delay="0"/>
                                          </p:stCondLst>
                                        </p:cTn>
                                        <p:tgtEl>
                                          <p:spTgt spid="512"/>
                                        </p:tgtEl>
                                        <p:attrNameLst>
                                          <p:attrName>style.visibility</p:attrName>
                                        </p:attrNameLst>
                                      </p:cBhvr>
                                      <p:to>
                                        <p:strVal val="visible"/>
                                      </p:to>
                                    </p:set>
                                    <p:animEffect filter="fade" transition="in">
                                      <p:cBhvr>
                                        <p:cTn dur="350"/>
                                        <p:tgtEl>
                                          <p:spTgt spid="512"/>
                                        </p:tgtEl>
                                      </p:cBhvr>
                                    </p:animEffect>
                                  </p:childTnLst>
                                </p:cTn>
                              </p:par>
                              <p:par>
                                <p:cTn fill="hold" nodeType="withEffect" presetClass="entr" presetID="23" presetSubtype="16">
                                  <p:stCondLst>
                                    <p:cond delay="3700"/>
                                  </p:stCondLst>
                                  <p:childTnLst>
                                    <p:set>
                                      <p:cBhvr>
                                        <p:cTn dur="1" fill="hold">
                                          <p:stCondLst>
                                            <p:cond delay="0"/>
                                          </p:stCondLst>
                                        </p:cTn>
                                        <p:tgtEl>
                                          <p:spTgt spid="513"/>
                                        </p:tgtEl>
                                        <p:attrNameLst>
                                          <p:attrName>style.visibility</p:attrName>
                                        </p:attrNameLst>
                                      </p:cBhvr>
                                      <p:to>
                                        <p:strVal val="visible"/>
                                      </p:to>
                                    </p:set>
                                    <p:anim calcmode="lin" valueType="num">
                                      <p:cBhvr additive="base">
                                        <p:cTn dur="330"/>
                                        <p:tgtEl>
                                          <p:spTgt spid="513"/>
                                        </p:tgtEl>
                                        <p:attrNameLst>
                                          <p:attrName>ppt_w</p:attrName>
                                        </p:attrNameLst>
                                      </p:cBhvr>
                                      <p:tavLst>
                                        <p:tav fmla="" tm="0">
                                          <p:val>
                                            <p:strVal val="0"/>
                                          </p:val>
                                        </p:tav>
                                        <p:tav fmla="" tm="100000">
                                          <p:val>
                                            <p:strVal val="#ppt_w"/>
                                          </p:val>
                                        </p:tav>
                                      </p:tavLst>
                                    </p:anim>
                                    <p:anim calcmode="lin" valueType="num">
                                      <p:cBhvr additive="base">
                                        <p:cTn dur="330"/>
                                        <p:tgtEl>
                                          <p:spTgt spid="51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830"/>
                                  </p:stCondLst>
                                  <p:childTnLst>
                                    <p:set>
                                      <p:cBhvr>
                                        <p:cTn dur="1" fill="hold">
                                          <p:stCondLst>
                                            <p:cond delay="0"/>
                                          </p:stCondLst>
                                        </p:cTn>
                                        <p:tgtEl>
                                          <p:spTgt spid="514"/>
                                        </p:tgtEl>
                                        <p:attrNameLst>
                                          <p:attrName>style.visibility</p:attrName>
                                        </p:attrNameLst>
                                      </p:cBhvr>
                                      <p:to>
                                        <p:strVal val="visible"/>
                                      </p:to>
                                    </p:set>
                                    <p:animEffect filter="fade" transition="in">
                                      <p:cBhvr>
                                        <p:cTn dur="250"/>
                                        <p:tgtEl>
                                          <p:spTgt spid="514"/>
                                        </p:tgtEl>
                                      </p:cBhvr>
                                    </p:animEffect>
                                  </p:childTnLst>
                                </p:cTn>
                              </p:par>
                              <p:par>
                                <p:cTn fill="hold" nodeType="withEffect" presetClass="entr" presetID="23" presetSubtype="16">
                                  <p:stCondLst>
                                    <p:cond delay="3930"/>
                                  </p:stCondLst>
                                  <p:childTnLst>
                                    <p:set>
                                      <p:cBhvr>
                                        <p:cTn dur="1" fill="hold">
                                          <p:stCondLst>
                                            <p:cond delay="0"/>
                                          </p:stCondLst>
                                        </p:cTn>
                                        <p:tgtEl>
                                          <p:spTgt spid="515"/>
                                        </p:tgtEl>
                                        <p:attrNameLst>
                                          <p:attrName>style.visibility</p:attrName>
                                        </p:attrNameLst>
                                      </p:cBhvr>
                                      <p:to>
                                        <p:strVal val="visible"/>
                                      </p:to>
                                    </p:set>
                                    <p:anim calcmode="lin" valueType="num">
                                      <p:cBhvr additive="base">
                                        <p:cTn dur="330"/>
                                        <p:tgtEl>
                                          <p:spTgt spid="515"/>
                                        </p:tgtEl>
                                        <p:attrNameLst>
                                          <p:attrName>ppt_w</p:attrName>
                                        </p:attrNameLst>
                                      </p:cBhvr>
                                      <p:tavLst>
                                        <p:tav fmla="" tm="0">
                                          <p:val>
                                            <p:strVal val="0"/>
                                          </p:val>
                                        </p:tav>
                                        <p:tav fmla="" tm="100000">
                                          <p:val>
                                            <p:strVal val="#ppt_w"/>
                                          </p:val>
                                        </p:tav>
                                      </p:tavLst>
                                    </p:anim>
                                    <p:anim calcmode="lin" valueType="num">
                                      <p:cBhvr additive="base">
                                        <p:cTn dur="330"/>
                                        <p:tgtEl>
                                          <p:spTgt spid="5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4060"/>
                                  </p:stCondLst>
                                  <p:childTnLst>
                                    <p:set>
                                      <p:cBhvr>
                                        <p:cTn dur="1" fill="hold">
                                          <p:stCondLst>
                                            <p:cond delay="0"/>
                                          </p:stCondLst>
                                        </p:cTn>
                                        <p:tgtEl>
                                          <p:spTgt spid="516"/>
                                        </p:tgtEl>
                                        <p:attrNameLst>
                                          <p:attrName>style.visibility</p:attrName>
                                        </p:attrNameLst>
                                      </p:cBhvr>
                                      <p:to>
                                        <p:strVal val="visible"/>
                                      </p:to>
                                    </p:set>
                                    <p:animEffect filter="fade" transition="in">
                                      <p:cBhvr>
                                        <p:cTn dur="250"/>
                                        <p:tgtEl>
                                          <p:spTgt spid="516"/>
                                        </p:tgtEl>
                                      </p:cBhvr>
                                    </p:animEffect>
                                  </p:childTnLst>
                                </p:cTn>
                              </p:par>
                              <p:par>
                                <p:cTn fill="hold" nodeType="withEffect" presetClass="entr" presetID="23" presetSubtype="16">
                                  <p:stCondLst>
                                    <p:cond delay="4160"/>
                                  </p:stCondLst>
                                  <p:childTnLst>
                                    <p:set>
                                      <p:cBhvr>
                                        <p:cTn dur="1" fill="hold">
                                          <p:stCondLst>
                                            <p:cond delay="0"/>
                                          </p:stCondLst>
                                        </p:cTn>
                                        <p:tgtEl>
                                          <p:spTgt spid="517"/>
                                        </p:tgtEl>
                                        <p:attrNameLst>
                                          <p:attrName>style.visibility</p:attrName>
                                        </p:attrNameLst>
                                      </p:cBhvr>
                                      <p:to>
                                        <p:strVal val="visible"/>
                                      </p:to>
                                    </p:set>
                                    <p:anim calcmode="lin" valueType="num">
                                      <p:cBhvr additive="base">
                                        <p:cTn dur="330"/>
                                        <p:tgtEl>
                                          <p:spTgt spid="517"/>
                                        </p:tgtEl>
                                        <p:attrNameLst>
                                          <p:attrName>ppt_w</p:attrName>
                                        </p:attrNameLst>
                                      </p:cBhvr>
                                      <p:tavLst>
                                        <p:tav fmla="" tm="0">
                                          <p:val>
                                            <p:strVal val="0"/>
                                          </p:val>
                                        </p:tav>
                                        <p:tav fmla="" tm="100000">
                                          <p:val>
                                            <p:strVal val="#ppt_w"/>
                                          </p:val>
                                        </p:tav>
                                      </p:tavLst>
                                    </p:anim>
                                    <p:anim calcmode="lin" valueType="num">
                                      <p:cBhvr additive="base">
                                        <p:cTn dur="330"/>
                                        <p:tgtEl>
                                          <p:spTgt spid="51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4290"/>
                                  </p:stCondLst>
                                  <p:childTnLst>
                                    <p:set>
                                      <p:cBhvr>
                                        <p:cTn dur="1" fill="hold">
                                          <p:stCondLst>
                                            <p:cond delay="0"/>
                                          </p:stCondLst>
                                        </p:cTn>
                                        <p:tgtEl>
                                          <p:spTgt spid="518"/>
                                        </p:tgtEl>
                                        <p:attrNameLst>
                                          <p:attrName>style.visibility</p:attrName>
                                        </p:attrNameLst>
                                      </p:cBhvr>
                                      <p:to>
                                        <p:strVal val="visible"/>
                                      </p:to>
                                    </p:set>
                                    <p:animEffect filter="fade" transition="in">
                                      <p:cBhvr>
                                        <p:cTn dur="250"/>
                                        <p:tgtEl>
                                          <p:spTgt spid="518"/>
                                        </p:tgtEl>
                                      </p:cBhvr>
                                    </p:animEffect>
                                  </p:childTnLst>
                                </p:cTn>
                              </p:par>
                              <p:par>
                                <p:cTn fill="hold" nodeType="withEffect" presetClass="entr" presetID="23" presetSubtype="16">
                                  <p:stCondLst>
                                    <p:cond delay="4390"/>
                                  </p:stCondLst>
                                  <p:childTnLst>
                                    <p:set>
                                      <p:cBhvr>
                                        <p:cTn dur="1" fill="hold">
                                          <p:stCondLst>
                                            <p:cond delay="0"/>
                                          </p:stCondLst>
                                        </p:cTn>
                                        <p:tgtEl>
                                          <p:spTgt spid="519"/>
                                        </p:tgtEl>
                                        <p:attrNameLst>
                                          <p:attrName>style.visibility</p:attrName>
                                        </p:attrNameLst>
                                      </p:cBhvr>
                                      <p:to>
                                        <p:strVal val="visible"/>
                                      </p:to>
                                    </p:set>
                                    <p:anim calcmode="lin" valueType="num">
                                      <p:cBhvr additive="base">
                                        <p:cTn dur="330"/>
                                        <p:tgtEl>
                                          <p:spTgt spid="519"/>
                                        </p:tgtEl>
                                        <p:attrNameLst>
                                          <p:attrName>ppt_w</p:attrName>
                                        </p:attrNameLst>
                                      </p:cBhvr>
                                      <p:tavLst>
                                        <p:tav fmla="" tm="0">
                                          <p:val>
                                            <p:strVal val="0"/>
                                          </p:val>
                                        </p:tav>
                                        <p:tav fmla="" tm="100000">
                                          <p:val>
                                            <p:strVal val="#ppt_w"/>
                                          </p:val>
                                        </p:tav>
                                      </p:tavLst>
                                    </p:anim>
                                    <p:anim calcmode="lin" valueType="num">
                                      <p:cBhvr additive="base">
                                        <p:cTn dur="330"/>
                                        <p:tgtEl>
                                          <p:spTgt spid="51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4520"/>
                                  </p:stCondLst>
                                  <p:childTnLst>
                                    <p:set>
                                      <p:cBhvr>
                                        <p:cTn dur="1" fill="hold">
                                          <p:stCondLst>
                                            <p:cond delay="0"/>
                                          </p:stCondLst>
                                        </p:cTn>
                                        <p:tgtEl>
                                          <p:spTgt spid="520"/>
                                        </p:tgtEl>
                                        <p:attrNameLst>
                                          <p:attrName>style.visibility</p:attrName>
                                        </p:attrNameLst>
                                      </p:cBhvr>
                                      <p:to>
                                        <p:strVal val="visible"/>
                                      </p:to>
                                    </p:set>
                                    <p:animEffect filter="fade" transition="in">
                                      <p:cBhvr>
                                        <p:cTn dur="250"/>
                                        <p:tgtEl>
                                          <p:spTgt spid="5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28"/>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Algorithms Used</a:t>
            </a:r>
            <a:endParaRPr/>
          </a:p>
        </p:txBody>
      </p:sp>
      <p:sp>
        <p:nvSpPr>
          <p:cNvPr id="527" name="Google Shape;527;p28"/>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528" name="Google Shape;528;p28"/>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529" name="Google Shape;529;p28"/>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530" name="Google Shape;530;p28"/>
          <p:cNvSpPr/>
          <p:nvPr/>
        </p:nvSpPr>
        <p:spPr>
          <a:xfrm>
            <a:off x="457200" y="1261872"/>
            <a:ext cx="1554480" cy="2240280"/>
          </a:xfrm>
          <a:prstGeom prst="roundRect">
            <a:avLst>
              <a:gd fmla="val 7000" name="adj"/>
            </a:avLst>
          </a:prstGeom>
          <a:gradFill rotWithShape="1">
            <a:gsLst>
              <a:gs pos="0">
                <a:srgbClr val="FFFFFF"/>
              </a:gs>
              <a:gs pos="100000">
                <a:srgbClr val="DAF7F4"/>
              </a:gs>
            </a:gsLst>
            <a:lin ang="5400000" scaled="0"/>
          </a:gradFill>
          <a:ln cap="flat" cmpd="sng" w="158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50"/>
              <a:buFont typeface="Arial"/>
              <a:buNone/>
            </a:pPr>
            <a:r>
              <a:rPr b="1" i="0" lang="en-US" sz="1250" u="none" cap="none" strike="noStrike">
                <a:solidFill>
                  <a:srgbClr val="005350"/>
                </a:solidFill>
                <a:latin typeface="Times New Roman"/>
                <a:ea typeface="Times New Roman"/>
                <a:cs typeface="Times New Roman"/>
                <a:sym typeface="Times New Roman"/>
              </a:rPr>
              <a:t>Service Classification</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Keyword rules, text classifier or GenAI prompt; extracts urgency, time, budget</a:t>
            </a:r>
            <a:endParaRPr/>
          </a:p>
        </p:txBody>
      </p:sp>
      <p:sp>
        <p:nvSpPr>
          <p:cNvPr id="531" name="Google Shape;531;p28"/>
          <p:cNvSpPr/>
          <p:nvPr/>
        </p:nvSpPr>
        <p:spPr>
          <a:xfrm>
            <a:off x="1005840" y="1097280"/>
            <a:ext cx="457200" cy="457200"/>
          </a:xfrm>
          <a:prstGeom prst="ellipse">
            <a:avLst/>
          </a:prstGeom>
          <a:gradFill rotWithShape="1">
            <a:gsLst>
              <a:gs pos="0">
                <a:srgbClr val="006662"/>
              </a:gs>
              <a:gs pos="100000">
                <a:srgbClr val="0E9294"/>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Language" id="532" name="Google Shape;532;p28"/>
          <p:cNvPicPr preferRelativeResize="0"/>
          <p:nvPr/>
        </p:nvPicPr>
        <p:blipFill rotWithShape="1">
          <a:blip r:embed="rId3">
            <a:alphaModFix/>
          </a:blip>
          <a:srcRect b="0" l="0" r="0" t="0"/>
          <a:stretch/>
        </p:blipFill>
        <p:spPr>
          <a:xfrm>
            <a:off x="1097280" y="1188720"/>
            <a:ext cx="274320" cy="274320"/>
          </a:xfrm>
          <a:prstGeom prst="rect">
            <a:avLst/>
          </a:prstGeom>
          <a:noFill/>
          <a:ln>
            <a:noFill/>
          </a:ln>
        </p:spPr>
      </p:pic>
      <p:sp>
        <p:nvSpPr>
          <p:cNvPr id="533" name="Google Shape;533;p28"/>
          <p:cNvSpPr/>
          <p:nvPr/>
        </p:nvSpPr>
        <p:spPr>
          <a:xfrm>
            <a:off x="2125980" y="1261872"/>
            <a:ext cx="1554480" cy="2240280"/>
          </a:xfrm>
          <a:prstGeom prst="roundRect">
            <a:avLst>
              <a:gd fmla="val 7000" name="adj"/>
            </a:avLst>
          </a:prstGeom>
          <a:gradFill rotWithShape="1">
            <a:gsLst>
              <a:gs pos="0">
                <a:srgbClr val="FFFFFF"/>
              </a:gs>
              <a:gs pos="100000">
                <a:srgbClr val="E0F4FE"/>
              </a:gs>
            </a:gsLst>
            <a:lin ang="5400000" scaled="0"/>
          </a:gradFill>
          <a:ln cap="flat" cmpd="sng" w="15875">
            <a:solidFill>
              <a:srgbClr val="0B85B2"/>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50"/>
              <a:buFont typeface="Arial"/>
              <a:buNone/>
            </a:pPr>
            <a:r>
              <a:rPr b="1" i="0" lang="en-US" sz="1250" u="none" cap="none" strike="noStrike">
                <a:solidFill>
                  <a:srgbClr val="024F6B"/>
                </a:solidFill>
                <a:latin typeface="Times New Roman"/>
                <a:ea typeface="Times New Roman"/>
                <a:cs typeface="Times New Roman"/>
                <a:sym typeface="Times New Roman"/>
              </a:rPr>
              <a:t>Geospatial Search</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Haversine distance from latitude / longitude; keep workers within radius</a:t>
            </a:r>
            <a:endParaRPr/>
          </a:p>
        </p:txBody>
      </p:sp>
      <p:sp>
        <p:nvSpPr>
          <p:cNvPr id="534" name="Google Shape;534;p28"/>
          <p:cNvSpPr/>
          <p:nvPr/>
        </p:nvSpPr>
        <p:spPr>
          <a:xfrm>
            <a:off x="2674620" y="1097280"/>
            <a:ext cx="457200" cy="457200"/>
          </a:xfrm>
          <a:prstGeom prst="ellipse">
            <a:avLst/>
          </a:prstGeom>
          <a:gradFill rotWithShape="1">
            <a:gsLst>
              <a:gs pos="0">
                <a:srgbClr val="06617B"/>
              </a:gs>
              <a:gs pos="100000">
                <a:srgbClr val="0D8AC4"/>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earchLocation" id="535" name="Google Shape;535;p28"/>
          <p:cNvPicPr preferRelativeResize="0"/>
          <p:nvPr/>
        </p:nvPicPr>
        <p:blipFill rotWithShape="1">
          <a:blip r:embed="rId4">
            <a:alphaModFix/>
          </a:blip>
          <a:srcRect b="0" l="0" r="0" t="0"/>
          <a:stretch/>
        </p:blipFill>
        <p:spPr>
          <a:xfrm>
            <a:off x="2766060" y="1188720"/>
            <a:ext cx="274320" cy="274320"/>
          </a:xfrm>
          <a:prstGeom prst="rect">
            <a:avLst/>
          </a:prstGeom>
          <a:noFill/>
          <a:ln>
            <a:noFill/>
          </a:ln>
        </p:spPr>
      </p:pic>
      <p:sp>
        <p:nvSpPr>
          <p:cNvPr id="536" name="Google Shape;536;p28"/>
          <p:cNvSpPr/>
          <p:nvPr/>
        </p:nvSpPr>
        <p:spPr>
          <a:xfrm>
            <a:off x="3794760" y="1261872"/>
            <a:ext cx="1554480" cy="2240280"/>
          </a:xfrm>
          <a:prstGeom prst="roundRect">
            <a:avLst>
              <a:gd fmla="val 7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50"/>
              <a:buFont typeface="Arial"/>
              <a:buNone/>
            </a:pPr>
            <a:r>
              <a:rPr b="1" i="0" lang="en-US" sz="1250" u="none" cap="none" strike="noStrike">
                <a:solidFill>
                  <a:srgbClr val="323E8C"/>
                </a:solidFill>
                <a:latin typeface="Times New Roman"/>
                <a:ea typeface="Times New Roman"/>
                <a:cs typeface="Times New Roman"/>
                <a:sym typeface="Times New Roman"/>
              </a:rPr>
              <a:t>Weighted Multi-Criteria Score</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Values 0 to 1 times weights give one score; urgent job raises time weight</a:t>
            </a:r>
            <a:endParaRPr/>
          </a:p>
        </p:txBody>
      </p:sp>
      <p:sp>
        <p:nvSpPr>
          <p:cNvPr id="537" name="Google Shape;537;p28"/>
          <p:cNvSpPr/>
          <p:nvPr/>
        </p:nvSpPr>
        <p:spPr>
          <a:xfrm>
            <a:off x="4343400" y="1097280"/>
            <a:ext cx="457200" cy="457200"/>
          </a:xfrm>
          <a:prstGeom prst="ellipse">
            <a:avLst/>
          </a:prstGeom>
          <a:gradFill rotWithShape="1">
            <a:gsLst>
              <a:gs pos="0">
                <a:srgbClr val="3050AA"/>
              </a:gs>
              <a:gs pos="100000">
                <a:srgbClr val="6F73D7"/>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BalanceScale" id="538" name="Google Shape;538;p28"/>
          <p:cNvPicPr preferRelativeResize="0"/>
          <p:nvPr/>
        </p:nvPicPr>
        <p:blipFill rotWithShape="1">
          <a:blip r:embed="rId5">
            <a:alphaModFix/>
          </a:blip>
          <a:srcRect b="0" l="0" r="0" t="0"/>
          <a:stretch/>
        </p:blipFill>
        <p:spPr>
          <a:xfrm>
            <a:off x="4434840" y="1188720"/>
            <a:ext cx="274320" cy="274320"/>
          </a:xfrm>
          <a:prstGeom prst="rect">
            <a:avLst/>
          </a:prstGeom>
          <a:noFill/>
          <a:ln>
            <a:noFill/>
          </a:ln>
        </p:spPr>
      </p:pic>
      <p:sp>
        <p:nvSpPr>
          <p:cNvPr id="539" name="Google Shape;539;p28"/>
          <p:cNvSpPr/>
          <p:nvPr/>
        </p:nvSpPr>
        <p:spPr>
          <a:xfrm>
            <a:off x="5463540" y="1261872"/>
            <a:ext cx="1554480" cy="2240280"/>
          </a:xfrm>
          <a:prstGeom prst="roundRect">
            <a:avLst>
              <a:gd fmla="val 7000" name="adj"/>
            </a:avLst>
          </a:prstGeom>
          <a:gradFill rotWithShape="1">
            <a:gsLst>
              <a:gs pos="0">
                <a:srgbClr val="FFFFFF"/>
              </a:gs>
              <a:gs pos="100000">
                <a:srgbClr val="F8EBFF"/>
              </a:gs>
            </a:gsLst>
            <a:lin ang="5400000" scaled="0"/>
          </a:gradFill>
          <a:ln cap="flat" cmpd="sng" w="15875">
            <a:solidFill>
              <a:srgbClr val="985EB4"/>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50"/>
              <a:buFont typeface="Arial"/>
              <a:buNone/>
            </a:pPr>
            <a:r>
              <a:rPr b="1" i="0" lang="en-US" sz="1250" u="none" cap="none" strike="noStrike">
                <a:solidFill>
                  <a:srgbClr val="602C78"/>
                </a:solidFill>
                <a:latin typeface="Times New Roman"/>
                <a:ea typeface="Times New Roman"/>
                <a:cs typeface="Times New Roman"/>
                <a:sym typeface="Times New Roman"/>
              </a:rPr>
              <a:t>Multi-Armed Bandit (UCB)</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Quality = mean rating + exploration bonus; balances explore and exploit</a:t>
            </a:r>
            <a:endParaRPr/>
          </a:p>
        </p:txBody>
      </p:sp>
      <p:sp>
        <p:nvSpPr>
          <p:cNvPr id="540" name="Google Shape;540;p28"/>
          <p:cNvSpPr/>
          <p:nvPr/>
        </p:nvSpPr>
        <p:spPr>
          <a:xfrm>
            <a:off x="6012180" y="1097280"/>
            <a:ext cx="457200" cy="457200"/>
          </a:xfrm>
          <a:prstGeom prst="ellipse">
            <a:avLst/>
          </a:prstGeom>
          <a:gradFill rotWithShape="1">
            <a:gsLst>
              <a:gs pos="0">
                <a:srgbClr val="6E3A98"/>
              </a:gs>
              <a:gs pos="100000">
                <a:srgbClr val="A75EB7"/>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ChartLine" id="541" name="Google Shape;541;p28"/>
          <p:cNvPicPr preferRelativeResize="0"/>
          <p:nvPr/>
        </p:nvPicPr>
        <p:blipFill rotWithShape="1">
          <a:blip r:embed="rId6">
            <a:alphaModFix/>
          </a:blip>
          <a:srcRect b="0" l="0" r="0" t="0"/>
          <a:stretch/>
        </p:blipFill>
        <p:spPr>
          <a:xfrm>
            <a:off x="6103620" y="1188720"/>
            <a:ext cx="274320" cy="274320"/>
          </a:xfrm>
          <a:prstGeom prst="rect">
            <a:avLst/>
          </a:prstGeom>
          <a:noFill/>
          <a:ln>
            <a:noFill/>
          </a:ln>
        </p:spPr>
      </p:pic>
      <p:sp>
        <p:nvSpPr>
          <p:cNvPr id="542" name="Google Shape;542;p28"/>
          <p:cNvSpPr/>
          <p:nvPr/>
        </p:nvSpPr>
        <p:spPr>
          <a:xfrm>
            <a:off x="7132320" y="1261872"/>
            <a:ext cx="1554480" cy="2240280"/>
          </a:xfrm>
          <a:prstGeom prst="roundRect">
            <a:avLst>
              <a:gd fmla="val 7000" name="adj"/>
            </a:avLst>
          </a:prstGeom>
          <a:gradFill rotWithShape="1">
            <a:gsLst>
              <a:gs pos="0">
                <a:srgbClr val="FFFFFF"/>
              </a:gs>
              <a:gs pos="100000">
                <a:srgbClr val="FFEAF1"/>
              </a:gs>
            </a:gsLst>
            <a:lin ang="5400000" scaled="0"/>
          </a:gradFill>
          <a:ln cap="flat" cmpd="sng" w="15875">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250"/>
              <a:buFont typeface="Arial"/>
              <a:buNone/>
            </a:pPr>
            <a:r>
              <a:rPr b="1" i="0" lang="en-US" sz="1250" u="none" cap="none" strike="noStrike">
                <a:solidFill>
                  <a:srgbClr val="79204B"/>
                </a:solidFill>
                <a:latin typeface="Times New Roman"/>
                <a:ea typeface="Times New Roman"/>
                <a:cs typeface="Times New Roman"/>
                <a:sym typeface="Times New Roman"/>
              </a:rPr>
              <a:t>Constrained Selection</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Add best workers by score while time and expense limits hold (CrowdBwO)</a:t>
            </a:r>
            <a:endParaRPr/>
          </a:p>
        </p:txBody>
      </p:sp>
      <p:sp>
        <p:nvSpPr>
          <p:cNvPr id="543" name="Google Shape;543;p28"/>
          <p:cNvSpPr/>
          <p:nvPr/>
        </p:nvSpPr>
        <p:spPr>
          <a:xfrm>
            <a:off x="7680960" y="1097280"/>
            <a:ext cx="457200" cy="457200"/>
          </a:xfrm>
          <a:prstGeom prst="ellipse">
            <a:avLst/>
          </a:prstGeom>
          <a:gradFill rotWithShape="1">
            <a:gsLst>
              <a:gs pos="0">
                <a:srgbClr val="902A66"/>
              </a:gs>
              <a:gs pos="100000">
                <a:srgbClr val="C25485"/>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ListOl" id="544" name="Google Shape;544;p28"/>
          <p:cNvPicPr preferRelativeResize="0"/>
          <p:nvPr/>
        </p:nvPicPr>
        <p:blipFill rotWithShape="1">
          <a:blip r:embed="rId7">
            <a:alphaModFix/>
          </a:blip>
          <a:srcRect b="0" l="0" r="0" t="0"/>
          <a:stretch/>
        </p:blipFill>
        <p:spPr>
          <a:xfrm>
            <a:off x="7772400" y="1188720"/>
            <a:ext cx="274320" cy="274320"/>
          </a:xfrm>
          <a:prstGeom prst="rect">
            <a:avLst/>
          </a:prstGeom>
          <a:noFill/>
          <a:ln>
            <a:noFill/>
          </a:ln>
        </p:spPr>
      </p:pic>
      <p:sp>
        <p:nvSpPr>
          <p:cNvPr id="545" name="Google Shape;545;p28"/>
          <p:cNvSpPr/>
          <p:nvPr/>
        </p:nvSpPr>
        <p:spPr>
          <a:xfrm>
            <a:off x="457200" y="3639312"/>
            <a:ext cx="548640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4A7F"/>
                </a:solidFill>
                <a:latin typeface="Times New Roman"/>
                <a:ea typeface="Times New Roman"/>
                <a:cs typeface="Times New Roman"/>
                <a:sym typeface="Times New Roman"/>
              </a:rPr>
              <a:t>Recommendation procedure</a:t>
            </a:r>
            <a:endParaRPr/>
          </a:p>
        </p:txBody>
      </p:sp>
      <p:cxnSp>
        <p:nvCxnSpPr>
          <p:cNvPr id="546" name="Google Shape;546;p28"/>
          <p:cNvCxnSpPr/>
          <p:nvPr/>
        </p:nvCxnSpPr>
        <p:spPr>
          <a:xfrm>
            <a:off x="685800" y="4361688"/>
            <a:ext cx="7772400" cy="0"/>
          </a:xfrm>
          <a:prstGeom prst="straightConnector1">
            <a:avLst/>
          </a:prstGeom>
          <a:noFill/>
          <a:ln cap="flat" cmpd="sng" w="31750">
            <a:gradFill rotWithShape="1">
              <a:gsLst>
                <a:gs pos="0">
                  <a:srgbClr val="018D87"/>
                </a:gs>
                <a:gs pos="25000">
                  <a:srgbClr val="0B85B2"/>
                </a:gs>
                <a:gs pos="50000">
                  <a:srgbClr val="5F72CC"/>
                </a:gs>
                <a:gs pos="75000">
                  <a:srgbClr val="985EB4"/>
                </a:gs>
                <a:gs pos="100000">
                  <a:srgbClr val="B8527E"/>
                </a:gs>
              </a:gsLst>
              <a:lin ang="0" scaled="0"/>
            </a:gradFill>
            <a:prstDash val="dash"/>
            <a:round/>
            <a:headEnd len="sm" w="sm" type="none"/>
            <a:tailEnd len="sm" w="sm" type="none"/>
          </a:ln>
        </p:spPr>
      </p:cxnSp>
      <p:sp>
        <p:nvSpPr>
          <p:cNvPr id="547" name="Google Shape;547;p28"/>
          <p:cNvSpPr/>
          <p:nvPr/>
        </p:nvSpPr>
        <p:spPr>
          <a:xfrm>
            <a:off x="685800" y="4160520"/>
            <a:ext cx="402336" cy="402336"/>
          </a:xfrm>
          <a:prstGeom prst="ellipse">
            <a:avLst/>
          </a:prstGeom>
          <a:gradFill rotWithShape="1">
            <a:gsLst>
              <a:gs pos="0">
                <a:srgbClr val="006662"/>
              </a:gs>
              <a:gs pos="100000">
                <a:srgbClr val="0E929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1</a:t>
            </a:r>
            <a:endParaRPr/>
          </a:p>
        </p:txBody>
      </p:sp>
      <p:sp>
        <p:nvSpPr>
          <p:cNvPr id="548" name="Google Shape;548;p28"/>
          <p:cNvSpPr/>
          <p:nvPr/>
        </p:nvSpPr>
        <p:spPr>
          <a:xfrm>
            <a:off x="4572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Receive request and location</a:t>
            </a:r>
            <a:endParaRPr/>
          </a:p>
        </p:txBody>
      </p:sp>
      <p:sp>
        <p:nvSpPr>
          <p:cNvPr id="549" name="Google Shape;549;p28"/>
          <p:cNvSpPr/>
          <p:nvPr/>
        </p:nvSpPr>
        <p:spPr>
          <a:xfrm>
            <a:off x="1600200" y="4160520"/>
            <a:ext cx="402336" cy="402336"/>
          </a:xfrm>
          <a:prstGeom prst="ellipse">
            <a:avLst/>
          </a:prstGeom>
          <a:gradFill rotWithShape="1">
            <a:gsLst>
              <a:gs pos="0">
                <a:srgbClr val="00656C"/>
              </a:gs>
              <a:gs pos="100000">
                <a:srgbClr val="0E8FA9"/>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2</a:t>
            </a:r>
            <a:endParaRPr/>
          </a:p>
        </p:txBody>
      </p:sp>
      <p:sp>
        <p:nvSpPr>
          <p:cNvPr id="550" name="Google Shape;550;p28"/>
          <p:cNvSpPr/>
          <p:nvPr/>
        </p:nvSpPr>
        <p:spPr>
          <a:xfrm>
            <a:off x="13716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Find service, urgency, limits</a:t>
            </a:r>
            <a:endParaRPr/>
          </a:p>
        </p:txBody>
      </p:sp>
      <p:sp>
        <p:nvSpPr>
          <p:cNvPr id="551" name="Google Shape;551;p28"/>
          <p:cNvSpPr/>
          <p:nvPr/>
        </p:nvSpPr>
        <p:spPr>
          <a:xfrm>
            <a:off x="2514600" y="4160520"/>
            <a:ext cx="402336" cy="402336"/>
          </a:xfrm>
          <a:prstGeom prst="ellipse">
            <a:avLst/>
          </a:prstGeom>
          <a:gradFill rotWithShape="1">
            <a:gsLst>
              <a:gs pos="0">
                <a:srgbClr val="06617B"/>
              </a:gs>
              <a:gs pos="100000">
                <a:srgbClr val="0D8AC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3</a:t>
            </a:r>
            <a:endParaRPr/>
          </a:p>
        </p:txBody>
      </p:sp>
      <p:sp>
        <p:nvSpPr>
          <p:cNvPr id="552" name="Google Shape;552;p28"/>
          <p:cNvSpPr/>
          <p:nvPr/>
        </p:nvSpPr>
        <p:spPr>
          <a:xfrm>
            <a:off x="22860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Search skilled, free workers</a:t>
            </a:r>
            <a:endParaRPr/>
          </a:p>
        </p:txBody>
      </p:sp>
      <p:sp>
        <p:nvSpPr>
          <p:cNvPr id="553" name="Google Shape;553;p28"/>
          <p:cNvSpPr/>
          <p:nvPr/>
        </p:nvSpPr>
        <p:spPr>
          <a:xfrm>
            <a:off x="3429000" y="4160520"/>
            <a:ext cx="402336" cy="402336"/>
          </a:xfrm>
          <a:prstGeom prst="ellipse">
            <a:avLst/>
          </a:prstGeom>
          <a:gradFill rotWithShape="1">
            <a:gsLst>
              <a:gs pos="0">
                <a:srgbClr val="035C93"/>
              </a:gs>
              <a:gs pos="100000">
                <a:srgbClr val="437FD8"/>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4</a:t>
            </a:r>
            <a:endParaRPr/>
          </a:p>
        </p:txBody>
      </p:sp>
      <p:sp>
        <p:nvSpPr>
          <p:cNvPr id="554" name="Google Shape;554;p28"/>
          <p:cNvSpPr/>
          <p:nvPr/>
        </p:nvSpPr>
        <p:spPr>
          <a:xfrm>
            <a:off x="32004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Compute skill, distance, time, cost</a:t>
            </a:r>
            <a:endParaRPr/>
          </a:p>
        </p:txBody>
      </p:sp>
      <p:sp>
        <p:nvSpPr>
          <p:cNvPr id="555" name="Google Shape;555;p28"/>
          <p:cNvSpPr/>
          <p:nvPr/>
        </p:nvSpPr>
        <p:spPr>
          <a:xfrm>
            <a:off x="4343400" y="4160520"/>
            <a:ext cx="402336" cy="402336"/>
          </a:xfrm>
          <a:prstGeom prst="ellipse">
            <a:avLst/>
          </a:prstGeom>
          <a:gradFill rotWithShape="1">
            <a:gsLst>
              <a:gs pos="0">
                <a:srgbClr val="3050AA"/>
              </a:gs>
              <a:gs pos="100000">
                <a:srgbClr val="6F73D7"/>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5</a:t>
            </a:r>
            <a:endParaRPr/>
          </a:p>
        </p:txBody>
      </p:sp>
      <p:sp>
        <p:nvSpPr>
          <p:cNvPr id="556" name="Google Shape;556;p28"/>
          <p:cNvSpPr/>
          <p:nvPr/>
        </p:nvSpPr>
        <p:spPr>
          <a:xfrm>
            <a:off x="41148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Estimate quality (bandit)</a:t>
            </a:r>
            <a:endParaRPr/>
          </a:p>
        </p:txBody>
      </p:sp>
      <p:sp>
        <p:nvSpPr>
          <p:cNvPr id="557" name="Google Shape;557;p28"/>
          <p:cNvSpPr/>
          <p:nvPr/>
        </p:nvSpPr>
        <p:spPr>
          <a:xfrm>
            <a:off x="5257800" y="4160520"/>
            <a:ext cx="402336" cy="402336"/>
          </a:xfrm>
          <a:prstGeom prst="ellipse">
            <a:avLst/>
          </a:prstGeom>
          <a:gradFill rotWithShape="1">
            <a:gsLst>
              <a:gs pos="0">
                <a:srgbClr val="5545A6"/>
              </a:gs>
              <a:gs pos="100000">
                <a:srgbClr val="8E68CC"/>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6</a:t>
            </a:r>
            <a:endParaRPr/>
          </a:p>
        </p:txBody>
      </p:sp>
      <p:sp>
        <p:nvSpPr>
          <p:cNvPr id="558" name="Google Shape;558;p28"/>
          <p:cNvSpPr/>
          <p:nvPr/>
        </p:nvSpPr>
        <p:spPr>
          <a:xfrm>
            <a:off x="50292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Weighted score</a:t>
            </a:r>
            <a:endParaRPr/>
          </a:p>
        </p:txBody>
      </p:sp>
      <p:sp>
        <p:nvSpPr>
          <p:cNvPr id="559" name="Google Shape;559;p28"/>
          <p:cNvSpPr/>
          <p:nvPr/>
        </p:nvSpPr>
        <p:spPr>
          <a:xfrm>
            <a:off x="6172200" y="4160520"/>
            <a:ext cx="402336" cy="402336"/>
          </a:xfrm>
          <a:prstGeom prst="ellipse">
            <a:avLst/>
          </a:prstGeom>
          <a:gradFill rotWithShape="1">
            <a:gsLst>
              <a:gs pos="0">
                <a:srgbClr val="6E3A98"/>
              </a:gs>
              <a:gs pos="100000">
                <a:srgbClr val="A75EB7"/>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7</a:t>
            </a:r>
            <a:endParaRPr/>
          </a:p>
        </p:txBody>
      </p:sp>
      <p:sp>
        <p:nvSpPr>
          <p:cNvPr id="560" name="Google Shape;560;p28"/>
          <p:cNvSpPr/>
          <p:nvPr/>
        </p:nvSpPr>
        <p:spPr>
          <a:xfrm>
            <a:off x="59436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Remove limit violators</a:t>
            </a:r>
            <a:endParaRPr/>
          </a:p>
        </p:txBody>
      </p:sp>
      <p:sp>
        <p:nvSpPr>
          <p:cNvPr id="561" name="Google Shape;561;p28"/>
          <p:cNvSpPr/>
          <p:nvPr/>
        </p:nvSpPr>
        <p:spPr>
          <a:xfrm>
            <a:off x="7086600" y="4160520"/>
            <a:ext cx="402336" cy="402336"/>
          </a:xfrm>
          <a:prstGeom prst="ellipse">
            <a:avLst/>
          </a:prstGeom>
          <a:gradFill rotWithShape="1">
            <a:gsLst>
              <a:gs pos="0">
                <a:srgbClr val="823182"/>
              </a:gs>
              <a:gs pos="100000">
                <a:srgbClr val="B9579B"/>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8</a:t>
            </a:r>
            <a:endParaRPr/>
          </a:p>
        </p:txBody>
      </p:sp>
      <p:sp>
        <p:nvSpPr>
          <p:cNvPr id="562" name="Google Shape;562;p28"/>
          <p:cNvSpPr/>
          <p:nvPr/>
        </p:nvSpPr>
        <p:spPr>
          <a:xfrm>
            <a:off x="68580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Recommend best + alternatives</a:t>
            </a:r>
            <a:endParaRPr/>
          </a:p>
        </p:txBody>
      </p:sp>
      <p:sp>
        <p:nvSpPr>
          <p:cNvPr id="563" name="Google Shape;563;p28"/>
          <p:cNvSpPr/>
          <p:nvPr/>
        </p:nvSpPr>
        <p:spPr>
          <a:xfrm>
            <a:off x="8001000" y="4160520"/>
            <a:ext cx="402336" cy="402336"/>
          </a:xfrm>
          <a:prstGeom prst="ellipse">
            <a:avLst/>
          </a:prstGeom>
          <a:gradFill rotWithShape="1">
            <a:gsLst>
              <a:gs pos="0">
                <a:srgbClr val="902A66"/>
              </a:gs>
              <a:gs pos="100000">
                <a:srgbClr val="C2548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9</a:t>
            </a:r>
            <a:endParaRPr/>
          </a:p>
        </p:txBody>
      </p:sp>
      <p:sp>
        <p:nvSpPr>
          <p:cNvPr id="564" name="Google Shape;564;p28"/>
          <p:cNvSpPr/>
          <p:nvPr/>
        </p:nvSpPr>
        <p:spPr>
          <a:xfrm>
            <a:off x="7772400" y="4645152"/>
            <a:ext cx="877824" cy="11887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Times New Roman"/>
                <a:ea typeface="Times New Roman"/>
                <a:cs typeface="Times New Roman"/>
                <a:sym typeface="Times New Roman"/>
              </a:rPr>
              <a:t>Update jobs and rating</a:t>
            </a:r>
            <a:endParaRPr/>
          </a:p>
        </p:txBody>
      </p:sp>
    </p:spTree>
  </p:cSld>
  <p:clrMapOvr>
    <a:masterClrMapping/>
  </p:clrMapOvr>
  <mc:AlternateContent>
    <mc:Choice Requires="p14">
      <p:transition spd="slow" p14:dur="14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530"/>
                                        </p:tgtEl>
                                        <p:attrNameLst>
                                          <p:attrName>style.visibility</p:attrName>
                                        </p:attrNameLst>
                                      </p:cBhvr>
                                      <p:to>
                                        <p:strVal val="visible"/>
                                      </p:to>
                                    </p:set>
                                    <p:anim calcmode="lin" valueType="num">
                                      <p:cBhvr additive="base">
                                        <p:cTn dur="450"/>
                                        <p:tgtEl>
                                          <p:spTgt spid="530"/>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20"/>
                                  </p:stCondLst>
                                  <p:childTnLst>
                                    <p:set>
                                      <p:cBhvr>
                                        <p:cTn dur="1" fill="hold">
                                          <p:stCondLst>
                                            <p:cond delay="0"/>
                                          </p:stCondLst>
                                        </p:cTn>
                                        <p:tgtEl>
                                          <p:spTgt spid="531"/>
                                        </p:tgtEl>
                                        <p:attrNameLst>
                                          <p:attrName>style.visibility</p:attrName>
                                        </p:attrNameLst>
                                      </p:cBhvr>
                                      <p:to>
                                        <p:strVal val="visible"/>
                                      </p:to>
                                    </p:set>
                                    <p:anim calcmode="lin" valueType="num">
                                      <p:cBhvr additive="base">
                                        <p:cTn dur="350"/>
                                        <p:tgtEl>
                                          <p:spTgt spid="531"/>
                                        </p:tgtEl>
                                        <p:attrNameLst>
                                          <p:attrName>ppt_w</p:attrName>
                                        </p:attrNameLst>
                                      </p:cBhvr>
                                      <p:tavLst>
                                        <p:tav fmla="" tm="0">
                                          <p:val>
                                            <p:strVal val="0"/>
                                          </p:val>
                                        </p:tav>
                                        <p:tav fmla="" tm="100000">
                                          <p:val>
                                            <p:strVal val="#ppt_w"/>
                                          </p:val>
                                        </p:tav>
                                      </p:tavLst>
                                    </p:anim>
                                    <p:anim calcmode="lin" valueType="num">
                                      <p:cBhvr additive="base">
                                        <p:cTn dur="350"/>
                                        <p:tgtEl>
                                          <p:spTgt spid="531"/>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20"/>
                                  </p:stCondLst>
                                  <p:childTnLst>
                                    <p:set>
                                      <p:cBhvr>
                                        <p:cTn dur="1" fill="hold">
                                          <p:stCondLst>
                                            <p:cond delay="0"/>
                                          </p:stCondLst>
                                        </p:cTn>
                                        <p:tgtEl>
                                          <p:spTgt spid="532"/>
                                        </p:tgtEl>
                                        <p:attrNameLst>
                                          <p:attrName>style.visibility</p:attrName>
                                        </p:attrNameLst>
                                      </p:cBhvr>
                                      <p:to>
                                        <p:strVal val="visible"/>
                                      </p:to>
                                    </p:set>
                                    <p:anim calcmode="lin" valueType="num">
                                      <p:cBhvr additive="base">
                                        <p:cTn dur="350"/>
                                        <p:tgtEl>
                                          <p:spTgt spid="532"/>
                                        </p:tgtEl>
                                        <p:attrNameLst>
                                          <p:attrName>ppt_w</p:attrName>
                                        </p:attrNameLst>
                                      </p:cBhvr>
                                      <p:tavLst>
                                        <p:tav fmla="" tm="0">
                                          <p:val>
                                            <p:strVal val="0"/>
                                          </p:val>
                                        </p:tav>
                                        <p:tav fmla="" tm="100000">
                                          <p:val>
                                            <p:strVal val="#ppt_w"/>
                                          </p:val>
                                        </p:tav>
                                      </p:tavLst>
                                    </p:anim>
                                    <p:anim calcmode="lin" valueType="num">
                                      <p:cBhvr additive="base">
                                        <p:cTn dur="350"/>
                                        <p:tgtEl>
                                          <p:spTgt spid="532"/>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300"/>
                                  </p:stCondLst>
                                  <p:childTnLst>
                                    <p:set>
                                      <p:cBhvr>
                                        <p:cTn dur="1" fill="hold">
                                          <p:stCondLst>
                                            <p:cond delay="0"/>
                                          </p:stCondLst>
                                        </p:cTn>
                                        <p:tgtEl>
                                          <p:spTgt spid="533"/>
                                        </p:tgtEl>
                                        <p:attrNameLst>
                                          <p:attrName>style.visibility</p:attrName>
                                        </p:attrNameLst>
                                      </p:cBhvr>
                                      <p:to>
                                        <p:strVal val="visible"/>
                                      </p:to>
                                    </p:set>
                                    <p:anim calcmode="lin" valueType="num">
                                      <p:cBhvr additive="base">
                                        <p:cTn dur="450"/>
                                        <p:tgtEl>
                                          <p:spTgt spid="533"/>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420"/>
                                  </p:stCondLst>
                                  <p:childTnLst>
                                    <p:set>
                                      <p:cBhvr>
                                        <p:cTn dur="1" fill="hold">
                                          <p:stCondLst>
                                            <p:cond delay="0"/>
                                          </p:stCondLst>
                                        </p:cTn>
                                        <p:tgtEl>
                                          <p:spTgt spid="534"/>
                                        </p:tgtEl>
                                        <p:attrNameLst>
                                          <p:attrName>style.visibility</p:attrName>
                                        </p:attrNameLst>
                                      </p:cBhvr>
                                      <p:to>
                                        <p:strVal val="visible"/>
                                      </p:to>
                                    </p:set>
                                    <p:anim calcmode="lin" valueType="num">
                                      <p:cBhvr additive="base">
                                        <p:cTn dur="350"/>
                                        <p:tgtEl>
                                          <p:spTgt spid="534"/>
                                        </p:tgtEl>
                                        <p:attrNameLst>
                                          <p:attrName>ppt_w</p:attrName>
                                        </p:attrNameLst>
                                      </p:cBhvr>
                                      <p:tavLst>
                                        <p:tav fmla="" tm="0">
                                          <p:val>
                                            <p:strVal val="0"/>
                                          </p:val>
                                        </p:tav>
                                        <p:tav fmla="" tm="100000">
                                          <p:val>
                                            <p:strVal val="#ppt_w"/>
                                          </p:val>
                                        </p:tav>
                                      </p:tavLst>
                                    </p:anim>
                                    <p:anim calcmode="lin" valueType="num">
                                      <p:cBhvr additive="base">
                                        <p:cTn dur="350"/>
                                        <p:tgtEl>
                                          <p:spTgt spid="53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20"/>
                                  </p:stCondLst>
                                  <p:childTnLst>
                                    <p:set>
                                      <p:cBhvr>
                                        <p:cTn dur="1" fill="hold">
                                          <p:stCondLst>
                                            <p:cond delay="0"/>
                                          </p:stCondLst>
                                        </p:cTn>
                                        <p:tgtEl>
                                          <p:spTgt spid="535"/>
                                        </p:tgtEl>
                                        <p:attrNameLst>
                                          <p:attrName>style.visibility</p:attrName>
                                        </p:attrNameLst>
                                      </p:cBhvr>
                                      <p:to>
                                        <p:strVal val="visible"/>
                                      </p:to>
                                    </p:set>
                                    <p:anim calcmode="lin" valueType="num">
                                      <p:cBhvr additive="base">
                                        <p:cTn dur="350"/>
                                        <p:tgtEl>
                                          <p:spTgt spid="535"/>
                                        </p:tgtEl>
                                        <p:attrNameLst>
                                          <p:attrName>ppt_w</p:attrName>
                                        </p:attrNameLst>
                                      </p:cBhvr>
                                      <p:tavLst>
                                        <p:tav fmla="" tm="0">
                                          <p:val>
                                            <p:strVal val="0"/>
                                          </p:val>
                                        </p:tav>
                                        <p:tav fmla="" tm="100000">
                                          <p:val>
                                            <p:strVal val="#ppt_w"/>
                                          </p:val>
                                        </p:tav>
                                      </p:tavLst>
                                    </p:anim>
                                    <p:anim calcmode="lin" valueType="num">
                                      <p:cBhvr additive="base">
                                        <p:cTn dur="350"/>
                                        <p:tgtEl>
                                          <p:spTgt spid="535"/>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600"/>
                                  </p:stCondLst>
                                  <p:childTnLst>
                                    <p:set>
                                      <p:cBhvr>
                                        <p:cTn dur="1" fill="hold">
                                          <p:stCondLst>
                                            <p:cond delay="0"/>
                                          </p:stCondLst>
                                        </p:cTn>
                                        <p:tgtEl>
                                          <p:spTgt spid="536"/>
                                        </p:tgtEl>
                                        <p:attrNameLst>
                                          <p:attrName>style.visibility</p:attrName>
                                        </p:attrNameLst>
                                      </p:cBhvr>
                                      <p:to>
                                        <p:strVal val="visible"/>
                                      </p:to>
                                    </p:set>
                                    <p:anim calcmode="lin" valueType="num">
                                      <p:cBhvr additive="base">
                                        <p:cTn dur="450"/>
                                        <p:tgtEl>
                                          <p:spTgt spid="536"/>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720"/>
                                  </p:stCondLst>
                                  <p:childTnLst>
                                    <p:set>
                                      <p:cBhvr>
                                        <p:cTn dur="1" fill="hold">
                                          <p:stCondLst>
                                            <p:cond delay="0"/>
                                          </p:stCondLst>
                                        </p:cTn>
                                        <p:tgtEl>
                                          <p:spTgt spid="537"/>
                                        </p:tgtEl>
                                        <p:attrNameLst>
                                          <p:attrName>style.visibility</p:attrName>
                                        </p:attrNameLst>
                                      </p:cBhvr>
                                      <p:to>
                                        <p:strVal val="visible"/>
                                      </p:to>
                                    </p:set>
                                    <p:anim calcmode="lin" valueType="num">
                                      <p:cBhvr additive="base">
                                        <p:cTn dur="350"/>
                                        <p:tgtEl>
                                          <p:spTgt spid="537"/>
                                        </p:tgtEl>
                                        <p:attrNameLst>
                                          <p:attrName>ppt_w</p:attrName>
                                        </p:attrNameLst>
                                      </p:cBhvr>
                                      <p:tavLst>
                                        <p:tav fmla="" tm="0">
                                          <p:val>
                                            <p:strVal val="0"/>
                                          </p:val>
                                        </p:tav>
                                        <p:tav fmla="" tm="100000">
                                          <p:val>
                                            <p:strVal val="#ppt_w"/>
                                          </p:val>
                                        </p:tav>
                                      </p:tavLst>
                                    </p:anim>
                                    <p:anim calcmode="lin" valueType="num">
                                      <p:cBhvr additive="base">
                                        <p:cTn dur="350"/>
                                        <p:tgtEl>
                                          <p:spTgt spid="53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20"/>
                                  </p:stCondLst>
                                  <p:childTnLst>
                                    <p:set>
                                      <p:cBhvr>
                                        <p:cTn dur="1" fill="hold">
                                          <p:stCondLst>
                                            <p:cond delay="0"/>
                                          </p:stCondLst>
                                        </p:cTn>
                                        <p:tgtEl>
                                          <p:spTgt spid="538"/>
                                        </p:tgtEl>
                                        <p:attrNameLst>
                                          <p:attrName>style.visibility</p:attrName>
                                        </p:attrNameLst>
                                      </p:cBhvr>
                                      <p:to>
                                        <p:strVal val="visible"/>
                                      </p:to>
                                    </p:set>
                                    <p:anim calcmode="lin" valueType="num">
                                      <p:cBhvr additive="base">
                                        <p:cTn dur="350"/>
                                        <p:tgtEl>
                                          <p:spTgt spid="538"/>
                                        </p:tgtEl>
                                        <p:attrNameLst>
                                          <p:attrName>ppt_w</p:attrName>
                                        </p:attrNameLst>
                                      </p:cBhvr>
                                      <p:tavLst>
                                        <p:tav fmla="" tm="0">
                                          <p:val>
                                            <p:strVal val="0"/>
                                          </p:val>
                                        </p:tav>
                                        <p:tav fmla="" tm="100000">
                                          <p:val>
                                            <p:strVal val="#ppt_w"/>
                                          </p:val>
                                        </p:tav>
                                      </p:tavLst>
                                    </p:anim>
                                    <p:anim calcmode="lin" valueType="num">
                                      <p:cBhvr additive="base">
                                        <p:cTn dur="350"/>
                                        <p:tgtEl>
                                          <p:spTgt spid="538"/>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900"/>
                                  </p:stCondLst>
                                  <p:childTnLst>
                                    <p:set>
                                      <p:cBhvr>
                                        <p:cTn dur="1" fill="hold">
                                          <p:stCondLst>
                                            <p:cond delay="0"/>
                                          </p:stCondLst>
                                        </p:cTn>
                                        <p:tgtEl>
                                          <p:spTgt spid="539"/>
                                        </p:tgtEl>
                                        <p:attrNameLst>
                                          <p:attrName>style.visibility</p:attrName>
                                        </p:attrNameLst>
                                      </p:cBhvr>
                                      <p:to>
                                        <p:strVal val="visible"/>
                                      </p:to>
                                    </p:set>
                                    <p:anim calcmode="lin" valueType="num">
                                      <p:cBhvr additive="base">
                                        <p:cTn dur="450"/>
                                        <p:tgtEl>
                                          <p:spTgt spid="539"/>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020"/>
                                  </p:stCondLst>
                                  <p:childTnLst>
                                    <p:set>
                                      <p:cBhvr>
                                        <p:cTn dur="1" fill="hold">
                                          <p:stCondLst>
                                            <p:cond delay="0"/>
                                          </p:stCondLst>
                                        </p:cTn>
                                        <p:tgtEl>
                                          <p:spTgt spid="540"/>
                                        </p:tgtEl>
                                        <p:attrNameLst>
                                          <p:attrName>style.visibility</p:attrName>
                                        </p:attrNameLst>
                                      </p:cBhvr>
                                      <p:to>
                                        <p:strVal val="visible"/>
                                      </p:to>
                                    </p:set>
                                    <p:anim calcmode="lin" valueType="num">
                                      <p:cBhvr additive="base">
                                        <p:cTn dur="350"/>
                                        <p:tgtEl>
                                          <p:spTgt spid="540"/>
                                        </p:tgtEl>
                                        <p:attrNameLst>
                                          <p:attrName>ppt_w</p:attrName>
                                        </p:attrNameLst>
                                      </p:cBhvr>
                                      <p:tavLst>
                                        <p:tav fmla="" tm="0">
                                          <p:val>
                                            <p:strVal val="0"/>
                                          </p:val>
                                        </p:tav>
                                        <p:tav fmla="" tm="100000">
                                          <p:val>
                                            <p:strVal val="#ppt_w"/>
                                          </p:val>
                                        </p:tav>
                                      </p:tavLst>
                                    </p:anim>
                                    <p:anim calcmode="lin" valueType="num">
                                      <p:cBhvr additive="base">
                                        <p:cTn dur="350"/>
                                        <p:tgtEl>
                                          <p:spTgt spid="54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20"/>
                                  </p:stCondLst>
                                  <p:childTnLst>
                                    <p:set>
                                      <p:cBhvr>
                                        <p:cTn dur="1" fill="hold">
                                          <p:stCondLst>
                                            <p:cond delay="0"/>
                                          </p:stCondLst>
                                        </p:cTn>
                                        <p:tgtEl>
                                          <p:spTgt spid="541"/>
                                        </p:tgtEl>
                                        <p:attrNameLst>
                                          <p:attrName>style.visibility</p:attrName>
                                        </p:attrNameLst>
                                      </p:cBhvr>
                                      <p:to>
                                        <p:strVal val="visible"/>
                                      </p:to>
                                    </p:set>
                                    <p:anim calcmode="lin" valueType="num">
                                      <p:cBhvr additive="base">
                                        <p:cTn dur="350"/>
                                        <p:tgtEl>
                                          <p:spTgt spid="541"/>
                                        </p:tgtEl>
                                        <p:attrNameLst>
                                          <p:attrName>ppt_w</p:attrName>
                                        </p:attrNameLst>
                                      </p:cBhvr>
                                      <p:tavLst>
                                        <p:tav fmla="" tm="0">
                                          <p:val>
                                            <p:strVal val="0"/>
                                          </p:val>
                                        </p:tav>
                                        <p:tav fmla="" tm="100000">
                                          <p:val>
                                            <p:strVal val="#ppt_w"/>
                                          </p:val>
                                        </p:tav>
                                      </p:tavLst>
                                    </p:anim>
                                    <p:anim calcmode="lin" valueType="num">
                                      <p:cBhvr additive="base">
                                        <p:cTn dur="350"/>
                                        <p:tgtEl>
                                          <p:spTgt spid="541"/>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1200"/>
                                  </p:stCondLst>
                                  <p:childTnLst>
                                    <p:set>
                                      <p:cBhvr>
                                        <p:cTn dur="1" fill="hold">
                                          <p:stCondLst>
                                            <p:cond delay="0"/>
                                          </p:stCondLst>
                                        </p:cTn>
                                        <p:tgtEl>
                                          <p:spTgt spid="542"/>
                                        </p:tgtEl>
                                        <p:attrNameLst>
                                          <p:attrName>style.visibility</p:attrName>
                                        </p:attrNameLst>
                                      </p:cBhvr>
                                      <p:to>
                                        <p:strVal val="visible"/>
                                      </p:to>
                                    </p:set>
                                    <p:anim calcmode="lin" valueType="num">
                                      <p:cBhvr additive="base">
                                        <p:cTn dur="450"/>
                                        <p:tgtEl>
                                          <p:spTgt spid="542"/>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320"/>
                                  </p:stCondLst>
                                  <p:childTnLst>
                                    <p:set>
                                      <p:cBhvr>
                                        <p:cTn dur="1" fill="hold">
                                          <p:stCondLst>
                                            <p:cond delay="0"/>
                                          </p:stCondLst>
                                        </p:cTn>
                                        <p:tgtEl>
                                          <p:spTgt spid="543"/>
                                        </p:tgtEl>
                                        <p:attrNameLst>
                                          <p:attrName>style.visibility</p:attrName>
                                        </p:attrNameLst>
                                      </p:cBhvr>
                                      <p:to>
                                        <p:strVal val="visible"/>
                                      </p:to>
                                    </p:set>
                                    <p:anim calcmode="lin" valueType="num">
                                      <p:cBhvr additive="base">
                                        <p:cTn dur="350"/>
                                        <p:tgtEl>
                                          <p:spTgt spid="543"/>
                                        </p:tgtEl>
                                        <p:attrNameLst>
                                          <p:attrName>ppt_w</p:attrName>
                                        </p:attrNameLst>
                                      </p:cBhvr>
                                      <p:tavLst>
                                        <p:tav fmla="" tm="0">
                                          <p:val>
                                            <p:strVal val="0"/>
                                          </p:val>
                                        </p:tav>
                                        <p:tav fmla="" tm="100000">
                                          <p:val>
                                            <p:strVal val="#ppt_w"/>
                                          </p:val>
                                        </p:tav>
                                      </p:tavLst>
                                    </p:anim>
                                    <p:anim calcmode="lin" valueType="num">
                                      <p:cBhvr additive="base">
                                        <p:cTn dur="350"/>
                                        <p:tgtEl>
                                          <p:spTgt spid="54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20"/>
                                  </p:stCondLst>
                                  <p:childTnLst>
                                    <p:set>
                                      <p:cBhvr>
                                        <p:cTn dur="1" fill="hold">
                                          <p:stCondLst>
                                            <p:cond delay="0"/>
                                          </p:stCondLst>
                                        </p:cTn>
                                        <p:tgtEl>
                                          <p:spTgt spid="544"/>
                                        </p:tgtEl>
                                        <p:attrNameLst>
                                          <p:attrName>style.visibility</p:attrName>
                                        </p:attrNameLst>
                                      </p:cBhvr>
                                      <p:to>
                                        <p:strVal val="visible"/>
                                      </p:to>
                                    </p:set>
                                    <p:anim calcmode="lin" valueType="num">
                                      <p:cBhvr additive="base">
                                        <p:cTn dur="350"/>
                                        <p:tgtEl>
                                          <p:spTgt spid="544"/>
                                        </p:tgtEl>
                                        <p:attrNameLst>
                                          <p:attrName>ppt_w</p:attrName>
                                        </p:attrNameLst>
                                      </p:cBhvr>
                                      <p:tavLst>
                                        <p:tav fmla="" tm="0">
                                          <p:val>
                                            <p:strVal val="0"/>
                                          </p:val>
                                        </p:tav>
                                        <p:tav fmla="" tm="100000">
                                          <p:val>
                                            <p:strVal val="#ppt_w"/>
                                          </p:val>
                                        </p:tav>
                                      </p:tavLst>
                                    </p:anim>
                                    <p:anim calcmode="lin" valueType="num">
                                      <p:cBhvr additive="base">
                                        <p:cTn dur="350"/>
                                        <p:tgtEl>
                                          <p:spTgt spid="54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500"/>
                                  </p:stCondLst>
                                  <p:childTnLst>
                                    <p:set>
                                      <p:cBhvr>
                                        <p:cTn dur="1" fill="hold">
                                          <p:stCondLst>
                                            <p:cond delay="0"/>
                                          </p:stCondLst>
                                        </p:cTn>
                                        <p:tgtEl>
                                          <p:spTgt spid="545"/>
                                        </p:tgtEl>
                                        <p:attrNameLst>
                                          <p:attrName>style.visibility</p:attrName>
                                        </p:attrNameLst>
                                      </p:cBhvr>
                                      <p:to>
                                        <p:strVal val="visible"/>
                                      </p:to>
                                    </p:set>
                                    <p:animEffect filter="fade" transition="in">
                                      <p:cBhvr>
                                        <p:cTn dur="300"/>
                                        <p:tgtEl>
                                          <p:spTgt spid="545"/>
                                        </p:tgtEl>
                                      </p:cBhvr>
                                    </p:animEffect>
                                  </p:childTnLst>
                                </p:cTn>
                              </p:par>
                              <p:par>
                                <p:cTn fill="hold" nodeType="withEffect" presetClass="entr" presetID="10" presetSubtype="0">
                                  <p:stCondLst>
                                    <p:cond delay="1700"/>
                                  </p:stCondLst>
                                  <p:childTnLst>
                                    <p:set>
                                      <p:cBhvr>
                                        <p:cTn dur="1" fill="hold">
                                          <p:stCondLst>
                                            <p:cond delay="0"/>
                                          </p:stCondLst>
                                        </p:cTn>
                                        <p:tgtEl>
                                          <p:spTgt spid="546"/>
                                        </p:tgtEl>
                                        <p:attrNameLst>
                                          <p:attrName>style.visibility</p:attrName>
                                        </p:attrNameLst>
                                      </p:cBhvr>
                                      <p:to>
                                        <p:strVal val="visible"/>
                                      </p:to>
                                    </p:set>
                                    <p:animEffect filter="fade" transition="in">
                                      <p:cBhvr>
                                        <p:cTn dur="1200"/>
                                        <p:tgtEl>
                                          <p:spTgt spid="546"/>
                                        </p:tgtEl>
                                      </p:cBhvr>
                                    </p:animEffect>
                                  </p:childTnLst>
                                </p:cTn>
                              </p:par>
                              <p:par>
                                <p:cTn fill="hold" nodeType="withEffect" presetClass="entr" presetID="23" presetSubtype="16">
                                  <p:stCondLst>
                                    <p:cond delay="2000"/>
                                  </p:stCondLst>
                                  <p:childTnLst>
                                    <p:set>
                                      <p:cBhvr>
                                        <p:cTn dur="1" fill="hold">
                                          <p:stCondLst>
                                            <p:cond delay="0"/>
                                          </p:stCondLst>
                                        </p:cTn>
                                        <p:tgtEl>
                                          <p:spTgt spid="547"/>
                                        </p:tgtEl>
                                        <p:attrNameLst>
                                          <p:attrName>style.visibility</p:attrName>
                                        </p:attrNameLst>
                                      </p:cBhvr>
                                      <p:to>
                                        <p:strVal val="visible"/>
                                      </p:to>
                                    </p:set>
                                    <p:anim calcmode="lin" valueType="num">
                                      <p:cBhvr additive="base">
                                        <p:cTn dur="300"/>
                                        <p:tgtEl>
                                          <p:spTgt spid="547"/>
                                        </p:tgtEl>
                                        <p:attrNameLst>
                                          <p:attrName>ppt_w</p:attrName>
                                        </p:attrNameLst>
                                      </p:cBhvr>
                                      <p:tavLst>
                                        <p:tav fmla="" tm="0">
                                          <p:val>
                                            <p:strVal val="0"/>
                                          </p:val>
                                        </p:tav>
                                        <p:tav fmla="" tm="100000">
                                          <p:val>
                                            <p:strVal val="#ppt_w"/>
                                          </p:val>
                                        </p:tav>
                                      </p:tavLst>
                                    </p:anim>
                                    <p:anim calcmode="lin" valueType="num">
                                      <p:cBhvr additive="base">
                                        <p:cTn dur="300"/>
                                        <p:tgtEl>
                                          <p:spTgt spid="54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090"/>
                                  </p:stCondLst>
                                  <p:childTnLst>
                                    <p:set>
                                      <p:cBhvr>
                                        <p:cTn dur="1" fill="hold">
                                          <p:stCondLst>
                                            <p:cond delay="0"/>
                                          </p:stCondLst>
                                        </p:cTn>
                                        <p:tgtEl>
                                          <p:spTgt spid="548"/>
                                        </p:tgtEl>
                                        <p:attrNameLst>
                                          <p:attrName>style.visibility</p:attrName>
                                        </p:attrNameLst>
                                      </p:cBhvr>
                                      <p:to>
                                        <p:strVal val="visible"/>
                                      </p:to>
                                    </p:set>
                                    <p:animEffect filter="fade" transition="in">
                                      <p:cBhvr>
                                        <p:cTn dur="300"/>
                                        <p:tgtEl>
                                          <p:spTgt spid="548"/>
                                        </p:tgtEl>
                                      </p:cBhvr>
                                    </p:animEffect>
                                  </p:childTnLst>
                                </p:cTn>
                              </p:par>
                              <p:par>
                                <p:cTn fill="hold" nodeType="withEffect" presetClass="entr" presetID="23" presetSubtype="16">
                                  <p:stCondLst>
                                    <p:cond delay="2200"/>
                                  </p:stCondLst>
                                  <p:childTnLst>
                                    <p:set>
                                      <p:cBhvr>
                                        <p:cTn dur="1" fill="hold">
                                          <p:stCondLst>
                                            <p:cond delay="0"/>
                                          </p:stCondLst>
                                        </p:cTn>
                                        <p:tgtEl>
                                          <p:spTgt spid="549"/>
                                        </p:tgtEl>
                                        <p:attrNameLst>
                                          <p:attrName>style.visibility</p:attrName>
                                        </p:attrNameLst>
                                      </p:cBhvr>
                                      <p:to>
                                        <p:strVal val="visible"/>
                                      </p:to>
                                    </p:set>
                                    <p:anim calcmode="lin" valueType="num">
                                      <p:cBhvr additive="base">
                                        <p:cTn dur="300"/>
                                        <p:tgtEl>
                                          <p:spTgt spid="549"/>
                                        </p:tgtEl>
                                        <p:attrNameLst>
                                          <p:attrName>ppt_w</p:attrName>
                                        </p:attrNameLst>
                                      </p:cBhvr>
                                      <p:tavLst>
                                        <p:tav fmla="" tm="0">
                                          <p:val>
                                            <p:strVal val="0"/>
                                          </p:val>
                                        </p:tav>
                                        <p:tav fmla="" tm="100000">
                                          <p:val>
                                            <p:strVal val="#ppt_w"/>
                                          </p:val>
                                        </p:tav>
                                      </p:tavLst>
                                    </p:anim>
                                    <p:anim calcmode="lin" valueType="num">
                                      <p:cBhvr additive="base">
                                        <p:cTn dur="300"/>
                                        <p:tgtEl>
                                          <p:spTgt spid="54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290"/>
                                  </p:stCondLst>
                                  <p:childTnLst>
                                    <p:set>
                                      <p:cBhvr>
                                        <p:cTn dur="1" fill="hold">
                                          <p:stCondLst>
                                            <p:cond delay="0"/>
                                          </p:stCondLst>
                                        </p:cTn>
                                        <p:tgtEl>
                                          <p:spTgt spid="550"/>
                                        </p:tgtEl>
                                        <p:attrNameLst>
                                          <p:attrName>style.visibility</p:attrName>
                                        </p:attrNameLst>
                                      </p:cBhvr>
                                      <p:to>
                                        <p:strVal val="visible"/>
                                      </p:to>
                                    </p:set>
                                    <p:animEffect filter="fade" transition="in">
                                      <p:cBhvr>
                                        <p:cTn dur="300"/>
                                        <p:tgtEl>
                                          <p:spTgt spid="550"/>
                                        </p:tgtEl>
                                      </p:cBhvr>
                                    </p:animEffect>
                                  </p:childTnLst>
                                </p:cTn>
                              </p:par>
                              <p:par>
                                <p:cTn fill="hold" nodeType="withEffect" presetClass="entr" presetID="23" presetSubtype="16">
                                  <p:stCondLst>
                                    <p:cond delay="2400"/>
                                  </p:stCondLst>
                                  <p:childTnLst>
                                    <p:set>
                                      <p:cBhvr>
                                        <p:cTn dur="1" fill="hold">
                                          <p:stCondLst>
                                            <p:cond delay="0"/>
                                          </p:stCondLst>
                                        </p:cTn>
                                        <p:tgtEl>
                                          <p:spTgt spid="551"/>
                                        </p:tgtEl>
                                        <p:attrNameLst>
                                          <p:attrName>style.visibility</p:attrName>
                                        </p:attrNameLst>
                                      </p:cBhvr>
                                      <p:to>
                                        <p:strVal val="visible"/>
                                      </p:to>
                                    </p:set>
                                    <p:anim calcmode="lin" valueType="num">
                                      <p:cBhvr additive="base">
                                        <p:cTn dur="300"/>
                                        <p:tgtEl>
                                          <p:spTgt spid="551"/>
                                        </p:tgtEl>
                                        <p:attrNameLst>
                                          <p:attrName>ppt_w</p:attrName>
                                        </p:attrNameLst>
                                      </p:cBhvr>
                                      <p:tavLst>
                                        <p:tav fmla="" tm="0">
                                          <p:val>
                                            <p:strVal val="0"/>
                                          </p:val>
                                        </p:tav>
                                        <p:tav fmla="" tm="100000">
                                          <p:val>
                                            <p:strVal val="#ppt_w"/>
                                          </p:val>
                                        </p:tav>
                                      </p:tavLst>
                                    </p:anim>
                                    <p:anim calcmode="lin" valueType="num">
                                      <p:cBhvr additive="base">
                                        <p:cTn dur="300"/>
                                        <p:tgtEl>
                                          <p:spTgt spid="55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490"/>
                                  </p:stCondLst>
                                  <p:childTnLst>
                                    <p:set>
                                      <p:cBhvr>
                                        <p:cTn dur="1" fill="hold">
                                          <p:stCondLst>
                                            <p:cond delay="0"/>
                                          </p:stCondLst>
                                        </p:cTn>
                                        <p:tgtEl>
                                          <p:spTgt spid="552"/>
                                        </p:tgtEl>
                                        <p:attrNameLst>
                                          <p:attrName>style.visibility</p:attrName>
                                        </p:attrNameLst>
                                      </p:cBhvr>
                                      <p:to>
                                        <p:strVal val="visible"/>
                                      </p:to>
                                    </p:set>
                                    <p:animEffect filter="fade" transition="in">
                                      <p:cBhvr>
                                        <p:cTn dur="300"/>
                                        <p:tgtEl>
                                          <p:spTgt spid="552"/>
                                        </p:tgtEl>
                                      </p:cBhvr>
                                    </p:animEffect>
                                  </p:childTnLst>
                                </p:cTn>
                              </p:par>
                              <p:par>
                                <p:cTn fill="hold" nodeType="withEffect" presetClass="entr" presetID="23" presetSubtype="16">
                                  <p:stCondLst>
                                    <p:cond delay="2600"/>
                                  </p:stCondLst>
                                  <p:childTnLst>
                                    <p:set>
                                      <p:cBhvr>
                                        <p:cTn dur="1" fill="hold">
                                          <p:stCondLst>
                                            <p:cond delay="0"/>
                                          </p:stCondLst>
                                        </p:cTn>
                                        <p:tgtEl>
                                          <p:spTgt spid="553"/>
                                        </p:tgtEl>
                                        <p:attrNameLst>
                                          <p:attrName>style.visibility</p:attrName>
                                        </p:attrNameLst>
                                      </p:cBhvr>
                                      <p:to>
                                        <p:strVal val="visible"/>
                                      </p:to>
                                    </p:set>
                                    <p:anim calcmode="lin" valueType="num">
                                      <p:cBhvr additive="base">
                                        <p:cTn dur="300"/>
                                        <p:tgtEl>
                                          <p:spTgt spid="553"/>
                                        </p:tgtEl>
                                        <p:attrNameLst>
                                          <p:attrName>ppt_w</p:attrName>
                                        </p:attrNameLst>
                                      </p:cBhvr>
                                      <p:tavLst>
                                        <p:tav fmla="" tm="0">
                                          <p:val>
                                            <p:strVal val="0"/>
                                          </p:val>
                                        </p:tav>
                                        <p:tav fmla="" tm="100000">
                                          <p:val>
                                            <p:strVal val="#ppt_w"/>
                                          </p:val>
                                        </p:tav>
                                      </p:tavLst>
                                    </p:anim>
                                    <p:anim calcmode="lin" valueType="num">
                                      <p:cBhvr additive="base">
                                        <p:cTn dur="300"/>
                                        <p:tgtEl>
                                          <p:spTgt spid="55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690"/>
                                  </p:stCondLst>
                                  <p:childTnLst>
                                    <p:set>
                                      <p:cBhvr>
                                        <p:cTn dur="1" fill="hold">
                                          <p:stCondLst>
                                            <p:cond delay="0"/>
                                          </p:stCondLst>
                                        </p:cTn>
                                        <p:tgtEl>
                                          <p:spTgt spid="554"/>
                                        </p:tgtEl>
                                        <p:attrNameLst>
                                          <p:attrName>style.visibility</p:attrName>
                                        </p:attrNameLst>
                                      </p:cBhvr>
                                      <p:to>
                                        <p:strVal val="visible"/>
                                      </p:to>
                                    </p:set>
                                    <p:animEffect filter="fade" transition="in">
                                      <p:cBhvr>
                                        <p:cTn dur="300"/>
                                        <p:tgtEl>
                                          <p:spTgt spid="554"/>
                                        </p:tgtEl>
                                      </p:cBhvr>
                                    </p:animEffect>
                                  </p:childTnLst>
                                </p:cTn>
                              </p:par>
                              <p:par>
                                <p:cTn fill="hold" nodeType="withEffect" presetClass="entr" presetID="23" presetSubtype="16">
                                  <p:stCondLst>
                                    <p:cond delay="280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300"/>
                                        <p:tgtEl>
                                          <p:spTgt spid="555"/>
                                        </p:tgtEl>
                                        <p:attrNameLst>
                                          <p:attrName>ppt_w</p:attrName>
                                        </p:attrNameLst>
                                      </p:cBhvr>
                                      <p:tavLst>
                                        <p:tav fmla="" tm="0">
                                          <p:val>
                                            <p:strVal val="0"/>
                                          </p:val>
                                        </p:tav>
                                        <p:tav fmla="" tm="100000">
                                          <p:val>
                                            <p:strVal val="#ppt_w"/>
                                          </p:val>
                                        </p:tav>
                                      </p:tavLst>
                                    </p:anim>
                                    <p:anim calcmode="lin" valueType="num">
                                      <p:cBhvr additive="base">
                                        <p:cTn dur="300"/>
                                        <p:tgtEl>
                                          <p:spTgt spid="55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890"/>
                                  </p:stCondLst>
                                  <p:childTnLst>
                                    <p:set>
                                      <p:cBhvr>
                                        <p:cTn dur="1" fill="hold">
                                          <p:stCondLst>
                                            <p:cond delay="0"/>
                                          </p:stCondLst>
                                        </p:cTn>
                                        <p:tgtEl>
                                          <p:spTgt spid="556"/>
                                        </p:tgtEl>
                                        <p:attrNameLst>
                                          <p:attrName>style.visibility</p:attrName>
                                        </p:attrNameLst>
                                      </p:cBhvr>
                                      <p:to>
                                        <p:strVal val="visible"/>
                                      </p:to>
                                    </p:set>
                                    <p:animEffect filter="fade" transition="in">
                                      <p:cBhvr>
                                        <p:cTn dur="300"/>
                                        <p:tgtEl>
                                          <p:spTgt spid="556"/>
                                        </p:tgtEl>
                                      </p:cBhvr>
                                    </p:animEffect>
                                  </p:childTnLst>
                                </p:cTn>
                              </p:par>
                              <p:par>
                                <p:cTn fill="hold" nodeType="withEffect" presetClass="entr" presetID="23" presetSubtype="16">
                                  <p:stCondLst>
                                    <p:cond delay="3000"/>
                                  </p:stCondLst>
                                  <p:childTnLst>
                                    <p:set>
                                      <p:cBhvr>
                                        <p:cTn dur="1" fill="hold">
                                          <p:stCondLst>
                                            <p:cond delay="0"/>
                                          </p:stCondLst>
                                        </p:cTn>
                                        <p:tgtEl>
                                          <p:spTgt spid="557"/>
                                        </p:tgtEl>
                                        <p:attrNameLst>
                                          <p:attrName>style.visibility</p:attrName>
                                        </p:attrNameLst>
                                      </p:cBhvr>
                                      <p:to>
                                        <p:strVal val="visible"/>
                                      </p:to>
                                    </p:set>
                                    <p:anim calcmode="lin" valueType="num">
                                      <p:cBhvr additive="base">
                                        <p:cTn dur="300"/>
                                        <p:tgtEl>
                                          <p:spTgt spid="557"/>
                                        </p:tgtEl>
                                        <p:attrNameLst>
                                          <p:attrName>ppt_w</p:attrName>
                                        </p:attrNameLst>
                                      </p:cBhvr>
                                      <p:tavLst>
                                        <p:tav fmla="" tm="0">
                                          <p:val>
                                            <p:strVal val="0"/>
                                          </p:val>
                                        </p:tav>
                                        <p:tav fmla="" tm="100000">
                                          <p:val>
                                            <p:strVal val="#ppt_w"/>
                                          </p:val>
                                        </p:tav>
                                      </p:tavLst>
                                    </p:anim>
                                    <p:anim calcmode="lin" valueType="num">
                                      <p:cBhvr additive="base">
                                        <p:cTn dur="300"/>
                                        <p:tgtEl>
                                          <p:spTgt spid="55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090"/>
                                  </p:stCondLst>
                                  <p:childTnLst>
                                    <p:set>
                                      <p:cBhvr>
                                        <p:cTn dur="1" fill="hold">
                                          <p:stCondLst>
                                            <p:cond delay="0"/>
                                          </p:stCondLst>
                                        </p:cTn>
                                        <p:tgtEl>
                                          <p:spTgt spid="558"/>
                                        </p:tgtEl>
                                        <p:attrNameLst>
                                          <p:attrName>style.visibility</p:attrName>
                                        </p:attrNameLst>
                                      </p:cBhvr>
                                      <p:to>
                                        <p:strVal val="visible"/>
                                      </p:to>
                                    </p:set>
                                    <p:animEffect filter="fade" transition="in">
                                      <p:cBhvr>
                                        <p:cTn dur="300"/>
                                        <p:tgtEl>
                                          <p:spTgt spid="558"/>
                                        </p:tgtEl>
                                      </p:cBhvr>
                                    </p:animEffect>
                                  </p:childTnLst>
                                </p:cTn>
                              </p:par>
                              <p:par>
                                <p:cTn fill="hold" nodeType="withEffect" presetClass="entr" presetID="23" presetSubtype="16">
                                  <p:stCondLst>
                                    <p:cond delay="3200"/>
                                  </p:stCondLst>
                                  <p:childTnLst>
                                    <p:set>
                                      <p:cBhvr>
                                        <p:cTn dur="1" fill="hold">
                                          <p:stCondLst>
                                            <p:cond delay="0"/>
                                          </p:stCondLst>
                                        </p:cTn>
                                        <p:tgtEl>
                                          <p:spTgt spid="559"/>
                                        </p:tgtEl>
                                        <p:attrNameLst>
                                          <p:attrName>style.visibility</p:attrName>
                                        </p:attrNameLst>
                                      </p:cBhvr>
                                      <p:to>
                                        <p:strVal val="visible"/>
                                      </p:to>
                                    </p:set>
                                    <p:anim calcmode="lin" valueType="num">
                                      <p:cBhvr additive="base">
                                        <p:cTn dur="300"/>
                                        <p:tgtEl>
                                          <p:spTgt spid="559"/>
                                        </p:tgtEl>
                                        <p:attrNameLst>
                                          <p:attrName>ppt_w</p:attrName>
                                        </p:attrNameLst>
                                      </p:cBhvr>
                                      <p:tavLst>
                                        <p:tav fmla="" tm="0">
                                          <p:val>
                                            <p:strVal val="0"/>
                                          </p:val>
                                        </p:tav>
                                        <p:tav fmla="" tm="100000">
                                          <p:val>
                                            <p:strVal val="#ppt_w"/>
                                          </p:val>
                                        </p:tav>
                                      </p:tavLst>
                                    </p:anim>
                                    <p:anim calcmode="lin" valueType="num">
                                      <p:cBhvr additive="base">
                                        <p:cTn dur="300"/>
                                        <p:tgtEl>
                                          <p:spTgt spid="559"/>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290"/>
                                  </p:stCondLst>
                                  <p:childTnLst>
                                    <p:set>
                                      <p:cBhvr>
                                        <p:cTn dur="1" fill="hold">
                                          <p:stCondLst>
                                            <p:cond delay="0"/>
                                          </p:stCondLst>
                                        </p:cTn>
                                        <p:tgtEl>
                                          <p:spTgt spid="560"/>
                                        </p:tgtEl>
                                        <p:attrNameLst>
                                          <p:attrName>style.visibility</p:attrName>
                                        </p:attrNameLst>
                                      </p:cBhvr>
                                      <p:to>
                                        <p:strVal val="visible"/>
                                      </p:to>
                                    </p:set>
                                    <p:animEffect filter="fade" transition="in">
                                      <p:cBhvr>
                                        <p:cTn dur="300"/>
                                        <p:tgtEl>
                                          <p:spTgt spid="560"/>
                                        </p:tgtEl>
                                      </p:cBhvr>
                                    </p:animEffect>
                                  </p:childTnLst>
                                </p:cTn>
                              </p:par>
                              <p:par>
                                <p:cTn fill="hold" nodeType="withEffect" presetClass="entr" presetID="23" presetSubtype="16">
                                  <p:stCondLst>
                                    <p:cond delay="3400"/>
                                  </p:stCondLst>
                                  <p:childTnLst>
                                    <p:set>
                                      <p:cBhvr>
                                        <p:cTn dur="1" fill="hold">
                                          <p:stCondLst>
                                            <p:cond delay="0"/>
                                          </p:stCondLst>
                                        </p:cTn>
                                        <p:tgtEl>
                                          <p:spTgt spid="561"/>
                                        </p:tgtEl>
                                        <p:attrNameLst>
                                          <p:attrName>style.visibility</p:attrName>
                                        </p:attrNameLst>
                                      </p:cBhvr>
                                      <p:to>
                                        <p:strVal val="visible"/>
                                      </p:to>
                                    </p:set>
                                    <p:anim calcmode="lin" valueType="num">
                                      <p:cBhvr additive="base">
                                        <p:cTn dur="300"/>
                                        <p:tgtEl>
                                          <p:spTgt spid="561"/>
                                        </p:tgtEl>
                                        <p:attrNameLst>
                                          <p:attrName>ppt_w</p:attrName>
                                        </p:attrNameLst>
                                      </p:cBhvr>
                                      <p:tavLst>
                                        <p:tav fmla="" tm="0">
                                          <p:val>
                                            <p:strVal val="0"/>
                                          </p:val>
                                        </p:tav>
                                        <p:tav fmla="" tm="100000">
                                          <p:val>
                                            <p:strVal val="#ppt_w"/>
                                          </p:val>
                                        </p:tav>
                                      </p:tavLst>
                                    </p:anim>
                                    <p:anim calcmode="lin" valueType="num">
                                      <p:cBhvr additive="base">
                                        <p:cTn dur="300"/>
                                        <p:tgtEl>
                                          <p:spTgt spid="56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490"/>
                                  </p:stCondLst>
                                  <p:childTnLst>
                                    <p:set>
                                      <p:cBhvr>
                                        <p:cTn dur="1" fill="hold">
                                          <p:stCondLst>
                                            <p:cond delay="0"/>
                                          </p:stCondLst>
                                        </p:cTn>
                                        <p:tgtEl>
                                          <p:spTgt spid="562"/>
                                        </p:tgtEl>
                                        <p:attrNameLst>
                                          <p:attrName>style.visibility</p:attrName>
                                        </p:attrNameLst>
                                      </p:cBhvr>
                                      <p:to>
                                        <p:strVal val="visible"/>
                                      </p:to>
                                    </p:set>
                                    <p:animEffect filter="fade" transition="in">
                                      <p:cBhvr>
                                        <p:cTn dur="300"/>
                                        <p:tgtEl>
                                          <p:spTgt spid="562"/>
                                        </p:tgtEl>
                                      </p:cBhvr>
                                    </p:animEffect>
                                  </p:childTnLst>
                                </p:cTn>
                              </p:par>
                              <p:par>
                                <p:cTn fill="hold" nodeType="withEffect" presetClass="entr" presetID="23" presetSubtype="16">
                                  <p:stCondLst>
                                    <p:cond delay="3600"/>
                                  </p:stCondLst>
                                  <p:childTnLst>
                                    <p:set>
                                      <p:cBhvr>
                                        <p:cTn dur="1" fill="hold">
                                          <p:stCondLst>
                                            <p:cond delay="0"/>
                                          </p:stCondLst>
                                        </p:cTn>
                                        <p:tgtEl>
                                          <p:spTgt spid="563"/>
                                        </p:tgtEl>
                                        <p:attrNameLst>
                                          <p:attrName>style.visibility</p:attrName>
                                        </p:attrNameLst>
                                      </p:cBhvr>
                                      <p:to>
                                        <p:strVal val="visible"/>
                                      </p:to>
                                    </p:set>
                                    <p:anim calcmode="lin" valueType="num">
                                      <p:cBhvr additive="base">
                                        <p:cTn dur="300"/>
                                        <p:tgtEl>
                                          <p:spTgt spid="563"/>
                                        </p:tgtEl>
                                        <p:attrNameLst>
                                          <p:attrName>ppt_w</p:attrName>
                                        </p:attrNameLst>
                                      </p:cBhvr>
                                      <p:tavLst>
                                        <p:tav fmla="" tm="0">
                                          <p:val>
                                            <p:strVal val="0"/>
                                          </p:val>
                                        </p:tav>
                                        <p:tav fmla="" tm="100000">
                                          <p:val>
                                            <p:strVal val="#ppt_w"/>
                                          </p:val>
                                        </p:tav>
                                      </p:tavLst>
                                    </p:anim>
                                    <p:anim calcmode="lin" valueType="num">
                                      <p:cBhvr additive="base">
                                        <p:cTn dur="300"/>
                                        <p:tgtEl>
                                          <p:spTgt spid="56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690"/>
                                  </p:stCondLst>
                                  <p:childTnLst>
                                    <p:set>
                                      <p:cBhvr>
                                        <p:cTn dur="1" fill="hold">
                                          <p:stCondLst>
                                            <p:cond delay="0"/>
                                          </p:stCondLst>
                                        </p:cTn>
                                        <p:tgtEl>
                                          <p:spTgt spid="564"/>
                                        </p:tgtEl>
                                        <p:attrNameLst>
                                          <p:attrName>style.visibility</p:attrName>
                                        </p:attrNameLst>
                                      </p:cBhvr>
                                      <p:to>
                                        <p:strVal val="visible"/>
                                      </p:to>
                                    </p:set>
                                    <p:animEffect filter="fade" transition="in">
                                      <p:cBhvr>
                                        <p:cTn dur="300"/>
                                        <p:tgtEl>
                                          <p:spTgt spid="5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9"/>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Mathematical Model: Finding Candidates</a:t>
            </a:r>
            <a:endParaRPr/>
          </a:p>
        </p:txBody>
      </p:sp>
      <p:sp>
        <p:nvSpPr>
          <p:cNvPr id="571" name="Google Shape;571;p29"/>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572" name="Google Shape;572;p29"/>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573" name="Google Shape;573;p29"/>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2001" name="Formula card"/>
          <p:cNvSpPr/>
          <p:nvPr/>
        </p:nvSpPr>
        <p:spPr>
          <a:xfrm>
            <a:off x="457200" y="1170432"/>
            <a:ext cx="8229600" cy="896112"/>
          </a:xfrm>
          <a:prstGeom prst="roundRect">
            <a:avLst>
              <a:gd name="adj" fmla="val 9000"/>
            </a:avLst>
          </a:prstGeom>
          <a:gradFill rotWithShape="1">
            <a:gsLst>
              <a:gs pos="0">
                <a:srgbClr val="FFFFFF"/>
              </a:gs>
              <a:gs pos="100000">
                <a:srgbClr val="DAF7F4"/>
              </a:gs>
            </a:gsLst>
            <a:lin ang="5400000" scaled="0"/>
          </a:gradFill>
          <a:ln w="15875">
            <a:solidFill>
              <a:srgbClr val="018D8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02" name="Step badge"/>
          <p:cNvSpPr/>
          <p:nvPr/>
        </p:nvSpPr>
        <p:spPr>
          <a:xfrm>
            <a:off x="457200" y="1170432"/>
            <a:ext cx="1188720" cy="896112"/>
          </a:xfrm>
          <a:prstGeom prst="roundRect">
            <a:avLst>
              <a:gd name="adj" fmla="val 14000"/>
            </a:avLst>
          </a:prstGeom>
          <a:gradFill rotWithShape="1">
            <a:gsLst>
              <a:gs pos="0">
                <a:srgbClr val="006662"/>
              </a:gs>
              <a:gs pos="100000">
                <a:srgbClr val="0E9294"/>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800" b="1" i="0" dirty="0">
                <a:solidFill>
                  <a:srgbClr val="FFFFFF"/>
                </a:solidFill>
                <a:latin typeface="Times New Roman"/>
                <a:ea typeface="Times New Roman"/>
                <a:cs typeface="Times New Roman"/>
              </a:rPr>
              <a:t>1</a:t>
            </a:r>
          </a:p>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Model</a:t>
            </a:r>
          </a:p>
        </p:txBody>
      </p:sp>
      <p:sp>
        <p:nvSpPr>
          <p:cNvPr id="2003" name="Formula"/>
          <p:cNvSpPr/>
          <p:nvPr/>
        </p:nvSpPr>
        <p:spPr>
          <a:xfrm>
            <a:off x="1755648" y="1234440"/>
            <a:ext cx="3154680" cy="768096"/>
          </a:xfrm>
          <a:prstGeom prst="roundRect">
            <a:avLst>
              <a:gd name="adj" fmla="val 12000"/>
            </a:avLst>
          </a:prstGeom>
          <a:gradFill rotWithShape="1">
            <a:gsLst>
              <a:gs pos="0">
                <a:srgbClr val="DCFBF8"/>
              </a:gs>
              <a:gs pos="100000">
                <a:srgbClr val="B5F0EC"/>
              </a:gs>
            </a:gsLst>
            <a:lin ang="2700000" scaled="0"/>
          </a:gradFill>
          <a:ln w="9525">
            <a:solidFill>
              <a:srgbClr val="018D87"/>
            </a:solidFill>
          </a:ln>
        </p:spPr>
        <p:txBody>
          <a:bodyPr wrap="square" lIns="73152" tIns="27432" rIns="73152" bIns="27432" anchor="ctr">
            <a:noAutofit/>
          </a:bodyPr>
          <a:lstStyle/>
          <a:p>
            <a:pPr marL="0" indent="0" algn="ctr">
              <a:lnSpc>
                <a:spcPct val="100000"/>
              </a:lnSpc>
              <a:spcBef>
                <a:spcPts val="0"/>
              </a:spcBef>
              <a:spcAft>
                <a:spcPts val="0"/>
              </a:spcAft>
              <a:buNone/>
            </a:pPr>
            <a:r>
              <a:rPr lang="en-US" sz="1300" b="0" i="1" dirty="0">
                <a:solidFill>
                  <a:srgbClr val="1F2937"/>
                </a:solidFill>
                <a:latin typeface="Times New Roman"/>
                <a:ea typeface="Times New Roman"/>
                <a:cs typeface="Times New Roman"/>
              </a:rPr>
              <a:t>System = (C, Q, W, F, R, O)</a:t>
            </a:r>
          </a:p>
        </p:txBody>
      </p:sp>
      <p:sp>
        <p:nvSpPr>
          <p:cNvPr id="2004" name="Text"/>
          <p:cNvSpPr txBox="1"/>
          <p:nvPr/>
        </p:nvSpPr>
        <p:spPr>
          <a:xfrm>
            <a:off x="5029200" y="1216152"/>
            <a:ext cx="3566160" cy="804672"/>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000" b="1" i="0" dirty="0">
                <a:solidFill>
                  <a:srgbClr val="005350"/>
                </a:solidFill>
                <a:latin typeface="Times New Roman"/>
                <a:ea typeface="Times New Roman"/>
                <a:cs typeface="Times New Roman"/>
              </a:rPr>
              <a:t>In simple words</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Six parts make the system: customer C, request Q, workers W, feedback F, ranking rule R and output O (the recommended worker).</a:t>
            </a:r>
          </a:p>
        </p:txBody>
      </p:sp>
      <p:sp>
        <p:nvSpPr>
          <p:cNvPr id="2005" name="Formula card"/>
          <p:cNvSpPr/>
          <p:nvPr/>
        </p:nvSpPr>
        <p:spPr>
          <a:xfrm>
            <a:off x="457200" y="2139696"/>
            <a:ext cx="8229600" cy="896112"/>
          </a:xfrm>
          <a:prstGeom prst="roundRect">
            <a:avLst>
              <a:gd name="adj" fmla="val 9000"/>
            </a:avLst>
          </a:prstGeom>
          <a:gradFill rotWithShape="1">
            <a:gsLst>
              <a:gs pos="0">
                <a:srgbClr val="FFFFFF"/>
              </a:gs>
              <a:gs pos="100000">
                <a:srgbClr val="DCF5FF"/>
              </a:gs>
            </a:gsLst>
            <a:lin ang="5400000" scaled="0"/>
          </a:gradFill>
          <a:ln w="15875">
            <a:solidFill>
              <a:srgbClr val="0F87A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06" name="Step badge"/>
          <p:cNvSpPr/>
          <p:nvPr/>
        </p:nvSpPr>
        <p:spPr>
          <a:xfrm>
            <a:off x="457200" y="2139696"/>
            <a:ext cx="1188720" cy="896112"/>
          </a:xfrm>
          <a:prstGeom prst="roundRect">
            <a:avLst>
              <a:gd name="adj" fmla="val 14000"/>
            </a:avLst>
          </a:prstGeom>
          <a:gradFill rotWithShape="1">
            <a:gsLst>
              <a:gs pos="0">
                <a:srgbClr val="076375"/>
              </a:gs>
              <a:gs pos="100000">
                <a:srgbClr val="008CB9"/>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800" b="1" i="0" dirty="0">
                <a:solidFill>
                  <a:srgbClr val="FFFFFF"/>
                </a:solidFill>
                <a:latin typeface="Times New Roman"/>
                <a:ea typeface="Times New Roman"/>
                <a:cs typeface="Times New Roman"/>
              </a:rPr>
              <a:t>2</a:t>
            </a:r>
          </a:p>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Service</a:t>
            </a:r>
          </a:p>
        </p:txBody>
      </p:sp>
      <p:sp>
        <p:nvSpPr>
          <p:cNvPr id="2007" name="Formula"/>
          <p:cNvSpPr/>
          <p:nvPr/>
        </p:nvSpPr>
        <p:spPr>
          <a:xfrm>
            <a:off x="1755648" y="2203704"/>
            <a:ext cx="3154680" cy="768096"/>
          </a:xfrm>
          <a:prstGeom prst="roundRect">
            <a:avLst>
              <a:gd name="adj" fmla="val 12000"/>
            </a:avLst>
          </a:prstGeom>
          <a:gradFill rotWithShape="1">
            <a:gsLst>
              <a:gs pos="0">
                <a:srgbClr val="E4F7FE"/>
              </a:gs>
              <a:gs pos="100000">
                <a:srgbClr val="BCECFE"/>
              </a:gs>
            </a:gsLst>
            <a:lin ang="2700000" scaled="0"/>
          </a:gradFill>
          <a:ln w="9525">
            <a:solidFill>
              <a:srgbClr val="0F87A7"/>
            </a:solidFill>
          </a:ln>
        </p:spPr>
        <p:txBody>
          <a:bodyPr wrap="square" lIns="73152" tIns="27432" rIns="73152" bIns="27432" anchor="ctr">
            <a:noAutofit/>
          </a:bodyPr>
          <a:lstStyle/>
          <a:p>
            <a:pPr marL="0" indent="0" algn="ctr">
              <a:lnSpc>
                <a:spcPct val="100000"/>
              </a:lnSpc>
              <a:spcBef>
                <a:spcPts val="0"/>
              </a:spcBef>
              <a:spcAft>
                <a:spcPts val="0"/>
              </a:spcAft>
              <a:buNone/>
            </a:pPr>
            <a:r>
              <a:rPr lang="en-US" sz="1400" b="0" i="1" dirty="0">
                <a:solidFill>
                  <a:srgbClr val="1F2937"/>
                </a:solidFill>
                <a:latin typeface="Times New Roman"/>
                <a:ea typeface="Times New Roman"/>
                <a:cs typeface="Times New Roman"/>
              </a:rPr>
              <a:t>s* = argmax P(s | q)</a:t>
            </a:r>
          </a:p>
        </p:txBody>
      </p:sp>
      <p:sp>
        <p:nvSpPr>
          <p:cNvPr id="2008" name="Text"/>
          <p:cNvSpPr txBox="1"/>
          <p:nvPr/>
        </p:nvSpPr>
        <p:spPr>
          <a:xfrm>
            <a:off x="5029200" y="2185416"/>
            <a:ext cx="3566160" cy="804672"/>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000" b="1" i="0" dirty="0">
                <a:solidFill>
                  <a:srgbClr val="005065"/>
                </a:solidFill>
                <a:latin typeface="Times New Roman"/>
                <a:ea typeface="Times New Roman"/>
                <a:cs typeface="Times New Roman"/>
              </a:rPr>
              <a:t>In simple words</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From the customer’s words q, choose the service s (plumber, electrician …) that is most likely. “argmax” means “the choice with the highest value”.</a:t>
            </a:r>
          </a:p>
        </p:txBody>
      </p:sp>
      <p:sp>
        <p:nvSpPr>
          <p:cNvPr id="2009" name="Formula card"/>
          <p:cNvSpPr/>
          <p:nvPr/>
        </p:nvSpPr>
        <p:spPr>
          <a:xfrm>
            <a:off x="457200" y="3108960"/>
            <a:ext cx="8229600" cy="896112"/>
          </a:xfrm>
          <a:prstGeom prst="roundRect">
            <a:avLst>
              <a:gd name="adj" fmla="val 9000"/>
            </a:avLst>
          </a:prstGeom>
          <a:gradFill rotWithShape="1">
            <a:gsLst>
              <a:gs pos="0">
                <a:srgbClr val="FFFFFF"/>
              </a:gs>
              <a:gs pos="100000">
                <a:srgbClr val="E8F1FE"/>
              </a:gs>
            </a:gsLst>
            <a:lin ang="5400000" scaled="0"/>
          </a:gradFill>
          <a:ln w="15875">
            <a:solidFill>
              <a:srgbClr val="3C7BCB"/>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10" name="Step badge"/>
          <p:cNvSpPr/>
          <p:nvPr/>
        </p:nvSpPr>
        <p:spPr>
          <a:xfrm>
            <a:off x="457200" y="3108960"/>
            <a:ext cx="1188720" cy="896112"/>
          </a:xfrm>
          <a:prstGeom prst="roundRect">
            <a:avLst>
              <a:gd name="adj" fmla="val 14000"/>
            </a:avLst>
          </a:prstGeom>
          <a:gradFill rotWithShape="1">
            <a:gsLst>
              <a:gs pos="0">
                <a:srgbClr val="005A9D"/>
              </a:gs>
              <a:gs pos="100000">
                <a:srgbClr val="4E7CD9"/>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800" b="1" i="0" dirty="0">
                <a:solidFill>
                  <a:srgbClr val="FFFFFF"/>
                </a:solidFill>
                <a:latin typeface="Times New Roman"/>
                <a:ea typeface="Times New Roman"/>
                <a:cs typeface="Times New Roman"/>
              </a:rPr>
              <a:t>3</a:t>
            </a:r>
          </a:p>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Distance</a:t>
            </a:r>
          </a:p>
        </p:txBody>
      </p:sp>
      <p:sp>
        <p:nvSpPr>
          <p:cNvPr id="2011" name="Formula"/>
          <p:cNvSpPr/>
          <p:nvPr/>
        </p:nvSpPr>
        <p:spPr>
          <a:xfrm>
            <a:off x="1755648" y="3172968"/>
            <a:ext cx="3154680" cy="768096"/>
          </a:xfrm>
          <a:prstGeom prst="roundRect">
            <a:avLst>
              <a:gd name="adj" fmla="val 12000"/>
            </a:avLst>
          </a:prstGeom>
          <a:gradFill rotWithShape="1">
            <a:gsLst>
              <a:gs pos="0">
                <a:srgbClr val="ECF4FF"/>
              </a:gs>
              <a:gs pos="100000">
                <a:srgbClr val="D2E5FE"/>
              </a:gs>
            </a:gsLst>
            <a:lin ang="2700000" scaled="0"/>
          </a:gradFill>
          <a:ln w="9525">
            <a:solidFill>
              <a:srgbClr val="3C7BCB"/>
            </a:solidFill>
          </a:ln>
        </p:spPr>
        <p:txBody>
          <a:bodyPr wrap="square" lIns="73152" tIns="27432" rIns="73152" bIns="27432" anchor="ctr">
            <a:noAutofit/>
          </a:bodyPr>
          <a:lstStyle/>
          <a:p>
            <a:pPr marL="0" indent="0" algn="ctr">
              <a:lnSpc>
                <a:spcPct val="100000"/>
              </a:lnSpc>
              <a:spcBef>
                <a:spcPts val="0"/>
              </a:spcBef>
              <a:spcAft>
                <a:spcPts val="0"/>
              </a:spcAft>
              <a:buNone/>
            </a:pPr>
            <a:r>
              <a:rPr lang="en-US" sz="1200" b="0" i="1" dirty="0">
                <a:solidFill>
                  <a:srgbClr val="1F2937"/>
                </a:solidFill>
                <a:latin typeface="Times New Roman"/>
                <a:ea typeface="Times New Roman"/>
                <a:cs typeface="Times New Roman"/>
              </a:rPr>
              <a:t>d = 2R·arcsin√( sin²(Δφ/2) + cosφ₁cosφ₂ sin²(Δλ/2) )</a:t>
            </a:r>
          </a:p>
        </p:txBody>
      </p:sp>
      <p:sp>
        <p:nvSpPr>
          <p:cNvPr id="2012" name="Text"/>
          <p:cNvSpPr txBox="1"/>
          <p:nvPr/>
        </p:nvSpPr>
        <p:spPr>
          <a:xfrm>
            <a:off x="5029200" y="3154680"/>
            <a:ext cx="3566160" cy="804672"/>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000" b="1" i="0" dirty="0">
                <a:solidFill>
                  <a:srgbClr val="07468B"/>
                </a:solidFill>
                <a:latin typeface="Times New Roman"/>
                <a:ea typeface="Times New Roman"/>
                <a:cs typeface="Times New Roman"/>
              </a:rPr>
              <a:t>In simple words</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Haversine formula: straight-line distance d between customer and worker on the curved earth. R = earth radius (6371 km), φ = latitude, λ = longitude, Δ = difference.</a:t>
            </a:r>
          </a:p>
        </p:txBody>
      </p:sp>
      <p:sp>
        <p:nvSpPr>
          <p:cNvPr id="2013" name="Formula card"/>
          <p:cNvSpPr/>
          <p:nvPr/>
        </p:nvSpPr>
        <p:spPr>
          <a:xfrm>
            <a:off x="457200" y="4078224"/>
            <a:ext cx="8229600" cy="896112"/>
          </a:xfrm>
          <a:prstGeom prst="roundRect">
            <a:avLst>
              <a:gd name="adj" fmla="val 9000"/>
            </a:avLst>
          </a:prstGeom>
          <a:gradFill rotWithShape="1">
            <a:gsLst>
              <a:gs pos="0">
                <a:srgbClr val="FFFFFF"/>
              </a:gs>
              <a:gs pos="100000">
                <a:srgbClr val="EFEEFD"/>
              </a:gs>
            </a:gsLst>
            <a:lin ang="5400000" scaled="0"/>
          </a:gradFill>
          <a:ln w="15875">
            <a:solidFill>
              <a:srgbClr val="7969C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14" name="Step badge"/>
          <p:cNvSpPr/>
          <p:nvPr/>
        </p:nvSpPr>
        <p:spPr>
          <a:xfrm>
            <a:off x="457200" y="4078224"/>
            <a:ext cx="1188720" cy="896112"/>
          </a:xfrm>
          <a:prstGeom prst="roundRect">
            <a:avLst>
              <a:gd name="adj" fmla="val 14000"/>
            </a:avLst>
          </a:prstGeom>
          <a:gradFill rotWithShape="1">
            <a:gsLst>
              <a:gs pos="0">
                <a:srgbClr val="4F47A8"/>
              </a:gs>
              <a:gs pos="100000">
                <a:srgbClr val="896ACF"/>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800" b="1" i="0" dirty="0">
                <a:solidFill>
                  <a:srgbClr val="FFFFFF"/>
                </a:solidFill>
                <a:latin typeface="Times New Roman"/>
                <a:ea typeface="Times New Roman"/>
                <a:cs typeface="Times New Roman"/>
              </a:rPr>
              <a:t>4</a:t>
            </a:r>
          </a:p>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Candidates</a:t>
            </a:r>
          </a:p>
        </p:txBody>
      </p:sp>
      <p:sp>
        <p:nvSpPr>
          <p:cNvPr id="2015" name="Formula"/>
          <p:cNvSpPr/>
          <p:nvPr/>
        </p:nvSpPr>
        <p:spPr>
          <a:xfrm>
            <a:off x="1755648" y="4142232"/>
            <a:ext cx="3154680" cy="768096"/>
          </a:xfrm>
          <a:prstGeom prst="roundRect">
            <a:avLst>
              <a:gd name="adj" fmla="val 12000"/>
            </a:avLst>
          </a:prstGeom>
          <a:gradFill rotWithShape="1">
            <a:gsLst>
              <a:gs pos="0">
                <a:srgbClr val="F3F2FF"/>
              </a:gs>
              <a:gs pos="100000">
                <a:srgbClr val="E1DFFD"/>
              </a:gs>
            </a:gsLst>
            <a:lin ang="2700000" scaled="0"/>
          </a:gradFill>
          <a:ln w="9525">
            <a:solidFill>
              <a:srgbClr val="7969C7"/>
            </a:solidFill>
          </a:ln>
        </p:spPr>
        <p:txBody>
          <a:bodyPr wrap="square" lIns="73152" tIns="27432" rIns="73152" bIns="27432" anchor="ctr">
            <a:noAutofit/>
          </a:bodyPr>
          <a:lstStyle/>
          <a:p>
            <a:pPr marL="0" indent="0" algn="ctr">
              <a:lnSpc>
                <a:spcPct val="100000"/>
              </a:lnSpc>
              <a:spcBef>
                <a:spcPts val="0"/>
              </a:spcBef>
              <a:spcAft>
                <a:spcPts val="0"/>
              </a:spcAft>
              <a:buNone/>
            </a:pPr>
            <a:r>
              <a:rPr lang="en-US" sz="1150" b="0" i="1" dirty="0">
                <a:solidFill>
                  <a:srgbClr val="1F2937"/>
                </a:solidFill>
                <a:latin typeface="Times New Roman"/>
                <a:ea typeface="Times New Roman"/>
                <a:cs typeface="Times New Roman"/>
              </a:rPr>
              <a:t>N = { i ∈ W : s* ∈ skills(i), a(i) = 1, d(i) ≤ D</a:t>
            </a:r>
            <a:r>
              <a:rPr lang="en-US" sz="1150" b="0" i="1" baseline="-25000" dirty="0">
                <a:solidFill>
                  <a:srgbClr val="1F2937"/>
                </a:solidFill>
                <a:latin typeface="Times New Roman"/>
                <a:ea typeface="Times New Roman"/>
                <a:cs typeface="Times New Roman"/>
              </a:rPr>
              <a:t>max</a:t>
            </a:r>
            <a:r>
              <a:rPr lang="en-US" sz="1150" b="0" i="1" dirty="0">
                <a:solidFill>
                  <a:srgbClr val="1F2937"/>
                </a:solidFill>
                <a:latin typeface="Times New Roman"/>
                <a:ea typeface="Times New Roman"/>
                <a:cs typeface="Times New Roman"/>
              </a:rPr>
              <a:t> }</a:t>
            </a:r>
          </a:p>
        </p:txBody>
      </p:sp>
      <p:sp>
        <p:nvSpPr>
          <p:cNvPr id="2016" name="Text"/>
          <p:cNvSpPr txBox="1"/>
          <p:nvPr/>
        </p:nvSpPr>
        <p:spPr>
          <a:xfrm>
            <a:off x="5029200" y="4123944"/>
            <a:ext cx="3566160" cy="804672"/>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000" b="1" i="0" dirty="0">
                <a:solidFill>
                  <a:srgbClr val="483788"/>
                </a:solidFill>
                <a:latin typeface="Times New Roman"/>
                <a:ea typeface="Times New Roman"/>
                <a:cs typeface="Times New Roman"/>
              </a:rPr>
              <a:t>In simple words</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Keep worker i only if he has the skill s*, is available now (a = 1) and lives within the search radius D</a:t>
            </a:r>
            <a:r>
              <a:rPr lang="en-US" sz="1050" b="0" i="0" baseline="-25000" dirty="0">
                <a:solidFill>
                  <a:srgbClr val="374151"/>
                </a:solidFill>
                <a:latin typeface="Times New Roman"/>
                <a:ea typeface="Times New Roman"/>
                <a:cs typeface="Times New Roman"/>
              </a:rPr>
              <a:t>max</a:t>
            </a:r>
            <a:r>
              <a:rPr lang="en-US" sz="1050" b="0" i="0" dirty="0">
                <a:solidFill>
                  <a:srgbClr val="374151"/>
                </a:solidFill>
                <a:latin typeface="Times New Roman"/>
                <a:ea typeface="Times New Roman"/>
                <a:cs typeface="Times New Roman"/>
              </a:rPr>
              <a:t> (10 km here). All others are dropped.</a:t>
            </a:r>
          </a:p>
        </p:txBody>
      </p:sp>
      <p:sp>
        <p:nvSpPr>
          <p:cNvPr id="2017" name="Formula card"/>
          <p:cNvSpPr/>
          <p:nvPr/>
        </p:nvSpPr>
        <p:spPr>
          <a:xfrm>
            <a:off x="457200" y="5047488"/>
            <a:ext cx="8229600" cy="896112"/>
          </a:xfrm>
          <a:prstGeom prst="roundRect">
            <a:avLst>
              <a:gd name="adj" fmla="val 9000"/>
            </a:avLst>
          </a:prstGeom>
          <a:gradFill rotWithShape="1">
            <a:gsLst>
              <a:gs pos="0">
                <a:srgbClr val="FFFFFF"/>
              </a:gs>
              <a:gs pos="100000">
                <a:srgbClr val="FAEAFC"/>
              </a:gs>
            </a:gsLst>
            <a:lin ang="5400000" scaled="0"/>
          </a:gradFill>
          <a:ln w="15875">
            <a:solidFill>
              <a:srgbClr val="A05BAB"/>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18" name="Step badge"/>
          <p:cNvSpPr/>
          <p:nvPr/>
        </p:nvSpPr>
        <p:spPr>
          <a:xfrm>
            <a:off x="457200" y="5047488"/>
            <a:ext cx="1188720" cy="896112"/>
          </a:xfrm>
          <a:prstGeom prst="roundRect">
            <a:avLst>
              <a:gd name="adj" fmla="val 14000"/>
            </a:avLst>
          </a:prstGeom>
          <a:gradFill rotWithShape="1">
            <a:gsLst>
              <a:gs pos="0">
                <a:srgbClr val="773790"/>
              </a:gs>
              <a:gs pos="100000">
                <a:srgbClr val="AF5BAC"/>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800" b="1" i="0" dirty="0">
                <a:solidFill>
                  <a:srgbClr val="FFFFFF"/>
                </a:solidFill>
                <a:latin typeface="Times New Roman"/>
                <a:ea typeface="Times New Roman"/>
                <a:cs typeface="Times New Roman"/>
              </a:rPr>
              <a:t>5</a:t>
            </a:r>
          </a:p>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Criteria</a:t>
            </a:r>
          </a:p>
        </p:txBody>
      </p:sp>
      <p:sp>
        <p:nvSpPr>
          <p:cNvPr id="2019" name="Formula"/>
          <p:cNvSpPr/>
          <p:nvPr/>
        </p:nvSpPr>
        <p:spPr>
          <a:xfrm>
            <a:off x="1755648" y="5111496"/>
            <a:ext cx="3154680" cy="768096"/>
          </a:xfrm>
          <a:prstGeom prst="roundRect">
            <a:avLst>
              <a:gd name="adj" fmla="val 12000"/>
            </a:avLst>
          </a:prstGeom>
          <a:gradFill rotWithShape="1">
            <a:gsLst>
              <a:gs pos="0">
                <a:srgbClr val="FDEEFF"/>
              </a:gs>
              <a:gs pos="100000">
                <a:srgbClr val="F7D6FB"/>
              </a:gs>
            </a:gsLst>
            <a:lin ang="2700000" scaled="0"/>
          </a:gradFill>
          <a:ln w="9525">
            <a:solidFill>
              <a:srgbClr val="A05BAB"/>
            </a:solidFill>
          </a:ln>
        </p:spPr>
        <p:txBody>
          <a:bodyPr wrap="square" lIns="73152" tIns="27432" rIns="73152" bIns="27432" anchor="ctr">
            <a:noAutofit/>
          </a:bodyPr>
          <a:lstStyle/>
          <a:p>
            <a:pPr marL="0" indent="0" algn="ctr">
              <a:lnSpc>
                <a:spcPct val="100000"/>
              </a:lnSpc>
              <a:spcBef>
                <a:spcPts val="0"/>
              </a:spcBef>
              <a:spcAft>
                <a:spcPts val="0"/>
              </a:spcAft>
              <a:buNone/>
            </a:pPr>
            <a:r>
              <a:rPr lang="en-US" sz="1200" b="0" i="1" dirty="0">
                <a:solidFill>
                  <a:srgbClr val="1F2937"/>
                </a:solidFill>
                <a:latin typeface="Times New Roman"/>
                <a:ea typeface="Times New Roman"/>
                <a:cs typeface="Times New Roman"/>
              </a:rPr>
              <a:t>p = 1 − d/D</a:t>
            </a:r>
            <a:r>
              <a:rPr lang="en-US" sz="1200" b="0" i="1" baseline="-25000" dirty="0">
                <a:solidFill>
                  <a:srgbClr val="1F2937"/>
                </a:solidFill>
                <a:latin typeface="Times New Roman"/>
                <a:ea typeface="Times New Roman"/>
                <a:cs typeface="Times New Roman"/>
              </a:rPr>
              <a:t>max</a:t>
            </a:r>
            <a:r>
              <a:rPr lang="en-US" sz="1200" b="0" i="1" dirty="0">
                <a:solidFill>
                  <a:srgbClr val="1F2937"/>
                </a:solidFill>
                <a:latin typeface="Times New Roman"/>
                <a:ea typeface="Times New Roman"/>
                <a:cs typeface="Times New Roman"/>
              </a:rPr>
              <a:t>,   t = 1 − T/T</a:t>
            </a:r>
            <a:r>
              <a:rPr lang="en-US" sz="1200" b="0" i="1" baseline="-25000" dirty="0">
                <a:solidFill>
                  <a:srgbClr val="1F2937"/>
                </a:solidFill>
                <a:latin typeface="Times New Roman"/>
                <a:ea typeface="Times New Roman"/>
                <a:cs typeface="Times New Roman"/>
              </a:rPr>
              <a:t>max</a:t>
            </a:r>
            <a:r>
              <a:rPr lang="en-US" sz="1200" b="0" i="1" dirty="0">
                <a:solidFill>
                  <a:srgbClr val="1F2937"/>
                </a:solidFill>
                <a:latin typeface="Times New Roman"/>
                <a:ea typeface="Times New Roman"/>
                <a:cs typeface="Times New Roman"/>
              </a:rPr>
              <a:t>,   c = 1 − K/K</a:t>
            </a:r>
            <a:r>
              <a:rPr lang="en-US" sz="1200" b="0" i="1" baseline="-25000" dirty="0">
                <a:solidFill>
                  <a:srgbClr val="1F2937"/>
                </a:solidFill>
                <a:latin typeface="Times New Roman"/>
                <a:ea typeface="Times New Roman"/>
                <a:cs typeface="Times New Roman"/>
              </a:rPr>
              <a:t>max</a:t>
            </a:r>
          </a:p>
        </p:txBody>
      </p:sp>
      <p:sp>
        <p:nvSpPr>
          <p:cNvPr id="2020" name="Text"/>
          <p:cNvSpPr txBox="1"/>
          <p:nvPr/>
        </p:nvSpPr>
        <p:spPr>
          <a:xfrm>
            <a:off x="5029200" y="5093208"/>
            <a:ext cx="3566160" cy="804672"/>
          </a:xfrm>
          <a:prstGeom prst="rect">
            <a:avLst/>
          </a:prstGeom>
          <a:noFill/>
          <a:ln>
            <a:noFill/>
          </a:ln>
        </p:spPr>
        <p:txBody>
          <a:bodyPr wrap="square" lIns="0" tIns="0" rIns="0" bIns="0" anchor="ctr">
            <a:noAutofit/>
          </a:bodyPr>
          <a:lstStyle/>
          <a:p>
            <a:pPr marL="0" indent="0" algn="l">
              <a:lnSpc>
                <a:spcPct val="100000"/>
              </a:lnSpc>
              <a:spcBef>
                <a:spcPts val="0"/>
              </a:spcBef>
              <a:spcAft>
                <a:spcPts val="100"/>
              </a:spcAft>
              <a:buNone/>
            </a:pPr>
            <a:r>
              <a:rPr lang="en-US" sz="1000" b="1" i="0" dirty="0">
                <a:solidFill>
                  <a:srgbClr val="672970"/>
                </a:solidFill>
                <a:latin typeface="Times New Roman"/>
                <a:ea typeface="Times New Roman"/>
                <a:cs typeface="Times New Roman"/>
              </a:rPr>
              <a:t>In simple words</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Turn distance d, arrival time T and charge K into scores from 0 to 1: closer, faster and cheaper gives a number nearer to 1. p = proximity, t = time, c = cost.</a:t>
            </a:r>
          </a:p>
        </p:txBody>
      </p:sp>
    </p:spTree>
  </p:cSld>
  <p:clrMapOvr>
    <a:masterClrMapping/>
  </p:clrMapOvr>
  <mc:AlternateContent>
    <mc:Choice Requires="p14">
      <p:transition spd="slow" p14:dur="1400">
        <p14:flash/>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38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380"/>
                                        <p:tgtEl>
                                          <p:spTgt spid="575"/>
                                        </p:tgtEl>
                                      </p:cBhvr>
                                    </p:animEffect>
                                  </p:childTnLst>
                                </p:cTn>
                              </p:par>
                              <p:par>
                                <p:cTn fill="hold" nodeType="withEffect" presetClass="entr" presetID="10" presetSubtype="0">
                                  <p:stCondLst>
                                    <p:cond delay="80"/>
                                  </p:stCondLst>
                                  <p:childTnLst>
                                    <p:set>
                                      <p:cBhvr>
                                        <p:cTn dur="1" fill="hold">
                                          <p:stCondLst>
                                            <p:cond delay="0"/>
                                          </p:stCondLst>
                                        </p:cTn>
                                        <p:tgtEl>
                                          <p:spTgt spid="576"/>
                                        </p:tgtEl>
                                        <p:attrNameLst>
                                          <p:attrName>style.visibility</p:attrName>
                                        </p:attrNameLst>
                                      </p:cBhvr>
                                      <p:to>
                                        <p:strVal val="visible"/>
                                      </p:to>
                                    </p:set>
                                    <p:animEffect filter="fade" transition="in">
                                      <p:cBhvr>
                                        <p:cTn dur="380"/>
                                        <p:tgtEl>
                                          <p:spTgt spid="576"/>
                                        </p:tgtEl>
                                      </p:cBhvr>
                                    </p:animEffect>
                                  </p:childTnLst>
                                </p:cTn>
                              </p:par>
                              <p:par>
                                <p:cTn fill="hold" nodeType="withEffect" presetClass="entr" presetID="10" presetSubtype="0">
                                  <p:stCondLst>
                                    <p:cond delay="320"/>
                                  </p:stCondLst>
                                  <p:childTnLst>
                                    <p:set>
                                      <p:cBhvr>
                                        <p:cTn dur="1" fill="hold">
                                          <p:stCondLst>
                                            <p:cond delay="0"/>
                                          </p:stCondLst>
                                        </p:cTn>
                                        <p:tgtEl>
                                          <p:spTgt spid="577"/>
                                        </p:tgtEl>
                                        <p:attrNameLst>
                                          <p:attrName>style.visibility</p:attrName>
                                        </p:attrNameLst>
                                      </p:cBhvr>
                                      <p:to>
                                        <p:strVal val="visible"/>
                                      </p:to>
                                    </p:set>
                                    <p:animEffect filter="fade" transition="in">
                                      <p:cBhvr>
                                        <p:cTn dur="380"/>
                                        <p:tgtEl>
                                          <p:spTgt spid="577"/>
                                        </p:tgtEl>
                                      </p:cBhvr>
                                    </p:animEffect>
                                  </p:childTnLst>
                                </p:cTn>
                              </p:par>
                              <p:par>
                                <p:cTn fill="hold" nodeType="withEffect" presetClass="entr" presetID="10" presetSubtype="0">
                                  <p:stCondLst>
                                    <p:cond delay="320"/>
                                  </p:stCondLst>
                                  <p:childTnLst>
                                    <p:set>
                                      <p:cBhvr>
                                        <p:cTn dur="1" fill="hold">
                                          <p:stCondLst>
                                            <p:cond delay="0"/>
                                          </p:stCondLst>
                                        </p:cTn>
                                        <p:tgtEl>
                                          <p:spTgt spid="578"/>
                                        </p:tgtEl>
                                        <p:attrNameLst>
                                          <p:attrName>style.visibility</p:attrName>
                                        </p:attrNameLst>
                                      </p:cBhvr>
                                      <p:to>
                                        <p:strVal val="visible"/>
                                      </p:to>
                                    </p:set>
                                    <p:animEffect filter="fade" transition="in">
                                      <p:cBhvr>
                                        <p:cTn dur="380"/>
                                        <p:tgtEl>
                                          <p:spTgt spid="578"/>
                                        </p:tgtEl>
                                      </p:cBhvr>
                                    </p:animEffect>
                                  </p:childTnLst>
                                </p:cTn>
                              </p:par>
                              <p:par>
                                <p:cTn fill="hold" nodeType="withEffect" presetClass="entr" presetID="10" presetSubtype="0">
                                  <p:stCondLst>
                                    <p:cond delay="400"/>
                                  </p:stCondLst>
                                  <p:childTnLst>
                                    <p:set>
                                      <p:cBhvr>
                                        <p:cTn dur="1" fill="hold">
                                          <p:stCondLst>
                                            <p:cond delay="0"/>
                                          </p:stCondLst>
                                        </p:cTn>
                                        <p:tgtEl>
                                          <p:spTgt spid="579"/>
                                        </p:tgtEl>
                                        <p:attrNameLst>
                                          <p:attrName>style.visibility</p:attrName>
                                        </p:attrNameLst>
                                      </p:cBhvr>
                                      <p:to>
                                        <p:strVal val="visible"/>
                                      </p:to>
                                    </p:set>
                                    <p:animEffect filter="fade" transition="in">
                                      <p:cBhvr>
                                        <p:cTn dur="380"/>
                                        <p:tgtEl>
                                          <p:spTgt spid="579"/>
                                        </p:tgtEl>
                                      </p:cBhvr>
                                    </p:animEffect>
                                  </p:childTnLst>
                                </p:cTn>
                              </p:par>
                              <p:par>
                                <p:cTn fill="hold" nodeType="withEffect" presetClass="entr" presetID="23" presetSubtype="16">
                                  <p:stCondLst>
                                    <p:cond delay="400"/>
                                  </p:stCondLst>
                                  <p:childTnLst>
                                    <p:set>
                                      <p:cBhvr>
                                        <p:cTn dur="1" fill="hold">
                                          <p:stCondLst>
                                            <p:cond delay="0"/>
                                          </p:stCondLst>
                                        </p:cTn>
                                        <p:tgtEl>
                                          <p:spTgt spid="598"/>
                                        </p:tgtEl>
                                        <p:attrNameLst>
                                          <p:attrName>style.visibility</p:attrName>
                                        </p:attrNameLst>
                                      </p:cBhvr>
                                      <p:to>
                                        <p:strVal val="visible"/>
                                      </p:to>
                                    </p:set>
                                    <p:anim calcmode="lin" valueType="num">
                                      <p:cBhvr additive="base">
                                        <p:cTn dur="700"/>
                                        <p:tgtEl>
                                          <p:spTgt spid="598"/>
                                        </p:tgtEl>
                                        <p:attrNameLst>
                                          <p:attrName>ppt_w</p:attrName>
                                        </p:attrNameLst>
                                      </p:cBhvr>
                                      <p:tavLst>
                                        <p:tav fmla="" tm="0">
                                          <p:val>
                                            <p:strVal val="0"/>
                                          </p:val>
                                        </p:tav>
                                        <p:tav fmla="" tm="100000">
                                          <p:val>
                                            <p:strVal val="#ppt_w"/>
                                          </p:val>
                                        </p:tav>
                                      </p:tavLst>
                                    </p:anim>
                                    <p:anim calcmode="lin" valueType="num">
                                      <p:cBhvr additive="base">
                                        <p:cTn dur="700"/>
                                        <p:tgtEl>
                                          <p:spTgt spid="59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640"/>
                                  </p:stCondLst>
                                  <p:childTnLst>
                                    <p:set>
                                      <p:cBhvr>
                                        <p:cTn dur="1" fill="hold">
                                          <p:stCondLst>
                                            <p:cond delay="0"/>
                                          </p:stCondLst>
                                        </p:cTn>
                                        <p:tgtEl>
                                          <p:spTgt spid="580"/>
                                        </p:tgtEl>
                                        <p:attrNameLst>
                                          <p:attrName>style.visibility</p:attrName>
                                        </p:attrNameLst>
                                      </p:cBhvr>
                                      <p:to>
                                        <p:strVal val="visible"/>
                                      </p:to>
                                    </p:set>
                                    <p:animEffect filter="fade" transition="in">
                                      <p:cBhvr>
                                        <p:cTn dur="380"/>
                                        <p:tgtEl>
                                          <p:spTgt spid="580"/>
                                        </p:tgtEl>
                                      </p:cBhvr>
                                    </p:animEffect>
                                  </p:childTnLst>
                                </p:cTn>
                              </p:par>
                              <p:par>
                                <p:cTn fill="hold" nodeType="withEffect" presetClass="entr" presetID="10" presetSubtype="0">
                                  <p:stCondLst>
                                    <p:cond delay="640"/>
                                  </p:stCondLst>
                                  <p:childTnLst>
                                    <p:set>
                                      <p:cBhvr>
                                        <p:cTn dur="1" fill="hold">
                                          <p:stCondLst>
                                            <p:cond delay="0"/>
                                          </p:stCondLst>
                                        </p:cTn>
                                        <p:tgtEl>
                                          <p:spTgt spid="581"/>
                                        </p:tgtEl>
                                        <p:attrNameLst>
                                          <p:attrName>style.visibility</p:attrName>
                                        </p:attrNameLst>
                                      </p:cBhvr>
                                      <p:to>
                                        <p:strVal val="visible"/>
                                      </p:to>
                                    </p:set>
                                    <p:animEffect filter="fade" transition="in">
                                      <p:cBhvr>
                                        <p:cTn dur="380"/>
                                        <p:tgtEl>
                                          <p:spTgt spid="581"/>
                                        </p:tgtEl>
                                      </p:cBhvr>
                                    </p:animEffect>
                                  </p:childTnLst>
                                </p:cTn>
                              </p:par>
                              <p:par>
                                <p:cTn fill="hold" nodeType="withEffect" presetClass="entr" presetID="10" presetSubtype="0">
                                  <p:stCondLst>
                                    <p:cond delay="720"/>
                                  </p:stCondLst>
                                  <p:childTnLst>
                                    <p:set>
                                      <p:cBhvr>
                                        <p:cTn dur="1" fill="hold">
                                          <p:stCondLst>
                                            <p:cond delay="0"/>
                                          </p:stCondLst>
                                        </p:cTn>
                                        <p:tgtEl>
                                          <p:spTgt spid="582"/>
                                        </p:tgtEl>
                                        <p:attrNameLst>
                                          <p:attrName>style.visibility</p:attrName>
                                        </p:attrNameLst>
                                      </p:cBhvr>
                                      <p:to>
                                        <p:strVal val="visible"/>
                                      </p:to>
                                    </p:set>
                                    <p:animEffect filter="fade" transition="in">
                                      <p:cBhvr>
                                        <p:cTn dur="380"/>
                                        <p:tgtEl>
                                          <p:spTgt spid="582"/>
                                        </p:tgtEl>
                                      </p:cBhvr>
                                    </p:animEffect>
                                  </p:childTnLst>
                                </p:cTn>
                              </p:par>
                              <p:par>
                                <p:cTn fill="hold" nodeType="withEffect" presetClass="entr" presetID="10" presetSubtype="0">
                                  <p:stCondLst>
                                    <p:cond delay="960"/>
                                  </p:stCondLst>
                                  <p:childTnLst>
                                    <p:set>
                                      <p:cBhvr>
                                        <p:cTn dur="1" fill="hold">
                                          <p:stCondLst>
                                            <p:cond delay="0"/>
                                          </p:stCondLst>
                                        </p:cTn>
                                        <p:tgtEl>
                                          <p:spTgt spid="583"/>
                                        </p:tgtEl>
                                        <p:attrNameLst>
                                          <p:attrName>style.visibility</p:attrName>
                                        </p:attrNameLst>
                                      </p:cBhvr>
                                      <p:to>
                                        <p:strVal val="visible"/>
                                      </p:to>
                                    </p:set>
                                    <p:animEffect filter="fade" transition="in">
                                      <p:cBhvr>
                                        <p:cTn dur="380"/>
                                        <p:tgtEl>
                                          <p:spTgt spid="583"/>
                                        </p:tgtEl>
                                      </p:cBhvr>
                                    </p:animEffect>
                                  </p:childTnLst>
                                </p:cTn>
                              </p:par>
                              <p:par>
                                <p:cTn fill="hold" nodeType="withEffect" presetClass="entr" presetID="10" presetSubtype="0">
                                  <p:stCondLst>
                                    <p:cond delay="960"/>
                                  </p:stCondLst>
                                  <p:childTnLst>
                                    <p:set>
                                      <p:cBhvr>
                                        <p:cTn dur="1" fill="hold">
                                          <p:stCondLst>
                                            <p:cond delay="0"/>
                                          </p:stCondLst>
                                        </p:cTn>
                                        <p:tgtEl>
                                          <p:spTgt spid="584"/>
                                        </p:tgtEl>
                                        <p:attrNameLst>
                                          <p:attrName>style.visibility</p:attrName>
                                        </p:attrNameLst>
                                      </p:cBhvr>
                                      <p:to>
                                        <p:strVal val="visible"/>
                                      </p:to>
                                    </p:set>
                                    <p:animEffect filter="fade" transition="in">
                                      <p:cBhvr>
                                        <p:cTn dur="380"/>
                                        <p:tgtEl>
                                          <p:spTgt spid="584"/>
                                        </p:tgtEl>
                                      </p:cBhvr>
                                    </p:animEffect>
                                  </p:childTnLst>
                                </p:cTn>
                              </p:par>
                              <p:par>
                                <p:cTn fill="hold" nodeType="withEffect" presetClass="entr" presetID="10" presetSubtype="0">
                                  <p:stCondLst>
                                    <p:cond delay="1040"/>
                                  </p:stCondLst>
                                  <p:childTnLst>
                                    <p:set>
                                      <p:cBhvr>
                                        <p:cTn dur="1" fill="hold">
                                          <p:stCondLst>
                                            <p:cond delay="0"/>
                                          </p:stCondLst>
                                        </p:cTn>
                                        <p:tgtEl>
                                          <p:spTgt spid="585"/>
                                        </p:tgtEl>
                                        <p:attrNameLst>
                                          <p:attrName>style.visibility</p:attrName>
                                        </p:attrNameLst>
                                      </p:cBhvr>
                                      <p:to>
                                        <p:strVal val="visible"/>
                                      </p:to>
                                    </p:set>
                                    <p:animEffect filter="fade" transition="in">
                                      <p:cBhvr>
                                        <p:cTn dur="380"/>
                                        <p:tgtEl>
                                          <p:spTgt spid="585"/>
                                        </p:tgtEl>
                                      </p:cBhvr>
                                    </p:animEffect>
                                  </p:childTnLst>
                                </p:cTn>
                              </p:par>
                              <p:par>
                                <p:cTn fill="hold" nodeType="withEffect" presetClass="entr" presetID="10" presetSubtype="0">
                                  <p:stCondLst>
                                    <p:cond delay="1280"/>
                                  </p:stCondLst>
                                  <p:childTnLst>
                                    <p:set>
                                      <p:cBhvr>
                                        <p:cTn dur="1" fill="hold">
                                          <p:stCondLst>
                                            <p:cond delay="0"/>
                                          </p:stCondLst>
                                        </p:cTn>
                                        <p:tgtEl>
                                          <p:spTgt spid="586"/>
                                        </p:tgtEl>
                                        <p:attrNameLst>
                                          <p:attrName>style.visibility</p:attrName>
                                        </p:attrNameLst>
                                      </p:cBhvr>
                                      <p:to>
                                        <p:strVal val="visible"/>
                                      </p:to>
                                    </p:set>
                                    <p:animEffect filter="fade" transition="in">
                                      <p:cBhvr>
                                        <p:cTn dur="380"/>
                                        <p:tgtEl>
                                          <p:spTgt spid="586"/>
                                        </p:tgtEl>
                                      </p:cBhvr>
                                    </p:animEffect>
                                  </p:childTnLst>
                                </p:cTn>
                              </p:par>
                              <p:par>
                                <p:cTn fill="hold" nodeType="withEffect" presetClass="entr" presetID="10" presetSubtype="0">
                                  <p:stCondLst>
                                    <p:cond delay="1280"/>
                                  </p:stCondLst>
                                  <p:childTnLst>
                                    <p:set>
                                      <p:cBhvr>
                                        <p:cTn dur="1" fill="hold">
                                          <p:stCondLst>
                                            <p:cond delay="0"/>
                                          </p:stCondLst>
                                        </p:cTn>
                                        <p:tgtEl>
                                          <p:spTgt spid="587"/>
                                        </p:tgtEl>
                                        <p:attrNameLst>
                                          <p:attrName>style.visibility</p:attrName>
                                        </p:attrNameLst>
                                      </p:cBhvr>
                                      <p:to>
                                        <p:strVal val="visible"/>
                                      </p:to>
                                    </p:set>
                                    <p:animEffect filter="fade" transition="in">
                                      <p:cBhvr>
                                        <p:cTn dur="380"/>
                                        <p:tgtEl>
                                          <p:spTgt spid="587"/>
                                        </p:tgtEl>
                                      </p:cBhvr>
                                    </p:animEffect>
                                  </p:childTnLst>
                                </p:cTn>
                              </p:par>
                              <p:par>
                                <p:cTn fill="hold" nodeType="withEffect" presetClass="entr" presetID="10" presetSubtype="0">
                                  <p:stCondLst>
                                    <p:cond delay="1360"/>
                                  </p:stCondLst>
                                  <p:childTnLst>
                                    <p:set>
                                      <p:cBhvr>
                                        <p:cTn dur="1" fill="hold">
                                          <p:stCondLst>
                                            <p:cond delay="0"/>
                                          </p:stCondLst>
                                        </p:cTn>
                                        <p:tgtEl>
                                          <p:spTgt spid="588"/>
                                        </p:tgtEl>
                                        <p:attrNameLst>
                                          <p:attrName>style.visibility</p:attrName>
                                        </p:attrNameLst>
                                      </p:cBhvr>
                                      <p:to>
                                        <p:strVal val="visible"/>
                                      </p:to>
                                    </p:set>
                                    <p:animEffect filter="fade" transition="in">
                                      <p:cBhvr>
                                        <p:cTn dur="380"/>
                                        <p:tgtEl>
                                          <p:spTgt spid="588"/>
                                        </p:tgtEl>
                                      </p:cBhvr>
                                    </p:animEffect>
                                  </p:childTnLst>
                                </p:cTn>
                              </p:par>
                              <p:par>
                                <p:cTn fill="hold" nodeType="withEffect" presetClass="entr" presetID="10" presetSubtype="0">
                                  <p:stCondLst>
                                    <p:cond delay="1400"/>
                                  </p:stCondLst>
                                  <p:childTnLst>
                                    <p:set>
                                      <p:cBhvr>
                                        <p:cTn dur="1" fill="hold">
                                          <p:stCondLst>
                                            <p:cond delay="0"/>
                                          </p:stCondLst>
                                        </p:cTn>
                                        <p:tgtEl>
                                          <p:spTgt spid="599"/>
                                        </p:tgtEl>
                                        <p:attrNameLst>
                                          <p:attrName>style.visibility</p:attrName>
                                        </p:attrNameLst>
                                      </p:cBhvr>
                                      <p:to>
                                        <p:strVal val="visible"/>
                                      </p:to>
                                    </p:set>
                                    <p:animEffect filter="fade" transition="in">
                                      <p:cBhvr>
                                        <p:cTn dur="1100"/>
                                        <p:tgtEl>
                                          <p:spTgt spid="599"/>
                                        </p:tgtEl>
                                      </p:cBhvr>
                                    </p:animEffect>
                                  </p:childTnLst>
                                </p:cTn>
                              </p:par>
                              <p:par>
                                <p:cTn fill="hold" nodeType="withEffect" presetClass="entr" presetID="10" presetSubtype="0">
                                  <p:stCondLst>
                                    <p:cond delay="1600"/>
                                  </p:stCondLst>
                                  <p:childTnLst>
                                    <p:set>
                                      <p:cBhvr>
                                        <p:cTn dur="1" fill="hold">
                                          <p:stCondLst>
                                            <p:cond delay="0"/>
                                          </p:stCondLst>
                                        </p:cTn>
                                        <p:tgtEl>
                                          <p:spTgt spid="589"/>
                                        </p:tgtEl>
                                        <p:attrNameLst>
                                          <p:attrName>style.visibility</p:attrName>
                                        </p:attrNameLst>
                                      </p:cBhvr>
                                      <p:to>
                                        <p:strVal val="visible"/>
                                      </p:to>
                                    </p:set>
                                    <p:animEffect filter="fade" transition="in">
                                      <p:cBhvr>
                                        <p:cTn dur="380"/>
                                        <p:tgtEl>
                                          <p:spTgt spid="589"/>
                                        </p:tgtEl>
                                      </p:cBhvr>
                                    </p:animEffect>
                                  </p:childTnLst>
                                </p:cTn>
                              </p:par>
                              <p:par>
                                <p:cTn fill="hold" nodeType="withEffect" presetClass="entr" presetID="10" presetSubtype="0">
                                  <p:stCondLst>
                                    <p:cond delay="1600"/>
                                  </p:stCondLst>
                                  <p:childTnLst>
                                    <p:set>
                                      <p:cBhvr>
                                        <p:cTn dur="1" fill="hold">
                                          <p:stCondLst>
                                            <p:cond delay="0"/>
                                          </p:stCondLst>
                                        </p:cTn>
                                        <p:tgtEl>
                                          <p:spTgt spid="590"/>
                                        </p:tgtEl>
                                        <p:attrNameLst>
                                          <p:attrName>style.visibility</p:attrName>
                                        </p:attrNameLst>
                                      </p:cBhvr>
                                      <p:to>
                                        <p:strVal val="visible"/>
                                      </p:to>
                                    </p:set>
                                    <p:animEffect filter="fade" transition="in">
                                      <p:cBhvr>
                                        <p:cTn dur="380"/>
                                        <p:tgtEl>
                                          <p:spTgt spid="590"/>
                                        </p:tgtEl>
                                      </p:cBhvr>
                                    </p:animEffect>
                                  </p:childTnLst>
                                </p:cTn>
                              </p:par>
                              <p:par>
                                <p:cTn fill="hold" nodeType="withEffect" presetClass="entr" presetID="10" presetSubtype="0">
                                  <p:stCondLst>
                                    <p:cond delay="1680"/>
                                  </p:stCondLst>
                                  <p:childTnLst>
                                    <p:set>
                                      <p:cBhvr>
                                        <p:cTn dur="1" fill="hold">
                                          <p:stCondLst>
                                            <p:cond delay="0"/>
                                          </p:stCondLst>
                                        </p:cTn>
                                        <p:tgtEl>
                                          <p:spTgt spid="591"/>
                                        </p:tgtEl>
                                        <p:attrNameLst>
                                          <p:attrName>style.visibility</p:attrName>
                                        </p:attrNameLst>
                                      </p:cBhvr>
                                      <p:to>
                                        <p:strVal val="visible"/>
                                      </p:to>
                                    </p:set>
                                    <p:animEffect filter="fade" transition="in">
                                      <p:cBhvr>
                                        <p:cTn dur="380"/>
                                        <p:tgtEl>
                                          <p:spTgt spid="591"/>
                                        </p:tgtEl>
                                      </p:cBhvr>
                                    </p:animEffect>
                                  </p:childTnLst>
                                </p:cTn>
                              </p:par>
                              <p:par>
                                <p:cTn fill="hold" nodeType="withEffect" presetClass="entr" presetID="10" presetSubtype="0">
                                  <p:stCondLst>
                                    <p:cond delay="1920"/>
                                  </p:stCondLst>
                                  <p:childTnLst>
                                    <p:set>
                                      <p:cBhvr>
                                        <p:cTn dur="1" fill="hold">
                                          <p:stCondLst>
                                            <p:cond delay="0"/>
                                          </p:stCondLst>
                                        </p:cTn>
                                        <p:tgtEl>
                                          <p:spTgt spid="592"/>
                                        </p:tgtEl>
                                        <p:attrNameLst>
                                          <p:attrName>style.visibility</p:attrName>
                                        </p:attrNameLst>
                                      </p:cBhvr>
                                      <p:to>
                                        <p:strVal val="visible"/>
                                      </p:to>
                                    </p:set>
                                    <p:animEffect filter="fade" transition="in">
                                      <p:cBhvr>
                                        <p:cTn dur="380"/>
                                        <p:tgtEl>
                                          <p:spTgt spid="592"/>
                                        </p:tgtEl>
                                      </p:cBhvr>
                                    </p:animEffect>
                                  </p:childTnLst>
                                </p:cTn>
                              </p:par>
                              <p:par>
                                <p:cTn fill="hold" nodeType="withEffect" presetClass="entr" presetID="10" presetSubtype="0">
                                  <p:stCondLst>
                                    <p:cond delay="1920"/>
                                  </p:stCondLst>
                                  <p:childTnLst>
                                    <p:set>
                                      <p:cBhvr>
                                        <p:cTn dur="1" fill="hold">
                                          <p:stCondLst>
                                            <p:cond delay="0"/>
                                          </p:stCondLst>
                                        </p:cTn>
                                        <p:tgtEl>
                                          <p:spTgt spid="593"/>
                                        </p:tgtEl>
                                        <p:attrNameLst>
                                          <p:attrName>style.visibility</p:attrName>
                                        </p:attrNameLst>
                                      </p:cBhvr>
                                      <p:to>
                                        <p:strVal val="visible"/>
                                      </p:to>
                                    </p:set>
                                    <p:animEffect filter="fade" transition="in">
                                      <p:cBhvr>
                                        <p:cTn dur="380"/>
                                        <p:tgtEl>
                                          <p:spTgt spid="593"/>
                                        </p:tgtEl>
                                      </p:cBhvr>
                                    </p:animEffect>
                                  </p:childTnLst>
                                </p:cTn>
                              </p:par>
                              <p:par>
                                <p:cTn fill="hold" nodeType="withEffect" presetClass="entr" presetID="10" presetSubtype="0">
                                  <p:stCondLst>
                                    <p:cond delay="2000"/>
                                  </p:stCondLst>
                                  <p:childTnLst>
                                    <p:set>
                                      <p:cBhvr>
                                        <p:cTn dur="1" fill="hold">
                                          <p:stCondLst>
                                            <p:cond delay="0"/>
                                          </p:stCondLst>
                                        </p:cTn>
                                        <p:tgtEl>
                                          <p:spTgt spid="594"/>
                                        </p:tgtEl>
                                        <p:attrNameLst>
                                          <p:attrName>style.visibility</p:attrName>
                                        </p:attrNameLst>
                                      </p:cBhvr>
                                      <p:to>
                                        <p:strVal val="visible"/>
                                      </p:to>
                                    </p:set>
                                    <p:animEffect filter="fade" transition="in">
                                      <p:cBhvr>
                                        <p:cTn dur="380"/>
                                        <p:tgtEl>
                                          <p:spTgt spid="594"/>
                                        </p:tgtEl>
                                      </p:cBhvr>
                                    </p:animEffect>
                                  </p:childTnLst>
                                </p:cTn>
                              </p:par>
                              <p:par>
                                <p:cTn fill="hold" nodeType="withEffect" presetClass="entr" presetID="10" presetSubtype="0">
                                  <p:stCondLst>
                                    <p:cond delay="2240"/>
                                  </p:stCondLst>
                                  <p:childTnLst>
                                    <p:set>
                                      <p:cBhvr>
                                        <p:cTn dur="1" fill="hold">
                                          <p:stCondLst>
                                            <p:cond delay="0"/>
                                          </p:stCondLst>
                                        </p:cTn>
                                        <p:tgtEl>
                                          <p:spTgt spid="595"/>
                                        </p:tgtEl>
                                        <p:attrNameLst>
                                          <p:attrName>style.visibility</p:attrName>
                                        </p:attrNameLst>
                                      </p:cBhvr>
                                      <p:to>
                                        <p:strVal val="visible"/>
                                      </p:to>
                                    </p:set>
                                    <p:animEffect filter="fade" transition="in">
                                      <p:cBhvr>
                                        <p:cTn dur="380"/>
                                        <p:tgtEl>
                                          <p:spTgt spid="595"/>
                                        </p:tgtEl>
                                      </p:cBhvr>
                                    </p:animEffect>
                                  </p:childTnLst>
                                </p:cTn>
                              </p:par>
                              <p:par>
                                <p:cTn fill="hold" nodeType="withEffect" presetClass="entr" presetID="10" presetSubtype="0">
                                  <p:stCondLst>
                                    <p:cond delay="2240"/>
                                  </p:stCondLst>
                                  <p:childTnLst>
                                    <p:set>
                                      <p:cBhvr>
                                        <p:cTn dur="1" fill="hold">
                                          <p:stCondLst>
                                            <p:cond delay="0"/>
                                          </p:stCondLst>
                                        </p:cTn>
                                        <p:tgtEl>
                                          <p:spTgt spid="596"/>
                                        </p:tgtEl>
                                        <p:attrNameLst>
                                          <p:attrName>style.visibility</p:attrName>
                                        </p:attrNameLst>
                                      </p:cBhvr>
                                      <p:to>
                                        <p:strVal val="visible"/>
                                      </p:to>
                                    </p:set>
                                    <p:animEffect filter="fade" transition="in">
                                      <p:cBhvr>
                                        <p:cTn dur="380"/>
                                        <p:tgtEl>
                                          <p:spTgt spid="596"/>
                                        </p:tgtEl>
                                      </p:cBhvr>
                                    </p:animEffect>
                                  </p:childTnLst>
                                </p:cTn>
                              </p:par>
                              <p:par>
                                <p:cTn fill="hold" nodeType="withEffect" presetClass="entr" presetID="10" presetSubtype="0">
                                  <p:stCondLst>
                                    <p:cond delay="2320"/>
                                  </p:stCondLst>
                                  <p:childTnLst>
                                    <p:set>
                                      <p:cBhvr>
                                        <p:cTn dur="1" fill="hold">
                                          <p:stCondLst>
                                            <p:cond delay="0"/>
                                          </p:stCondLst>
                                        </p:cTn>
                                        <p:tgtEl>
                                          <p:spTgt spid="597"/>
                                        </p:tgtEl>
                                        <p:attrNameLst>
                                          <p:attrName>style.visibility</p:attrName>
                                        </p:attrNameLst>
                                      </p:cBhvr>
                                      <p:to>
                                        <p:strVal val="visible"/>
                                      </p:to>
                                    </p:set>
                                    <p:animEffect filter="fade" transition="in">
                                      <p:cBhvr>
                                        <p:cTn dur="38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0"/>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Worked Example: Raw Data to 0–1 Values</a:t>
            </a:r>
            <a:endParaRPr/>
          </a:p>
        </p:txBody>
      </p:sp>
      <p:sp>
        <p:nvSpPr>
          <p:cNvPr id="606" name="Google Shape;606;p30"/>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607" name="Google Shape;607;p30"/>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608" name="Google Shape;608;p30"/>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2077" name="Setting chip"/>
          <p:cNvSpPr/>
          <p:nvPr/>
        </p:nvSpPr>
        <p:spPr>
          <a:xfrm>
            <a:off x="457200" y="1170432"/>
            <a:ext cx="1920240" cy="457200"/>
          </a:xfrm>
          <a:prstGeom prst="roundRect">
            <a:avLst>
              <a:gd name="adj" fmla="val 50000"/>
            </a:avLst>
          </a:prstGeom>
          <a:gradFill rotWithShape="1">
            <a:gsLst>
              <a:gs pos="0">
                <a:srgbClr val="006662"/>
              </a:gs>
              <a:gs pos="100000">
                <a:srgbClr val="0E9294"/>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Service: plumber</a:t>
            </a:r>
          </a:p>
        </p:txBody>
      </p:sp>
      <p:sp>
        <p:nvSpPr>
          <p:cNvPr id="2078" name="Setting chip"/>
          <p:cNvSpPr/>
          <p:nvPr/>
        </p:nvSpPr>
        <p:spPr>
          <a:xfrm>
            <a:off x="2560320" y="1170432"/>
            <a:ext cx="1920240" cy="457200"/>
          </a:xfrm>
          <a:prstGeom prst="roundRect">
            <a:avLst>
              <a:gd name="adj" fmla="val 50000"/>
            </a:avLst>
          </a:prstGeom>
          <a:gradFill rotWithShape="1">
            <a:gsLst>
              <a:gs pos="0">
                <a:srgbClr val="005F8B"/>
              </a:gs>
              <a:gs pos="100000">
                <a:srgbClr val="2E83D6"/>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Radius D</a:t>
            </a:r>
            <a:r>
              <a:rPr lang="en-US" sz="1100" b="1" i="0" baseline="-25000" dirty="0">
                <a:solidFill>
                  <a:srgbClr val="FFFFFF"/>
                </a:solidFill>
                <a:latin typeface="Times New Roman"/>
                <a:ea typeface="Times New Roman"/>
                <a:cs typeface="Times New Roman"/>
              </a:rPr>
              <a:t>max</a:t>
            </a:r>
            <a:r>
              <a:rPr lang="en-US" sz="1100" b="1" i="0" dirty="0">
                <a:solidFill>
                  <a:srgbClr val="FFFFFF"/>
                </a:solidFill>
                <a:latin typeface="Times New Roman"/>
                <a:ea typeface="Times New Roman"/>
                <a:cs typeface="Times New Roman"/>
              </a:rPr>
              <a:t> = 10 km</a:t>
            </a:r>
          </a:p>
        </p:txBody>
      </p:sp>
      <p:sp>
        <p:nvSpPr>
          <p:cNvPr id="2079" name="Setting chip"/>
          <p:cNvSpPr/>
          <p:nvPr/>
        </p:nvSpPr>
        <p:spPr>
          <a:xfrm>
            <a:off x="4663440" y="1170432"/>
            <a:ext cx="1920240" cy="457200"/>
          </a:xfrm>
          <a:prstGeom prst="roundRect">
            <a:avLst>
              <a:gd name="adj" fmla="val 50000"/>
            </a:avLst>
          </a:prstGeom>
          <a:gradFill rotWithShape="1">
            <a:gsLst>
              <a:gs pos="0">
                <a:srgbClr val="5E41A2"/>
              </a:gs>
              <a:gs pos="100000">
                <a:srgbClr val="9765C6"/>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Time limit T</a:t>
            </a:r>
            <a:r>
              <a:rPr lang="en-US" sz="1100" b="1" i="0" baseline="-25000" dirty="0">
                <a:solidFill>
                  <a:srgbClr val="FFFFFF"/>
                </a:solidFill>
                <a:latin typeface="Times New Roman"/>
                <a:ea typeface="Times New Roman"/>
                <a:cs typeface="Times New Roman"/>
              </a:rPr>
              <a:t>max</a:t>
            </a:r>
            <a:r>
              <a:rPr lang="en-US" sz="1100" b="1" i="0" dirty="0">
                <a:solidFill>
                  <a:srgbClr val="FFFFFF"/>
                </a:solidFill>
                <a:latin typeface="Times New Roman"/>
                <a:ea typeface="Times New Roman"/>
                <a:cs typeface="Times New Roman"/>
              </a:rPr>
              <a:t> = 60 min</a:t>
            </a:r>
          </a:p>
        </p:txBody>
      </p:sp>
      <p:sp>
        <p:nvSpPr>
          <p:cNvPr id="2080" name="Setting chip"/>
          <p:cNvSpPr/>
          <p:nvPr/>
        </p:nvSpPr>
        <p:spPr>
          <a:xfrm>
            <a:off x="6766560" y="1170432"/>
            <a:ext cx="1920240" cy="457200"/>
          </a:xfrm>
          <a:prstGeom prst="roundRect">
            <a:avLst>
              <a:gd name="adj" fmla="val 50000"/>
            </a:avLst>
          </a:prstGeom>
          <a:gradFill rotWithShape="1">
            <a:gsLst>
              <a:gs pos="0">
                <a:srgbClr val="902A66"/>
              </a:gs>
              <a:gs pos="100000">
                <a:srgbClr val="C25485"/>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Budget K</a:t>
            </a:r>
            <a:r>
              <a:rPr lang="en-US" sz="1100" b="1" i="0" baseline="-25000" dirty="0">
                <a:solidFill>
                  <a:srgbClr val="FFFFFF"/>
                </a:solidFill>
                <a:latin typeface="Times New Roman"/>
                <a:ea typeface="Times New Roman"/>
                <a:cs typeface="Times New Roman"/>
              </a:rPr>
              <a:t>max</a:t>
            </a:r>
            <a:r>
              <a:rPr lang="en-US" sz="1100" b="1" i="0" dirty="0">
                <a:solidFill>
                  <a:srgbClr val="FFFFFF"/>
                </a:solidFill>
                <a:latin typeface="Times New Roman"/>
                <a:ea typeface="Times New Roman"/>
                <a:cs typeface="Times New Roman"/>
              </a:rPr>
              <a:t> = Rs 800</a:t>
            </a:r>
          </a:p>
        </p:txBody>
      </p:sp>
      <p:graphicFrame>
        <p:nvGraphicFramePr>
          <p:cNvPr id="2081" name="Table"/>
          <p:cNvGraphicFramePr>
            <a:graphicFrameLocks noGrp="1"/>
          </p:cNvGraphicFramePr>
          <p:nvPr/>
        </p:nvGraphicFramePr>
        <p:xfrm>
          <a:off x="457200" y="1810512"/>
          <a:ext cx="5760720" cy="4114800"/>
        </p:xfrm>
        <a:graphic>
          <a:graphicData uri="http://schemas.openxmlformats.org/drawingml/2006/table">
            <a:tbl>
              <a:tblPr firstRow="1"/>
              <a:tblGrid>
                <a:gridCol w="2468880"/>
                <a:gridCol w="1097280"/>
                <a:gridCol w="1097280"/>
                <a:gridCol w="1097280"/>
              </a:tblGrid>
              <a:tr h="342900">
                <a:tc>
                  <a:txBody>
                    <a:bodyPr/>
                    <a:lstStyle/>
                    <a:p>
                      <a:pPr marL="0" indent="0" algn="l">
                        <a:lnSpc>
                          <a:spcPct val="100000"/>
                        </a:lnSpc>
                        <a:spcBef>
                          <a:spcPts val="0"/>
                        </a:spcBef>
                        <a:spcAft>
                          <a:spcPts val="0"/>
                        </a:spcAft>
                        <a:buNone/>
                      </a:pPr>
                      <a:r>
                        <a:rPr lang="en-US" sz="1150" b="1" i="0" dirty="0">
                          <a:solidFill>
                            <a:srgbClr val="FFFFFF"/>
                          </a:solidFill>
                          <a:latin typeface="Times New Roman"/>
                          <a:ea typeface="Times New Roman"/>
                          <a:cs typeface="Times New Roman"/>
                        </a:rPr>
                        <a:t>Quantity</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gradFill rotWithShape="1">
                      <a:gsLst>
                        <a:gs pos="0">
                          <a:srgbClr val="0C6468"/>
                        </a:gs>
                        <a:gs pos="100000">
                          <a:srgbClr val="0090A6"/>
                        </a:gs>
                      </a:gsLst>
                      <a:lin ang="2700000" scaled="0"/>
                    </a:gradFill>
                  </a:tcPr>
                </a:tc>
                <a:tc>
                  <a:txBody>
                    <a:bodyPr/>
                    <a:lstStyle/>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Worker A</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gradFill rotWithShape="1">
                      <a:gsLst>
                        <a:gs pos="0">
                          <a:srgbClr val="0C6468"/>
                        </a:gs>
                        <a:gs pos="100000">
                          <a:srgbClr val="0090A6"/>
                        </a:gs>
                      </a:gsLst>
                      <a:lin ang="2700000" scaled="0"/>
                    </a:gradFill>
                  </a:tcPr>
                </a:tc>
                <a:tc>
                  <a:txBody>
                    <a:bodyPr/>
                    <a:lstStyle/>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Worker B</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gradFill rotWithShape="1">
                      <a:gsLst>
                        <a:gs pos="0">
                          <a:srgbClr val="076375"/>
                        </a:gs>
                        <a:gs pos="100000">
                          <a:srgbClr val="008CB9"/>
                        </a:gs>
                      </a:gsLst>
                      <a:lin ang="2700000" scaled="0"/>
                    </a:gradFill>
                  </a:tcPr>
                </a:tc>
                <a:tc>
                  <a:txBody>
                    <a:bodyPr/>
                    <a:lstStyle/>
                    <a:p>
                      <a:pPr marL="0" indent="0" algn="ctr">
                        <a:lnSpc>
                          <a:spcPct val="100000"/>
                        </a:lnSpc>
                        <a:spcBef>
                          <a:spcPts val="0"/>
                        </a:spcBef>
                        <a:spcAft>
                          <a:spcPts val="0"/>
                        </a:spcAft>
                        <a:buNone/>
                      </a:pPr>
                      <a:r>
                        <a:rPr lang="en-US" sz="1150" b="1" i="0" dirty="0">
                          <a:solidFill>
                            <a:srgbClr val="FFFFFF"/>
                          </a:solidFill>
                          <a:latin typeface="Times New Roman"/>
                          <a:ea typeface="Times New Roman"/>
                          <a:cs typeface="Times New Roman"/>
                        </a:rPr>
                        <a:t>Worker C</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gradFill rotWithShape="1">
                      <a:gsLst>
                        <a:gs pos="0">
                          <a:srgbClr val="006084"/>
                        </a:gs>
                        <a:gs pos="100000">
                          <a:srgbClr val="1086D3"/>
                        </a:gs>
                      </a:gsLst>
                      <a:lin ang="2700000" scaled="0"/>
                    </a:gradFill>
                  </a:tcPr>
                </a:tc>
              </a:tr>
              <a:tr h="342900">
                <a:tc gridSpan="4">
                  <a:txBody>
                    <a:bodyPr/>
                    <a:lstStyle/>
                    <a:p>
                      <a:pPr marL="0" indent="0" algn="l">
                        <a:lnSpc>
                          <a:spcPct val="100000"/>
                        </a:lnSpc>
                        <a:spcBef>
                          <a:spcPts val="0"/>
                        </a:spcBef>
                        <a:spcAft>
                          <a:spcPts val="0"/>
                        </a:spcAft>
                        <a:buNone/>
                      </a:pPr>
                      <a:r>
                        <a:rPr lang="en-US" sz="1050" b="1" i="0" dirty="0">
                          <a:solidFill>
                            <a:srgbClr val="FFFFFF"/>
                          </a:solidFill>
                          <a:latin typeface="Times New Roman"/>
                          <a:ea typeface="Times New Roman"/>
                          <a:cs typeface="Times New Roman"/>
                        </a:rPr>
                        <a:t>GIVEN  (raw data)</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gradFill rotWithShape="1">
                      <a:gsLst>
                        <a:gs pos="0">
                          <a:srgbClr val="006084"/>
                        </a:gs>
                        <a:gs pos="100000">
                          <a:srgbClr val="1086D3"/>
                        </a:gs>
                      </a:gsLst>
                      <a:lin ang="2700000" scaled="0"/>
                    </a:gradFill>
                  </a:tcPr>
                </a:tc>
                <a:tc hMerge="1">
                  <a:txBody>
                    <a:bodyPr/>
                    <a:lstStyle/>
                    <a:p>
                      <a:endParaRPr lang="en-US" sz="800"/>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noFill/>
                  </a:tcPr>
                </a:tc>
                <a:tc hMerge="1">
                  <a:txBody>
                    <a:bodyPr/>
                    <a:lstStyle/>
                    <a:p>
                      <a:endParaRPr lang="en-US" sz="800"/>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noFill/>
                  </a:tcPr>
                </a:tc>
                <a:tc hMerge="1">
                  <a:txBody>
                    <a:bodyPr/>
                    <a:lstStyle/>
                    <a:p>
                      <a:endParaRPr lang="en-US" sz="800"/>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no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Distance d (km)</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1.5</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0.8</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3.0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Time T (min)</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15</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25</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10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Charge K (Rs)</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500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400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350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Skill match m</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1.00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1.00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0.60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Mean rating μ / jobs n</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0.90 / 30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0.80 / 20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0.70 / 3</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r>
              <a:tr h="342900">
                <a:tc gridSpan="4">
                  <a:txBody>
                    <a:bodyPr/>
                    <a:lstStyle/>
                    <a:p>
                      <a:pPr marL="0" indent="0" algn="l">
                        <a:lnSpc>
                          <a:spcPct val="100000"/>
                        </a:lnSpc>
                        <a:spcBef>
                          <a:spcPts val="0"/>
                        </a:spcBef>
                        <a:spcAft>
                          <a:spcPts val="0"/>
                        </a:spcAft>
                        <a:buNone/>
                      </a:pPr>
                      <a:r>
                        <a:rPr lang="en-US" sz="1050" b="1" i="0" dirty="0">
                          <a:solidFill>
                            <a:srgbClr val="FFFFFF"/>
                          </a:solidFill>
                          <a:latin typeface="Times New Roman"/>
                          <a:ea typeface="Times New Roman"/>
                          <a:cs typeface="Times New Roman"/>
                        </a:rPr>
                        <a:t>CONVERTED  to 0–1  (higher is better)</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gradFill rotWithShape="1">
                      <a:gsLst>
                        <a:gs pos="0">
                          <a:srgbClr val="653E9E"/>
                        </a:gs>
                        <a:gs pos="100000">
                          <a:srgbClr val="9E62C0"/>
                        </a:gs>
                      </a:gsLst>
                      <a:lin ang="2700000" scaled="0"/>
                    </a:gradFill>
                  </a:tcPr>
                </a:tc>
                <a:tc hMerge="1">
                  <a:txBody>
                    <a:bodyPr/>
                    <a:lstStyle/>
                    <a:p>
                      <a:endParaRPr lang="en-US" sz="800"/>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noFill/>
                  </a:tcPr>
                </a:tc>
                <a:tc hMerge="1">
                  <a:txBody>
                    <a:bodyPr/>
                    <a:lstStyle/>
                    <a:p>
                      <a:endParaRPr lang="en-US" sz="800"/>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noFill/>
                  </a:tcPr>
                </a:tc>
                <a:tc hMerge="1">
                  <a:txBody>
                    <a:bodyPr/>
                    <a:lstStyle/>
                    <a:p>
                      <a:endParaRPr lang="en-US" sz="800"/>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no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p = 1 − d/10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0.850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0.920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0.700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t = 1 − T/60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0.750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0.583</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0.833</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r>
              <a:tr h="342900">
                <a:tc>
                  <a:txBody>
                    <a:bodyPr/>
                    <a:lstStyle/>
                    <a:p>
                      <a:pPr marL="0" indent="0" algn="l">
                        <a:lnSpc>
                          <a:spcPct val="100000"/>
                        </a:lnSpc>
                        <a:spcBef>
                          <a:spcPts val="0"/>
                        </a:spcBef>
                        <a:spcAft>
                          <a:spcPts val="0"/>
                        </a:spcAft>
                        <a:buNone/>
                      </a:pPr>
                      <a:r>
                        <a:rPr lang="en-US" sz="1100" b="0" i="0" dirty="0">
                          <a:solidFill>
                            <a:srgbClr val="1F2937"/>
                          </a:solidFill>
                          <a:latin typeface="Times New Roman"/>
                          <a:ea typeface="Times New Roman"/>
                          <a:cs typeface="Times New Roman"/>
                        </a:rPr>
                        <a:t>c = 1 − K/800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0.375</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0.500</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c>
                  <a:txBody>
                    <a:bodyPr/>
                    <a:lstStyle/>
                    <a:p>
                      <a:pPr marL="0" indent="0" algn="ctr">
                        <a:lnSpc>
                          <a:spcPct val="100000"/>
                        </a:lnSpc>
                        <a:spcBef>
                          <a:spcPts val="0"/>
                        </a:spcBef>
                        <a:spcAft>
                          <a:spcPts val="0"/>
                        </a:spcAft>
                        <a:buNone/>
                      </a:pPr>
                      <a:r>
                        <a:rPr lang="en-US" sz="1100" b="0" i="0" dirty="0">
                          <a:solidFill>
                            <a:srgbClr val="1F2937"/>
                          </a:solidFill>
                          <a:latin typeface="Times New Roman"/>
                          <a:ea typeface="Times New Roman"/>
                          <a:cs typeface="Times New Roman"/>
                        </a:rPr>
                        <a:t>0.563</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FFFFF"/>
                    </a:solidFill>
                  </a:tcPr>
                </a:tc>
              </a:tr>
              <a:tr h="342900">
                <a:tc>
                  <a:txBody>
                    <a:bodyPr/>
                    <a:lstStyle/>
                    <a:p>
                      <a:pPr marL="0" indent="0" algn="l">
                        <a:lnSpc>
                          <a:spcPct val="100000"/>
                        </a:lnSpc>
                        <a:spcBef>
                          <a:spcPts val="0"/>
                        </a:spcBef>
                        <a:spcAft>
                          <a:spcPts val="0"/>
                        </a:spcAft>
                        <a:buNone/>
                      </a:pPr>
                      <a:r>
                        <a:rPr lang="en-US" sz="1100" b="1" i="0" dirty="0">
                          <a:solidFill>
                            <a:srgbClr val="1F2937"/>
                          </a:solidFill>
                          <a:latin typeface="Times New Roman"/>
                          <a:ea typeface="Times New Roman"/>
                          <a:cs typeface="Times New Roman"/>
                        </a:rPr>
                        <a:t>q = μ + 0.202/√n</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0.937</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0.845</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c>
                  <a:txBody>
                    <a:bodyPr/>
                    <a:lstStyle/>
                    <a:p>
                      <a:pPr marL="0" indent="0" algn="ctr">
                        <a:lnSpc>
                          <a:spcPct val="100000"/>
                        </a:lnSpc>
                        <a:spcBef>
                          <a:spcPts val="0"/>
                        </a:spcBef>
                        <a:spcAft>
                          <a:spcPts val="0"/>
                        </a:spcAft>
                        <a:buNone/>
                      </a:pPr>
                      <a:r>
                        <a:rPr lang="en-US" sz="1100" b="1" i="0" dirty="0">
                          <a:solidFill>
                            <a:srgbClr val="1F2937"/>
                          </a:solidFill>
                          <a:latin typeface="Times New Roman"/>
                          <a:ea typeface="Times New Roman"/>
                          <a:cs typeface="Times New Roman"/>
                        </a:rPr>
                        <a:t>0.817</a:t>
                      </a:r>
                    </a:p>
                  </a:txBody>
                  <a:tcPr marL="73152" marR="73152" marT="27432" marB="27432" anchor="ctr">
                    <a:lnL w="6350">
                      <a:solidFill>
                        <a:srgbClr val="D6DBE6"/>
                      </a:solidFill>
                    </a:lnL>
                    <a:lnR w="6350">
                      <a:solidFill>
                        <a:srgbClr val="D6DBE6"/>
                      </a:solidFill>
                    </a:lnR>
                    <a:lnT w="6350">
                      <a:solidFill>
                        <a:srgbClr val="D6DBE6"/>
                      </a:solidFill>
                    </a:lnT>
                    <a:lnB w="6350">
                      <a:solidFill>
                        <a:srgbClr val="D6DBE6"/>
                      </a:solidFill>
                    </a:lnB>
                    <a:solidFill>
                      <a:srgbClr val="F3F5FB"/>
                    </a:solidFill>
                  </a:tcPr>
                </a:tc>
              </a:tr>
            </a:tbl>
          </a:graphicData>
        </a:graphic>
      </p:graphicFrame>
      <p:sp>
        <p:nvSpPr>
          <p:cNvPr id="2082" name="Reading card"/>
          <p:cNvSpPr/>
          <p:nvPr/>
        </p:nvSpPr>
        <p:spPr>
          <a:xfrm>
            <a:off x="6492240" y="1810512"/>
            <a:ext cx="2194560" cy="1261872"/>
          </a:xfrm>
          <a:prstGeom prst="roundRect">
            <a:avLst>
              <a:gd name="adj" fmla="val 9000"/>
            </a:avLst>
          </a:prstGeom>
          <a:gradFill rotWithShape="1">
            <a:gsLst>
              <a:gs pos="0">
                <a:srgbClr val="FFFFFF"/>
              </a:gs>
              <a:gs pos="100000">
                <a:srgbClr val="DCF5FF"/>
              </a:gs>
            </a:gsLst>
            <a:lin ang="5400000" scaled="0"/>
          </a:gradFill>
          <a:ln w="15875">
            <a:solidFill>
              <a:srgbClr val="0F87A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83" name="Badge"/>
          <p:cNvSpPr/>
          <p:nvPr/>
        </p:nvSpPr>
        <p:spPr>
          <a:xfrm>
            <a:off x="6583680" y="1901952"/>
            <a:ext cx="365760" cy="365760"/>
          </a:xfrm>
          <a:prstGeom prst="ellipse">
            <a:avLst/>
          </a:prstGeom>
          <a:gradFill rotWithShape="1">
            <a:gsLst>
              <a:gs pos="0">
                <a:srgbClr val="076375"/>
              </a:gs>
              <a:gs pos="100000">
                <a:srgbClr val="008CB9"/>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300" b="1" i="0" dirty="0">
                <a:solidFill>
                  <a:srgbClr val="FFFFFF"/>
                </a:solidFill>
                <a:latin typeface="Times New Roman"/>
                <a:ea typeface="Times New Roman"/>
                <a:cs typeface="Times New Roman"/>
              </a:rPr>
              <a:t>1</a:t>
            </a:r>
          </a:p>
        </p:txBody>
      </p:sp>
      <p:sp>
        <p:nvSpPr>
          <p:cNvPr id="2084" name="Text"/>
          <p:cNvSpPr txBox="1"/>
          <p:nvPr/>
        </p:nvSpPr>
        <p:spPr>
          <a:xfrm>
            <a:off x="7022592" y="1901952"/>
            <a:ext cx="1609344" cy="36576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50" b="1" i="0" dirty="0">
                <a:solidFill>
                  <a:srgbClr val="005065"/>
                </a:solidFill>
                <a:latin typeface="Times New Roman"/>
                <a:ea typeface="Times New Roman"/>
                <a:cs typeface="Times New Roman"/>
              </a:rPr>
              <a:t>Given</a:t>
            </a:r>
          </a:p>
        </p:txBody>
      </p:sp>
      <p:sp>
        <p:nvSpPr>
          <p:cNvPr id="2085" name="Text"/>
          <p:cNvSpPr txBox="1"/>
          <p:nvPr/>
        </p:nvSpPr>
        <p:spPr>
          <a:xfrm>
            <a:off x="6583680" y="2313432"/>
            <a:ext cx="2011680" cy="73152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Raw numbers for each worker: distance, time, charge, skill match and rating history.</a:t>
            </a:r>
          </a:p>
        </p:txBody>
      </p:sp>
      <p:sp>
        <p:nvSpPr>
          <p:cNvPr id="2086" name="Reading card"/>
          <p:cNvSpPr/>
          <p:nvPr/>
        </p:nvSpPr>
        <p:spPr>
          <a:xfrm>
            <a:off x="6492240" y="3182112"/>
            <a:ext cx="2194560" cy="1261872"/>
          </a:xfrm>
          <a:prstGeom prst="roundRect">
            <a:avLst>
              <a:gd name="adj" fmla="val 9000"/>
            </a:avLst>
          </a:prstGeom>
          <a:gradFill rotWithShape="1">
            <a:gsLst>
              <a:gs pos="0">
                <a:srgbClr val="FFFFFF"/>
              </a:gs>
              <a:gs pos="100000">
                <a:srgbClr val="EBF0FE"/>
              </a:gs>
            </a:gsLst>
            <a:lin ang="5400000" scaled="0"/>
          </a:gradFill>
          <a:ln w="15875">
            <a:solidFill>
              <a:srgbClr val="5F72CC"/>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87" name="Badge"/>
          <p:cNvSpPr/>
          <p:nvPr/>
        </p:nvSpPr>
        <p:spPr>
          <a:xfrm>
            <a:off x="6583680" y="3273552"/>
            <a:ext cx="365760" cy="365760"/>
          </a:xfrm>
          <a:prstGeom prst="ellipse">
            <a:avLst/>
          </a:prstGeom>
          <a:gradFill rotWithShape="1">
            <a:gsLst>
              <a:gs pos="0">
                <a:srgbClr val="3050AA"/>
              </a:gs>
              <a:gs pos="100000">
                <a:srgbClr val="6F73D7"/>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300" b="1" i="0" dirty="0">
                <a:solidFill>
                  <a:srgbClr val="FFFFFF"/>
                </a:solidFill>
                <a:latin typeface="Times New Roman"/>
                <a:ea typeface="Times New Roman"/>
                <a:cs typeface="Times New Roman"/>
              </a:rPr>
              <a:t>2</a:t>
            </a:r>
          </a:p>
        </p:txBody>
      </p:sp>
      <p:sp>
        <p:nvSpPr>
          <p:cNvPr id="2088" name="Text"/>
          <p:cNvSpPr txBox="1"/>
          <p:nvPr/>
        </p:nvSpPr>
        <p:spPr>
          <a:xfrm>
            <a:off x="7022592" y="3273552"/>
            <a:ext cx="1609344" cy="36576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50" b="1" i="0" dirty="0">
                <a:solidFill>
                  <a:srgbClr val="323E8C"/>
                </a:solidFill>
                <a:latin typeface="Times New Roman"/>
                <a:ea typeface="Times New Roman"/>
                <a:cs typeface="Times New Roman"/>
              </a:rPr>
              <a:t>Convert to 0–1</a:t>
            </a:r>
          </a:p>
        </p:txBody>
      </p:sp>
      <p:sp>
        <p:nvSpPr>
          <p:cNvPr id="2089" name="Text"/>
          <p:cNvSpPr txBox="1"/>
          <p:nvPr/>
        </p:nvSpPr>
        <p:spPr>
          <a:xfrm>
            <a:off x="6583680" y="3685032"/>
            <a:ext cx="2011680" cy="73152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Closer, faster and cheaper give values near 1, so different units can be added fairly.</a:t>
            </a:r>
          </a:p>
        </p:txBody>
      </p:sp>
      <p:sp>
        <p:nvSpPr>
          <p:cNvPr id="2090" name="Reading card"/>
          <p:cNvSpPr/>
          <p:nvPr/>
        </p:nvSpPr>
        <p:spPr>
          <a:xfrm>
            <a:off x="6492240" y="4553712"/>
            <a:ext cx="2194560" cy="1261872"/>
          </a:xfrm>
          <a:prstGeom prst="roundRect">
            <a:avLst>
              <a:gd name="adj" fmla="val 9000"/>
            </a:avLst>
          </a:prstGeom>
          <a:gradFill rotWithShape="1">
            <a:gsLst>
              <a:gs pos="0">
                <a:srgbClr val="FFFFFF"/>
              </a:gs>
              <a:gs pos="100000">
                <a:srgbClr val="FAEAFC"/>
              </a:gs>
            </a:gsLst>
            <a:lin ang="5400000" scaled="0"/>
          </a:gradFill>
          <a:ln w="15875">
            <a:solidFill>
              <a:srgbClr val="A05BAB"/>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91" name="Badge"/>
          <p:cNvSpPr/>
          <p:nvPr/>
        </p:nvSpPr>
        <p:spPr>
          <a:xfrm>
            <a:off x="6583680" y="4645152"/>
            <a:ext cx="365760" cy="365760"/>
          </a:xfrm>
          <a:prstGeom prst="ellipse">
            <a:avLst/>
          </a:prstGeom>
          <a:gradFill rotWithShape="1">
            <a:gsLst>
              <a:gs pos="0">
                <a:srgbClr val="773790"/>
              </a:gs>
              <a:gs pos="100000">
                <a:srgbClr val="AF5BAC"/>
              </a:gs>
            </a:gsLst>
            <a:lin ang="2700000" scaled="0"/>
          </a:gradFill>
          <a:ln w="19050">
            <a:solidFill>
              <a:srgbClr val="FFFFFF"/>
            </a:solidFill>
          </a:ln>
        </p:spPr>
        <p:txBody>
          <a:bodyPr wrap="square" lIns="0" tIns="0" rIns="0" bIns="0" anchor="ctr">
            <a:noAutofit/>
          </a:bodyPr>
          <a:lstStyle/>
          <a:p>
            <a:pPr marL="0" indent="0" algn="ctr">
              <a:lnSpc>
                <a:spcPct val="100000"/>
              </a:lnSpc>
              <a:spcBef>
                <a:spcPts val="0"/>
              </a:spcBef>
              <a:spcAft>
                <a:spcPts val="0"/>
              </a:spcAft>
              <a:buNone/>
            </a:pPr>
            <a:r>
              <a:rPr lang="en-US" sz="1300" b="1" i="0" dirty="0">
                <a:solidFill>
                  <a:srgbClr val="FFFFFF"/>
                </a:solidFill>
                <a:latin typeface="Times New Roman"/>
                <a:ea typeface="Times New Roman"/>
                <a:cs typeface="Times New Roman"/>
              </a:rPr>
              <a:t>3</a:t>
            </a:r>
          </a:p>
        </p:txBody>
      </p:sp>
      <p:sp>
        <p:nvSpPr>
          <p:cNvPr id="2092" name="Text"/>
          <p:cNvSpPr txBox="1"/>
          <p:nvPr/>
        </p:nvSpPr>
        <p:spPr>
          <a:xfrm>
            <a:off x="7022592" y="4645152"/>
            <a:ext cx="1609344" cy="36576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50" b="1" i="0" dirty="0">
                <a:solidFill>
                  <a:srgbClr val="672970"/>
                </a:solidFill>
                <a:latin typeface="Times New Roman"/>
                <a:ea typeface="Times New Roman"/>
                <a:cs typeface="Times New Roman"/>
              </a:rPr>
              <a:t>Quality q</a:t>
            </a:r>
          </a:p>
        </p:txBody>
      </p:sp>
      <p:sp>
        <p:nvSpPr>
          <p:cNvPr id="2093" name="Text"/>
          <p:cNvSpPr txBox="1"/>
          <p:nvPr/>
        </p:nvSpPr>
        <p:spPr>
          <a:xfrm>
            <a:off x="6583680" y="5056632"/>
            <a:ext cx="2011680" cy="73152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Average rating plus a bonus for few jobs. Here the bonus is 0.202/√n, so it shrinks as n grows.</a:t>
            </a:r>
          </a:p>
        </p:txBody>
      </p:sp>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900"/>
                                        <p:tgtEl>
                                          <p:spTgt spid="609"/>
                                        </p:tgtEl>
                                      </p:cBhvr>
                                    </p:animEffect>
                                  </p:childTnLst>
                                </p:cTn>
                              </p:par>
                              <p:par>
                                <p:cTn fill="hold" nodeType="withEffect" presetClass="entr" presetID="10" presetSubtype="0">
                                  <p:stCondLst>
                                    <p:cond delay="70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par>
                                <p:cTn fill="hold" nodeType="withEffect" presetClass="entr" presetID="2" presetSubtype="8">
                                  <p:stCondLst>
                                    <p:cond delay="2000"/>
                                  </p:stCondLst>
                                  <p:childTnLst>
                                    <p:set>
                                      <p:cBhvr>
                                        <p:cTn dur="1" fill="hold">
                                          <p:stCondLst>
                                            <p:cond delay="0"/>
                                          </p:stCondLst>
                                        </p:cTn>
                                        <p:tgtEl>
                                          <p:spTgt spid="611"/>
                                        </p:tgtEl>
                                        <p:attrNameLst>
                                          <p:attrName>style.visibility</p:attrName>
                                        </p:attrNameLst>
                                      </p:cBhvr>
                                      <p:to>
                                        <p:strVal val="visible"/>
                                      </p:to>
                                    </p:set>
                                    <p:anim calcmode="lin" valueType="num">
                                      <p:cBhvr additive="base">
                                        <p:cTn dur="500"/>
                                        <p:tgtEl>
                                          <p:spTgt spid="61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2300"/>
                                  </p:stCondLst>
                                  <p:childTnLst>
                                    <p:set>
                                      <p:cBhvr>
                                        <p:cTn dur="1" fill="hold">
                                          <p:stCondLst>
                                            <p:cond delay="0"/>
                                          </p:stCondLst>
                                        </p:cTn>
                                        <p:tgtEl>
                                          <p:spTgt spid="612"/>
                                        </p:tgtEl>
                                        <p:attrNameLst>
                                          <p:attrName>style.visibility</p:attrName>
                                        </p:attrNameLst>
                                      </p:cBhvr>
                                      <p:to>
                                        <p:strVal val="visible"/>
                                      </p:to>
                                    </p:set>
                                    <p:anim calcmode="lin" valueType="num">
                                      <p:cBhvr additive="base">
                                        <p:cTn dur="500"/>
                                        <p:tgtEl>
                                          <p:spTgt spid="61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3000"/>
                                  </p:stCondLst>
                                  <p:childTnLst>
                                    <p:set>
                                      <p:cBhvr>
                                        <p:cTn dur="1" fill="hold">
                                          <p:stCondLst>
                                            <p:cond delay="0"/>
                                          </p:stCondLst>
                                        </p:cTn>
                                        <p:tgtEl>
                                          <p:spTgt spid="613"/>
                                        </p:tgtEl>
                                        <p:attrNameLst>
                                          <p:attrName>style.visibility</p:attrName>
                                        </p:attrNameLst>
                                      </p:cBhvr>
                                      <p:to>
                                        <p:strVal val="visible"/>
                                      </p:to>
                                    </p:set>
                                    <p:animEffect filter="fade" transition="in">
                                      <p:cBhvr>
                                        <p:cTn dur="450"/>
                                        <p:tgtEl>
                                          <p:spTgt spid="613"/>
                                        </p:tgtEl>
                                      </p:cBhvr>
                                    </p:animEffect>
                                  </p:childTnLst>
                                </p:cTn>
                              </p:par>
                              <p:par>
                                <p:cTn fill="hold" nodeType="withEffect" presetClass="entr" presetID="10" presetSubtype="0">
                                  <p:stCondLst>
                                    <p:cond delay="3400"/>
                                  </p:stCondLst>
                                  <p:childTnLst>
                                    <p:set>
                                      <p:cBhvr>
                                        <p:cTn dur="1" fill="hold">
                                          <p:stCondLst>
                                            <p:cond delay="0"/>
                                          </p:stCondLst>
                                        </p:cTn>
                                        <p:tgtEl>
                                          <p:spTgt spid="615"/>
                                        </p:tgtEl>
                                        <p:attrNameLst>
                                          <p:attrName>style.visibility</p:attrName>
                                        </p:attrNameLst>
                                      </p:cBhvr>
                                      <p:to>
                                        <p:strVal val="visible"/>
                                      </p:to>
                                    </p:set>
                                    <p:animEffect filter="fade" transition="in">
                                      <p:cBhvr>
                                        <p:cTn dur="450"/>
                                        <p:tgtEl>
                                          <p:spTgt spid="615"/>
                                        </p:tgtEl>
                                      </p:cBhvr>
                                    </p:animEffect>
                                  </p:childTnLst>
                                </p:cTn>
                              </p:par>
                              <p:par>
                                <p:cTn fill="hold" nodeType="withEffect" presetClass="entr" presetID="10" presetSubtype="0">
                                  <p:stCondLst>
                                    <p:cond delay="3800"/>
                                  </p:stCondLst>
                                  <p:childTnLst>
                                    <p:set>
                                      <p:cBhvr>
                                        <p:cTn dur="1" fill="hold">
                                          <p:stCondLst>
                                            <p:cond delay="0"/>
                                          </p:stCondLst>
                                        </p:cTn>
                                        <p:tgtEl>
                                          <p:spTgt spid="614"/>
                                        </p:tgtEl>
                                        <p:attrNameLst>
                                          <p:attrName>style.visibility</p:attrName>
                                        </p:attrNameLst>
                                      </p:cBhvr>
                                      <p:to>
                                        <p:strVal val="visible"/>
                                      </p:to>
                                    </p:set>
                                    <p:animEffect filter="fade" transition="in">
                                      <p:cBhvr>
                                        <p:cTn dur="600"/>
                                        <p:tgtEl>
                                          <p:spTgt spid="614"/>
                                        </p:tgtEl>
                                      </p:cBhvr>
                                    </p:animEffect>
                                  </p:childTnLst>
                                </p:cTn>
                              </p:par>
                              <p:par>
                                <p:cTn fill="hold" nodeType="withEffect" presetClass="entr" presetID="23" presetSubtype="16">
                                  <p:stCondLst>
                                    <p:cond delay="4400"/>
                                  </p:stCondLst>
                                  <p:childTnLst>
                                    <p:set>
                                      <p:cBhvr>
                                        <p:cTn dur="1" fill="hold">
                                          <p:stCondLst>
                                            <p:cond delay="0"/>
                                          </p:stCondLst>
                                        </p:cTn>
                                        <p:tgtEl>
                                          <p:spTgt spid="616"/>
                                        </p:tgtEl>
                                        <p:attrNameLst>
                                          <p:attrName>style.visibility</p:attrName>
                                        </p:attrNameLst>
                                      </p:cBhvr>
                                      <p:to>
                                        <p:strVal val="visible"/>
                                      </p:to>
                                    </p:set>
                                    <p:anim calcmode="lin" valueType="num">
                                      <p:cBhvr additive="base">
                                        <p:cTn dur="400"/>
                                        <p:tgtEl>
                                          <p:spTgt spid="616"/>
                                        </p:tgtEl>
                                        <p:attrNameLst>
                                          <p:attrName>ppt_w</p:attrName>
                                        </p:attrNameLst>
                                      </p:cBhvr>
                                      <p:tavLst>
                                        <p:tav fmla="" tm="0">
                                          <p:val>
                                            <p:strVal val="0"/>
                                          </p:val>
                                        </p:tav>
                                        <p:tav fmla="" tm="100000">
                                          <p:val>
                                            <p:strVal val="#ppt_w"/>
                                          </p:val>
                                        </p:tav>
                                      </p:tavLst>
                                    </p:anim>
                                    <p:anim calcmode="lin" valueType="num">
                                      <p:cBhvr additive="base">
                                        <p:cTn dur="400"/>
                                        <p:tgtEl>
                                          <p:spTgt spid="616"/>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4900"/>
                                  </p:stCondLst>
                                  <p:childTnLst>
                                    <p:animRot by="-21600000">
                                      <p:cBhvr>
                                        <p:cTn dur="3000" fill="hold"/>
                                        <p:tgtEl>
                                          <p:spTgt spid="61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1"/>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Advantages</a:t>
            </a:r>
            <a:endParaRPr/>
          </a:p>
        </p:txBody>
      </p:sp>
      <p:sp>
        <p:nvSpPr>
          <p:cNvPr id="623" name="Google Shape;623;p31"/>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624" name="Google Shape;624;p31"/>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625" name="Google Shape;625;p31"/>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626" name="Google Shape;626;p31"/>
          <p:cNvSpPr/>
          <p:nvPr/>
        </p:nvSpPr>
        <p:spPr>
          <a:xfrm>
            <a:off x="457200" y="1572768"/>
            <a:ext cx="2651760" cy="1828800"/>
          </a:xfrm>
          <a:prstGeom prst="roundRect">
            <a:avLst>
              <a:gd fmla="val 8000" name="adj"/>
            </a:avLst>
          </a:prstGeom>
          <a:gradFill rotWithShape="1">
            <a:gsLst>
              <a:gs pos="0">
                <a:srgbClr val="FFFFFF"/>
              </a:gs>
              <a:gs pos="100000">
                <a:srgbClr val="DAF7F4"/>
              </a:gs>
            </a:gsLst>
            <a:lin ang="5400000" scaled="0"/>
          </a:gradFill>
          <a:ln cap="flat" cmpd="sng" w="158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1" i="0" lang="en-US" sz="1400" u="none" cap="none" strike="noStrike">
                <a:solidFill>
                  <a:srgbClr val="005350"/>
                </a:solidFill>
                <a:latin typeface="Times New Roman"/>
                <a:ea typeface="Times New Roman"/>
                <a:cs typeface="Times New Roman"/>
                <a:sym typeface="Times New Roman"/>
              </a:rPr>
              <a:t>Less Waiting Time</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Only nearby, available workers are considered, so the customer gets a recommendation quickly.</a:t>
            </a:r>
            <a:endParaRPr/>
          </a:p>
        </p:txBody>
      </p:sp>
      <p:sp>
        <p:nvSpPr>
          <p:cNvPr id="627" name="Google Shape;627;p31"/>
          <p:cNvSpPr/>
          <p:nvPr/>
        </p:nvSpPr>
        <p:spPr>
          <a:xfrm>
            <a:off x="1371600" y="1298448"/>
            <a:ext cx="822960" cy="822960"/>
          </a:xfrm>
          <a:prstGeom prst="ellipse">
            <a:avLst/>
          </a:prstGeom>
          <a:gradFill rotWithShape="1">
            <a:gsLst>
              <a:gs pos="0">
                <a:srgbClr val="006662"/>
              </a:gs>
              <a:gs pos="100000">
                <a:srgbClr val="0E9294"/>
              </a:gs>
            </a:gsLst>
            <a:lin ang="2700000" scaled="0"/>
          </a:gradFill>
          <a:ln cap="flat" cmpd="sng" w="3175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Clock" id="628" name="Google Shape;628;p31"/>
          <p:cNvPicPr preferRelativeResize="0"/>
          <p:nvPr/>
        </p:nvPicPr>
        <p:blipFill rotWithShape="1">
          <a:blip r:embed="rId3">
            <a:alphaModFix/>
          </a:blip>
          <a:srcRect b="0" l="0" r="0" t="0"/>
          <a:stretch/>
        </p:blipFill>
        <p:spPr>
          <a:xfrm>
            <a:off x="1600200" y="1527048"/>
            <a:ext cx="365760" cy="365760"/>
          </a:xfrm>
          <a:prstGeom prst="rect">
            <a:avLst/>
          </a:prstGeom>
          <a:noFill/>
          <a:ln>
            <a:noFill/>
          </a:ln>
        </p:spPr>
      </p:pic>
      <p:sp>
        <p:nvSpPr>
          <p:cNvPr id="629" name="Google Shape;629;p31"/>
          <p:cNvSpPr/>
          <p:nvPr/>
        </p:nvSpPr>
        <p:spPr>
          <a:xfrm>
            <a:off x="3246120" y="1572768"/>
            <a:ext cx="2651760" cy="1828800"/>
          </a:xfrm>
          <a:prstGeom prst="roundRect">
            <a:avLst>
              <a:gd fmla="val 8000" name="adj"/>
            </a:avLst>
          </a:prstGeom>
          <a:gradFill rotWithShape="1">
            <a:gsLst>
              <a:gs pos="0">
                <a:srgbClr val="E4F7FE"/>
              </a:gs>
              <a:gs pos="100000">
                <a:srgbClr val="BCECFE"/>
              </a:gs>
            </a:gsLst>
            <a:lin ang="2700000" scaled="0"/>
          </a:gradFill>
          <a:ln cap="flat" cmpd="sng" w="15875">
            <a:solidFill>
              <a:srgbClr val="0F87A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1" i="0" lang="en-US" sz="1400" u="none" cap="none" strike="noStrike">
                <a:solidFill>
                  <a:srgbClr val="005065"/>
                </a:solidFill>
                <a:latin typeface="Times New Roman"/>
                <a:ea typeface="Times New Roman"/>
                <a:cs typeface="Times New Roman"/>
                <a:sym typeface="Times New Roman"/>
              </a:rPr>
              <a:t>Better Match</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The problem text is read to find the right service, and skill match is part of the score.</a:t>
            </a:r>
            <a:endParaRPr/>
          </a:p>
        </p:txBody>
      </p:sp>
      <p:sp>
        <p:nvSpPr>
          <p:cNvPr id="630" name="Google Shape;630;p31"/>
          <p:cNvSpPr/>
          <p:nvPr/>
        </p:nvSpPr>
        <p:spPr>
          <a:xfrm>
            <a:off x="4160520" y="1298448"/>
            <a:ext cx="822960" cy="822960"/>
          </a:xfrm>
          <a:prstGeom prst="ellipse">
            <a:avLst/>
          </a:prstGeom>
          <a:gradFill rotWithShape="1">
            <a:gsLst>
              <a:gs pos="0">
                <a:srgbClr val="076375"/>
              </a:gs>
              <a:gs pos="100000">
                <a:srgbClr val="008CB9"/>
              </a:gs>
            </a:gsLst>
            <a:lin ang="2700000" scaled="0"/>
          </a:gradFill>
          <a:ln cap="flat" cmpd="sng" w="3175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Bullseye" id="631" name="Google Shape;631;p31"/>
          <p:cNvPicPr preferRelativeResize="0"/>
          <p:nvPr/>
        </p:nvPicPr>
        <p:blipFill rotWithShape="1">
          <a:blip r:embed="rId4">
            <a:alphaModFix/>
          </a:blip>
          <a:srcRect b="0" l="0" r="0" t="0"/>
          <a:stretch/>
        </p:blipFill>
        <p:spPr>
          <a:xfrm>
            <a:off x="4389120" y="1527048"/>
            <a:ext cx="365760" cy="365760"/>
          </a:xfrm>
          <a:prstGeom prst="rect">
            <a:avLst/>
          </a:prstGeom>
          <a:noFill/>
          <a:ln>
            <a:noFill/>
          </a:ln>
        </p:spPr>
      </p:pic>
      <p:sp>
        <p:nvSpPr>
          <p:cNvPr id="632" name="Google Shape;632;p31"/>
          <p:cNvSpPr/>
          <p:nvPr/>
        </p:nvSpPr>
        <p:spPr>
          <a:xfrm>
            <a:off x="6035040" y="1572768"/>
            <a:ext cx="2651760" cy="1828800"/>
          </a:xfrm>
          <a:prstGeom prst="roundRect">
            <a:avLst>
              <a:gd fmla="val 8000" name="adj"/>
            </a:avLst>
          </a:prstGeom>
          <a:gradFill rotWithShape="1">
            <a:gsLst>
              <a:gs pos="0">
                <a:srgbClr val="FFFFFF"/>
              </a:gs>
              <a:gs pos="100000">
                <a:srgbClr val="E8F1FE"/>
              </a:gs>
            </a:gsLst>
            <a:lin ang="5400000" scaled="0"/>
          </a:gradFill>
          <a:ln cap="flat" cmpd="sng" w="15875">
            <a:solidFill>
              <a:srgbClr val="3C7BC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1" i="0" lang="en-US" sz="1400" u="none" cap="none" strike="noStrike">
                <a:solidFill>
                  <a:srgbClr val="07468B"/>
                </a:solidFill>
                <a:latin typeface="Times New Roman"/>
                <a:ea typeface="Times New Roman"/>
                <a:cs typeface="Times New Roman"/>
                <a:sym typeface="Times New Roman"/>
              </a:rPr>
              <a:t>Balanced Decision</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Skill, distance, quality, response time and cost are combined; no single factor decides.</a:t>
            </a:r>
            <a:endParaRPr/>
          </a:p>
        </p:txBody>
      </p:sp>
      <p:sp>
        <p:nvSpPr>
          <p:cNvPr id="633" name="Google Shape;633;p31"/>
          <p:cNvSpPr/>
          <p:nvPr/>
        </p:nvSpPr>
        <p:spPr>
          <a:xfrm>
            <a:off x="6949440" y="1298448"/>
            <a:ext cx="822960" cy="822960"/>
          </a:xfrm>
          <a:prstGeom prst="ellipse">
            <a:avLst/>
          </a:prstGeom>
          <a:gradFill rotWithShape="1">
            <a:gsLst>
              <a:gs pos="0">
                <a:srgbClr val="005A9D"/>
              </a:gs>
              <a:gs pos="100000">
                <a:srgbClr val="4E7CD9"/>
              </a:gs>
            </a:gsLst>
            <a:lin ang="2700000" scaled="0"/>
          </a:gradFill>
          <a:ln cap="flat" cmpd="sng" w="3175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BalanceScale" id="634" name="Google Shape;634;p31"/>
          <p:cNvPicPr preferRelativeResize="0"/>
          <p:nvPr/>
        </p:nvPicPr>
        <p:blipFill rotWithShape="1">
          <a:blip r:embed="rId5">
            <a:alphaModFix/>
          </a:blip>
          <a:srcRect b="0" l="0" r="0" t="0"/>
          <a:stretch/>
        </p:blipFill>
        <p:spPr>
          <a:xfrm>
            <a:off x="7178040" y="1527048"/>
            <a:ext cx="365760" cy="365760"/>
          </a:xfrm>
          <a:prstGeom prst="rect">
            <a:avLst/>
          </a:prstGeom>
          <a:noFill/>
          <a:ln>
            <a:noFill/>
          </a:ln>
        </p:spPr>
      </p:pic>
      <p:sp>
        <p:nvSpPr>
          <p:cNvPr id="635" name="Google Shape;635;p31"/>
          <p:cNvSpPr/>
          <p:nvPr/>
        </p:nvSpPr>
        <p:spPr>
          <a:xfrm>
            <a:off x="457200" y="3858768"/>
            <a:ext cx="2651760" cy="1828800"/>
          </a:xfrm>
          <a:prstGeom prst="roundRect">
            <a:avLst>
              <a:gd fmla="val 8000" name="adj"/>
            </a:avLst>
          </a:prstGeom>
          <a:gradFill rotWithShape="1">
            <a:gsLst>
              <a:gs pos="0">
                <a:srgbClr val="F3F2FF"/>
              </a:gs>
              <a:gs pos="100000">
                <a:srgbClr val="E1DFFD"/>
              </a:gs>
            </a:gsLst>
            <a:lin ang="2700000" scaled="0"/>
          </a:gradFill>
          <a:ln cap="flat" cmpd="sng" w="15875">
            <a:solidFill>
              <a:srgbClr val="7969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1" i="0" lang="en-US" sz="1400" u="none" cap="none" strike="noStrike">
                <a:solidFill>
                  <a:srgbClr val="483788"/>
                </a:solidFill>
                <a:latin typeface="Times New Roman"/>
                <a:ea typeface="Times New Roman"/>
                <a:cs typeface="Times New Roman"/>
                <a:sym typeface="Times New Roman"/>
              </a:rPr>
              <a:t>Learning from Feedback</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The quality estimate of a worker improves with every rated job.</a:t>
            </a:r>
            <a:endParaRPr/>
          </a:p>
        </p:txBody>
      </p:sp>
      <p:sp>
        <p:nvSpPr>
          <p:cNvPr id="636" name="Google Shape;636;p31"/>
          <p:cNvSpPr/>
          <p:nvPr/>
        </p:nvSpPr>
        <p:spPr>
          <a:xfrm>
            <a:off x="1371600" y="3584448"/>
            <a:ext cx="822960" cy="822960"/>
          </a:xfrm>
          <a:prstGeom prst="ellipse">
            <a:avLst/>
          </a:prstGeom>
          <a:gradFill rotWithShape="1">
            <a:gsLst>
              <a:gs pos="0">
                <a:srgbClr val="4F47A8"/>
              </a:gs>
              <a:gs pos="100000">
                <a:srgbClr val="896ACF"/>
              </a:gs>
            </a:gsLst>
            <a:lin ang="2700000" scaled="0"/>
          </a:gradFill>
          <a:ln cap="flat" cmpd="sng" w="3175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yncAlt" id="637" name="Google Shape;637;p31"/>
          <p:cNvPicPr preferRelativeResize="0"/>
          <p:nvPr/>
        </p:nvPicPr>
        <p:blipFill rotWithShape="1">
          <a:blip r:embed="rId6">
            <a:alphaModFix/>
          </a:blip>
          <a:srcRect b="0" l="0" r="0" t="0"/>
          <a:stretch/>
        </p:blipFill>
        <p:spPr>
          <a:xfrm>
            <a:off x="1600200" y="3813048"/>
            <a:ext cx="365760" cy="365760"/>
          </a:xfrm>
          <a:prstGeom prst="rect">
            <a:avLst/>
          </a:prstGeom>
          <a:noFill/>
          <a:ln>
            <a:noFill/>
          </a:ln>
        </p:spPr>
      </p:pic>
      <p:sp>
        <p:nvSpPr>
          <p:cNvPr id="638" name="Google Shape;638;p31"/>
          <p:cNvSpPr/>
          <p:nvPr/>
        </p:nvSpPr>
        <p:spPr>
          <a:xfrm>
            <a:off x="3246120" y="3858768"/>
            <a:ext cx="2651760" cy="1828800"/>
          </a:xfrm>
          <a:prstGeom prst="roundRect">
            <a:avLst>
              <a:gd fmla="val 8000" name="adj"/>
            </a:avLst>
          </a:prstGeom>
          <a:gradFill rotWithShape="1">
            <a:gsLst>
              <a:gs pos="0">
                <a:srgbClr val="FFFFFF"/>
              </a:gs>
              <a:gs pos="100000">
                <a:srgbClr val="FAEAFC"/>
              </a:gs>
            </a:gsLst>
            <a:lin ang="5400000" scaled="0"/>
          </a:gradFill>
          <a:ln cap="flat" cmpd="sng" w="15875">
            <a:solidFill>
              <a:srgbClr val="A05BA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1" i="0" lang="en-US" sz="1400" u="none" cap="none" strike="noStrike">
                <a:solidFill>
                  <a:srgbClr val="672970"/>
                </a:solidFill>
                <a:latin typeface="Times New Roman"/>
                <a:ea typeface="Times New Roman"/>
                <a:cs typeface="Times New Roman"/>
                <a:sym typeface="Times New Roman"/>
              </a:rPr>
              <a:t>Fair Chance for New Workers</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The exploration bonus lets workers with few jobs be selected.</a:t>
            </a:r>
            <a:endParaRPr/>
          </a:p>
        </p:txBody>
      </p:sp>
      <p:sp>
        <p:nvSpPr>
          <p:cNvPr id="639" name="Google Shape;639;p31"/>
          <p:cNvSpPr/>
          <p:nvPr/>
        </p:nvSpPr>
        <p:spPr>
          <a:xfrm>
            <a:off x="4160520" y="3584448"/>
            <a:ext cx="822960" cy="822960"/>
          </a:xfrm>
          <a:prstGeom prst="ellipse">
            <a:avLst/>
          </a:prstGeom>
          <a:gradFill rotWithShape="1">
            <a:gsLst>
              <a:gs pos="0">
                <a:srgbClr val="773790"/>
              </a:gs>
              <a:gs pos="100000">
                <a:srgbClr val="AF5BAC"/>
              </a:gs>
            </a:gsLst>
            <a:lin ang="2700000" scaled="0"/>
          </a:gradFill>
          <a:ln cap="flat" cmpd="sng" w="3175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eedling" id="640" name="Google Shape;640;p31"/>
          <p:cNvPicPr preferRelativeResize="0"/>
          <p:nvPr/>
        </p:nvPicPr>
        <p:blipFill rotWithShape="1">
          <a:blip r:embed="rId7">
            <a:alphaModFix/>
          </a:blip>
          <a:srcRect b="0" l="0" r="0" t="0"/>
          <a:stretch/>
        </p:blipFill>
        <p:spPr>
          <a:xfrm>
            <a:off x="4389120" y="3813048"/>
            <a:ext cx="365760" cy="365760"/>
          </a:xfrm>
          <a:prstGeom prst="rect">
            <a:avLst/>
          </a:prstGeom>
          <a:noFill/>
          <a:ln>
            <a:noFill/>
          </a:ln>
        </p:spPr>
      </p:pic>
      <p:sp>
        <p:nvSpPr>
          <p:cNvPr id="641" name="Google Shape;641;p31"/>
          <p:cNvSpPr/>
          <p:nvPr/>
        </p:nvSpPr>
        <p:spPr>
          <a:xfrm>
            <a:off x="6035040" y="3858768"/>
            <a:ext cx="2651760" cy="1828800"/>
          </a:xfrm>
          <a:prstGeom prst="roundRect">
            <a:avLst>
              <a:gd fmla="val 8000" name="adj"/>
            </a:avLst>
          </a:prstGeom>
          <a:gradFill rotWithShape="1">
            <a:gsLst>
              <a:gs pos="0">
                <a:srgbClr val="FEEFF4"/>
              </a:gs>
              <a:gs pos="100000">
                <a:srgbClr val="FDD7E4"/>
              </a:gs>
            </a:gsLst>
            <a:lin ang="2700000" scaled="0"/>
          </a:gradFill>
          <a:ln cap="flat" cmpd="sng" w="15875">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Arial"/>
              <a:ea typeface="Arial"/>
              <a:cs typeface="Arial"/>
              <a:sym typeface="Arial"/>
            </a:endParaRPr>
          </a:p>
          <a:p>
            <a:pPr indent="0" lvl="0" marL="0" marR="0" rtl="0" algn="ctr">
              <a:lnSpc>
                <a:spcPct val="100000"/>
              </a:lnSpc>
              <a:spcBef>
                <a:spcPts val="200"/>
              </a:spcBef>
              <a:spcAft>
                <a:spcPts val="0"/>
              </a:spcAft>
              <a:buClr>
                <a:srgbClr val="000000"/>
              </a:buClr>
              <a:buSzPts val="1400"/>
              <a:buFont typeface="Arial"/>
              <a:buNone/>
            </a:pPr>
            <a:r>
              <a:rPr b="1" i="0" lang="en-US" sz="1400" u="none" cap="none" strike="noStrike">
                <a:solidFill>
                  <a:srgbClr val="79204B"/>
                </a:solidFill>
                <a:latin typeface="Times New Roman"/>
                <a:ea typeface="Times New Roman"/>
                <a:cs typeface="Times New Roman"/>
                <a:sym typeface="Times New Roman"/>
              </a:rPr>
              <a:t>Better Use of Workers</a:t>
            </a:r>
            <a:endParaRPr/>
          </a:p>
          <a:p>
            <a:pPr indent="0" lvl="0" marL="0" marR="0" rtl="0" algn="ctr">
              <a:lnSpc>
                <a:spcPct val="100000"/>
              </a:lnSpc>
              <a:spcBef>
                <a:spcPts val="400"/>
              </a:spcBef>
              <a:spcAft>
                <a:spcPts val="0"/>
              </a:spcAft>
              <a:buClr>
                <a:srgbClr val="000000"/>
              </a:buClr>
              <a:buSzPts val="1250"/>
              <a:buFont typeface="Arial"/>
              <a:buNone/>
            </a:pPr>
            <a:r>
              <a:rPr b="0" i="0" lang="en-US" sz="1250" u="none" cap="none" strike="noStrike">
                <a:solidFill>
                  <a:schemeClr val="dk1"/>
                </a:solidFill>
                <a:latin typeface="Times New Roman"/>
                <a:ea typeface="Times New Roman"/>
                <a:cs typeface="Times New Roman"/>
                <a:sym typeface="Times New Roman"/>
              </a:rPr>
              <a:t>Jobs go to workers who are close and free, reducing idle time and travel.</a:t>
            </a:r>
            <a:endParaRPr/>
          </a:p>
        </p:txBody>
      </p:sp>
      <p:sp>
        <p:nvSpPr>
          <p:cNvPr id="642" name="Google Shape;642;p31"/>
          <p:cNvSpPr/>
          <p:nvPr/>
        </p:nvSpPr>
        <p:spPr>
          <a:xfrm>
            <a:off x="6949440" y="3584448"/>
            <a:ext cx="822960" cy="822960"/>
          </a:xfrm>
          <a:prstGeom prst="ellipse">
            <a:avLst/>
          </a:prstGeom>
          <a:gradFill rotWithShape="1">
            <a:gsLst>
              <a:gs pos="0">
                <a:srgbClr val="902A66"/>
              </a:gs>
              <a:gs pos="100000">
                <a:srgbClr val="C25485"/>
              </a:gs>
            </a:gsLst>
            <a:lin ang="2700000" scaled="0"/>
          </a:gradFill>
          <a:ln cap="flat" cmpd="sng" w="3175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Route" id="643" name="Google Shape;643;p31"/>
          <p:cNvPicPr preferRelativeResize="0"/>
          <p:nvPr/>
        </p:nvPicPr>
        <p:blipFill rotWithShape="1">
          <a:blip r:embed="rId8">
            <a:alphaModFix/>
          </a:blip>
          <a:srcRect b="0" l="0" r="0" t="0"/>
          <a:stretch/>
        </p:blipFill>
        <p:spPr>
          <a:xfrm>
            <a:off x="7178040" y="3813048"/>
            <a:ext cx="365760" cy="365760"/>
          </a:xfrm>
          <a:prstGeom prst="rect">
            <a:avLst/>
          </a:prstGeom>
          <a:noFill/>
          <a:ln>
            <a:noFill/>
          </a:ln>
        </p:spPr>
      </p:pic>
    </p:spTree>
  </p:cSld>
  <p:clrMapOvr>
    <a:masterClrMapping/>
  </p:clrMapOvr>
  <mc:AlternateContent>
    <mc:Choice Requires="p14">
      <p:transition spd="slow" p14:dur="1400">
        <p14:pan dir="r"/>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626"/>
                                        </p:tgtEl>
                                        <p:attrNameLst>
                                          <p:attrName>style.visibility</p:attrName>
                                        </p:attrNameLst>
                                      </p:cBhvr>
                                      <p:to>
                                        <p:strVal val="visible"/>
                                      </p:to>
                                    </p:set>
                                    <p:anim calcmode="lin" valueType="num">
                                      <p:cBhvr additive="base">
                                        <p:cTn dur="450"/>
                                        <p:tgtEl>
                                          <p:spTgt spid="626"/>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00"/>
                                  </p:stCondLst>
                                  <p:childTnLst>
                                    <p:set>
                                      <p:cBhvr>
                                        <p:cTn dur="1" fill="hold">
                                          <p:stCondLst>
                                            <p:cond delay="0"/>
                                          </p:stCondLst>
                                        </p:cTn>
                                        <p:tgtEl>
                                          <p:spTgt spid="627"/>
                                        </p:tgtEl>
                                        <p:attrNameLst>
                                          <p:attrName>style.visibility</p:attrName>
                                        </p:attrNameLst>
                                      </p:cBhvr>
                                      <p:to>
                                        <p:strVal val="visible"/>
                                      </p:to>
                                    </p:set>
                                    <p:anim calcmode="lin" valueType="num">
                                      <p:cBhvr additive="base">
                                        <p:cTn dur="400"/>
                                        <p:tgtEl>
                                          <p:spTgt spid="627"/>
                                        </p:tgtEl>
                                        <p:attrNameLst>
                                          <p:attrName>ppt_w</p:attrName>
                                        </p:attrNameLst>
                                      </p:cBhvr>
                                      <p:tavLst>
                                        <p:tav fmla="" tm="0">
                                          <p:val>
                                            <p:strVal val="0"/>
                                          </p:val>
                                        </p:tav>
                                        <p:tav fmla="" tm="100000">
                                          <p:val>
                                            <p:strVal val="#ppt_w"/>
                                          </p:val>
                                        </p:tav>
                                      </p:tavLst>
                                    </p:anim>
                                    <p:anim calcmode="lin" valueType="num">
                                      <p:cBhvr additive="base">
                                        <p:cTn dur="400"/>
                                        <p:tgtEl>
                                          <p:spTgt spid="62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
                                  </p:stCondLst>
                                  <p:childTnLst>
                                    <p:set>
                                      <p:cBhvr>
                                        <p:cTn dur="1" fill="hold">
                                          <p:stCondLst>
                                            <p:cond delay="0"/>
                                          </p:stCondLst>
                                        </p:cTn>
                                        <p:tgtEl>
                                          <p:spTgt spid="628"/>
                                        </p:tgtEl>
                                        <p:attrNameLst>
                                          <p:attrName>style.visibility</p:attrName>
                                        </p:attrNameLst>
                                      </p:cBhvr>
                                      <p:to>
                                        <p:strVal val="visible"/>
                                      </p:to>
                                    </p:set>
                                    <p:anim calcmode="lin" valueType="num">
                                      <p:cBhvr additive="base">
                                        <p:cTn dur="400"/>
                                        <p:tgtEl>
                                          <p:spTgt spid="628"/>
                                        </p:tgtEl>
                                        <p:attrNameLst>
                                          <p:attrName>ppt_w</p:attrName>
                                        </p:attrNameLst>
                                      </p:cBhvr>
                                      <p:tavLst>
                                        <p:tav fmla="" tm="0">
                                          <p:val>
                                            <p:strVal val="0"/>
                                          </p:val>
                                        </p:tav>
                                        <p:tav fmla="" tm="100000">
                                          <p:val>
                                            <p:strVal val="#ppt_w"/>
                                          </p:val>
                                        </p:tav>
                                      </p:tavLst>
                                    </p:anim>
                                    <p:anim calcmode="lin" valueType="num">
                                      <p:cBhvr additive="base">
                                        <p:cTn dur="400"/>
                                        <p:tgtEl>
                                          <p:spTgt spid="628"/>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360"/>
                                  </p:stCondLst>
                                  <p:childTnLst>
                                    <p:set>
                                      <p:cBhvr>
                                        <p:cTn dur="1" fill="hold">
                                          <p:stCondLst>
                                            <p:cond delay="0"/>
                                          </p:stCondLst>
                                        </p:cTn>
                                        <p:tgtEl>
                                          <p:spTgt spid="629"/>
                                        </p:tgtEl>
                                        <p:attrNameLst>
                                          <p:attrName>style.visibility</p:attrName>
                                        </p:attrNameLst>
                                      </p:cBhvr>
                                      <p:to>
                                        <p:strVal val="visible"/>
                                      </p:to>
                                    </p:set>
                                    <p:anim calcmode="lin" valueType="num">
                                      <p:cBhvr additive="base">
                                        <p:cTn dur="450"/>
                                        <p:tgtEl>
                                          <p:spTgt spid="629"/>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460"/>
                                  </p:stCondLst>
                                  <p:childTnLst>
                                    <p:set>
                                      <p:cBhvr>
                                        <p:cTn dur="1" fill="hold">
                                          <p:stCondLst>
                                            <p:cond delay="0"/>
                                          </p:stCondLst>
                                        </p:cTn>
                                        <p:tgtEl>
                                          <p:spTgt spid="630"/>
                                        </p:tgtEl>
                                        <p:attrNameLst>
                                          <p:attrName>style.visibility</p:attrName>
                                        </p:attrNameLst>
                                      </p:cBhvr>
                                      <p:to>
                                        <p:strVal val="visible"/>
                                      </p:to>
                                    </p:set>
                                    <p:anim calcmode="lin" valueType="num">
                                      <p:cBhvr additive="base">
                                        <p:cTn dur="400"/>
                                        <p:tgtEl>
                                          <p:spTgt spid="630"/>
                                        </p:tgtEl>
                                        <p:attrNameLst>
                                          <p:attrName>ppt_w</p:attrName>
                                        </p:attrNameLst>
                                      </p:cBhvr>
                                      <p:tavLst>
                                        <p:tav fmla="" tm="0">
                                          <p:val>
                                            <p:strVal val="0"/>
                                          </p:val>
                                        </p:tav>
                                        <p:tav fmla="" tm="100000">
                                          <p:val>
                                            <p:strVal val="#ppt_w"/>
                                          </p:val>
                                        </p:tav>
                                      </p:tavLst>
                                    </p:anim>
                                    <p:anim calcmode="lin" valueType="num">
                                      <p:cBhvr additive="base">
                                        <p:cTn dur="400"/>
                                        <p:tgtEl>
                                          <p:spTgt spid="63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60"/>
                                  </p:stCondLst>
                                  <p:childTnLst>
                                    <p:set>
                                      <p:cBhvr>
                                        <p:cTn dur="1" fill="hold">
                                          <p:stCondLst>
                                            <p:cond delay="0"/>
                                          </p:stCondLst>
                                        </p:cTn>
                                        <p:tgtEl>
                                          <p:spTgt spid="631"/>
                                        </p:tgtEl>
                                        <p:attrNameLst>
                                          <p:attrName>style.visibility</p:attrName>
                                        </p:attrNameLst>
                                      </p:cBhvr>
                                      <p:to>
                                        <p:strVal val="visible"/>
                                      </p:to>
                                    </p:set>
                                    <p:anim calcmode="lin" valueType="num">
                                      <p:cBhvr additive="base">
                                        <p:cTn dur="400"/>
                                        <p:tgtEl>
                                          <p:spTgt spid="631"/>
                                        </p:tgtEl>
                                        <p:attrNameLst>
                                          <p:attrName>ppt_w</p:attrName>
                                        </p:attrNameLst>
                                      </p:cBhvr>
                                      <p:tavLst>
                                        <p:tav fmla="" tm="0">
                                          <p:val>
                                            <p:strVal val="0"/>
                                          </p:val>
                                        </p:tav>
                                        <p:tav fmla="" tm="100000">
                                          <p:val>
                                            <p:strVal val="#ppt_w"/>
                                          </p:val>
                                        </p:tav>
                                      </p:tavLst>
                                    </p:anim>
                                    <p:anim calcmode="lin" valueType="num">
                                      <p:cBhvr additive="base">
                                        <p:cTn dur="400"/>
                                        <p:tgtEl>
                                          <p:spTgt spid="631"/>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720"/>
                                  </p:stCondLst>
                                  <p:childTnLst>
                                    <p:set>
                                      <p:cBhvr>
                                        <p:cTn dur="1" fill="hold">
                                          <p:stCondLst>
                                            <p:cond delay="0"/>
                                          </p:stCondLst>
                                        </p:cTn>
                                        <p:tgtEl>
                                          <p:spTgt spid="632"/>
                                        </p:tgtEl>
                                        <p:attrNameLst>
                                          <p:attrName>style.visibility</p:attrName>
                                        </p:attrNameLst>
                                      </p:cBhvr>
                                      <p:to>
                                        <p:strVal val="visible"/>
                                      </p:to>
                                    </p:set>
                                    <p:anim calcmode="lin" valueType="num">
                                      <p:cBhvr additive="base">
                                        <p:cTn dur="450"/>
                                        <p:tgtEl>
                                          <p:spTgt spid="632"/>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820"/>
                                  </p:stCondLst>
                                  <p:childTnLst>
                                    <p:set>
                                      <p:cBhvr>
                                        <p:cTn dur="1" fill="hold">
                                          <p:stCondLst>
                                            <p:cond delay="0"/>
                                          </p:stCondLst>
                                        </p:cTn>
                                        <p:tgtEl>
                                          <p:spTgt spid="633"/>
                                        </p:tgtEl>
                                        <p:attrNameLst>
                                          <p:attrName>style.visibility</p:attrName>
                                        </p:attrNameLst>
                                      </p:cBhvr>
                                      <p:to>
                                        <p:strVal val="visible"/>
                                      </p:to>
                                    </p:set>
                                    <p:anim calcmode="lin" valueType="num">
                                      <p:cBhvr additive="base">
                                        <p:cTn dur="400"/>
                                        <p:tgtEl>
                                          <p:spTgt spid="633"/>
                                        </p:tgtEl>
                                        <p:attrNameLst>
                                          <p:attrName>ppt_w</p:attrName>
                                        </p:attrNameLst>
                                      </p:cBhvr>
                                      <p:tavLst>
                                        <p:tav fmla="" tm="0">
                                          <p:val>
                                            <p:strVal val="0"/>
                                          </p:val>
                                        </p:tav>
                                        <p:tav fmla="" tm="100000">
                                          <p:val>
                                            <p:strVal val="#ppt_w"/>
                                          </p:val>
                                        </p:tav>
                                      </p:tavLst>
                                    </p:anim>
                                    <p:anim calcmode="lin" valueType="num">
                                      <p:cBhvr additive="base">
                                        <p:cTn dur="400"/>
                                        <p:tgtEl>
                                          <p:spTgt spid="63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820"/>
                                  </p:stCondLst>
                                  <p:childTnLst>
                                    <p:set>
                                      <p:cBhvr>
                                        <p:cTn dur="1" fill="hold">
                                          <p:stCondLst>
                                            <p:cond delay="0"/>
                                          </p:stCondLst>
                                        </p:cTn>
                                        <p:tgtEl>
                                          <p:spTgt spid="634"/>
                                        </p:tgtEl>
                                        <p:attrNameLst>
                                          <p:attrName>style.visibility</p:attrName>
                                        </p:attrNameLst>
                                      </p:cBhvr>
                                      <p:to>
                                        <p:strVal val="visible"/>
                                      </p:to>
                                    </p:set>
                                    <p:anim calcmode="lin" valueType="num">
                                      <p:cBhvr additive="base">
                                        <p:cTn dur="400"/>
                                        <p:tgtEl>
                                          <p:spTgt spid="634"/>
                                        </p:tgtEl>
                                        <p:attrNameLst>
                                          <p:attrName>ppt_w</p:attrName>
                                        </p:attrNameLst>
                                      </p:cBhvr>
                                      <p:tavLst>
                                        <p:tav fmla="" tm="0">
                                          <p:val>
                                            <p:strVal val="0"/>
                                          </p:val>
                                        </p:tav>
                                        <p:tav fmla="" tm="100000">
                                          <p:val>
                                            <p:strVal val="#ppt_w"/>
                                          </p:val>
                                        </p:tav>
                                      </p:tavLst>
                                    </p:anim>
                                    <p:anim calcmode="lin" valueType="num">
                                      <p:cBhvr additive="base">
                                        <p:cTn dur="400"/>
                                        <p:tgtEl>
                                          <p:spTgt spid="634"/>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1080"/>
                                  </p:stCondLst>
                                  <p:childTnLst>
                                    <p:set>
                                      <p:cBhvr>
                                        <p:cTn dur="1" fill="hold">
                                          <p:stCondLst>
                                            <p:cond delay="0"/>
                                          </p:stCondLst>
                                        </p:cTn>
                                        <p:tgtEl>
                                          <p:spTgt spid="635"/>
                                        </p:tgtEl>
                                        <p:attrNameLst>
                                          <p:attrName>style.visibility</p:attrName>
                                        </p:attrNameLst>
                                      </p:cBhvr>
                                      <p:to>
                                        <p:strVal val="visible"/>
                                      </p:to>
                                    </p:set>
                                    <p:anim calcmode="lin" valueType="num">
                                      <p:cBhvr additive="base">
                                        <p:cTn dur="450"/>
                                        <p:tgtEl>
                                          <p:spTgt spid="635"/>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180"/>
                                  </p:stCondLst>
                                  <p:childTnLst>
                                    <p:set>
                                      <p:cBhvr>
                                        <p:cTn dur="1" fill="hold">
                                          <p:stCondLst>
                                            <p:cond delay="0"/>
                                          </p:stCondLst>
                                        </p:cTn>
                                        <p:tgtEl>
                                          <p:spTgt spid="636"/>
                                        </p:tgtEl>
                                        <p:attrNameLst>
                                          <p:attrName>style.visibility</p:attrName>
                                        </p:attrNameLst>
                                      </p:cBhvr>
                                      <p:to>
                                        <p:strVal val="visible"/>
                                      </p:to>
                                    </p:set>
                                    <p:anim calcmode="lin" valueType="num">
                                      <p:cBhvr additive="base">
                                        <p:cTn dur="400"/>
                                        <p:tgtEl>
                                          <p:spTgt spid="636"/>
                                        </p:tgtEl>
                                        <p:attrNameLst>
                                          <p:attrName>ppt_w</p:attrName>
                                        </p:attrNameLst>
                                      </p:cBhvr>
                                      <p:tavLst>
                                        <p:tav fmla="" tm="0">
                                          <p:val>
                                            <p:strVal val="0"/>
                                          </p:val>
                                        </p:tav>
                                        <p:tav fmla="" tm="100000">
                                          <p:val>
                                            <p:strVal val="#ppt_w"/>
                                          </p:val>
                                        </p:tav>
                                      </p:tavLst>
                                    </p:anim>
                                    <p:anim calcmode="lin" valueType="num">
                                      <p:cBhvr additive="base">
                                        <p:cTn dur="400"/>
                                        <p:tgtEl>
                                          <p:spTgt spid="63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180"/>
                                  </p:stCondLst>
                                  <p:childTnLst>
                                    <p:set>
                                      <p:cBhvr>
                                        <p:cTn dur="1" fill="hold">
                                          <p:stCondLst>
                                            <p:cond delay="0"/>
                                          </p:stCondLst>
                                        </p:cTn>
                                        <p:tgtEl>
                                          <p:spTgt spid="637"/>
                                        </p:tgtEl>
                                        <p:attrNameLst>
                                          <p:attrName>style.visibility</p:attrName>
                                        </p:attrNameLst>
                                      </p:cBhvr>
                                      <p:to>
                                        <p:strVal val="visible"/>
                                      </p:to>
                                    </p:set>
                                    <p:anim calcmode="lin" valueType="num">
                                      <p:cBhvr additive="base">
                                        <p:cTn dur="400"/>
                                        <p:tgtEl>
                                          <p:spTgt spid="637"/>
                                        </p:tgtEl>
                                        <p:attrNameLst>
                                          <p:attrName>ppt_w</p:attrName>
                                        </p:attrNameLst>
                                      </p:cBhvr>
                                      <p:tavLst>
                                        <p:tav fmla="" tm="0">
                                          <p:val>
                                            <p:strVal val="0"/>
                                          </p:val>
                                        </p:tav>
                                        <p:tav fmla="" tm="100000">
                                          <p:val>
                                            <p:strVal val="#ppt_w"/>
                                          </p:val>
                                        </p:tav>
                                      </p:tavLst>
                                    </p:anim>
                                    <p:anim calcmode="lin" valueType="num">
                                      <p:cBhvr additive="base">
                                        <p:cTn dur="400"/>
                                        <p:tgtEl>
                                          <p:spTgt spid="637"/>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1440"/>
                                  </p:stCondLst>
                                  <p:childTnLst>
                                    <p:set>
                                      <p:cBhvr>
                                        <p:cTn dur="1" fill="hold">
                                          <p:stCondLst>
                                            <p:cond delay="0"/>
                                          </p:stCondLst>
                                        </p:cTn>
                                        <p:tgtEl>
                                          <p:spTgt spid="638"/>
                                        </p:tgtEl>
                                        <p:attrNameLst>
                                          <p:attrName>style.visibility</p:attrName>
                                        </p:attrNameLst>
                                      </p:cBhvr>
                                      <p:to>
                                        <p:strVal val="visible"/>
                                      </p:to>
                                    </p:set>
                                    <p:anim calcmode="lin" valueType="num">
                                      <p:cBhvr additive="base">
                                        <p:cTn dur="450"/>
                                        <p:tgtEl>
                                          <p:spTgt spid="638"/>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540"/>
                                  </p:stCondLst>
                                  <p:childTnLst>
                                    <p:set>
                                      <p:cBhvr>
                                        <p:cTn dur="1" fill="hold">
                                          <p:stCondLst>
                                            <p:cond delay="0"/>
                                          </p:stCondLst>
                                        </p:cTn>
                                        <p:tgtEl>
                                          <p:spTgt spid="639"/>
                                        </p:tgtEl>
                                        <p:attrNameLst>
                                          <p:attrName>style.visibility</p:attrName>
                                        </p:attrNameLst>
                                      </p:cBhvr>
                                      <p:to>
                                        <p:strVal val="visible"/>
                                      </p:to>
                                    </p:set>
                                    <p:anim calcmode="lin" valueType="num">
                                      <p:cBhvr additive="base">
                                        <p:cTn dur="400"/>
                                        <p:tgtEl>
                                          <p:spTgt spid="639"/>
                                        </p:tgtEl>
                                        <p:attrNameLst>
                                          <p:attrName>ppt_w</p:attrName>
                                        </p:attrNameLst>
                                      </p:cBhvr>
                                      <p:tavLst>
                                        <p:tav fmla="" tm="0">
                                          <p:val>
                                            <p:strVal val="0"/>
                                          </p:val>
                                        </p:tav>
                                        <p:tav fmla="" tm="100000">
                                          <p:val>
                                            <p:strVal val="#ppt_w"/>
                                          </p:val>
                                        </p:tav>
                                      </p:tavLst>
                                    </p:anim>
                                    <p:anim calcmode="lin" valueType="num">
                                      <p:cBhvr additive="base">
                                        <p:cTn dur="400"/>
                                        <p:tgtEl>
                                          <p:spTgt spid="63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540"/>
                                  </p:stCondLst>
                                  <p:childTnLst>
                                    <p:set>
                                      <p:cBhvr>
                                        <p:cTn dur="1" fill="hold">
                                          <p:stCondLst>
                                            <p:cond delay="0"/>
                                          </p:stCondLst>
                                        </p:cTn>
                                        <p:tgtEl>
                                          <p:spTgt spid="640"/>
                                        </p:tgtEl>
                                        <p:attrNameLst>
                                          <p:attrName>style.visibility</p:attrName>
                                        </p:attrNameLst>
                                      </p:cBhvr>
                                      <p:to>
                                        <p:strVal val="visible"/>
                                      </p:to>
                                    </p:set>
                                    <p:anim calcmode="lin" valueType="num">
                                      <p:cBhvr additive="base">
                                        <p:cTn dur="400"/>
                                        <p:tgtEl>
                                          <p:spTgt spid="640"/>
                                        </p:tgtEl>
                                        <p:attrNameLst>
                                          <p:attrName>ppt_w</p:attrName>
                                        </p:attrNameLst>
                                      </p:cBhvr>
                                      <p:tavLst>
                                        <p:tav fmla="" tm="0">
                                          <p:val>
                                            <p:strVal val="0"/>
                                          </p:val>
                                        </p:tav>
                                        <p:tav fmla="" tm="100000">
                                          <p:val>
                                            <p:strVal val="#ppt_w"/>
                                          </p:val>
                                        </p:tav>
                                      </p:tavLst>
                                    </p:anim>
                                    <p:anim calcmode="lin" valueType="num">
                                      <p:cBhvr additive="base">
                                        <p:cTn dur="400"/>
                                        <p:tgtEl>
                                          <p:spTgt spid="640"/>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1800"/>
                                  </p:stCondLst>
                                  <p:childTnLst>
                                    <p:set>
                                      <p:cBhvr>
                                        <p:cTn dur="1" fill="hold">
                                          <p:stCondLst>
                                            <p:cond delay="0"/>
                                          </p:stCondLst>
                                        </p:cTn>
                                        <p:tgtEl>
                                          <p:spTgt spid="641"/>
                                        </p:tgtEl>
                                        <p:attrNameLst>
                                          <p:attrName>style.visibility</p:attrName>
                                        </p:attrNameLst>
                                      </p:cBhvr>
                                      <p:to>
                                        <p:strVal val="visible"/>
                                      </p:to>
                                    </p:set>
                                    <p:anim calcmode="lin" valueType="num">
                                      <p:cBhvr additive="base">
                                        <p:cTn dur="450"/>
                                        <p:tgtEl>
                                          <p:spTgt spid="641"/>
                                        </p:tgtEl>
                                        <p:attrNameLst>
                                          <p:attrName>ppt_y</p:attrName>
                                        </p:attrNameLst>
                                      </p:cBhvr>
                                      <p:tavLst>
                                        <p:tav fmla="" tm="0">
                                          <p:val>
                                            <p:strVal val="#ppt_y+1"/>
                                          </p:val>
                                        </p:tav>
                                        <p:tav fmla="" tm="100000">
                                          <p:val>
                                            <p:strVal val="#ppt_y"/>
                                          </p:val>
                                        </p:tav>
                                      </p:tavLst>
                                    </p:anim>
                                  </p:childTnLst>
                                </p:cTn>
                              </p:par>
                              <p:par>
                                <p:cTn fill="hold" nodeType="withEffect" presetClass="entr" presetID="23" presetSubtype="16">
                                  <p:stCondLst>
                                    <p:cond delay="1900"/>
                                  </p:stCondLst>
                                  <p:childTnLst>
                                    <p:set>
                                      <p:cBhvr>
                                        <p:cTn dur="1" fill="hold">
                                          <p:stCondLst>
                                            <p:cond delay="0"/>
                                          </p:stCondLst>
                                        </p:cTn>
                                        <p:tgtEl>
                                          <p:spTgt spid="642"/>
                                        </p:tgtEl>
                                        <p:attrNameLst>
                                          <p:attrName>style.visibility</p:attrName>
                                        </p:attrNameLst>
                                      </p:cBhvr>
                                      <p:to>
                                        <p:strVal val="visible"/>
                                      </p:to>
                                    </p:set>
                                    <p:anim calcmode="lin" valueType="num">
                                      <p:cBhvr additive="base">
                                        <p:cTn dur="400"/>
                                        <p:tgtEl>
                                          <p:spTgt spid="642"/>
                                        </p:tgtEl>
                                        <p:attrNameLst>
                                          <p:attrName>ppt_w</p:attrName>
                                        </p:attrNameLst>
                                      </p:cBhvr>
                                      <p:tavLst>
                                        <p:tav fmla="" tm="0">
                                          <p:val>
                                            <p:strVal val="0"/>
                                          </p:val>
                                        </p:tav>
                                        <p:tav fmla="" tm="100000">
                                          <p:val>
                                            <p:strVal val="#ppt_w"/>
                                          </p:val>
                                        </p:tav>
                                      </p:tavLst>
                                    </p:anim>
                                    <p:anim calcmode="lin" valueType="num">
                                      <p:cBhvr additive="base">
                                        <p:cTn dur="400"/>
                                        <p:tgtEl>
                                          <p:spTgt spid="64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900"/>
                                  </p:stCondLst>
                                  <p:childTnLst>
                                    <p:set>
                                      <p:cBhvr>
                                        <p:cTn dur="1" fill="hold">
                                          <p:stCondLst>
                                            <p:cond delay="0"/>
                                          </p:stCondLst>
                                        </p:cTn>
                                        <p:tgtEl>
                                          <p:spTgt spid="643"/>
                                        </p:tgtEl>
                                        <p:attrNameLst>
                                          <p:attrName>style.visibility</p:attrName>
                                        </p:attrNameLst>
                                      </p:cBhvr>
                                      <p:to>
                                        <p:strVal val="visible"/>
                                      </p:to>
                                    </p:set>
                                    <p:anim calcmode="lin" valueType="num">
                                      <p:cBhvr additive="base">
                                        <p:cTn dur="400"/>
                                        <p:tgtEl>
                                          <p:spTgt spid="643"/>
                                        </p:tgtEl>
                                        <p:attrNameLst>
                                          <p:attrName>ppt_w</p:attrName>
                                        </p:attrNameLst>
                                      </p:cBhvr>
                                      <p:tavLst>
                                        <p:tav fmla="" tm="0">
                                          <p:val>
                                            <p:strVal val="0"/>
                                          </p:val>
                                        </p:tav>
                                        <p:tav fmla="" tm="100000">
                                          <p:val>
                                            <p:strVal val="#ppt_w"/>
                                          </p:val>
                                        </p:tav>
                                      </p:tavLst>
                                    </p:anim>
                                    <p:anim calcmode="lin" valueType="num">
                                      <p:cBhvr additive="base">
                                        <p:cTn dur="400"/>
                                        <p:tgtEl>
                                          <p:spTgt spid="64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32"/>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Limitations</a:t>
            </a:r>
            <a:endParaRPr/>
          </a:p>
        </p:txBody>
      </p:sp>
      <p:sp>
        <p:nvSpPr>
          <p:cNvPr id="650" name="Google Shape;650;p32"/>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651" name="Google Shape;651;p32"/>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652" name="Google Shape;652;p32"/>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653" name="Google Shape;653;p32"/>
          <p:cNvSpPr/>
          <p:nvPr/>
        </p:nvSpPr>
        <p:spPr>
          <a:xfrm>
            <a:off x="457200" y="1261872"/>
            <a:ext cx="4023360" cy="1005840"/>
          </a:xfrm>
          <a:prstGeom prst="roundRect">
            <a:avLst>
              <a:gd fmla="val 10000" name="adj"/>
            </a:avLst>
          </a:prstGeom>
          <a:gradFill rotWithShape="1">
            <a:gsLst>
              <a:gs pos="0">
                <a:srgbClr val="FFFFFF"/>
              </a:gs>
              <a:gs pos="100000">
                <a:srgbClr val="DAF7F4"/>
              </a:gs>
            </a:gsLst>
            <a:lin ang="5400000" scaled="0"/>
          </a:gradFill>
          <a:ln cap="flat" cmpd="sng" w="158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5350"/>
                </a:solidFill>
                <a:latin typeface="Times New Roman"/>
                <a:ea typeface="Times New Roman"/>
                <a:cs typeface="Times New Roman"/>
                <a:sym typeface="Times New Roman"/>
              </a:rPr>
              <a:t>Dependence on Correct Data</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Wrong location, availability or skill details give a poor recommendation.</a:t>
            </a:r>
            <a:endParaRPr/>
          </a:p>
        </p:txBody>
      </p:sp>
      <p:sp>
        <p:nvSpPr>
          <p:cNvPr id="654" name="Google Shape;654;p32"/>
          <p:cNvSpPr/>
          <p:nvPr/>
        </p:nvSpPr>
        <p:spPr>
          <a:xfrm>
            <a:off x="594360" y="1444752"/>
            <a:ext cx="640080" cy="640080"/>
          </a:xfrm>
          <a:prstGeom prst="ellipse">
            <a:avLst/>
          </a:prstGeom>
          <a:gradFill rotWithShape="1">
            <a:gsLst>
              <a:gs pos="0">
                <a:srgbClr val="006662"/>
              </a:gs>
              <a:gs pos="100000">
                <a:srgbClr val="0E9294"/>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Database" id="655" name="Google Shape;655;p32"/>
          <p:cNvPicPr preferRelativeResize="0"/>
          <p:nvPr/>
        </p:nvPicPr>
        <p:blipFill rotWithShape="1">
          <a:blip r:embed="rId3">
            <a:alphaModFix/>
          </a:blip>
          <a:srcRect b="0" l="0" r="0" t="0"/>
          <a:stretch/>
        </p:blipFill>
        <p:spPr>
          <a:xfrm>
            <a:off x="749808" y="1600200"/>
            <a:ext cx="329184" cy="329184"/>
          </a:xfrm>
          <a:prstGeom prst="rect">
            <a:avLst/>
          </a:prstGeom>
          <a:noFill/>
          <a:ln>
            <a:noFill/>
          </a:ln>
        </p:spPr>
      </p:pic>
      <p:sp>
        <p:nvSpPr>
          <p:cNvPr id="656" name="Google Shape;656;p32"/>
          <p:cNvSpPr/>
          <p:nvPr/>
        </p:nvSpPr>
        <p:spPr>
          <a:xfrm>
            <a:off x="4663440" y="1261872"/>
            <a:ext cx="4023360" cy="1005840"/>
          </a:xfrm>
          <a:prstGeom prst="roundRect">
            <a:avLst>
              <a:gd fmla="val 10000" name="adj"/>
            </a:avLst>
          </a:prstGeom>
          <a:gradFill rotWithShape="1">
            <a:gsLst>
              <a:gs pos="0">
                <a:srgbClr val="FFFFFF"/>
              </a:gs>
              <a:gs pos="100000">
                <a:srgbClr val="DBF6FE"/>
              </a:gs>
            </a:gsLst>
            <a:lin ang="5400000" scaled="0"/>
          </a:gradFill>
          <a:ln cap="flat" cmpd="sng" w="15875">
            <a:solidFill>
              <a:srgbClr val="0089A3"/>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45060"/>
                </a:solidFill>
                <a:latin typeface="Times New Roman"/>
                <a:ea typeface="Times New Roman"/>
                <a:cs typeface="Times New Roman"/>
                <a:sym typeface="Times New Roman"/>
              </a:rPr>
              <a:t>Cold Start</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A new worker has no history, so the quality estimate is uncertain at first.</a:t>
            </a:r>
            <a:endParaRPr/>
          </a:p>
        </p:txBody>
      </p:sp>
      <p:sp>
        <p:nvSpPr>
          <p:cNvPr id="657" name="Google Shape;657;p32"/>
          <p:cNvSpPr/>
          <p:nvPr/>
        </p:nvSpPr>
        <p:spPr>
          <a:xfrm>
            <a:off x="4800600" y="1444752"/>
            <a:ext cx="640080" cy="640080"/>
          </a:xfrm>
          <a:prstGeom prst="ellipse">
            <a:avLst/>
          </a:prstGeom>
          <a:gradFill rotWithShape="1">
            <a:gsLst>
              <a:gs pos="0">
                <a:srgbClr val="006471"/>
              </a:gs>
              <a:gs pos="100000">
                <a:srgbClr val="0F8DB1"/>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eedling" id="658" name="Google Shape;658;p32"/>
          <p:cNvPicPr preferRelativeResize="0"/>
          <p:nvPr/>
        </p:nvPicPr>
        <p:blipFill rotWithShape="1">
          <a:blip r:embed="rId4">
            <a:alphaModFix/>
          </a:blip>
          <a:srcRect b="0" l="0" r="0" t="0"/>
          <a:stretch/>
        </p:blipFill>
        <p:spPr>
          <a:xfrm>
            <a:off x="4956048" y="1600200"/>
            <a:ext cx="329184" cy="329184"/>
          </a:xfrm>
          <a:prstGeom prst="rect">
            <a:avLst/>
          </a:prstGeom>
          <a:noFill/>
          <a:ln>
            <a:noFill/>
          </a:ln>
        </p:spPr>
      </p:pic>
      <p:sp>
        <p:nvSpPr>
          <p:cNvPr id="659" name="Google Shape;659;p32"/>
          <p:cNvSpPr/>
          <p:nvPr/>
        </p:nvSpPr>
        <p:spPr>
          <a:xfrm>
            <a:off x="457200" y="2404872"/>
            <a:ext cx="4023360" cy="1005840"/>
          </a:xfrm>
          <a:prstGeom prst="roundRect">
            <a:avLst>
              <a:gd fmla="val 10000" name="adj"/>
            </a:avLst>
          </a:prstGeom>
          <a:gradFill rotWithShape="1">
            <a:gsLst>
              <a:gs pos="0">
                <a:srgbClr val="FFFFFF"/>
              </a:gs>
              <a:gs pos="100000">
                <a:srgbClr val="E6F2FD"/>
              </a:gs>
            </a:gsLst>
            <a:lin ang="5400000" scaled="0"/>
          </a:gradFill>
          <a:ln cap="flat" cmpd="sng" w="15875">
            <a:solidFill>
              <a:srgbClr val="1380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14B79"/>
                </a:solidFill>
                <a:latin typeface="Times New Roman"/>
                <a:ea typeface="Times New Roman"/>
                <a:cs typeface="Times New Roman"/>
                <a:sym typeface="Times New Roman"/>
              </a:rPr>
              <a:t>Fake or Biased Ratings</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The quality estimate is only as good as the ratings behind it.</a:t>
            </a:r>
            <a:endParaRPr/>
          </a:p>
        </p:txBody>
      </p:sp>
      <p:sp>
        <p:nvSpPr>
          <p:cNvPr id="660" name="Google Shape;660;p32"/>
          <p:cNvSpPr/>
          <p:nvPr/>
        </p:nvSpPr>
        <p:spPr>
          <a:xfrm>
            <a:off x="594360" y="2587752"/>
            <a:ext cx="640080" cy="640080"/>
          </a:xfrm>
          <a:prstGeom prst="ellipse">
            <a:avLst/>
          </a:prstGeom>
          <a:gradFill rotWithShape="1">
            <a:gsLst>
              <a:gs pos="0">
                <a:srgbClr val="005F8B"/>
              </a:gs>
              <a:gs pos="100000">
                <a:srgbClr val="2E83D6"/>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tar" id="661" name="Google Shape;661;p32"/>
          <p:cNvPicPr preferRelativeResize="0"/>
          <p:nvPr/>
        </p:nvPicPr>
        <p:blipFill rotWithShape="1">
          <a:blip r:embed="rId5">
            <a:alphaModFix/>
          </a:blip>
          <a:srcRect b="0" l="0" r="0" t="0"/>
          <a:stretch/>
        </p:blipFill>
        <p:spPr>
          <a:xfrm>
            <a:off x="749808" y="2743200"/>
            <a:ext cx="329184" cy="329184"/>
          </a:xfrm>
          <a:prstGeom prst="rect">
            <a:avLst/>
          </a:prstGeom>
          <a:noFill/>
          <a:ln>
            <a:noFill/>
          </a:ln>
        </p:spPr>
      </p:pic>
      <p:sp>
        <p:nvSpPr>
          <p:cNvPr id="662" name="Google Shape;662;p32"/>
          <p:cNvSpPr/>
          <p:nvPr/>
        </p:nvSpPr>
        <p:spPr>
          <a:xfrm>
            <a:off x="4663440" y="2404872"/>
            <a:ext cx="4023360" cy="1005840"/>
          </a:xfrm>
          <a:prstGeom prst="roundRect">
            <a:avLst>
              <a:gd fmla="val 10000" name="adj"/>
            </a:avLst>
          </a:prstGeom>
          <a:gradFill rotWithShape="1">
            <a:gsLst>
              <a:gs pos="0">
                <a:srgbClr val="FFFFFF"/>
              </a:gs>
              <a:gs pos="100000">
                <a:srgbClr val="EBF0FE"/>
              </a:gs>
            </a:gsLst>
            <a:lin ang="54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323E8C"/>
                </a:solidFill>
                <a:latin typeface="Times New Roman"/>
                <a:ea typeface="Times New Roman"/>
                <a:cs typeface="Times New Roman"/>
                <a:sym typeface="Times New Roman"/>
              </a:rPr>
              <a:t>Privacy Concerns</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The system needs the live location of customers and workers.</a:t>
            </a:r>
            <a:endParaRPr/>
          </a:p>
        </p:txBody>
      </p:sp>
      <p:sp>
        <p:nvSpPr>
          <p:cNvPr id="663" name="Google Shape;663;p32"/>
          <p:cNvSpPr/>
          <p:nvPr/>
        </p:nvSpPr>
        <p:spPr>
          <a:xfrm>
            <a:off x="4800600" y="2587752"/>
            <a:ext cx="640080" cy="640080"/>
          </a:xfrm>
          <a:prstGeom prst="ellipse">
            <a:avLst/>
          </a:prstGeom>
          <a:gradFill rotWithShape="1">
            <a:gsLst>
              <a:gs pos="0">
                <a:srgbClr val="3050AA"/>
              </a:gs>
              <a:gs pos="100000">
                <a:srgbClr val="6F73D7"/>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Lock" id="664" name="Google Shape;664;p32"/>
          <p:cNvPicPr preferRelativeResize="0"/>
          <p:nvPr/>
        </p:nvPicPr>
        <p:blipFill rotWithShape="1">
          <a:blip r:embed="rId6">
            <a:alphaModFix/>
          </a:blip>
          <a:srcRect b="0" l="0" r="0" t="0"/>
          <a:stretch/>
        </p:blipFill>
        <p:spPr>
          <a:xfrm>
            <a:off x="4956048" y="2743200"/>
            <a:ext cx="329184" cy="329184"/>
          </a:xfrm>
          <a:prstGeom prst="rect">
            <a:avLst/>
          </a:prstGeom>
          <a:noFill/>
          <a:ln>
            <a:noFill/>
          </a:ln>
        </p:spPr>
      </p:pic>
      <p:sp>
        <p:nvSpPr>
          <p:cNvPr id="665" name="Google Shape;665;p32"/>
          <p:cNvSpPr/>
          <p:nvPr/>
        </p:nvSpPr>
        <p:spPr>
          <a:xfrm>
            <a:off x="457200" y="3547872"/>
            <a:ext cx="4023360" cy="1005840"/>
          </a:xfrm>
          <a:prstGeom prst="roundRect">
            <a:avLst>
              <a:gd fmla="val 10000" name="adj"/>
            </a:avLst>
          </a:prstGeom>
          <a:gradFill rotWithShape="1">
            <a:gsLst>
              <a:gs pos="0">
                <a:srgbClr val="FFFFFF"/>
              </a:gs>
              <a:gs pos="100000">
                <a:srgbClr val="F2EDFF"/>
              </a:gs>
            </a:gsLst>
            <a:lin ang="5400000" scaled="0"/>
          </a:gradFill>
          <a:ln cap="flat" cmpd="sng" w="15875">
            <a:solidFill>
              <a:srgbClr val="8864C0"/>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543282"/>
                </a:solidFill>
                <a:latin typeface="Times New Roman"/>
                <a:ea typeface="Times New Roman"/>
                <a:cs typeface="Times New Roman"/>
                <a:sym typeface="Times New Roman"/>
              </a:rPr>
              <a:t>Choice of Weights</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Weights and the exploration constant must be tuned; a bad choice favours the wrong factor.</a:t>
            </a:r>
            <a:endParaRPr/>
          </a:p>
        </p:txBody>
      </p:sp>
      <p:sp>
        <p:nvSpPr>
          <p:cNvPr id="666" name="Google Shape;666;p32"/>
          <p:cNvSpPr/>
          <p:nvPr/>
        </p:nvSpPr>
        <p:spPr>
          <a:xfrm>
            <a:off x="594360" y="3730752"/>
            <a:ext cx="640080" cy="640080"/>
          </a:xfrm>
          <a:prstGeom prst="ellipse">
            <a:avLst/>
          </a:prstGeom>
          <a:gradFill rotWithShape="1">
            <a:gsLst>
              <a:gs pos="0">
                <a:srgbClr val="5E41A2"/>
              </a:gs>
              <a:gs pos="100000">
                <a:srgbClr val="9765C6"/>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Cogs" id="667" name="Google Shape;667;p32"/>
          <p:cNvPicPr preferRelativeResize="0"/>
          <p:nvPr/>
        </p:nvPicPr>
        <p:blipFill rotWithShape="1">
          <a:blip r:embed="rId7">
            <a:alphaModFix/>
          </a:blip>
          <a:srcRect b="0" l="0" r="0" t="0"/>
          <a:stretch/>
        </p:blipFill>
        <p:spPr>
          <a:xfrm>
            <a:off x="749808" y="3886200"/>
            <a:ext cx="329184" cy="329184"/>
          </a:xfrm>
          <a:prstGeom prst="rect">
            <a:avLst/>
          </a:prstGeom>
          <a:noFill/>
          <a:ln>
            <a:noFill/>
          </a:ln>
        </p:spPr>
      </p:pic>
      <p:sp>
        <p:nvSpPr>
          <p:cNvPr id="668" name="Google Shape;668;p32"/>
          <p:cNvSpPr/>
          <p:nvPr/>
        </p:nvSpPr>
        <p:spPr>
          <a:xfrm>
            <a:off x="4663440" y="3547872"/>
            <a:ext cx="4023360" cy="1005840"/>
          </a:xfrm>
          <a:prstGeom prst="roundRect">
            <a:avLst>
              <a:gd fmla="val 10000" name="adj"/>
            </a:avLst>
          </a:prstGeom>
          <a:gradFill rotWithShape="1">
            <a:gsLst>
              <a:gs pos="0">
                <a:srgbClr val="FFFFFF"/>
              </a:gs>
              <a:gs pos="100000">
                <a:srgbClr val="FCE9FB"/>
              </a:gs>
            </a:gsLst>
            <a:lin ang="5400000" scaled="0"/>
          </a:gradFill>
          <a:ln cap="flat" cmpd="sng" w="15875">
            <a:solidFill>
              <a:srgbClr val="A559A4"/>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6A276B"/>
                </a:solidFill>
                <a:latin typeface="Times New Roman"/>
                <a:ea typeface="Times New Roman"/>
                <a:cs typeface="Times New Roman"/>
                <a:sym typeface="Times New Roman"/>
              </a:rPr>
              <a:t>Network and Cloud Dependence</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A network or server failure stops the service.</a:t>
            </a:r>
            <a:endParaRPr/>
          </a:p>
        </p:txBody>
      </p:sp>
      <p:sp>
        <p:nvSpPr>
          <p:cNvPr id="669" name="Google Shape;669;p32"/>
          <p:cNvSpPr/>
          <p:nvPr/>
        </p:nvSpPr>
        <p:spPr>
          <a:xfrm>
            <a:off x="4800600" y="3730752"/>
            <a:ext cx="640080" cy="640080"/>
          </a:xfrm>
          <a:prstGeom prst="ellipse">
            <a:avLst/>
          </a:prstGeom>
          <a:gradFill rotWithShape="1">
            <a:gsLst>
              <a:gs pos="0">
                <a:srgbClr val="7C348A"/>
              </a:gs>
              <a:gs pos="100000">
                <a:srgbClr val="B459A5"/>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Wifi" id="670" name="Google Shape;670;p32"/>
          <p:cNvPicPr preferRelativeResize="0"/>
          <p:nvPr/>
        </p:nvPicPr>
        <p:blipFill rotWithShape="1">
          <a:blip r:embed="rId8">
            <a:alphaModFix/>
          </a:blip>
          <a:srcRect b="0" l="0" r="0" t="0"/>
          <a:stretch/>
        </p:blipFill>
        <p:spPr>
          <a:xfrm>
            <a:off x="4956048" y="3886200"/>
            <a:ext cx="329184" cy="329184"/>
          </a:xfrm>
          <a:prstGeom prst="rect">
            <a:avLst/>
          </a:prstGeom>
          <a:noFill/>
          <a:ln>
            <a:noFill/>
          </a:ln>
        </p:spPr>
      </p:pic>
      <p:sp>
        <p:nvSpPr>
          <p:cNvPr id="671" name="Google Shape;671;p32"/>
          <p:cNvSpPr/>
          <p:nvPr/>
        </p:nvSpPr>
        <p:spPr>
          <a:xfrm>
            <a:off x="457200" y="4690872"/>
            <a:ext cx="4023360" cy="1005840"/>
          </a:xfrm>
          <a:prstGeom prst="roundRect">
            <a:avLst>
              <a:gd fmla="val 10000" name="adj"/>
            </a:avLst>
          </a:prstGeom>
          <a:gradFill rotWithShape="1">
            <a:gsLst>
              <a:gs pos="0">
                <a:srgbClr val="FFFFFF"/>
              </a:gs>
              <a:gs pos="100000">
                <a:srgbClr val="EBF0FE"/>
              </a:gs>
            </a:gsLst>
            <a:lin ang="5400000" scaled="0"/>
          </a:gradFill>
          <a:ln cap="flat" cmpd="sng" w="15875">
            <a:solidFill>
              <a:srgbClr val="5C73CD"/>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868675" spcFirstLastPara="1" rIns="91425"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2F3F8D"/>
                </a:solidFill>
                <a:latin typeface="Times New Roman"/>
                <a:ea typeface="Times New Roman"/>
                <a:cs typeface="Times New Roman"/>
                <a:sym typeface="Times New Roman"/>
              </a:rPr>
              <a:t>Possible Unfairness</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If weights favour some features too much, a few workers may get most jobs.</a:t>
            </a:r>
            <a:endParaRPr/>
          </a:p>
        </p:txBody>
      </p:sp>
      <p:sp>
        <p:nvSpPr>
          <p:cNvPr id="672" name="Google Shape;672;p32"/>
          <p:cNvSpPr/>
          <p:nvPr/>
        </p:nvSpPr>
        <p:spPr>
          <a:xfrm>
            <a:off x="594360" y="4873752"/>
            <a:ext cx="640080" cy="640080"/>
          </a:xfrm>
          <a:prstGeom prst="ellipse">
            <a:avLst/>
          </a:prstGeom>
          <a:gradFill rotWithShape="1">
            <a:gsLst>
              <a:gs pos="0">
                <a:srgbClr val="025B9A"/>
              </a:gs>
              <a:gs pos="100000">
                <a:srgbClr val="4C7DD9"/>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BalanceScaleRight" id="673" name="Google Shape;673;p32"/>
          <p:cNvPicPr preferRelativeResize="0"/>
          <p:nvPr/>
        </p:nvPicPr>
        <p:blipFill rotWithShape="1">
          <a:blip r:embed="rId9">
            <a:alphaModFix/>
          </a:blip>
          <a:srcRect b="0" l="0" r="0" t="0"/>
          <a:stretch/>
        </p:blipFill>
        <p:spPr>
          <a:xfrm>
            <a:off x="749808" y="5029200"/>
            <a:ext cx="329184" cy="329184"/>
          </a:xfrm>
          <a:prstGeom prst="rect">
            <a:avLst/>
          </a:prstGeom>
          <a:noFill/>
          <a:ln>
            <a:noFill/>
          </a:ln>
        </p:spPr>
      </p:pic>
      <p:sp>
        <p:nvSpPr>
          <p:cNvPr id="674" name="Google Shape;674;p32"/>
          <p:cNvSpPr/>
          <p:nvPr/>
        </p:nvSpPr>
        <p:spPr>
          <a:xfrm>
            <a:off x="4663440" y="4690872"/>
            <a:ext cx="4023360" cy="1005840"/>
          </a:xfrm>
          <a:prstGeom prst="roundRect">
            <a:avLst>
              <a:gd fmla="val 10000" name="adj"/>
            </a:avLst>
          </a:prstGeom>
          <a:gradFill rotWithShape="1">
            <a:gsLst>
              <a:gs pos="0">
                <a:srgbClr val="902A66"/>
              </a:gs>
              <a:gs pos="100000">
                <a:srgbClr val="C25485"/>
              </a:gs>
            </a:gsLst>
            <a:lin ang="2700000" scaled="0"/>
          </a:gradFill>
          <a:ln>
            <a:noFill/>
          </a:ln>
          <a:effectLst>
            <a:outerShdw blurRad="63500" rotWithShape="0" algn="t" dir="5400000" dist="31750">
              <a:srgbClr val="000000">
                <a:alpha val="21961"/>
              </a:srgbClr>
            </a:outerShdw>
          </a:effectLst>
        </p:spPr>
        <p:txBody>
          <a:bodyPr anchorCtr="0" anchor="ctr" bIns="109725" lIns="109725" spcFirstLastPara="1" rIns="109725" wrap="square" tIns="1097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Addressed in Future Scope</a:t>
            </a:r>
            <a:endParaRPr/>
          </a:p>
          <a:p>
            <a:pPr indent="0" lvl="0" marL="0" marR="0" rtl="0" algn="ctr">
              <a:lnSpc>
                <a:spcPct val="100000"/>
              </a:lnSpc>
              <a:spcBef>
                <a:spcPts val="200"/>
              </a:spcBef>
              <a:spcAft>
                <a:spcPts val="0"/>
              </a:spcAft>
              <a:buClr>
                <a:srgbClr val="000000"/>
              </a:buClr>
              <a:buSzPts val="1200"/>
              <a:buFont typeface="Arial"/>
              <a:buNone/>
            </a:pPr>
            <a:r>
              <a:rPr b="0" i="0" lang="en-US" sz="1200" u="none" cap="none" strike="noStrike">
                <a:solidFill>
                  <a:schemeClr val="lt1"/>
                </a:solidFill>
                <a:latin typeface="Times New Roman"/>
                <a:ea typeface="Times New Roman"/>
                <a:cs typeface="Times New Roman"/>
                <a:sym typeface="Times New Roman"/>
              </a:rPr>
              <a:t>learned weights, fake-rating detection, fair work sharing, privacy-preserving design</a:t>
            </a:r>
            <a:endParaRPr/>
          </a:p>
        </p:txBody>
      </p:sp>
    </p:spTree>
  </p:cSld>
  <p:clrMapOvr>
    <a:masterClrMapping/>
  </p:clrMapOvr>
  <mc:AlternateContent>
    <mc:Choice Requires="p14">
      <p:transition spd="slow" p14:dur="1400">
        <p14:vortex dir="r"/>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54"/>
                                        </p:tgtEl>
                                        <p:attrNameLst>
                                          <p:attrName>style.visibility</p:attrName>
                                        </p:attrNameLst>
                                      </p:cBhvr>
                                      <p:to>
                                        <p:strVal val="visible"/>
                                      </p:to>
                                    </p:set>
                                    <p:anim calcmode="lin" valueType="num">
                                      <p:cBhvr additive="base">
                                        <p:cTn dur="350"/>
                                        <p:tgtEl>
                                          <p:spTgt spid="654"/>
                                        </p:tgtEl>
                                        <p:attrNameLst>
                                          <p:attrName>ppt_w</p:attrName>
                                        </p:attrNameLst>
                                      </p:cBhvr>
                                      <p:tavLst>
                                        <p:tav fmla="" tm="0">
                                          <p:val>
                                            <p:strVal val="0"/>
                                          </p:val>
                                        </p:tav>
                                        <p:tav fmla="" tm="100000">
                                          <p:val>
                                            <p:strVal val="#ppt_w"/>
                                          </p:val>
                                        </p:tav>
                                      </p:tavLst>
                                    </p:anim>
                                    <p:anim calcmode="lin" valueType="num">
                                      <p:cBhvr additive="base">
                                        <p:cTn dur="350"/>
                                        <p:tgtEl>
                                          <p:spTgt spid="65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55"/>
                                        </p:tgtEl>
                                        <p:attrNameLst>
                                          <p:attrName>style.visibility</p:attrName>
                                        </p:attrNameLst>
                                      </p:cBhvr>
                                      <p:to>
                                        <p:strVal val="visible"/>
                                      </p:to>
                                    </p:set>
                                    <p:anim calcmode="lin" valueType="num">
                                      <p:cBhvr additive="base">
                                        <p:cTn dur="350"/>
                                        <p:tgtEl>
                                          <p:spTgt spid="655"/>
                                        </p:tgtEl>
                                        <p:attrNameLst>
                                          <p:attrName>ppt_w</p:attrName>
                                        </p:attrNameLst>
                                      </p:cBhvr>
                                      <p:tavLst>
                                        <p:tav fmla="" tm="0">
                                          <p:val>
                                            <p:strVal val="0"/>
                                          </p:val>
                                        </p:tav>
                                        <p:tav fmla="" tm="100000">
                                          <p:val>
                                            <p:strVal val="#ppt_w"/>
                                          </p:val>
                                        </p:tav>
                                      </p:tavLst>
                                    </p:anim>
                                    <p:anim calcmode="lin" valueType="num">
                                      <p:cBhvr additive="base">
                                        <p:cTn dur="350"/>
                                        <p:tgtEl>
                                          <p:spTgt spid="65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0"/>
                                  </p:stCondLst>
                                  <p:childTnLst>
                                    <p:set>
                                      <p:cBhvr>
                                        <p:cTn dur="1" fill="hold">
                                          <p:stCondLst>
                                            <p:cond delay="0"/>
                                          </p:stCondLst>
                                        </p:cTn>
                                        <p:tgtEl>
                                          <p:spTgt spid="653"/>
                                        </p:tgtEl>
                                        <p:attrNameLst>
                                          <p:attrName>style.visibility</p:attrName>
                                        </p:attrNameLst>
                                      </p:cBhvr>
                                      <p:to>
                                        <p:strVal val="visible"/>
                                      </p:to>
                                    </p:set>
                                    <p:animEffect filter="fade" transition="in">
                                      <p:cBhvr>
                                        <p:cTn dur="450"/>
                                        <p:tgtEl>
                                          <p:spTgt spid="653"/>
                                        </p:tgtEl>
                                      </p:cBhvr>
                                    </p:animEffect>
                                  </p:childTnLst>
                                </p:cTn>
                              </p:par>
                              <p:par>
                                <p:cTn fill="hold" nodeType="withEffect" presetClass="entr" presetID="23" presetSubtype="16">
                                  <p:stCondLst>
                                    <p:cond delay="20"/>
                                  </p:stCondLst>
                                  <p:childTnLst>
                                    <p:set>
                                      <p:cBhvr>
                                        <p:cTn dur="1" fill="hold">
                                          <p:stCondLst>
                                            <p:cond delay="0"/>
                                          </p:stCondLst>
                                        </p:cTn>
                                        <p:tgtEl>
                                          <p:spTgt spid="657"/>
                                        </p:tgtEl>
                                        <p:attrNameLst>
                                          <p:attrName>style.visibility</p:attrName>
                                        </p:attrNameLst>
                                      </p:cBhvr>
                                      <p:to>
                                        <p:strVal val="visible"/>
                                      </p:to>
                                    </p:set>
                                    <p:anim calcmode="lin" valueType="num">
                                      <p:cBhvr additive="base">
                                        <p:cTn dur="350"/>
                                        <p:tgtEl>
                                          <p:spTgt spid="657"/>
                                        </p:tgtEl>
                                        <p:attrNameLst>
                                          <p:attrName>ppt_w</p:attrName>
                                        </p:attrNameLst>
                                      </p:cBhvr>
                                      <p:tavLst>
                                        <p:tav fmla="" tm="0">
                                          <p:val>
                                            <p:strVal val="0"/>
                                          </p:val>
                                        </p:tav>
                                        <p:tav fmla="" tm="100000">
                                          <p:val>
                                            <p:strVal val="#ppt_w"/>
                                          </p:val>
                                        </p:tav>
                                      </p:tavLst>
                                    </p:anim>
                                    <p:anim calcmode="lin" valueType="num">
                                      <p:cBhvr additive="base">
                                        <p:cTn dur="350"/>
                                        <p:tgtEl>
                                          <p:spTgt spid="65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0"/>
                                  </p:stCondLst>
                                  <p:childTnLst>
                                    <p:set>
                                      <p:cBhvr>
                                        <p:cTn dur="1" fill="hold">
                                          <p:stCondLst>
                                            <p:cond delay="0"/>
                                          </p:stCondLst>
                                        </p:cTn>
                                        <p:tgtEl>
                                          <p:spTgt spid="658"/>
                                        </p:tgtEl>
                                        <p:attrNameLst>
                                          <p:attrName>style.visibility</p:attrName>
                                        </p:attrNameLst>
                                      </p:cBhvr>
                                      <p:to>
                                        <p:strVal val="visible"/>
                                      </p:to>
                                    </p:set>
                                    <p:anim calcmode="lin" valueType="num">
                                      <p:cBhvr additive="base">
                                        <p:cTn dur="350"/>
                                        <p:tgtEl>
                                          <p:spTgt spid="658"/>
                                        </p:tgtEl>
                                        <p:attrNameLst>
                                          <p:attrName>ppt_w</p:attrName>
                                        </p:attrNameLst>
                                      </p:cBhvr>
                                      <p:tavLst>
                                        <p:tav fmla="" tm="0">
                                          <p:val>
                                            <p:strVal val="0"/>
                                          </p:val>
                                        </p:tav>
                                        <p:tav fmla="" tm="100000">
                                          <p:val>
                                            <p:strVal val="#ppt_w"/>
                                          </p:val>
                                        </p:tav>
                                      </p:tavLst>
                                    </p:anim>
                                    <p:anim calcmode="lin" valueType="num">
                                      <p:cBhvr additive="base">
                                        <p:cTn dur="350"/>
                                        <p:tgtEl>
                                          <p:spTgt spid="65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50"/>
                                  </p:stCondLst>
                                  <p:childTnLst>
                                    <p:set>
                                      <p:cBhvr>
                                        <p:cTn dur="1" fill="hold">
                                          <p:stCondLst>
                                            <p:cond delay="0"/>
                                          </p:stCondLst>
                                        </p:cTn>
                                        <p:tgtEl>
                                          <p:spTgt spid="656"/>
                                        </p:tgtEl>
                                        <p:attrNameLst>
                                          <p:attrName>style.visibility</p:attrName>
                                        </p:attrNameLst>
                                      </p:cBhvr>
                                      <p:to>
                                        <p:strVal val="visible"/>
                                      </p:to>
                                    </p:set>
                                    <p:animEffect filter="fade" transition="in">
                                      <p:cBhvr>
                                        <p:cTn dur="450"/>
                                        <p:tgtEl>
                                          <p:spTgt spid="656"/>
                                        </p:tgtEl>
                                      </p:cBhvr>
                                    </p:animEffect>
                                  </p:childTnLst>
                                </p:cTn>
                              </p:par>
                              <p:par>
                                <p:cTn fill="hold" nodeType="withEffect" presetClass="entr" presetID="23" presetSubtype="16">
                                  <p:stCondLst>
                                    <p:cond delay="170"/>
                                  </p:stCondLst>
                                  <p:childTnLst>
                                    <p:set>
                                      <p:cBhvr>
                                        <p:cTn dur="1" fill="hold">
                                          <p:stCondLst>
                                            <p:cond delay="0"/>
                                          </p:stCondLst>
                                        </p:cTn>
                                        <p:tgtEl>
                                          <p:spTgt spid="660"/>
                                        </p:tgtEl>
                                        <p:attrNameLst>
                                          <p:attrName>style.visibility</p:attrName>
                                        </p:attrNameLst>
                                      </p:cBhvr>
                                      <p:to>
                                        <p:strVal val="visible"/>
                                      </p:to>
                                    </p:set>
                                    <p:anim calcmode="lin" valueType="num">
                                      <p:cBhvr additive="base">
                                        <p:cTn dur="350"/>
                                        <p:tgtEl>
                                          <p:spTgt spid="660"/>
                                        </p:tgtEl>
                                        <p:attrNameLst>
                                          <p:attrName>ppt_w</p:attrName>
                                        </p:attrNameLst>
                                      </p:cBhvr>
                                      <p:tavLst>
                                        <p:tav fmla="" tm="0">
                                          <p:val>
                                            <p:strVal val="0"/>
                                          </p:val>
                                        </p:tav>
                                        <p:tav fmla="" tm="100000">
                                          <p:val>
                                            <p:strVal val="#ppt_w"/>
                                          </p:val>
                                        </p:tav>
                                      </p:tavLst>
                                    </p:anim>
                                    <p:anim calcmode="lin" valueType="num">
                                      <p:cBhvr additive="base">
                                        <p:cTn dur="350"/>
                                        <p:tgtEl>
                                          <p:spTgt spid="66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70"/>
                                  </p:stCondLst>
                                  <p:childTnLst>
                                    <p:set>
                                      <p:cBhvr>
                                        <p:cTn dur="1" fill="hold">
                                          <p:stCondLst>
                                            <p:cond delay="0"/>
                                          </p:stCondLst>
                                        </p:cTn>
                                        <p:tgtEl>
                                          <p:spTgt spid="661"/>
                                        </p:tgtEl>
                                        <p:attrNameLst>
                                          <p:attrName>style.visibility</p:attrName>
                                        </p:attrNameLst>
                                      </p:cBhvr>
                                      <p:to>
                                        <p:strVal val="visible"/>
                                      </p:to>
                                    </p:set>
                                    <p:anim calcmode="lin" valueType="num">
                                      <p:cBhvr additive="base">
                                        <p:cTn dur="350"/>
                                        <p:tgtEl>
                                          <p:spTgt spid="661"/>
                                        </p:tgtEl>
                                        <p:attrNameLst>
                                          <p:attrName>ppt_w</p:attrName>
                                        </p:attrNameLst>
                                      </p:cBhvr>
                                      <p:tavLst>
                                        <p:tav fmla="" tm="0">
                                          <p:val>
                                            <p:strVal val="0"/>
                                          </p:val>
                                        </p:tav>
                                        <p:tav fmla="" tm="100000">
                                          <p:val>
                                            <p:strVal val="#ppt_w"/>
                                          </p:val>
                                        </p:tav>
                                      </p:tavLst>
                                    </p:anim>
                                    <p:anim calcmode="lin" valueType="num">
                                      <p:cBhvr additive="base">
                                        <p:cTn dur="350"/>
                                        <p:tgtEl>
                                          <p:spTgt spid="66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00"/>
                                  </p:stCondLst>
                                  <p:childTnLst>
                                    <p:set>
                                      <p:cBhvr>
                                        <p:cTn dur="1" fill="hold">
                                          <p:stCondLst>
                                            <p:cond delay="0"/>
                                          </p:stCondLst>
                                        </p:cTn>
                                        <p:tgtEl>
                                          <p:spTgt spid="659"/>
                                        </p:tgtEl>
                                        <p:attrNameLst>
                                          <p:attrName>style.visibility</p:attrName>
                                        </p:attrNameLst>
                                      </p:cBhvr>
                                      <p:to>
                                        <p:strVal val="visible"/>
                                      </p:to>
                                    </p:set>
                                    <p:animEffect filter="fade" transition="in">
                                      <p:cBhvr>
                                        <p:cTn dur="450"/>
                                        <p:tgtEl>
                                          <p:spTgt spid="659"/>
                                        </p:tgtEl>
                                      </p:cBhvr>
                                    </p:animEffect>
                                  </p:childTnLst>
                                </p:cTn>
                              </p:par>
                              <p:par>
                                <p:cTn fill="hold" nodeType="withEffect" presetClass="entr" presetID="23" presetSubtype="16">
                                  <p:stCondLst>
                                    <p:cond delay="320"/>
                                  </p:stCondLst>
                                  <p:childTnLst>
                                    <p:set>
                                      <p:cBhvr>
                                        <p:cTn dur="1" fill="hold">
                                          <p:stCondLst>
                                            <p:cond delay="0"/>
                                          </p:stCondLst>
                                        </p:cTn>
                                        <p:tgtEl>
                                          <p:spTgt spid="663"/>
                                        </p:tgtEl>
                                        <p:attrNameLst>
                                          <p:attrName>style.visibility</p:attrName>
                                        </p:attrNameLst>
                                      </p:cBhvr>
                                      <p:to>
                                        <p:strVal val="visible"/>
                                      </p:to>
                                    </p:set>
                                    <p:anim calcmode="lin" valueType="num">
                                      <p:cBhvr additive="base">
                                        <p:cTn dur="350"/>
                                        <p:tgtEl>
                                          <p:spTgt spid="663"/>
                                        </p:tgtEl>
                                        <p:attrNameLst>
                                          <p:attrName>ppt_w</p:attrName>
                                        </p:attrNameLst>
                                      </p:cBhvr>
                                      <p:tavLst>
                                        <p:tav fmla="" tm="0">
                                          <p:val>
                                            <p:strVal val="0"/>
                                          </p:val>
                                        </p:tav>
                                        <p:tav fmla="" tm="100000">
                                          <p:val>
                                            <p:strVal val="#ppt_w"/>
                                          </p:val>
                                        </p:tav>
                                      </p:tavLst>
                                    </p:anim>
                                    <p:anim calcmode="lin" valueType="num">
                                      <p:cBhvr additive="base">
                                        <p:cTn dur="350"/>
                                        <p:tgtEl>
                                          <p:spTgt spid="66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20"/>
                                  </p:stCondLst>
                                  <p:childTnLst>
                                    <p:set>
                                      <p:cBhvr>
                                        <p:cTn dur="1" fill="hold">
                                          <p:stCondLst>
                                            <p:cond delay="0"/>
                                          </p:stCondLst>
                                        </p:cTn>
                                        <p:tgtEl>
                                          <p:spTgt spid="664"/>
                                        </p:tgtEl>
                                        <p:attrNameLst>
                                          <p:attrName>style.visibility</p:attrName>
                                        </p:attrNameLst>
                                      </p:cBhvr>
                                      <p:to>
                                        <p:strVal val="visible"/>
                                      </p:to>
                                    </p:set>
                                    <p:anim calcmode="lin" valueType="num">
                                      <p:cBhvr additive="base">
                                        <p:cTn dur="350"/>
                                        <p:tgtEl>
                                          <p:spTgt spid="664"/>
                                        </p:tgtEl>
                                        <p:attrNameLst>
                                          <p:attrName>ppt_w</p:attrName>
                                        </p:attrNameLst>
                                      </p:cBhvr>
                                      <p:tavLst>
                                        <p:tav fmla="" tm="0">
                                          <p:val>
                                            <p:strVal val="0"/>
                                          </p:val>
                                        </p:tav>
                                        <p:tav fmla="" tm="100000">
                                          <p:val>
                                            <p:strVal val="#ppt_w"/>
                                          </p:val>
                                        </p:tav>
                                      </p:tavLst>
                                    </p:anim>
                                    <p:anim calcmode="lin" valueType="num">
                                      <p:cBhvr additive="base">
                                        <p:cTn dur="350"/>
                                        <p:tgtEl>
                                          <p:spTgt spid="66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450"/>
                                  </p:stCondLst>
                                  <p:childTnLst>
                                    <p:set>
                                      <p:cBhvr>
                                        <p:cTn dur="1" fill="hold">
                                          <p:stCondLst>
                                            <p:cond delay="0"/>
                                          </p:stCondLst>
                                        </p:cTn>
                                        <p:tgtEl>
                                          <p:spTgt spid="662"/>
                                        </p:tgtEl>
                                        <p:attrNameLst>
                                          <p:attrName>style.visibility</p:attrName>
                                        </p:attrNameLst>
                                      </p:cBhvr>
                                      <p:to>
                                        <p:strVal val="visible"/>
                                      </p:to>
                                    </p:set>
                                    <p:animEffect filter="fade" transition="in">
                                      <p:cBhvr>
                                        <p:cTn dur="450"/>
                                        <p:tgtEl>
                                          <p:spTgt spid="662"/>
                                        </p:tgtEl>
                                      </p:cBhvr>
                                    </p:animEffect>
                                  </p:childTnLst>
                                </p:cTn>
                              </p:par>
                              <p:par>
                                <p:cTn fill="hold" nodeType="withEffect" presetClass="entr" presetID="23" presetSubtype="16">
                                  <p:stCondLst>
                                    <p:cond delay="470"/>
                                  </p:stCondLst>
                                  <p:childTnLst>
                                    <p:set>
                                      <p:cBhvr>
                                        <p:cTn dur="1" fill="hold">
                                          <p:stCondLst>
                                            <p:cond delay="0"/>
                                          </p:stCondLst>
                                        </p:cTn>
                                        <p:tgtEl>
                                          <p:spTgt spid="666"/>
                                        </p:tgtEl>
                                        <p:attrNameLst>
                                          <p:attrName>style.visibility</p:attrName>
                                        </p:attrNameLst>
                                      </p:cBhvr>
                                      <p:to>
                                        <p:strVal val="visible"/>
                                      </p:to>
                                    </p:set>
                                    <p:anim calcmode="lin" valueType="num">
                                      <p:cBhvr additive="base">
                                        <p:cTn dur="350"/>
                                        <p:tgtEl>
                                          <p:spTgt spid="666"/>
                                        </p:tgtEl>
                                        <p:attrNameLst>
                                          <p:attrName>ppt_w</p:attrName>
                                        </p:attrNameLst>
                                      </p:cBhvr>
                                      <p:tavLst>
                                        <p:tav fmla="" tm="0">
                                          <p:val>
                                            <p:strVal val="0"/>
                                          </p:val>
                                        </p:tav>
                                        <p:tav fmla="" tm="100000">
                                          <p:val>
                                            <p:strVal val="#ppt_w"/>
                                          </p:val>
                                        </p:tav>
                                      </p:tavLst>
                                    </p:anim>
                                    <p:anim calcmode="lin" valueType="num">
                                      <p:cBhvr additive="base">
                                        <p:cTn dur="350"/>
                                        <p:tgtEl>
                                          <p:spTgt spid="66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470"/>
                                  </p:stCondLst>
                                  <p:childTnLst>
                                    <p:set>
                                      <p:cBhvr>
                                        <p:cTn dur="1" fill="hold">
                                          <p:stCondLst>
                                            <p:cond delay="0"/>
                                          </p:stCondLst>
                                        </p:cTn>
                                        <p:tgtEl>
                                          <p:spTgt spid="667"/>
                                        </p:tgtEl>
                                        <p:attrNameLst>
                                          <p:attrName>style.visibility</p:attrName>
                                        </p:attrNameLst>
                                      </p:cBhvr>
                                      <p:to>
                                        <p:strVal val="visible"/>
                                      </p:to>
                                    </p:set>
                                    <p:anim calcmode="lin" valueType="num">
                                      <p:cBhvr additive="base">
                                        <p:cTn dur="350"/>
                                        <p:tgtEl>
                                          <p:spTgt spid="667"/>
                                        </p:tgtEl>
                                        <p:attrNameLst>
                                          <p:attrName>ppt_w</p:attrName>
                                        </p:attrNameLst>
                                      </p:cBhvr>
                                      <p:tavLst>
                                        <p:tav fmla="" tm="0">
                                          <p:val>
                                            <p:strVal val="0"/>
                                          </p:val>
                                        </p:tav>
                                        <p:tav fmla="" tm="100000">
                                          <p:val>
                                            <p:strVal val="#ppt_w"/>
                                          </p:val>
                                        </p:tav>
                                      </p:tavLst>
                                    </p:anim>
                                    <p:anim calcmode="lin" valueType="num">
                                      <p:cBhvr additive="base">
                                        <p:cTn dur="350"/>
                                        <p:tgtEl>
                                          <p:spTgt spid="66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600"/>
                                  </p:stCondLst>
                                  <p:childTnLst>
                                    <p:set>
                                      <p:cBhvr>
                                        <p:cTn dur="1" fill="hold">
                                          <p:stCondLst>
                                            <p:cond delay="0"/>
                                          </p:stCondLst>
                                        </p:cTn>
                                        <p:tgtEl>
                                          <p:spTgt spid="665"/>
                                        </p:tgtEl>
                                        <p:attrNameLst>
                                          <p:attrName>style.visibility</p:attrName>
                                        </p:attrNameLst>
                                      </p:cBhvr>
                                      <p:to>
                                        <p:strVal val="visible"/>
                                      </p:to>
                                    </p:set>
                                    <p:animEffect filter="fade" transition="in">
                                      <p:cBhvr>
                                        <p:cTn dur="450"/>
                                        <p:tgtEl>
                                          <p:spTgt spid="665"/>
                                        </p:tgtEl>
                                      </p:cBhvr>
                                    </p:animEffect>
                                  </p:childTnLst>
                                </p:cTn>
                              </p:par>
                              <p:par>
                                <p:cTn fill="hold" nodeType="withEffect" presetClass="entr" presetID="23" presetSubtype="16">
                                  <p:stCondLst>
                                    <p:cond delay="620"/>
                                  </p:stCondLst>
                                  <p:childTnLst>
                                    <p:set>
                                      <p:cBhvr>
                                        <p:cTn dur="1" fill="hold">
                                          <p:stCondLst>
                                            <p:cond delay="0"/>
                                          </p:stCondLst>
                                        </p:cTn>
                                        <p:tgtEl>
                                          <p:spTgt spid="669"/>
                                        </p:tgtEl>
                                        <p:attrNameLst>
                                          <p:attrName>style.visibility</p:attrName>
                                        </p:attrNameLst>
                                      </p:cBhvr>
                                      <p:to>
                                        <p:strVal val="visible"/>
                                      </p:to>
                                    </p:set>
                                    <p:anim calcmode="lin" valueType="num">
                                      <p:cBhvr additive="base">
                                        <p:cTn dur="350"/>
                                        <p:tgtEl>
                                          <p:spTgt spid="669"/>
                                        </p:tgtEl>
                                        <p:attrNameLst>
                                          <p:attrName>ppt_w</p:attrName>
                                        </p:attrNameLst>
                                      </p:cBhvr>
                                      <p:tavLst>
                                        <p:tav fmla="" tm="0">
                                          <p:val>
                                            <p:strVal val="0"/>
                                          </p:val>
                                        </p:tav>
                                        <p:tav fmla="" tm="100000">
                                          <p:val>
                                            <p:strVal val="#ppt_w"/>
                                          </p:val>
                                        </p:tav>
                                      </p:tavLst>
                                    </p:anim>
                                    <p:anim calcmode="lin" valueType="num">
                                      <p:cBhvr additive="base">
                                        <p:cTn dur="350"/>
                                        <p:tgtEl>
                                          <p:spTgt spid="66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620"/>
                                  </p:stCondLst>
                                  <p:childTnLst>
                                    <p:set>
                                      <p:cBhvr>
                                        <p:cTn dur="1" fill="hold">
                                          <p:stCondLst>
                                            <p:cond delay="0"/>
                                          </p:stCondLst>
                                        </p:cTn>
                                        <p:tgtEl>
                                          <p:spTgt spid="670"/>
                                        </p:tgtEl>
                                        <p:attrNameLst>
                                          <p:attrName>style.visibility</p:attrName>
                                        </p:attrNameLst>
                                      </p:cBhvr>
                                      <p:to>
                                        <p:strVal val="visible"/>
                                      </p:to>
                                    </p:set>
                                    <p:anim calcmode="lin" valueType="num">
                                      <p:cBhvr additive="base">
                                        <p:cTn dur="350"/>
                                        <p:tgtEl>
                                          <p:spTgt spid="670"/>
                                        </p:tgtEl>
                                        <p:attrNameLst>
                                          <p:attrName>ppt_w</p:attrName>
                                        </p:attrNameLst>
                                      </p:cBhvr>
                                      <p:tavLst>
                                        <p:tav fmla="" tm="0">
                                          <p:val>
                                            <p:strVal val="0"/>
                                          </p:val>
                                        </p:tav>
                                        <p:tav fmla="" tm="100000">
                                          <p:val>
                                            <p:strVal val="#ppt_w"/>
                                          </p:val>
                                        </p:tav>
                                      </p:tavLst>
                                    </p:anim>
                                    <p:anim calcmode="lin" valueType="num">
                                      <p:cBhvr additive="base">
                                        <p:cTn dur="350"/>
                                        <p:tgtEl>
                                          <p:spTgt spid="67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750"/>
                                  </p:stCondLst>
                                  <p:childTnLst>
                                    <p:set>
                                      <p:cBhvr>
                                        <p:cTn dur="1" fill="hold">
                                          <p:stCondLst>
                                            <p:cond delay="0"/>
                                          </p:stCondLst>
                                        </p:cTn>
                                        <p:tgtEl>
                                          <p:spTgt spid="668"/>
                                        </p:tgtEl>
                                        <p:attrNameLst>
                                          <p:attrName>style.visibility</p:attrName>
                                        </p:attrNameLst>
                                      </p:cBhvr>
                                      <p:to>
                                        <p:strVal val="visible"/>
                                      </p:to>
                                    </p:set>
                                    <p:animEffect filter="fade" transition="in">
                                      <p:cBhvr>
                                        <p:cTn dur="450"/>
                                        <p:tgtEl>
                                          <p:spTgt spid="668"/>
                                        </p:tgtEl>
                                      </p:cBhvr>
                                    </p:animEffect>
                                  </p:childTnLst>
                                </p:cTn>
                              </p:par>
                              <p:par>
                                <p:cTn fill="hold" nodeType="withEffect" presetClass="entr" presetID="23" presetSubtype="16">
                                  <p:stCondLst>
                                    <p:cond delay="770"/>
                                  </p:stCondLst>
                                  <p:childTnLst>
                                    <p:set>
                                      <p:cBhvr>
                                        <p:cTn dur="1" fill="hold">
                                          <p:stCondLst>
                                            <p:cond delay="0"/>
                                          </p:stCondLst>
                                        </p:cTn>
                                        <p:tgtEl>
                                          <p:spTgt spid="672"/>
                                        </p:tgtEl>
                                        <p:attrNameLst>
                                          <p:attrName>style.visibility</p:attrName>
                                        </p:attrNameLst>
                                      </p:cBhvr>
                                      <p:to>
                                        <p:strVal val="visible"/>
                                      </p:to>
                                    </p:set>
                                    <p:anim calcmode="lin" valueType="num">
                                      <p:cBhvr additive="base">
                                        <p:cTn dur="350"/>
                                        <p:tgtEl>
                                          <p:spTgt spid="672"/>
                                        </p:tgtEl>
                                        <p:attrNameLst>
                                          <p:attrName>ppt_w</p:attrName>
                                        </p:attrNameLst>
                                      </p:cBhvr>
                                      <p:tavLst>
                                        <p:tav fmla="" tm="0">
                                          <p:val>
                                            <p:strVal val="0"/>
                                          </p:val>
                                        </p:tav>
                                        <p:tav fmla="" tm="100000">
                                          <p:val>
                                            <p:strVal val="#ppt_w"/>
                                          </p:val>
                                        </p:tav>
                                      </p:tavLst>
                                    </p:anim>
                                    <p:anim calcmode="lin" valueType="num">
                                      <p:cBhvr additive="base">
                                        <p:cTn dur="350"/>
                                        <p:tgtEl>
                                          <p:spTgt spid="67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770"/>
                                  </p:stCondLst>
                                  <p:childTnLst>
                                    <p:set>
                                      <p:cBhvr>
                                        <p:cTn dur="1" fill="hold">
                                          <p:stCondLst>
                                            <p:cond delay="0"/>
                                          </p:stCondLst>
                                        </p:cTn>
                                        <p:tgtEl>
                                          <p:spTgt spid="673"/>
                                        </p:tgtEl>
                                        <p:attrNameLst>
                                          <p:attrName>style.visibility</p:attrName>
                                        </p:attrNameLst>
                                      </p:cBhvr>
                                      <p:to>
                                        <p:strVal val="visible"/>
                                      </p:to>
                                    </p:set>
                                    <p:anim calcmode="lin" valueType="num">
                                      <p:cBhvr additive="base">
                                        <p:cTn dur="350"/>
                                        <p:tgtEl>
                                          <p:spTgt spid="673"/>
                                        </p:tgtEl>
                                        <p:attrNameLst>
                                          <p:attrName>ppt_w</p:attrName>
                                        </p:attrNameLst>
                                      </p:cBhvr>
                                      <p:tavLst>
                                        <p:tav fmla="" tm="0">
                                          <p:val>
                                            <p:strVal val="0"/>
                                          </p:val>
                                        </p:tav>
                                        <p:tav fmla="" tm="100000">
                                          <p:val>
                                            <p:strVal val="#ppt_w"/>
                                          </p:val>
                                        </p:tav>
                                      </p:tavLst>
                                    </p:anim>
                                    <p:anim calcmode="lin" valueType="num">
                                      <p:cBhvr additive="base">
                                        <p:cTn dur="350"/>
                                        <p:tgtEl>
                                          <p:spTgt spid="67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900"/>
                                  </p:stCondLst>
                                  <p:childTnLst>
                                    <p:set>
                                      <p:cBhvr>
                                        <p:cTn dur="1" fill="hold">
                                          <p:stCondLst>
                                            <p:cond delay="0"/>
                                          </p:stCondLst>
                                        </p:cTn>
                                        <p:tgtEl>
                                          <p:spTgt spid="671"/>
                                        </p:tgtEl>
                                        <p:attrNameLst>
                                          <p:attrName>style.visibility</p:attrName>
                                        </p:attrNameLst>
                                      </p:cBhvr>
                                      <p:to>
                                        <p:strVal val="visible"/>
                                      </p:to>
                                    </p:set>
                                    <p:animEffect filter="fade" transition="in">
                                      <p:cBhvr>
                                        <p:cTn dur="450"/>
                                        <p:tgtEl>
                                          <p:spTgt spid="671"/>
                                        </p:tgtEl>
                                      </p:cBhvr>
                                    </p:animEffect>
                                  </p:childTnLst>
                                </p:cTn>
                              </p:par>
                              <p:par>
                                <p:cTn fill="hold" nodeType="withEffect" presetClass="entr" presetID="23" presetSubtype="16">
                                  <p:stCondLst>
                                    <p:cond delay="1050"/>
                                  </p:stCondLst>
                                  <p:childTnLst>
                                    <p:set>
                                      <p:cBhvr>
                                        <p:cTn dur="1" fill="hold">
                                          <p:stCondLst>
                                            <p:cond delay="0"/>
                                          </p:stCondLst>
                                        </p:cTn>
                                        <p:tgtEl>
                                          <p:spTgt spid="674"/>
                                        </p:tgtEl>
                                        <p:attrNameLst>
                                          <p:attrName>style.visibility</p:attrName>
                                        </p:attrNameLst>
                                      </p:cBhvr>
                                      <p:to>
                                        <p:strVal val="visible"/>
                                      </p:to>
                                    </p:set>
                                    <p:anim calcmode="lin" valueType="num">
                                      <p:cBhvr additive="base">
                                        <p:cTn dur="600"/>
                                        <p:tgtEl>
                                          <p:spTgt spid="674"/>
                                        </p:tgtEl>
                                        <p:attrNameLst>
                                          <p:attrName>ppt_w</p:attrName>
                                        </p:attrNameLst>
                                      </p:cBhvr>
                                      <p:tavLst>
                                        <p:tav fmla="" tm="0">
                                          <p:val>
                                            <p:strVal val="0"/>
                                          </p:val>
                                        </p:tav>
                                        <p:tav fmla="" tm="100000">
                                          <p:val>
                                            <p:strVal val="#ppt_w"/>
                                          </p:val>
                                        </p:tav>
                                      </p:tavLst>
                                    </p:anim>
                                    <p:anim calcmode="lin" valueType="num">
                                      <p:cBhvr additive="base">
                                        <p:cTn dur="600"/>
                                        <p:tgtEl>
                                          <p:spTgt spid="67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33"/>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Conclusion</a:t>
            </a:r>
            <a:endParaRPr/>
          </a:p>
        </p:txBody>
      </p:sp>
      <p:sp>
        <p:nvSpPr>
          <p:cNvPr id="681" name="Google Shape;681;p33"/>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682" name="Google Shape;682;p33"/>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683" name="Google Shape;683;p33"/>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684" name="Google Shape;684;p33"/>
          <p:cNvSpPr/>
          <p:nvPr/>
        </p:nvSpPr>
        <p:spPr>
          <a:xfrm>
            <a:off x="502920" y="1298448"/>
            <a:ext cx="4206240" cy="713232"/>
          </a:xfrm>
          <a:prstGeom prst="roundRect">
            <a:avLst>
              <a:gd fmla="val 20000" name="adj"/>
            </a:avLst>
          </a:prstGeom>
          <a:gradFill rotWithShape="1">
            <a:gsLst>
              <a:gs pos="0">
                <a:srgbClr val="006662"/>
              </a:gs>
              <a:gs pos="100000">
                <a:srgbClr val="0E9294"/>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chemeClr val="lt1"/>
                </a:solidFill>
                <a:latin typeface="Times New Roman"/>
                <a:ea typeface="Times New Roman"/>
                <a:cs typeface="Times New Roman"/>
                <a:sym typeface="Times New Roman"/>
              </a:rPr>
              <a:t>All registered workers</a:t>
            </a:r>
            <a:endParaRPr/>
          </a:p>
        </p:txBody>
      </p:sp>
      <p:sp>
        <p:nvSpPr>
          <p:cNvPr id="685" name="Google Shape;685;p33"/>
          <p:cNvSpPr/>
          <p:nvPr/>
        </p:nvSpPr>
        <p:spPr>
          <a:xfrm>
            <a:off x="2441448" y="2029968"/>
            <a:ext cx="329184" cy="182880"/>
          </a:xfrm>
          <a:prstGeom prst="downArrow">
            <a:avLst>
              <a:gd fmla="val 50000" name="adj1"/>
              <a:gd fmla="val 50000" name="adj2"/>
            </a:avLst>
          </a:prstGeom>
          <a:gradFill rotWithShape="1">
            <a:gsLst>
              <a:gs pos="0">
                <a:srgbClr val="076375"/>
              </a:gs>
              <a:gs pos="100000">
                <a:srgbClr val="008CB9"/>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686" name="Google Shape;686;p33"/>
          <p:cNvSpPr/>
          <p:nvPr/>
        </p:nvSpPr>
        <p:spPr>
          <a:xfrm>
            <a:off x="891540" y="2231136"/>
            <a:ext cx="3429000" cy="713232"/>
          </a:xfrm>
          <a:prstGeom prst="roundRect">
            <a:avLst>
              <a:gd fmla="val 20000" name="adj"/>
            </a:avLst>
          </a:prstGeom>
          <a:gradFill rotWithShape="1">
            <a:gsLst>
              <a:gs pos="0">
                <a:srgbClr val="076375"/>
              </a:gs>
              <a:gs pos="100000">
                <a:srgbClr val="008CB9"/>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chemeClr val="lt1"/>
                </a:solidFill>
                <a:latin typeface="Times New Roman"/>
                <a:ea typeface="Times New Roman"/>
                <a:cs typeface="Times New Roman"/>
                <a:sym typeface="Times New Roman"/>
              </a:rPr>
              <a:t>Skill match: plumbers</a:t>
            </a:r>
            <a:endParaRPr/>
          </a:p>
        </p:txBody>
      </p:sp>
      <p:sp>
        <p:nvSpPr>
          <p:cNvPr id="687" name="Google Shape;687;p33"/>
          <p:cNvSpPr/>
          <p:nvPr/>
        </p:nvSpPr>
        <p:spPr>
          <a:xfrm>
            <a:off x="2441448" y="2962656"/>
            <a:ext cx="329184" cy="182880"/>
          </a:xfrm>
          <a:prstGeom prst="downArrow">
            <a:avLst>
              <a:gd fmla="val 50000" name="adj1"/>
              <a:gd fmla="val 50000" name="adj2"/>
            </a:avLst>
          </a:prstGeom>
          <a:gradFill rotWithShape="1">
            <a:gsLst>
              <a:gs pos="0">
                <a:srgbClr val="1555A9"/>
              </a:gs>
              <a:gs pos="100000">
                <a:srgbClr val="6078D9"/>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688" name="Google Shape;688;p33"/>
          <p:cNvSpPr/>
          <p:nvPr/>
        </p:nvSpPr>
        <p:spPr>
          <a:xfrm>
            <a:off x="1280160" y="3163824"/>
            <a:ext cx="2651760" cy="713232"/>
          </a:xfrm>
          <a:prstGeom prst="roundRect">
            <a:avLst>
              <a:gd fmla="val 20000" name="adj"/>
            </a:avLst>
          </a:prstGeom>
          <a:gradFill rotWithShape="1">
            <a:gsLst>
              <a:gs pos="0">
                <a:srgbClr val="1555A9"/>
              </a:gs>
              <a:gs pos="100000">
                <a:srgbClr val="6078D9"/>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chemeClr val="lt1"/>
                </a:solidFill>
                <a:latin typeface="Times New Roman"/>
                <a:ea typeface="Times New Roman"/>
                <a:cs typeface="Times New Roman"/>
                <a:sym typeface="Times New Roman"/>
              </a:rPr>
              <a:t>Nearby and free: A, B, C</a:t>
            </a:r>
            <a:endParaRPr/>
          </a:p>
        </p:txBody>
      </p:sp>
      <p:sp>
        <p:nvSpPr>
          <p:cNvPr id="689" name="Google Shape;689;p33"/>
          <p:cNvSpPr/>
          <p:nvPr/>
        </p:nvSpPr>
        <p:spPr>
          <a:xfrm>
            <a:off x="2441448" y="3895344"/>
            <a:ext cx="329184" cy="182880"/>
          </a:xfrm>
          <a:prstGeom prst="downArrow">
            <a:avLst>
              <a:gd fmla="val 50000" name="adj1"/>
              <a:gd fmla="val 50000" name="adj2"/>
            </a:avLst>
          </a:prstGeom>
          <a:gradFill rotWithShape="1">
            <a:gsLst>
              <a:gs pos="0">
                <a:srgbClr val="653E9E"/>
              </a:gs>
              <a:gs pos="100000">
                <a:srgbClr val="9E62C0"/>
              </a:gs>
            </a:gsLst>
            <a:lin ang="2700000" scaled="0"/>
          </a:gradFill>
          <a:ln>
            <a:noFill/>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sp>
        <p:nvSpPr>
          <p:cNvPr id="690" name="Google Shape;690;p33"/>
          <p:cNvSpPr/>
          <p:nvPr/>
        </p:nvSpPr>
        <p:spPr>
          <a:xfrm>
            <a:off x="1668780" y="4096512"/>
            <a:ext cx="1874520" cy="713232"/>
          </a:xfrm>
          <a:prstGeom prst="roundRect">
            <a:avLst>
              <a:gd fmla="val 20000" name="adj"/>
            </a:avLst>
          </a:prstGeom>
          <a:gradFill rotWithShape="1">
            <a:gsLst>
              <a:gs pos="0">
                <a:srgbClr val="653E9E"/>
              </a:gs>
              <a:gs pos="100000">
                <a:srgbClr val="9E62C0"/>
              </a:gs>
            </a:gsLst>
            <a:lin ang="2700000" scaled="0"/>
          </a:gradFill>
          <a:ln cap="flat" cmpd="sng" w="1905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50"/>
              <a:buFont typeface="Arial"/>
              <a:buNone/>
            </a:pPr>
            <a:r>
              <a:rPr b="1" i="0" lang="en-US" sz="1350" u="none" cap="none" strike="noStrike">
                <a:solidFill>
                  <a:schemeClr val="lt1"/>
                </a:solidFill>
                <a:latin typeface="Times New Roman"/>
                <a:ea typeface="Times New Roman"/>
                <a:cs typeface="Times New Roman"/>
                <a:sym typeface="Times New Roman"/>
              </a:rPr>
              <a:t>Best: Worker A (0.850)</a:t>
            </a:r>
            <a:endParaRPr/>
          </a:p>
        </p:txBody>
      </p:sp>
      <p:sp>
        <p:nvSpPr>
          <p:cNvPr id="691" name="Google Shape;691;p33"/>
          <p:cNvSpPr/>
          <p:nvPr/>
        </p:nvSpPr>
        <p:spPr>
          <a:xfrm>
            <a:off x="457200" y="5074920"/>
            <a:ext cx="4297680" cy="749808"/>
          </a:xfrm>
          <a:prstGeom prst="roundRect">
            <a:avLst>
              <a:gd fmla="val 20000" name="adj"/>
            </a:avLst>
          </a:prstGeom>
          <a:gradFill rotWithShape="1">
            <a:gsLst>
              <a:gs pos="0">
                <a:srgbClr val="006662"/>
              </a:gs>
              <a:gs pos="25000">
                <a:srgbClr val="006083"/>
              </a:gs>
              <a:gs pos="50000">
                <a:srgbClr val="3E4CAA"/>
              </a:gs>
              <a:gs pos="75000">
                <a:srgbClr val="753791"/>
              </a:gs>
              <a:gs pos="100000">
                <a:srgbClr val="93285C"/>
              </a:gs>
            </a:gsLst>
            <a:lin ang="0" scaled="0"/>
          </a:gradFill>
          <a:ln>
            <a:noFill/>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Times New Roman"/>
                <a:ea typeface="Times New Roman"/>
                <a:cs typeface="Times New Roman"/>
                <a:sym typeface="Times New Roman"/>
              </a:rPr>
              <a:t>Faster, balanced and learning-based worker recommendation</a:t>
            </a:r>
            <a:endParaRPr/>
          </a:p>
        </p:txBody>
      </p:sp>
      <p:sp>
        <p:nvSpPr>
          <p:cNvPr id="692" name="Google Shape;692;p33"/>
          <p:cNvSpPr/>
          <p:nvPr/>
        </p:nvSpPr>
        <p:spPr>
          <a:xfrm>
            <a:off x="5029200" y="1280160"/>
            <a:ext cx="3657600" cy="987552"/>
          </a:xfrm>
          <a:prstGeom prst="roundRect">
            <a:avLst>
              <a:gd fmla="val 10000" name="adj"/>
            </a:avLst>
          </a:prstGeom>
          <a:gradFill rotWithShape="1">
            <a:gsLst>
              <a:gs pos="0">
                <a:srgbClr val="FFFFFF"/>
              </a:gs>
              <a:gs pos="100000">
                <a:srgbClr val="DAF6FB"/>
              </a:gs>
            </a:gsLst>
            <a:lin ang="5400000" scaled="0"/>
          </a:gradFill>
          <a:ln cap="flat" cmpd="sng" w="15875">
            <a:solidFill>
              <a:srgbClr val="018A9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777225" spcFirstLastPara="1" rIns="73150"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0525C"/>
                </a:solidFill>
                <a:latin typeface="Times New Roman"/>
                <a:ea typeface="Times New Roman"/>
                <a:cs typeface="Times New Roman"/>
                <a:sym typeface="Times New Roman"/>
              </a:rPr>
              <a:t>Less manual effort</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Understands the problem, searches nearby, ranks with a weighted score.</a:t>
            </a:r>
            <a:endParaRPr/>
          </a:p>
        </p:txBody>
      </p:sp>
      <p:sp>
        <p:nvSpPr>
          <p:cNvPr id="693" name="Google Shape;693;p33"/>
          <p:cNvSpPr/>
          <p:nvPr/>
        </p:nvSpPr>
        <p:spPr>
          <a:xfrm>
            <a:off x="5138928" y="1481328"/>
            <a:ext cx="585216" cy="585216"/>
          </a:xfrm>
          <a:prstGeom prst="ellipse">
            <a:avLst/>
          </a:prstGeom>
          <a:gradFill rotWithShape="1">
            <a:gsLst>
              <a:gs pos="0">
                <a:srgbClr val="00656C"/>
              </a:gs>
              <a:gs pos="100000">
                <a:srgbClr val="0B8FA8"/>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ThumbsUp" id="694" name="Google Shape;694;p33"/>
          <p:cNvPicPr preferRelativeResize="0"/>
          <p:nvPr/>
        </p:nvPicPr>
        <p:blipFill rotWithShape="1">
          <a:blip r:embed="rId3">
            <a:alphaModFix/>
          </a:blip>
          <a:srcRect b="0" l="0" r="0" t="0"/>
          <a:stretch/>
        </p:blipFill>
        <p:spPr>
          <a:xfrm>
            <a:off x="5285232" y="1627632"/>
            <a:ext cx="292608" cy="292608"/>
          </a:xfrm>
          <a:prstGeom prst="rect">
            <a:avLst/>
          </a:prstGeom>
          <a:noFill/>
          <a:ln>
            <a:noFill/>
          </a:ln>
        </p:spPr>
      </p:pic>
      <p:sp>
        <p:nvSpPr>
          <p:cNvPr id="695" name="Google Shape;695;p33"/>
          <p:cNvSpPr/>
          <p:nvPr/>
        </p:nvSpPr>
        <p:spPr>
          <a:xfrm>
            <a:off x="5029200" y="2423160"/>
            <a:ext cx="3657600" cy="987552"/>
          </a:xfrm>
          <a:prstGeom prst="roundRect">
            <a:avLst>
              <a:gd fmla="val 10000" name="adj"/>
            </a:avLst>
          </a:prstGeom>
          <a:gradFill rotWithShape="1">
            <a:gsLst>
              <a:gs pos="0">
                <a:srgbClr val="ECF4FF"/>
              </a:gs>
              <a:gs pos="100000">
                <a:srgbClr val="D2E5FE"/>
              </a:gs>
            </a:gsLst>
            <a:lin ang="2700000" scaled="0"/>
          </a:gradFill>
          <a:ln cap="flat" cmpd="sng" w="15875">
            <a:solidFill>
              <a:srgbClr val="3C7BCB"/>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777225" spcFirstLastPara="1" rIns="73150"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07468B"/>
                </a:solidFill>
                <a:latin typeface="Times New Roman"/>
                <a:ea typeface="Times New Roman"/>
                <a:cs typeface="Times New Roman"/>
                <a:sym typeface="Times New Roman"/>
              </a:rPr>
              <a:t>CrowdBwO idea</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Bandit learns quality from ratings after each job; new workers still get a chance.</a:t>
            </a:r>
            <a:endParaRPr/>
          </a:p>
        </p:txBody>
      </p:sp>
      <p:sp>
        <p:nvSpPr>
          <p:cNvPr id="696" name="Google Shape;696;p33"/>
          <p:cNvSpPr/>
          <p:nvPr/>
        </p:nvSpPr>
        <p:spPr>
          <a:xfrm>
            <a:off x="5138928" y="2624328"/>
            <a:ext cx="585216" cy="585216"/>
          </a:xfrm>
          <a:prstGeom prst="ellipse">
            <a:avLst/>
          </a:prstGeom>
          <a:gradFill rotWithShape="1">
            <a:gsLst>
              <a:gs pos="0">
                <a:srgbClr val="005A9D"/>
              </a:gs>
              <a:gs pos="100000">
                <a:srgbClr val="4E7CD9"/>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Brain" id="697" name="Google Shape;697;p33"/>
          <p:cNvPicPr preferRelativeResize="0"/>
          <p:nvPr/>
        </p:nvPicPr>
        <p:blipFill rotWithShape="1">
          <a:blip r:embed="rId4">
            <a:alphaModFix/>
          </a:blip>
          <a:srcRect b="0" l="0" r="0" t="0"/>
          <a:stretch/>
        </p:blipFill>
        <p:spPr>
          <a:xfrm>
            <a:off x="5285232" y="2770632"/>
            <a:ext cx="292608" cy="292608"/>
          </a:xfrm>
          <a:prstGeom prst="rect">
            <a:avLst/>
          </a:prstGeom>
          <a:noFill/>
          <a:ln>
            <a:noFill/>
          </a:ln>
        </p:spPr>
      </p:pic>
      <p:sp>
        <p:nvSpPr>
          <p:cNvPr id="698" name="Google Shape;698;p33"/>
          <p:cNvSpPr/>
          <p:nvPr/>
        </p:nvSpPr>
        <p:spPr>
          <a:xfrm>
            <a:off x="5029200" y="3566160"/>
            <a:ext cx="3657600" cy="987552"/>
          </a:xfrm>
          <a:prstGeom prst="roundRect">
            <a:avLst>
              <a:gd fmla="val 10000" name="adj"/>
            </a:avLst>
          </a:prstGeom>
          <a:gradFill rotWithShape="1">
            <a:gsLst>
              <a:gs pos="0">
                <a:srgbClr val="FFFFFF"/>
              </a:gs>
              <a:gs pos="100000">
                <a:srgbClr val="F2EDFF"/>
              </a:gs>
            </a:gsLst>
            <a:lin ang="5400000" scaled="0"/>
          </a:gradFill>
          <a:ln cap="flat" cmpd="sng" w="15875">
            <a:solidFill>
              <a:srgbClr val="8665C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777225" spcFirstLastPara="1" rIns="73150"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533283"/>
                </a:solidFill>
                <a:latin typeface="Times New Roman"/>
                <a:ea typeface="Times New Roman"/>
                <a:cs typeface="Times New Roman"/>
                <a:sym typeface="Times New Roman"/>
              </a:rPr>
              <a:t>Where it fits</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Home services, vehicle repair, appliance repair, field service dispatch.</a:t>
            </a:r>
            <a:endParaRPr/>
          </a:p>
        </p:txBody>
      </p:sp>
      <p:sp>
        <p:nvSpPr>
          <p:cNvPr id="699" name="Google Shape;699;p33"/>
          <p:cNvSpPr/>
          <p:nvPr/>
        </p:nvSpPr>
        <p:spPr>
          <a:xfrm>
            <a:off x="5138928" y="3767328"/>
            <a:ext cx="585216" cy="585216"/>
          </a:xfrm>
          <a:prstGeom prst="ellipse">
            <a:avLst/>
          </a:prstGeom>
          <a:gradFill rotWithShape="1">
            <a:gsLst>
              <a:gs pos="0">
                <a:srgbClr val="5D42A3"/>
              </a:gs>
              <a:gs pos="100000">
                <a:srgbClr val="9665C7"/>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Tools" id="700" name="Google Shape;700;p33"/>
          <p:cNvPicPr preferRelativeResize="0"/>
          <p:nvPr/>
        </p:nvPicPr>
        <p:blipFill rotWithShape="1">
          <a:blip r:embed="rId5">
            <a:alphaModFix/>
          </a:blip>
          <a:srcRect b="0" l="0" r="0" t="0"/>
          <a:stretch/>
        </p:blipFill>
        <p:spPr>
          <a:xfrm>
            <a:off x="5285232" y="3913632"/>
            <a:ext cx="292608" cy="292608"/>
          </a:xfrm>
          <a:prstGeom prst="rect">
            <a:avLst/>
          </a:prstGeom>
          <a:noFill/>
          <a:ln>
            <a:noFill/>
          </a:ln>
        </p:spPr>
      </p:pic>
      <p:sp>
        <p:nvSpPr>
          <p:cNvPr id="701" name="Google Shape;701;p33"/>
          <p:cNvSpPr/>
          <p:nvPr/>
        </p:nvSpPr>
        <p:spPr>
          <a:xfrm>
            <a:off x="5029200" y="4709160"/>
            <a:ext cx="3657600" cy="987552"/>
          </a:xfrm>
          <a:prstGeom prst="roundRect">
            <a:avLst>
              <a:gd fmla="val 10000" name="adj"/>
            </a:avLst>
          </a:prstGeom>
          <a:gradFill rotWithShape="1">
            <a:gsLst>
              <a:gs pos="0">
                <a:srgbClr val="FFEEF8"/>
              </a:gs>
              <a:gs pos="100000">
                <a:srgbClr val="FED5ED"/>
              </a:gs>
            </a:gsLst>
            <a:lin ang="2700000" scaled="0"/>
          </a:gradFill>
          <a:ln cap="flat" cmpd="sng" w="15875">
            <a:solidFill>
              <a:srgbClr val="B05592"/>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777225" spcFirstLastPara="1" rIns="73150" wrap="square" tIns="45700">
            <a:noAutofit/>
          </a:bodyPr>
          <a:lstStyle/>
          <a:p>
            <a:pPr indent="0" lvl="0" marL="0" marR="0" rtl="0" algn="l">
              <a:lnSpc>
                <a:spcPct val="100000"/>
              </a:lnSpc>
              <a:spcBef>
                <a:spcPts val="0"/>
              </a:spcBef>
              <a:spcAft>
                <a:spcPts val="0"/>
              </a:spcAft>
              <a:buClr>
                <a:srgbClr val="000000"/>
              </a:buClr>
              <a:buSzPts val="1350"/>
              <a:buFont typeface="Arial"/>
              <a:buNone/>
            </a:pPr>
            <a:r>
              <a:rPr b="1" i="0" lang="en-US" sz="1350" u="none" cap="none" strike="noStrike">
                <a:solidFill>
                  <a:srgbClr val="73235B"/>
                </a:solidFill>
                <a:latin typeface="Times New Roman"/>
                <a:ea typeface="Times New Roman"/>
                <a:cs typeface="Times New Roman"/>
                <a:sym typeface="Times New Roman"/>
              </a:rPr>
              <a:t>Needs care</a:t>
            </a:r>
            <a:endParaRPr/>
          </a:p>
          <a:p>
            <a:pPr indent="0" lvl="0" marL="0" marR="0" rtl="0" algn="l">
              <a:lnSpc>
                <a:spcPct val="100000"/>
              </a:lnSpc>
              <a:spcBef>
                <a:spcPts val="200"/>
              </a:spcBef>
              <a:spcAft>
                <a:spcPts val="0"/>
              </a:spcAft>
              <a:buClr>
                <a:srgbClr val="000000"/>
              </a:buClr>
              <a:buSzPts val="1200"/>
              <a:buFont typeface="Arial"/>
              <a:buNone/>
            </a:pPr>
            <a:r>
              <a:rPr b="0" i="0" lang="en-US" sz="1200" u="none" cap="none" strike="noStrike">
                <a:solidFill>
                  <a:schemeClr val="dk1"/>
                </a:solidFill>
                <a:latin typeface="Times New Roman"/>
                <a:ea typeface="Times New Roman"/>
                <a:cs typeface="Times New Roman"/>
                <a:sym typeface="Times New Roman"/>
              </a:rPr>
              <a:t>Correct data, honest ratings, sensible weights and location privacy.</a:t>
            </a:r>
            <a:endParaRPr/>
          </a:p>
        </p:txBody>
      </p:sp>
      <p:sp>
        <p:nvSpPr>
          <p:cNvPr id="702" name="Google Shape;702;p33"/>
          <p:cNvSpPr/>
          <p:nvPr/>
        </p:nvSpPr>
        <p:spPr>
          <a:xfrm>
            <a:off x="5138928" y="4910328"/>
            <a:ext cx="585216" cy="585216"/>
          </a:xfrm>
          <a:prstGeom prst="ellipse">
            <a:avLst/>
          </a:prstGeom>
          <a:gradFill rotWithShape="1">
            <a:gsLst>
              <a:gs pos="0">
                <a:srgbClr val="882E78"/>
              </a:gs>
              <a:gs pos="100000">
                <a:srgbClr val="BF558F"/>
              </a:gs>
            </a:gsLst>
            <a:lin ang="2700000" scaled="0"/>
          </a:gradFill>
          <a:ln cap="flat" cmpd="sng" w="25400">
            <a:solidFill>
              <a:schemeClr val="lt1"/>
            </a:solidFill>
            <a:prstDash val="solid"/>
            <a:round/>
            <a:headEnd len="sm" w="sm" type="none"/>
            <a:tailEnd len="sm" w="sm" type="none"/>
          </a:ln>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pic>
        <p:nvPicPr>
          <p:cNvPr descr="FaShieldAlt" id="703" name="Google Shape;703;p33"/>
          <p:cNvPicPr preferRelativeResize="0"/>
          <p:nvPr/>
        </p:nvPicPr>
        <p:blipFill rotWithShape="1">
          <a:blip r:embed="rId6">
            <a:alphaModFix/>
          </a:blip>
          <a:srcRect b="0" l="0" r="0" t="0"/>
          <a:stretch/>
        </p:blipFill>
        <p:spPr>
          <a:xfrm>
            <a:off x="5285232" y="5056632"/>
            <a:ext cx="292608" cy="292608"/>
          </a:xfrm>
          <a:prstGeom prst="rect">
            <a:avLst/>
          </a:prstGeom>
          <a:noFill/>
          <a:ln>
            <a:noFill/>
          </a:ln>
        </p:spPr>
      </p:pic>
    </p:spTree>
  </p:cSld>
  <p:clrMapOvr>
    <a:masterClrMapping/>
  </p:clrMapOvr>
  <mc:AlternateContent>
    <mc:Choice Requires="p14">
      <p:transition spd="slow" p14:dur="1400">
        <p14:honeycomb/>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84"/>
                                        </p:tgtEl>
                                        <p:attrNameLst>
                                          <p:attrName>style.visibility</p:attrName>
                                        </p:attrNameLst>
                                      </p:cBhvr>
                                      <p:to>
                                        <p:strVal val="visible"/>
                                      </p:to>
                                    </p:set>
                                    <p:anim calcmode="lin" valueType="num">
                                      <p:cBhvr additive="base">
                                        <p:cTn dur="450"/>
                                        <p:tgtEl>
                                          <p:spTgt spid="684"/>
                                        </p:tgtEl>
                                        <p:attrNameLst>
                                          <p:attrName>ppt_w</p:attrName>
                                        </p:attrNameLst>
                                      </p:cBhvr>
                                      <p:tavLst>
                                        <p:tav fmla="" tm="0">
                                          <p:val>
                                            <p:strVal val="0"/>
                                          </p:val>
                                        </p:tav>
                                        <p:tav fmla="" tm="100000">
                                          <p:val>
                                            <p:strVal val="#ppt_w"/>
                                          </p:val>
                                        </p:tav>
                                      </p:tavLst>
                                    </p:anim>
                                    <p:anim calcmode="lin" valueType="num">
                                      <p:cBhvr additive="base">
                                        <p:cTn dur="450"/>
                                        <p:tgtEl>
                                          <p:spTgt spid="68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50"/>
                                  </p:stCondLst>
                                  <p:childTnLst>
                                    <p:set>
                                      <p:cBhvr>
                                        <p:cTn dur="1" fill="hold">
                                          <p:stCondLst>
                                            <p:cond delay="0"/>
                                          </p:stCondLst>
                                        </p:cTn>
                                        <p:tgtEl>
                                          <p:spTgt spid="685"/>
                                        </p:tgtEl>
                                        <p:attrNameLst>
                                          <p:attrName>style.visibility</p:attrName>
                                        </p:attrNameLst>
                                      </p:cBhvr>
                                      <p:to>
                                        <p:strVal val="visible"/>
                                      </p:to>
                                    </p:set>
                                    <p:animEffect filter="fade" transition="in">
                                      <p:cBhvr>
                                        <p:cTn dur="250"/>
                                        <p:tgtEl>
                                          <p:spTgt spid="685"/>
                                        </p:tgtEl>
                                      </p:cBhvr>
                                    </p:animEffect>
                                  </p:childTnLst>
                                </p:cTn>
                              </p:par>
                              <p:par>
                                <p:cTn fill="hold" nodeType="withEffect" presetClass="entr" presetID="23" presetSubtype="16">
                                  <p:stCondLst>
                                    <p:cond delay="400"/>
                                  </p:stCondLst>
                                  <p:childTnLst>
                                    <p:set>
                                      <p:cBhvr>
                                        <p:cTn dur="1" fill="hold">
                                          <p:stCondLst>
                                            <p:cond delay="0"/>
                                          </p:stCondLst>
                                        </p:cTn>
                                        <p:tgtEl>
                                          <p:spTgt spid="686"/>
                                        </p:tgtEl>
                                        <p:attrNameLst>
                                          <p:attrName>style.visibility</p:attrName>
                                        </p:attrNameLst>
                                      </p:cBhvr>
                                      <p:to>
                                        <p:strVal val="visible"/>
                                      </p:to>
                                    </p:set>
                                    <p:anim calcmode="lin" valueType="num">
                                      <p:cBhvr additive="base">
                                        <p:cTn dur="450"/>
                                        <p:tgtEl>
                                          <p:spTgt spid="686"/>
                                        </p:tgtEl>
                                        <p:attrNameLst>
                                          <p:attrName>ppt_w</p:attrName>
                                        </p:attrNameLst>
                                      </p:cBhvr>
                                      <p:tavLst>
                                        <p:tav fmla="" tm="0">
                                          <p:val>
                                            <p:strVal val="0"/>
                                          </p:val>
                                        </p:tav>
                                        <p:tav fmla="" tm="100000">
                                          <p:val>
                                            <p:strVal val="#ppt_w"/>
                                          </p:val>
                                        </p:tav>
                                      </p:tavLst>
                                    </p:anim>
                                    <p:anim calcmode="lin" valueType="num">
                                      <p:cBhvr additive="base">
                                        <p:cTn dur="450"/>
                                        <p:tgtEl>
                                          <p:spTgt spid="68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650"/>
                                  </p:stCondLst>
                                  <p:childTnLst>
                                    <p:set>
                                      <p:cBhvr>
                                        <p:cTn dur="1" fill="hold">
                                          <p:stCondLst>
                                            <p:cond delay="0"/>
                                          </p:stCondLst>
                                        </p:cTn>
                                        <p:tgtEl>
                                          <p:spTgt spid="687"/>
                                        </p:tgtEl>
                                        <p:attrNameLst>
                                          <p:attrName>style.visibility</p:attrName>
                                        </p:attrNameLst>
                                      </p:cBhvr>
                                      <p:to>
                                        <p:strVal val="visible"/>
                                      </p:to>
                                    </p:set>
                                    <p:animEffect filter="fade" transition="in">
                                      <p:cBhvr>
                                        <p:cTn dur="250"/>
                                        <p:tgtEl>
                                          <p:spTgt spid="687"/>
                                        </p:tgtEl>
                                      </p:cBhvr>
                                    </p:animEffect>
                                  </p:childTnLst>
                                </p:cTn>
                              </p:par>
                              <p:par>
                                <p:cTn fill="hold" nodeType="withEffect" presetClass="entr" presetID="23" presetSubtype="16">
                                  <p:stCondLst>
                                    <p:cond delay="80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450"/>
                                        <p:tgtEl>
                                          <p:spTgt spid="688"/>
                                        </p:tgtEl>
                                        <p:attrNameLst>
                                          <p:attrName>ppt_w</p:attrName>
                                        </p:attrNameLst>
                                      </p:cBhvr>
                                      <p:tavLst>
                                        <p:tav fmla="" tm="0">
                                          <p:val>
                                            <p:strVal val="0"/>
                                          </p:val>
                                        </p:tav>
                                        <p:tav fmla="" tm="100000">
                                          <p:val>
                                            <p:strVal val="#ppt_w"/>
                                          </p:val>
                                        </p:tav>
                                      </p:tavLst>
                                    </p:anim>
                                    <p:anim calcmode="lin" valueType="num">
                                      <p:cBhvr additive="base">
                                        <p:cTn dur="450"/>
                                        <p:tgtEl>
                                          <p:spTgt spid="68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50"/>
                                  </p:stCondLst>
                                  <p:childTnLst>
                                    <p:set>
                                      <p:cBhvr>
                                        <p:cTn dur="1" fill="hold">
                                          <p:stCondLst>
                                            <p:cond delay="0"/>
                                          </p:stCondLst>
                                        </p:cTn>
                                        <p:tgtEl>
                                          <p:spTgt spid="689"/>
                                        </p:tgtEl>
                                        <p:attrNameLst>
                                          <p:attrName>style.visibility</p:attrName>
                                        </p:attrNameLst>
                                      </p:cBhvr>
                                      <p:to>
                                        <p:strVal val="visible"/>
                                      </p:to>
                                    </p:set>
                                    <p:animEffect filter="fade" transition="in">
                                      <p:cBhvr>
                                        <p:cTn dur="250"/>
                                        <p:tgtEl>
                                          <p:spTgt spid="689"/>
                                        </p:tgtEl>
                                      </p:cBhvr>
                                    </p:animEffect>
                                  </p:childTnLst>
                                </p:cTn>
                              </p:par>
                              <p:par>
                                <p:cTn fill="hold" nodeType="withEffect" presetClass="entr" presetID="23" presetSubtype="16">
                                  <p:stCondLst>
                                    <p:cond delay="1200"/>
                                  </p:stCondLst>
                                  <p:childTnLst>
                                    <p:set>
                                      <p:cBhvr>
                                        <p:cTn dur="1" fill="hold">
                                          <p:stCondLst>
                                            <p:cond delay="0"/>
                                          </p:stCondLst>
                                        </p:cTn>
                                        <p:tgtEl>
                                          <p:spTgt spid="690"/>
                                        </p:tgtEl>
                                        <p:attrNameLst>
                                          <p:attrName>style.visibility</p:attrName>
                                        </p:attrNameLst>
                                      </p:cBhvr>
                                      <p:to>
                                        <p:strVal val="visible"/>
                                      </p:to>
                                    </p:set>
                                    <p:anim calcmode="lin" valueType="num">
                                      <p:cBhvr additive="base">
                                        <p:cTn dur="450"/>
                                        <p:tgtEl>
                                          <p:spTgt spid="690"/>
                                        </p:tgtEl>
                                        <p:attrNameLst>
                                          <p:attrName>ppt_w</p:attrName>
                                        </p:attrNameLst>
                                      </p:cBhvr>
                                      <p:tavLst>
                                        <p:tav fmla="" tm="0">
                                          <p:val>
                                            <p:strVal val="0"/>
                                          </p:val>
                                        </p:tav>
                                        <p:tav fmla="" tm="100000">
                                          <p:val>
                                            <p:strVal val="#ppt_w"/>
                                          </p:val>
                                        </p:tav>
                                      </p:tavLst>
                                    </p:anim>
                                    <p:anim calcmode="lin" valueType="num">
                                      <p:cBhvr additive="base">
                                        <p:cTn dur="450"/>
                                        <p:tgtEl>
                                          <p:spTgt spid="690"/>
                                        </p:tgtEl>
                                        <p:attrNameLst>
                                          <p:attrName>ppt_h</p:attrName>
                                        </p:attrNameLst>
                                      </p:cBhvr>
                                      <p:tavLst>
                                        <p:tav fmla="" tm="0">
                                          <p:val>
                                            <p:strVal val="0"/>
                                          </p:val>
                                        </p:tav>
                                        <p:tav fmla="" tm="100000">
                                          <p:val>
                                            <p:strVal val="#ppt_h"/>
                                          </p:val>
                                        </p:tav>
                                      </p:tavLst>
                                    </p:anim>
                                  </p:childTnLst>
                                </p:cTn>
                              </p:par>
                              <p:par>
                                <p:cTn fill="hold" nodeType="withEffect" presetClass="entr" presetID="2" presetSubtype="4">
                                  <p:stCondLst>
                                    <p:cond delay="1450"/>
                                  </p:stCondLst>
                                  <p:childTnLst>
                                    <p:set>
                                      <p:cBhvr>
                                        <p:cTn dur="1" fill="hold">
                                          <p:stCondLst>
                                            <p:cond delay="0"/>
                                          </p:stCondLst>
                                        </p:cTn>
                                        <p:tgtEl>
                                          <p:spTgt spid="691"/>
                                        </p:tgtEl>
                                        <p:attrNameLst>
                                          <p:attrName>style.visibility</p:attrName>
                                        </p:attrNameLst>
                                      </p:cBhvr>
                                      <p:to>
                                        <p:strVal val="visible"/>
                                      </p:to>
                                    </p:set>
                                    <p:anim calcmode="lin" valueType="num">
                                      <p:cBhvr additive="base">
                                        <p:cTn dur="500"/>
                                        <p:tgtEl>
                                          <p:spTgt spid="69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750"/>
                                  </p:stCondLst>
                                  <p:childTnLst>
                                    <p:set>
                                      <p:cBhvr>
                                        <p:cTn dur="1" fill="hold">
                                          <p:stCondLst>
                                            <p:cond delay="0"/>
                                          </p:stCondLst>
                                        </p:cTn>
                                        <p:tgtEl>
                                          <p:spTgt spid="692"/>
                                        </p:tgtEl>
                                        <p:attrNameLst>
                                          <p:attrName>style.visibility</p:attrName>
                                        </p:attrNameLst>
                                      </p:cBhvr>
                                      <p:to>
                                        <p:strVal val="visible"/>
                                      </p:to>
                                    </p:set>
                                    <p:anim calcmode="lin" valueType="num">
                                      <p:cBhvr additive="base">
                                        <p:cTn dur="450"/>
                                        <p:tgtEl>
                                          <p:spTgt spid="692"/>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1850"/>
                                  </p:stCondLst>
                                  <p:childTnLst>
                                    <p:set>
                                      <p:cBhvr>
                                        <p:cTn dur="1" fill="hold">
                                          <p:stCondLst>
                                            <p:cond delay="0"/>
                                          </p:stCondLst>
                                        </p:cTn>
                                        <p:tgtEl>
                                          <p:spTgt spid="693"/>
                                        </p:tgtEl>
                                        <p:attrNameLst>
                                          <p:attrName>style.visibility</p:attrName>
                                        </p:attrNameLst>
                                      </p:cBhvr>
                                      <p:to>
                                        <p:strVal val="visible"/>
                                      </p:to>
                                    </p:set>
                                    <p:anim calcmode="lin" valueType="num">
                                      <p:cBhvr additive="base">
                                        <p:cTn dur="350"/>
                                        <p:tgtEl>
                                          <p:spTgt spid="693"/>
                                        </p:tgtEl>
                                        <p:attrNameLst>
                                          <p:attrName>ppt_w</p:attrName>
                                        </p:attrNameLst>
                                      </p:cBhvr>
                                      <p:tavLst>
                                        <p:tav fmla="" tm="0">
                                          <p:val>
                                            <p:strVal val="0"/>
                                          </p:val>
                                        </p:tav>
                                        <p:tav fmla="" tm="100000">
                                          <p:val>
                                            <p:strVal val="#ppt_w"/>
                                          </p:val>
                                        </p:tav>
                                      </p:tavLst>
                                    </p:anim>
                                    <p:anim calcmode="lin" valueType="num">
                                      <p:cBhvr additive="base">
                                        <p:cTn dur="350"/>
                                        <p:tgtEl>
                                          <p:spTgt spid="6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850"/>
                                  </p:stCondLst>
                                  <p:childTnLst>
                                    <p:set>
                                      <p:cBhvr>
                                        <p:cTn dur="1" fill="hold">
                                          <p:stCondLst>
                                            <p:cond delay="0"/>
                                          </p:stCondLst>
                                        </p:cTn>
                                        <p:tgtEl>
                                          <p:spTgt spid="694"/>
                                        </p:tgtEl>
                                        <p:attrNameLst>
                                          <p:attrName>style.visibility</p:attrName>
                                        </p:attrNameLst>
                                      </p:cBhvr>
                                      <p:to>
                                        <p:strVal val="visible"/>
                                      </p:to>
                                    </p:set>
                                    <p:anim calcmode="lin" valueType="num">
                                      <p:cBhvr additive="base">
                                        <p:cTn dur="350"/>
                                        <p:tgtEl>
                                          <p:spTgt spid="694"/>
                                        </p:tgtEl>
                                        <p:attrNameLst>
                                          <p:attrName>ppt_w</p:attrName>
                                        </p:attrNameLst>
                                      </p:cBhvr>
                                      <p:tavLst>
                                        <p:tav fmla="" tm="0">
                                          <p:val>
                                            <p:strVal val="0"/>
                                          </p:val>
                                        </p:tav>
                                        <p:tav fmla="" tm="100000">
                                          <p:val>
                                            <p:strVal val="#ppt_w"/>
                                          </p:val>
                                        </p:tav>
                                      </p:tavLst>
                                    </p:anim>
                                    <p:anim calcmode="lin" valueType="num">
                                      <p:cBhvr additive="base">
                                        <p:cTn dur="350"/>
                                        <p:tgtEl>
                                          <p:spTgt spid="694"/>
                                        </p:tgtEl>
                                        <p:attrNameLst>
                                          <p:attrName>ppt_h</p:attrName>
                                        </p:attrNameLst>
                                      </p:cBhvr>
                                      <p:tavLst>
                                        <p:tav fmla="" tm="0">
                                          <p:val>
                                            <p:strVal val="0"/>
                                          </p:val>
                                        </p:tav>
                                        <p:tav fmla="" tm="100000">
                                          <p:val>
                                            <p:strVal val="#ppt_h"/>
                                          </p:val>
                                        </p:tav>
                                      </p:tavLst>
                                    </p:anim>
                                  </p:childTnLst>
                                </p:cTn>
                              </p:par>
                              <p:par>
                                <p:cTn fill="hold" nodeType="withEffect" presetClass="entr" presetID="2" presetSubtype="2">
                                  <p:stCondLst>
                                    <p:cond delay="2100"/>
                                  </p:stCondLst>
                                  <p:childTnLst>
                                    <p:set>
                                      <p:cBhvr>
                                        <p:cTn dur="1" fill="hold">
                                          <p:stCondLst>
                                            <p:cond delay="0"/>
                                          </p:stCondLst>
                                        </p:cTn>
                                        <p:tgtEl>
                                          <p:spTgt spid="695"/>
                                        </p:tgtEl>
                                        <p:attrNameLst>
                                          <p:attrName>style.visibility</p:attrName>
                                        </p:attrNameLst>
                                      </p:cBhvr>
                                      <p:to>
                                        <p:strVal val="visible"/>
                                      </p:to>
                                    </p:set>
                                    <p:anim calcmode="lin" valueType="num">
                                      <p:cBhvr additive="base">
                                        <p:cTn dur="450"/>
                                        <p:tgtEl>
                                          <p:spTgt spid="695"/>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2200"/>
                                  </p:stCondLst>
                                  <p:childTnLst>
                                    <p:set>
                                      <p:cBhvr>
                                        <p:cTn dur="1" fill="hold">
                                          <p:stCondLst>
                                            <p:cond delay="0"/>
                                          </p:stCondLst>
                                        </p:cTn>
                                        <p:tgtEl>
                                          <p:spTgt spid="696"/>
                                        </p:tgtEl>
                                        <p:attrNameLst>
                                          <p:attrName>style.visibility</p:attrName>
                                        </p:attrNameLst>
                                      </p:cBhvr>
                                      <p:to>
                                        <p:strVal val="visible"/>
                                      </p:to>
                                    </p:set>
                                    <p:anim calcmode="lin" valueType="num">
                                      <p:cBhvr additive="base">
                                        <p:cTn dur="350"/>
                                        <p:tgtEl>
                                          <p:spTgt spid="696"/>
                                        </p:tgtEl>
                                        <p:attrNameLst>
                                          <p:attrName>ppt_w</p:attrName>
                                        </p:attrNameLst>
                                      </p:cBhvr>
                                      <p:tavLst>
                                        <p:tav fmla="" tm="0">
                                          <p:val>
                                            <p:strVal val="0"/>
                                          </p:val>
                                        </p:tav>
                                        <p:tav fmla="" tm="100000">
                                          <p:val>
                                            <p:strVal val="#ppt_w"/>
                                          </p:val>
                                        </p:tav>
                                      </p:tavLst>
                                    </p:anim>
                                    <p:anim calcmode="lin" valueType="num">
                                      <p:cBhvr additive="base">
                                        <p:cTn dur="350"/>
                                        <p:tgtEl>
                                          <p:spTgt spid="69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200"/>
                                  </p:stCondLst>
                                  <p:childTnLst>
                                    <p:set>
                                      <p:cBhvr>
                                        <p:cTn dur="1" fill="hold">
                                          <p:stCondLst>
                                            <p:cond delay="0"/>
                                          </p:stCondLst>
                                        </p:cTn>
                                        <p:tgtEl>
                                          <p:spTgt spid="697"/>
                                        </p:tgtEl>
                                        <p:attrNameLst>
                                          <p:attrName>style.visibility</p:attrName>
                                        </p:attrNameLst>
                                      </p:cBhvr>
                                      <p:to>
                                        <p:strVal val="visible"/>
                                      </p:to>
                                    </p:set>
                                    <p:anim calcmode="lin" valueType="num">
                                      <p:cBhvr additive="base">
                                        <p:cTn dur="350"/>
                                        <p:tgtEl>
                                          <p:spTgt spid="697"/>
                                        </p:tgtEl>
                                        <p:attrNameLst>
                                          <p:attrName>ppt_w</p:attrName>
                                        </p:attrNameLst>
                                      </p:cBhvr>
                                      <p:tavLst>
                                        <p:tav fmla="" tm="0">
                                          <p:val>
                                            <p:strVal val="0"/>
                                          </p:val>
                                        </p:tav>
                                        <p:tav fmla="" tm="100000">
                                          <p:val>
                                            <p:strVal val="#ppt_w"/>
                                          </p:val>
                                        </p:tav>
                                      </p:tavLst>
                                    </p:anim>
                                    <p:anim calcmode="lin" valueType="num">
                                      <p:cBhvr additive="base">
                                        <p:cTn dur="350"/>
                                        <p:tgtEl>
                                          <p:spTgt spid="697"/>
                                        </p:tgtEl>
                                        <p:attrNameLst>
                                          <p:attrName>ppt_h</p:attrName>
                                        </p:attrNameLst>
                                      </p:cBhvr>
                                      <p:tavLst>
                                        <p:tav fmla="" tm="0">
                                          <p:val>
                                            <p:strVal val="0"/>
                                          </p:val>
                                        </p:tav>
                                        <p:tav fmla="" tm="100000">
                                          <p:val>
                                            <p:strVal val="#ppt_h"/>
                                          </p:val>
                                        </p:tav>
                                      </p:tavLst>
                                    </p:anim>
                                  </p:childTnLst>
                                </p:cTn>
                              </p:par>
                              <p:par>
                                <p:cTn fill="hold" nodeType="withEffect" presetClass="entr" presetID="2" presetSubtype="2">
                                  <p:stCondLst>
                                    <p:cond delay="2450"/>
                                  </p:stCondLst>
                                  <p:childTnLst>
                                    <p:set>
                                      <p:cBhvr>
                                        <p:cTn dur="1" fill="hold">
                                          <p:stCondLst>
                                            <p:cond delay="0"/>
                                          </p:stCondLst>
                                        </p:cTn>
                                        <p:tgtEl>
                                          <p:spTgt spid="698"/>
                                        </p:tgtEl>
                                        <p:attrNameLst>
                                          <p:attrName>style.visibility</p:attrName>
                                        </p:attrNameLst>
                                      </p:cBhvr>
                                      <p:to>
                                        <p:strVal val="visible"/>
                                      </p:to>
                                    </p:set>
                                    <p:anim calcmode="lin" valueType="num">
                                      <p:cBhvr additive="base">
                                        <p:cTn dur="450"/>
                                        <p:tgtEl>
                                          <p:spTgt spid="698"/>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2550"/>
                                  </p:stCondLst>
                                  <p:childTnLst>
                                    <p:set>
                                      <p:cBhvr>
                                        <p:cTn dur="1" fill="hold">
                                          <p:stCondLst>
                                            <p:cond delay="0"/>
                                          </p:stCondLst>
                                        </p:cTn>
                                        <p:tgtEl>
                                          <p:spTgt spid="699"/>
                                        </p:tgtEl>
                                        <p:attrNameLst>
                                          <p:attrName>style.visibility</p:attrName>
                                        </p:attrNameLst>
                                      </p:cBhvr>
                                      <p:to>
                                        <p:strVal val="visible"/>
                                      </p:to>
                                    </p:set>
                                    <p:anim calcmode="lin" valueType="num">
                                      <p:cBhvr additive="base">
                                        <p:cTn dur="350"/>
                                        <p:tgtEl>
                                          <p:spTgt spid="699"/>
                                        </p:tgtEl>
                                        <p:attrNameLst>
                                          <p:attrName>ppt_w</p:attrName>
                                        </p:attrNameLst>
                                      </p:cBhvr>
                                      <p:tavLst>
                                        <p:tav fmla="" tm="0">
                                          <p:val>
                                            <p:strVal val="0"/>
                                          </p:val>
                                        </p:tav>
                                        <p:tav fmla="" tm="100000">
                                          <p:val>
                                            <p:strVal val="#ppt_w"/>
                                          </p:val>
                                        </p:tav>
                                      </p:tavLst>
                                    </p:anim>
                                    <p:anim calcmode="lin" valueType="num">
                                      <p:cBhvr additive="base">
                                        <p:cTn dur="350"/>
                                        <p:tgtEl>
                                          <p:spTgt spid="69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550"/>
                                  </p:stCondLst>
                                  <p:childTnLst>
                                    <p:set>
                                      <p:cBhvr>
                                        <p:cTn dur="1" fill="hold">
                                          <p:stCondLst>
                                            <p:cond delay="0"/>
                                          </p:stCondLst>
                                        </p:cTn>
                                        <p:tgtEl>
                                          <p:spTgt spid="700"/>
                                        </p:tgtEl>
                                        <p:attrNameLst>
                                          <p:attrName>style.visibility</p:attrName>
                                        </p:attrNameLst>
                                      </p:cBhvr>
                                      <p:to>
                                        <p:strVal val="visible"/>
                                      </p:to>
                                    </p:set>
                                    <p:anim calcmode="lin" valueType="num">
                                      <p:cBhvr additive="base">
                                        <p:cTn dur="350"/>
                                        <p:tgtEl>
                                          <p:spTgt spid="700"/>
                                        </p:tgtEl>
                                        <p:attrNameLst>
                                          <p:attrName>ppt_w</p:attrName>
                                        </p:attrNameLst>
                                      </p:cBhvr>
                                      <p:tavLst>
                                        <p:tav fmla="" tm="0">
                                          <p:val>
                                            <p:strVal val="0"/>
                                          </p:val>
                                        </p:tav>
                                        <p:tav fmla="" tm="100000">
                                          <p:val>
                                            <p:strVal val="#ppt_w"/>
                                          </p:val>
                                        </p:tav>
                                      </p:tavLst>
                                    </p:anim>
                                    <p:anim calcmode="lin" valueType="num">
                                      <p:cBhvr additive="base">
                                        <p:cTn dur="350"/>
                                        <p:tgtEl>
                                          <p:spTgt spid="700"/>
                                        </p:tgtEl>
                                        <p:attrNameLst>
                                          <p:attrName>ppt_h</p:attrName>
                                        </p:attrNameLst>
                                      </p:cBhvr>
                                      <p:tavLst>
                                        <p:tav fmla="" tm="0">
                                          <p:val>
                                            <p:strVal val="0"/>
                                          </p:val>
                                        </p:tav>
                                        <p:tav fmla="" tm="100000">
                                          <p:val>
                                            <p:strVal val="#ppt_h"/>
                                          </p:val>
                                        </p:tav>
                                      </p:tavLst>
                                    </p:anim>
                                  </p:childTnLst>
                                </p:cTn>
                              </p:par>
                              <p:par>
                                <p:cTn fill="hold" nodeType="withEffect" presetClass="entr" presetID="2" presetSubtype="2">
                                  <p:stCondLst>
                                    <p:cond delay="2800"/>
                                  </p:stCondLst>
                                  <p:childTnLst>
                                    <p:set>
                                      <p:cBhvr>
                                        <p:cTn dur="1" fill="hold">
                                          <p:stCondLst>
                                            <p:cond delay="0"/>
                                          </p:stCondLst>
                                        </p:cTn>
                                        <p:tgtEl>
                                          <p:spTgt spid="701"/>
                                        </p:tgtEl>
                                        <p:attrNameLst>
                                          <p:attrName>style.visibility</p:attrName>
                                        </p:attrNameLst>
                                      </p:cBhvr>
                                      <p:to>
                                        <p:strVal val="visible"/>
                                      </p:to>
                                    </p:set>
                                    <p:anim calcmode="lin" valueType="num">
                                      <p:cBhvr additive="base">
                                        <p:cTn dur="450"/>
                                        <p:tgtEl>
                                          <p:spTgt spid="701"/>
                                        </p:tgtEl>
                                        <p:attrNameLst>
                                          <p:attrName>ppt_x</p:attrName>
                                        </p:attrNameLst>
                                      </p:cBhvr>
                                      <p:tavLst>
                                        <p:tav fmla="" tm="0">
                                          <p:val>
                                            <p:strVal val="#ppt_x+1"/>
                                          </p:val>
                                        </p:tav>
                                        <p:tav fmla="" tm="100000">
                                          <p:val>
                                            <p:strVal val="#ppt_x"/>
                                          </p:val>
                                        </p:tav>
                                      </p:tavLst>
                                    </p:anim>
                                  </p:childTnLst>
                                </p:cTn>
                              </p:par>
                              <p:par>
                                <p:cTn fill="hold" nodeType="withEffect" presetClass="entr" presetID="23" presetSubtype="16">
                                  <p:stCondLst>
                                    <p:cond delay="2900"/>
                                  </p:stCondLst>
                                  <p:childTnLst>
                                    <p:set>
                                      <p:cBhvr>
                                        <p:cTn dur="1" fill="hold">
                                          <p:stCondLst>
                                            <p:cond delay="0"/>
                                          </p:stCondLst>
                                        </p:cTn>
                                        <p:tgtEl>
                                          <p:spTgt spid="702"/>
                                        </p:tgtEl>
                                        <p:attrNameLst>
                                          <p:attrName>style.visibility</p:attrName>
                                        </p:attrNameLst>
                                      </p:cBhvr>
                                      <p:to>
                                        <p:strVal val="visible"/>
                                      </p:to>
                                    </p:set>
                                    <p:anim calcmode="lin" valueType="num">
                                      <p:cBhvr additive="base">
                                        <p:cTn dur="350"/>
                                        <p:tgtEl>
                                          <p:spTgt spid="702"/>
                                        </p:tgtEl>
                                        <p:attrNameLst>
                                          <p:attrName>ppt_w</p:attrName>
                                        </p:attrNameLst>
                                      </p:cBhvr>
                                      <p:tavLst>
                                        <p:tav fmla="" tm="0">
                                          <p:val>
                                            <p:strVal val="0"/>
                                          </p:val>
                                        </p:tav>
                                        <p:tav fmla="" tm="100000">
                                          <p:val>
                                            <p:strVal val="#ppt_w"/>
                                          </p:val>
                                        </p:tav>
                                      </p:tavLst>
                                    </p:anim>
                                    <p:anim calcmode="lin" valueType="num">
                                      <p:cBhvr additive="base">
                                        <p:cTn dur="350"/>
                                        <p:tgtEl>
                                          <p:spTgt spid="70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900"/>
                                  </p:stCondLst>
                                  <p:childTnLst>
                                    <p:set>
                                      <p:cBhvr>
                                        <p:cTn dur="1" fill="hold">
                                          <p:stCondLst>
                                            <p:cond delay="0"/>
                                          </p:stCondLst>
                                        </p:cTn>
                                        <p:tgtEl>
                                          <p:spTgt spid="703"/>
                                        </p:tgtEl>
                                        <p:attrNameLst>
                                          <p:attrName>style.visibility</p:attrName>
                                        </p:attrNameLst>
                                      </p:cBhvr>
                                      <p:to>
                                        <p:strVal val="visible"/>
                                      </p:to>
                                    </p:set>
                                    <p:anim calcmode="lin" valueType="num">
                                      <p:cBhvr additive="base">
                                        <p:cTn dur="350"/>
                                        <p:tgtEl>
                                          <p:spTgt spid="703"/>
                                        </p:tgtEl>
                                        <p:attrNameLst>
                                          <p:attrName>ppt_w</p:attrName>
                                        </p:attrNameLst>
                                      </p:cBhvr>
                                      <p:tavLst>
                                        <p:tav fmla="" tm="0">
                                          <p:val>
                                            <p:strVal val="0"/>
                                          </p:val>
                                        </p:tav>
                                        <p:tav fmla="" tm="100000">
                                          <p:val>
                                            <p:strVal val="#ppt_w"/>
                                          </p:val>
                                        </p:tav>
                                      </p:tavLst>
                                    </p:anim>
                                    <p:anim calcmode="lin" valueType="num">
                                      <p:cBhvr additive="base">
                                        <p:cTn dur="350"/>
                                        <p:tgtEl>
                                          <p:spTgt spid="70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34"/>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Future Scope</a:t>
            </a:r>
            <a:endParaRPr/>
          </a:p>
        </p:txBody>
      </p:sp>
      <p:sp>
        <p:nvSpPr>
          <p:cNvPr id="710" name="Google Shape;710;p34"/>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711" name="Google Shape;711;p34"/>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712" name="Google Shape;712;p34"/>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713" name="Google Shape;713;p34"/>
          <p:cNvSpPr/>
          <p:nvPr/>
        </p:nvSpPr>
        <p:spPr>
          <a:xfrm>
            <a:off x="457200" y="1627632"/>
            <a:ext cx="7955280" cy="2350008"/>
          </a:xfrm>
          <a:custGeom>
            <a:rect b="b" l="l" r="r" t="t"/>
            <a:pathLst>
              <a:path extrusionOk="0" fill="none" h="2350008" w="7955280">
                <a:moveTo>
                  <a:pt x="0" y="0"/>
                </a:moveTo>
                <a:lnTo>
                  <a:pt x="7955280" y="0"/>
                </a:lnTo>
                <a:lnTo>
                  <a:pt x="7955280" y="2350008"/>
                </a:lnTo>
                <a:lnTo>
                  <a:pt x="365760" y="2350008"/>
                </a:lnTo>
              </a:path>
            </a:pathLst>
          </a:custGeom>
          <a:noFill/>
          <a:ln cap="flat" cmpd="sng" w="50800">
            <a:solidFill>
              <a:srgbClr val="717B89"/>
            </a:solidFill>
            <a:prstDash val="dash"/>
            <a:round/>
            <a:headEnd len="sm" w="sm" type="none"/>
            <a:tailEnd len="med" w="med"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14" name="Google Shape;714;p34"/>
          <p:cNvSpPr/>
          <p:nvPr/>
        </p:nvSpPr>
        <p:spPr>
          <a:xfrm>
            <a:off x="457200" y="2103120"/>
            <a:ext cx="1920240" cy="1325880"/>
          </a:xfrm>
          <a:prstGeom prst="roundRect">
            <a:avLst>
              <a:gd fmla="val 9000" name="adj"/>
            </a:avLst>
          </a:prstGeom>
          <a:gradFill rotWithShape="1">
            <a:gsLst>
              <a:gs pos="0">
                <a:srgbClr val="FFFFFF"/>
              </a:gs>
              <a:gs pos="100000">
                <a:srgbClr val="DAF7F4"/>
              </a:gs>
            </a:gsLst>
            <a:lin ang="5400000" scaled="0"/>
          </a:gradFill>
          <a:ln cap="flat" cmpd="sng" w="158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05350"/>
                </a:solidFill>
                <a:latin typeface="Times New Roman"/>
                <a:ea typeface="Times New Roman"/>
                <a:cs typeface="Times New Roman"/>
                <a:sym typeface="Times New Roman"/>
              </a:rPr>
              <a:t>Learning the Weights</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Learn from customer choices what matters; more weight on time in emergencies</a:t>
            </a:r>
            <a:endParaRPr/>
          </a:p>
        </p:txBody>
      </p:sp>
      <p:sp>
        <p:nvSpPr>
          <p:cNvPr id="715" name="Google Shape;715;p34"/>
          <p:cNvSpPr/>
          <p:nvPr/>
        </p:nvSpPr>
        <p:spPr>
          <a:xfrm>
            <a:off x="1161288" y="1371600"/>
            <a:ext cx="512064" cy="512064"/>
          </a:xfrm>
          <a:prstGeom prst="ellipse">
            <a:avLst/>
          </a:prstGeom>
          <a:gradFill rotWithShape="1">
            <a:gsLst>
              <a:gs pos="0">
                <a:srgbClr val="006662"/>
              </a:gs>
              <a:gs pos="100000">
                <a:srgbClr val="0E929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1</a:t>
            </a:r>
            <a:endParaRPr/>
          </a:p>
        </p:txBody>
      </p:sp>
      <p:cxnSp>
        <p:nvCxnSpPr>
          <p:cNvPr id="716" name="Google Shape;716;p34"/>
          <p:cNvCxnSpPr/>
          <p:nvPr/>
        </p:nvCxnSpPr>
        <p:spPr>
          <a:xfrm>
            <a:off x="1417320" y="1883664"/>
            <a:ext cx="0" cy="219456"/>
          </a:xfrm>
          <a:prstGeom prst="straightConnector1">
            <a:avLst/>
          </a:prstGeom>
          <a:noFill/>
          <a:ln cap="flat" cmpd="sng" w="19050">
            <a:solidFill>
              <a:srgbClr val="018D87"/>
            </a:solidFill>
            <a:prstDash val="solid"/>
            <a:round/>
            <a:headEnd len="sm" w="sm" type="none"/>
            <a:tailEnd len="sm" w="sm" type="none"/>
          </a:ln>
        </p:spPr>
      </p:cxnSp>
      <p:sp>
        <p:nvSpPr>
          <p:cNvPr id="717" name="Google Shape;717;p34"/>
          <p:cNvSpPr/>
          <p:nvPr/>
        </p:nvSpPr>
        <p:spPr>
          <a:xfrm>
            <a:off x="2560320" y="2103120"/>
            <a:ext cx="1920240" cy="1325880"/>
          </a:xfrm>
          <a:prstGeom prst="roundRect">
            <a:avLst>
              <a:gd fmla="val 9000" name="adj"/>
            </a:avLst>
          </a:prstGeom>
          <a:gradFill rotWithShape="1">
            <a:gsLst>
              <a:gs pos="0">
                <a:srgbClr val="E4F8FD"/>
              </a:gs>
              <a:gs pos="100000">
                <a:srgbClr val="B6EDFD"/>
              </a:gs>
            </a:gsLst>
            <a:lin ang="2700000" scaled="0"/>
          </a:gradFill>
          <a:ln cap="flat" cmpd="sng" w="15875">
            <a:solidFill>
              <a:srgbClr val="0089A3"/>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45060"/>
                </a:solidFill>
                <a:latin typeface="Times New Roman"/>
                <a:ea typeface="Times New Roman"/>
                <a:cs typeface="Times New Roman"/>
                <a:sym typeface="Times New Roman"/>
              </a:rPr>
              <a:t>Better Understanding</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Describe the problem with a photo, a voice message or in a local language</a:t>
            </a:r>
            <a:endParaRPr/>
          </a:p>
        </p:txBody>
      </p:sp>
      <p:sp>
        <p:nvSpPr>
          <p:cNvPr id="718" name="Google Shape;718;p34"/>
          <p:cNvSpPr/>
          <p:nvPr/>
        </p:nvSpPr>
        <p:spPr>
          <a:xfrm>
            <a:off x="3264408" y="1371600"/>
            <a:ext cx="512064" cy="512064"/>
          </a:xfrm>
          <a:prstGeom prst="ellipse">
            <a:avLst/>
          </a:prstGeom>
          <a:gradFill rotWithShape="1">
            <a:gsLst>
              <a:gs pos="0">
                <a:srgbClr val="006471"/>
              </a:gs>
              <a:gs pos="100000">
                <a:srgbClr val="0F8DB1"/>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2</a:t>
            </a:r>
            <a:endParaRPr/>
          </a:p>
        </p:txBody>
      </p:sp>
      <p:cxnSp>
        <p:nvCxnSpPr>
          <p:cNvPr id="719" name="Google Shape;719;p34"/>
          <p:cNvCxnSpPr/>
          <p:nvPr/>
        </p:nvCxnSpPr>
        <p:spPr>
          <a:xfrm>
            <a:off x="3520440" y="1883664"/>
            <a:ext cx="0" cy="219456"/>
          </a:xfrm>
          <a:prstGeom prst="straightConnector1">
            <a:avLst/>
          </a:prstGeom>
          <a:noFill/>
          <a:ln cap="flat" cmpd="sng" w="19050">
            <a:solidFill>
              <a:srgbClr val="0089A3"/>
            </a:solidFill>
            <a:prstDash val="solid"/>
            <a:round/>
            <a:headEnd len="sm" w="sm" type="none"/>
            <a:tailEnd len="sm" w="sm" type="none"/>
          </a:ln>
        </p:spPr>
      </p:cxnSp>
      <p:sp>
        <p:nvSpPr>
          <p:cNvPr id="720" name="Google Shape;720;p34"/>
          <p:cNvSpPr/>
          <p:nvPr/>
        </p:nvSpPr>
        <p:spPr>
          <a:xfrm>
            <a:off x="4663440" y="2103120"/>
            <a:ext cx="1920240" cy="1325880"/>
          </a:xfrm>
          <a:prstGeom prst="roundRect">
            <a:avLst>
              <a:gd fmla="val 9000" name="adj"/>
            </a:avLst>
          </a:prstGeom>
          <a:gradFill rotWithShape="1">
            <a:gsLst>
              <a:gs pos="0">
                <a:srgbClr val="FFFFFF"/>
              </a:gs>
              <a:gs pos="100000">
                <a:srgbClr val="E6F2FD"/>
              </a:gs>
            </a:gsLst>
            <a:lin ang="5400000" scaled="0"/>
          </a:gradFill>
          <a:ln cap="flat" cmpd="sng" w="15875">
            <a:solidFill>
              <a:srgbClr val="1380C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014B79"/>
                </a:solidFill>
                <a:latin typeface="Times New Roman"/>
                <a:ea typeface="Times New Roman"/>
                <a:cs typeface="Times New Roman"/>
                <a:sym typeface="Times New Roman"/>
              </a:rPr>
              <a:t>Real Travel Time</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Live road and traffic data instead of straight-line distance</a:t>
            </a:r>
            <a:endParaRPr/>
          </a:p>
        </p:txBody>
      </p:sp>
      <p:sp>
        <p:nvSpPr>
          <p:cNvPr id="721" name="Google Shape;721;p34"/>
          <p:cNvSpPr/>
          <p:nvPr/>
        </p:nvSpPr>
        <p:spPr>
          <a:xfrm>
            <a:off x="5367528" y="1371600"/>
            <a:ext cx="512064" cy="512064"/>
          </a:xfrm>
          <a:prstGeom prst="ellipse">
            <a:avLst/>
          </a:prstGeom>
          <a:gradFill rotWithShape="1">
            <a:gsLst>
              <a:gs pos="0">
                <a:srgbClr val="005F8B"/>
              </a:gs>
              <a:gs pos="100000">
                <a:srgbClr val="2E83D6"/>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3</a:t>
            </a:r>
            <a:endParaRPr/>
          </a:p>
        </p:txBody>
      </p:sp>
      <p:cxnSp>
        <p:nvCxnSpPr>
          <p:cNvPr id="722" name="Google Shape;722;p34"/>
          <p:cNvCxnSpPr/>
          <p:nvPr/>
        </p:nvCxnSpPr>
        <p:spPr>
          <a:xfrm>
            <a:off x="5623560" y="1883664"/>
            <a:ext cx="0" cy="219456"/>
          </a:xfrm>
          <a:prstGeom prst="straightConnector1">
            <a:avLst/>
          </a:prstGeom>
          <a:noFill/>
          <a:ln cap="flat" cmpd="sng" w="19050">
            <a:solidFill>
              <a:srgbClr val="1380C7"/>
            </a:solidFill>
            <a:prstDash val="solid"/>
            <a:round/>
            <a:headEnd len="sm" w="sm" type="none"/>
            <a:tailEnd len="sm" w="sm" type="none"/>
          </a:ln>
        </p:spPr>
      </p:cxnSp>
      <p:sp>
        <p:nvSpPr>
          <p:cNvPr id="723" name="Google Shape;723;p34"/>
          <p:cNvSpPr/>
          <p:nvPr/>
        </p:nvSpPr>
        <p:spPr>
          <a:xfrm>
            <a:off x="6766560" y="2103120"/>
            <a:ext cx="1920240" cy="1325880"/>
          </a:xfrm>
          <a:prstGeom prst="roundRect">
            <a:avLst>
              <a:gd fmla="val 9000" name="adj"/>
            </a:avLst>
          </a:prstGeom>
          <a:gradFill rotWithShape="1">
            <a:gsLst>
              <a:gs pos="0">
                <a:srgbClr val="F0F3FC"/>
              </a:gs>
              <a:gs pos="100000">
                <a:srgbClr val="D9E2FE"/>
              </a:gs>
            </a:gsLst>
            <a:lin ang="2700000" scaled="0"/>
          </a:gradFill>
          <a:ln cap="flat" cmpd="sng" w="15875">
            <a:solidFill>
              <a:srgbClr val="5F72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323E8C"/>
                </a:solidFill>
                <a:latin typeface="Times New Roman"/>
                <a:ea typeface="Times New Roman"/>
                <a:cs typeface="Times New Roman"/>
                <a:sym typeface="Times New Roman"/>
              </a:rPr>
              <a:t>Fairness and Trust</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Detect fake ratings and share work more evenly among workers</a:t>
            </a:r>
            <a:endParaRPr/>
          </a:p>
        </p:txBody>
      </p:sp>
      <p:sp>
        <p:nvSpPr>
          <p:cNvPr id="724" name="Google Shape;724;p34"/>
          <p:cNvSpPr/>
          <p:nvPr/>
        </p:nvSpPr>
        <p:spPr>
          <a:xfrm>
            <a:off x="7470648" y="1371600"/>
            <a:ext cx="512064" cy="512064"/>
          </a:xfrm>
          <a:prstGeom prst="ellipse">
            <a:avLst/>
          </a:prstGeom>
          <a:gradFill rotWithShape="1">
            <a:gsLst>
              <a:gs pos="0">
                <a:srgbClr val="3050AA"/>
              </a:gs>
              <a:gs pos="100000">
                <a:srgbClr val="6F73D7"/>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4</a:t>
            </a:r>
            <a:endParaRPr/>
          </a:p>
        </p:txBody>
      </p:sp>
      <p:cxnSp>
        <p:nvCxnSpPr>
          <p:cNvPr id="725" name="Google Shape;725;p34"/>
          <p:cNvCxnSpPr/>
          <p:nvPr/>
        </p:nvCxnSpPr>
        <p:spPr>
          <a:xfrm>
            <a:off x="7726680" y="1883664"/>
            <a:ext cx="0" cy="219456"/>
          </a:xfrm>
          <a:prstGeom prst="straightConnector1">
            <a:avLst/>
          </a:prstGeom>
          <a:noFill/>
          <a:ln cap="flat" cmpd="sng" w="19050">
            <a:solidFill>
              <a:srgbClr val="5F72CC"/>
            </a:solidFill>
            <a:prstDash val="solid"/>
            <a:round/>
            <a:headEnd len="sm" w="sm" type="none"/>
            <a:tailEnd len="sm" w="sm" type="none"/>
          </a:ln>
        </p:spPr>
      </p:cxnSp>
      <p:sp>
        <p:nvSpPr>
          <p:cNvPr id="726" name="Google Shape;726;p34"/>
          <p:cNvSpPr/>
          <p:nvPr/>
        </p:nvSpPr>
        <p:spPr>
          <a:xfrm>
            <a:off x="6766560" y="4462272"/>
            <a:ext cx="1920240" cy="1325880"/>
          </a:xfrm>
          <a:prstGeom prst="roundRect">
            <a:avLst>
              <a:gd fmla="val 9000" name="adj"/>
            </a:avLst>
          </a:prstGeom>
          <a:gradFill rotWithShape="1">
            <a:gsLst>
              <a:gs pos="0">
                <a:srgbClr val="FFFFFF"/>
              </a:gs>
              <a:gs pos="100000">
                <a:srgbClr val="F2EDFF"/>
              </a:gs>
            </a:gsLst>
            <a:lin ang="5400000" scaled="0"/>
          </a:gradFill>
          <a:ln cap="flat" cmpd="sng" w="15875">
            <a:solidFill>
              <a:srgbClr val="8864C0"/>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543282"/>
                </a:solidFill>
                <a:latin typeface="Times New Roman"/>
                <a:ea typeface="Times New Roman"/>
                <a:cs typeface="Times New Roman"/>
                <a:sym typeface="Times New Roman"/>
              </a:rPr>
              <a:t>Dynamic Pricing</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Suggest a fair price from the job and the market; allow negotiation</a:t>
            </a:r>
            <a:endParaRPr/>
          </a:p>
        </p:txBody>
      </p:sp>
      <p:sp>
        <p:nvSpPr>
          <p:cNvPr id="727" name="Google Shape;727;p34"/>
          <p:cNvSpPr/>
          <p:nvPr/>
        </p:nvSpPr>
        <p:spPr>
          <a:xfrm>
            <a:off x="7470648" y="3721608"/>
            <a:ext cx="512064" cy="512064"/>
          </a:xfrm>
          <a:prstGeom prst="ellipse">
            <a:avLst/>
          </a:prstGeom>
          <a:gradFill rotWithShape="1">
            <a:gsLst>
              <a:gs pos="0">
                <a:srgbClr val="5E41A2"/>
              </a:gs>
              <a:gs pos="100000">
                <a:srgbClr val="9765C6"/>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5</a:t>
            </a:r>
            <a:endParaRPr/>
          </a:p>
        </p:txBody>
      </p:sp>
      <p:cxnSp>
        <p:nvCxnSpPr>
          <p:cNvPr id="728" name="Google Shape;728;p34"/>
          <p:cNvCxnSpPr/>
          <p:nvPr/>
        </p:nvCxnSpPr>
        <p:spPr>
          <a:xfrm>
            <a:off x="7726680" y="4233672"/>
            <a:ext cx="0" cy="228600"/>
          </a:xfrm>
          <a:prstGeom prst="straightConnector1">
            <a:avLst/>
          </a:prstGeom>
          <a:noFill/>
          <a:ln cap="flat" cmpd="sng" w="19050">
            <a:solidFill>
              <a:srgbClr val="8864C0"/>
            </a:solidFill>
            <a:prstDash val="solid"/>
            <a:round/>
            <a:headEnd len="sm" w="sm" type="none"/>
            <a:tailEnd len="sm" w="sm" type="none"/>
          </a:ln>
        </p:spPr>
      </p:cxnSp>
      <p:sp>
        <p:nvSpPr>
          <p:cNvPr id="729" name="Google Shape;729;p34"/>
          <p:cNvSpPr/>
          <p:nvPr/>
        </p:nvSpPr>
        <p:spPr>
          <a:xfrm>
            <a:off x="4663440" y="4462272"/>
            <a:ext cx="1920240" cy="1325880"/>
          </a:xfrm>
          <a:prstGeom prst="roundRect">
            <a:avLst>
              <a:gd fmla="val 9000" name="adj"/>
            </a:avLst>
          </a:prstGeom>
          <a:gradFill rotWithShape="1">
            <a:gsLst>
              <a:gs pos="0">
                <a:srgbClr val="FEEDFD"/>
              </a:gs>
              <a:gs pos="100000">
                <a:srgbClr val="FAD6F8"/>
              </a:gs>
            </a:gsLst>
            <a:lin ang="2700000" scaled="0"/>
          </a:gradFill>
          <a:ln cap="flat" cmpd="sng" w="15875">
            <a:solidFill>
              <a:srgbClr val="A559A4"/>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6A276B"/>
                </a:solidFill>
                <a:latin typeface="Times New Roman"/>
                <a:ea typeface="Times New Roman"/>
                <a:cs typeface="Times New Roman"/>
                <a:sym typeface="Times New Roman"/>
              </a:rPr>
              <a:t>Group Jobs</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Full worker-set selection of CrowdBwO with time and expense limits</a:t>
            </a:r>
            <a:endParaRPr/>
          </a:p>
        </p:txBody>
      </p:sp>
      <p:sp>
        <p:nvSpPr>
          <p:cNvPr id="730" name="Google Shape;730;p34"/>
          <p:cNvSpPr/>
          <p:nvPr/>
        </p:nvSpPr>
        <p:spPr>
          <a:xfrm>
            <a:off x="5367528" y="3721608"/>
            <a:ext cx="512064" cy="512064"/>
          </a:xfrm>
          <a:prstGeom prst="ellipse">
            <a:avLst/>
          </a:prstGeom>
          <a:gradFill rotWithShape="1">
            <a:gsLst>
              <a:gs pos="0">
                <a:srgbClr val="7C348A"/>
              </a:gs>
              <a:gs pos="100000">
                <a:srgbClr val="B459A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6</a:t>
            </a:r>
            <a:endParaRPr/>
          </a:p>
        </p:txBody>
      </p:sp>
      <p:cxnSp>
        <p:nvCxnSpPr>
          <p:cNvPr id="731" name="Google Shape;731;p34"/>
          <p:cNvCxnSpPr/>
          <p:nvPr/>
        </p:nvCxnSpPr>
        <p:spPr>
          <a:xfrm>
            <a:off x="5623560" y="4233672"/>
            <a:ext cx="0" cy="228600"/>
          </a:xfrm>
          <a:prstGeom prst="straightConnector1">
            <a:avLst/>
          </a:prstGeom>
          <a:noFill/>
          <a:ln cap="flat" cmpd="sng" w="19050">
            <a:solidFill>
              <a:srgbClr val="A559A4"/>
            </a:solidFill>
            <a:prstDash val="solid"/>
            <a:round/>
            <a:headEnd len="sm" w="sm" type="none"/>
            <a:tailEnd len="sm" w="sm" type="none"/>
          </a:ln>
        </p:spPr>
      </p:cxnSp>
      <p:sp>
        <p:nvSpPr>
          <p:cNvPr id="732" name="Google Shape;732;p34"/>
          <p:cNvSpPr/>
          <p:nvPr/>
        </p:nvSpPr>
        <p:spPr>
          <a:xfrm>
            <a:off x="2560320" y="4462272"/>
            <a:ext cx="1920240" cy="1325880"/>
          </a:xfrm>
          <a:prstGeom prst="roundRect">
            <a:avLst>
              <a:gd fmla="val 9000" name="adj"/>
            </a:avLst>
          </a:prstGeom>
          <a:gradFill rotWithShape="1">
            <a:gsLst>
              <a:gs pos="0">
                <a:srgbClr val="FFFFFF"/>
              </a:gs>
              <a:gs pos="100000">
                <a:srgbClr val="FFEAF1"/>
              </a:gs>
            </a:gsLst>
            <a:lin ang="5400000" scaled="0"/>
          </a:gradFill>
          <a:ln cap="flat" cmpd="sng" w="15875">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t" bIns="73150" lIns="73150" spcFirstLastPara="1" rIns="73150" wrap="square" tIns="73150">
            <a:noAutofit/>
          </a:bodyPr>
          <a:lstStyle/>
          <a:p>
            <a:pPr indent="0" lvl="0" marL="0" marR="0" rtl="0" algn="ctr">
              <a:lnSpc>
                <a:spcPct val="100000"/>
              </a:lnSpc>
              <a:spcBef>
                <a:spcPts val="0"/>
              </a:spcBef>
              <a:spcAft>
                <a:spcPts val="0"/>
              </a:spcAft>
              <a:buClr>
                <a:srgbClr val="000000"/>
              </a:buClr>
              <a:buSzPts val="1300"/>
              <a:buFont typeface="Arial"/>
              <a:buNone/>
            </a:pPr>
            <a:r>
              <a:rPr b="1" i="0" lang="en-US" sz="1300" u="none" cap="none" strike="noStrike">
                <a:solidFill>
                  <a:srgbClr val="79204B"/>
                </a:solidFill>
                <a:latin typeface="Times New Roman"/>
                <a:ea typeface="Times New Roman"/>
                <a:cs typeface="Times New Roman"/>
                <a:sym typeface="Times New Roman"/>
              </a:rPr>
              <a:t>Privacy-Preserving</a:t>
            </a:r>
            <a:endParaRPr/>
          </a:p>
          <a:p>
            <a:pPr indent="0" lvl="0" marL="0" marR="0" rtl="0" algn="ctr">
              <a:lnSpc>
                <a:spcPct val="100000"/>
              </a:lnSpc>
              <a:spcBef>
                <a:spcPts val="200"/>
              </a:spcBef>
              <a:spcAft>
                <a:spcPts val="0"/>
              </a:spcAft>
              <a:buClr>
                <a:srgbClr val="000000"/>
              </a:buClr>
              <a:buSzPts val="1150"/>
              <a:buFont typeface="Arial"/>
              <a:buNone/>
            </a:pPr>
            <a:r>
              <a:rPr b="0" i="0" lang="en-US" sz="1150" u="none" cap="none" strike="noStrike">
                <a:solidFill>
                  <a:schemeClr val="dk1"/>
                </a:solidFill>
                <a:latin typeface="Times New Roman"/>
                <a:ea typeface="Times New Roman"/>
                <a:cs typeface="Times New Roman"/>
                <a:sym typeface="Times New Roman"/>
              </a:rPr>
              <a:t>Keep location on the device or share only as much as needed</a:t>
            </a:r>
            <a:endParaRPr/>
          </a:p>
        </p:txBody>
      </p:sp>
      <p:sp>
        <p:nvSpPr>
          <p:cNvPr id="733" name="Google Shape;733;p34"/>
          <p:cNvSpPr/>
          <p:nvPr/>
        </p:nvSpPr>
        <p:spPr>
          <a:xfrm>
            <a:off x="3264408" y="3721608"/>
            <a:ext cx="512064" cy="512064"/>
          </a:xfrm>
          <a:prstGeom prst="ellipse">
            <a:avLst/>
          </a:prstGeom>
          <a:gradFill rotWithShape="1">
            <a:gsLst>
              <a:gs pos="0">
                <a:srgbClr val="902A66"/>
              </a:gs>
              <a:gs pos="100000">
                <a:srgbClr val="C2548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chemeClr val="lt1"/>
                </a:solidFill>
                <a:latin typeface="Times New Roman"/>
                <a:ea typeface="Times New Roman"/>
                <a:cs typeface="Times New Roman"/>
                <a:sym typeface="Times New Roman"/>
              </a:rPr>
              <a:t>7</a:t>
            </a:r>
            <a:endParaRPr/>
          </a:p>
        </p:txBody>
      </p:sp>
      <p:cxnSp>
        <p:nvCxnSpPr>
          <p:cNvPr id="734" name="Google Shape;734;p34"/>
          <p:cNvCxnSpPr/>
          <p:nvPr/>
        </p:nvCxnSpPr>
        <p:spPr>
          <a:xfrm>
            <a:off x="3520440" y="4233672"/>
            <a:ext cx="0" cy="228600"/>
          </a:xfrm>
          <a:prstGeom prst="straightConnector1">
            <a:avLst/>
          </a:prstGeom>
          <a:noFill/>
          <a:ln cap="flat" cmpd="sng" w="19050">
            <a:solidFill>
              <a:srgbClr val="B8527E"/>
            </a:solidFill>
            <a:prstDash val="solid"/>
            <a:round/>
            <a:headEnd len="sm" w="sm" type="none"/>
            <a:tailEnd len="sm" w="sm" type="none"/>
          </a:ln>
        </p:spPr>
      </p:cxnSp>
      <p:sp>
        <p:nvSpPr>
          <p:cNvPr id="735" name="Google Shape;735;p34"/>
          <p:cNvSpPr/>
          <p:nvPr/>
        </p:nvSpPr>
        <p:spPr>
          <a:xfrm>
            <a:off x="457200" y="4462272"/>
            <a:ext cx="1920240" cy="1325880"/>
          </a:xfrm>
          <a:prstGeom prst="roundRect">
            <a:avLst>
              <a:gd fmla="val 9000" name="adj"/>
            </a:avLst>
          </a:prstGeom>
          <a:gradFill rotWithShape="1">
            <a:gsLst>
              <a:gs pos="0">
                <a:srgbClr val="902A66"/>
              </a:gs>
              <a:gs pos="100000">
                <a:srgbClr val="C25485"/>
              </a:gs>
            </a:gsLst>
            <a:lin ang="2700000" scaled="0"/>
          </a:gradFill>
          <a:ln cap="flat" cmpd="sng" w="25400">
            <a:solidFill>
              <a:schemeClr val="lt1"/>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Smart Worker Finder 2.0</a:t>
            </a:r>
            <a:endParaRPr/>
          </a:p>
          <a:p>
            <a:pPr indent="0" lvl="0" marL="0" marR="0" rtl="0" algn="ctr">
              <a:lnSpc>
                <a:spcPct val="100000"/>
              </a:lnSpc>
              <a:spcBef>
                <a:spcPts val="300"/>
              </a:spcBef>
              <a:spcAft>
                <a:spcPts val="0"/>
              </a:spcAft>
              <a:buClr>
                <a:srgbClr val="000000"/>
              </a:buClr>
              <a:buSzPts val="1150"/>
              <a:buFont typeface="Arial"/>
              <a:buNone/>
            </a:pPr>
            <a:r>
              <a:rPr b="0" i="0" lang="en-US" sz="1150" u="none" cap="none" strike="noStrike">
                <a:solidFill>
                  <a:schemeClr val="lt1"/>
                </a:solidFill>
                <a:latin typeface="Times New Roman"/>
                <a:ea typeface="Times New Roman"/>
                <a:cs typeface="Times New Roman"/>
                <a:sym typeface="Times New Roman"/>
              </a:rPr>
              <a:t>faster, fairer, smarter</a:t>
            </a:r>
            <a:endParaRPr/>
          </a:p>
        </p:txBody>
      </p:sp>
    </p:spTree>
  </p:cSld>
  <p:clrMapOvr>
    <a:masterClrMapping/>
  </p:clrMapOvr>
  <mc:AlternateContent>
    <mc:Choice Requires="p14">
      <p:transition spd="slow" p14:dur="1400">
        <p14:gallery dir="l"/>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13"/>
                                        </p:tgtEl>
                                        <p:attrNameLst>
                                          <p:attrName>style.visibility</p:attrName>
                                        </p:attrNameLst>
                                      </p:cBhvr>
                                      <p:to>
                                        <p:strVal val="visible"/>
                                      </p:to>
                                    </p:set>
                                    <p:animEffect filter="fade" transition="in">
                                      <p:cBhvr>
                                        <p:cTn dur="2600"/>
                                        <p:tgtEl>
                                          <p:spTgt spid="713"/>
                                        </p:tgtEl>
                                      </p:cBhvr>
                                    </p:animEffect>
                                  </p:childTnLst>
                                </p:cTn>
                              </p:par>
                              <p:par>
                                <p:cTn fill="hold" nodeType="withEffect" presetClass="entr" presetID="23" presetSubtype="16">
                                  <p:stCondLst>
                                    <p:cond delay="300"/>
                                  </p:stCondLst>
                                  <p:childTnLst>
                                    <p:set>
                                      <p:cBhvr>
                                        <p:cTn dur="1" fill="hold">
                                          <p:stCondLst>
                                            <p:cond delay="0"/>
                                          </p:stCondLst>
                                        </p:cTn>
                                        <p:tgtEl>
                                          <p:spTgt spid="715"/>
                                        </p:tgtEl>
                                        <p:attrNameLst>
                                          <p:attrName>style.visibility</p:attrName>
                                        </p:attrNameLst>
                                      </p:cBhvr>
                                      <p:to>
                                        <p:strVal val="visible"/>
                                      </p:to>
                                    </p:set>
                                    <p:anim calcmode="lin" valueType="num">
                                      <p:cBhvr additive="base">
                                        <p:cTn dur="350"/>
                                        <p:tgtEl>
                                          <p:spTgt spid="715"/>
                                        </p:tgtEl>
                                        <p:attrNameLst>
                                          <p:attrName>ppt_w</p:attrName>
                                        </p:attrNameLst>
                                      </p:cBhvr>
                                      <p:tavLst>
                                        <p:tav fmla="" tm="0">
                                          <p:val>
                                            <p:strVal val="0"/>
                                          </p:val>
                                        </p:tav>
                                        <p:tav fmla="" tm="100000">
                                          <p:val>
                                            <p:strVal val="#ppt_w"/>
                                          </p:val>
                                        </p:tav>
                                      </p:tavLst>
                                    </p:anim>
                                    <p:anim calcmode="lin" valueType="num">
                                      <p:cBhvr additive="base">
                                        <p:cTn dur="350"/>
                                        <p:tgtEl>
                                          <p:spTgt spid="715"/>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450"/>
                                  </p:stCondLst>
                                  <p:childTnLst>
                                    <p:set>
                                      <p:cBhvr>
                                        <p:cTn dur="1" fill="hold">
                                          <p:stCondLst>
                                            <p:cond delay="0"/>
                                          </p:stCondLst>
                                        </p:cTn>
                                        <p:tgtEl>
                                          <p:spTgt spid="716"/>
                                        </p:tgtEl>
                                        <p:attrNameLst>
                                          <p:attrName>style.visibility</p:attrName>
                                        </p:attrNameLst>
                                      </p:cBhvr>
                                      <p:to>
                                        <p:strVal val="visible"/>
                                      </p:to>
                                    </p:set>
                                    <p:animEffect filter="fade" transition="in">
                                      <p:cBhvr>
                                        <p:cTn dur="250"/>
                                        <p:tgtEl>
                                          <p:spTgt spid="716"/>
                                        </p:tgtEl>
                                      </p:cBhvr>
                                    </p:animEffect>
                                  </p:childTnLst>
                                </p:cTn>
                              </p:par>
                              <p:par>
                                <p:cTn fill="hold" nodeType="withEffect" presetClass="entr" presetID="23" presetSubtype="16">
                                  <p:stCondLst>
                                    <p:cond delay="550"/>
                                  </p:stCondLst>
                                  <p:childTnLst>
                                    <p:set>
                                      <p:cBhvr>
                                        <p:cTn dur="1" fill="hold">
                                          <p:stCondLst>
                                            <p:cond delay="0"/>
                                          </p:stCondLst>
                                        </p:cTn>
                                        <p:tgtEl>
                                          <p:spTgt spid="714"/>
                                        </p:tgtEl>
                                        <p:attrNameLst>
                                          <p:attrName>style.visibility</p:attrName>
                                        </p:attrNameLst>
                                      </p:cBhvr>
                                      <p:to>
                                        <p:strVal val="visible"/>
                                      </p:to>
                                    </p:set>
                                    <p:anim calcmode="lin" valueType="num">
                                      <p:cBhvr additive="base">
                                        <p:cTn dur="450"/>
                                        <p:tgtEl>
                                          <p:spTgt spid="714"/>
                                        </p:tgtEl>
                                        <p:attrNameLst>
                                          <p:attrName>ppt_w</p:attrName>
                                        </p:attrNameLst>
                                      </p:cBhvr>
                                      <p:tavLst>
                                        <p:tav fmla="" tm="0">
                                          <p:val>
                                            <p:strVal val="0"/>
                                          </p:val>
                                        </p:tav>
                                        <p:tav fmla="" tm="100000">
                                          <p:val>
                                            <p:strVal val="#ppt_w"/>
                                          </p:val>
                                        </p:tav>
                                      </p:tavLst>
                                    </p:anim>
                                    <p:anim calcmode="lin" valueType="num">
                                      <p:cBhvr additive="base">
                                        <p:cTn dur="450"/>
                                        <p:tgtEl>
                                          <p:spTgt spid="71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810"/>
                                  </p:stCondLst>
                                  <p:childTnLst>
                                    <p:set>
                                      <p:cBhvr>
                                        <p:cTn dur="1" fill="hold">
                                          <p:stCondLst>
                                            <p:cond delay="0"/>
                                          </p:stCondLst>
                                        </p:cTn>
                                        <p:tgtEl>
                                          <p:spTgt spid="718"/>
                                        </p:tgtEl>
                                        <p:attrNameLst>
                                          <p:attrName>style.visibility</p:attrName>
                                        </p:attrNameLst>
                                      </p:cBhvr>
                                      <p:to>
                                        <p:strVal val="visible"/>
                                      </p:to>
                                    </p:set>
                                    <p:anim calcmode="lin" valueType="num">
                                      <p:cBhvr additive="base">
                                        <p:cTn dur="350"/>
                                        <p:tgtEl>
                                          <p:spTgt spid="718"/>
                                        </p:tgtEl>
                                        <p:attrNameLst>
                                          <p:attrName>ppt_w</p:attrName>
                                        </p:attrNameLst>
                                      </p:cBhvr>
                                      <p:tavLst>
                                        <p:tav fmla="" tm="0">
                                          <p:val>
                                            <p:strVal val="0"/>
                                          </p:val>
                                        </p:tav>
                                        <p:tav fmla="" tm="100000">
                                          <p:val>
                                            <p:strVal val="#ppt_w"/>
                                          </p:val>
                                        </p:tav>
                                      </p:tavLst>
                                    </p:anim>
                                    <p:anim calcmode="lin" valueType="num">
                                      <p:cBhvr additive="base">
                                        <p:cTn dur="350"/>
                                        <p:tgtEl>
                                          <p:spTgt spid="71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960"/>
                                  </p:stCondLst>
                                  <p:childTnLst>
                                    <p:set>
                                      <p:cBhvr>
                                        <p:cTn dur="1" fill="hold">
                                          <p:stCondLst>
                                            <p:cond delay="0"/>
                                          </p:stCondLst>
                                        </p:cTn>
                                        <p:tgtEl>
                                          <p:spTgt spid="719"/>
                                        </p:tgtEl>
                                        <p:attrNameLst>
                                          <p:attrName>style.visibility</p:attrName>
                                        </p:attrNameLst>
                                      </p:cBhvr>
                                      <p:to>
                                        <p:strVal val="visible"/>
                                      </p:to>
                                    </p:set>
                                    <p:animEffect filter="fade" transition="in">
                                      <p:cBhvr>
                                        <p:cTn dur="250"/>
                                        <p:tgtEl>
                                          <p:spTgt spid="719"/>
                                        </p:tgtEl>
                                      </p:cBhvr>
                                    </p:animEffect>
                                  </p:childTnLst>
                                </p:cTn>
                              </p:par>
                              <p:par>
                                <p:cTn fill="hold" nodeType="withEffect" presetClass="entr" presetID="23" presetSubtype="16">
                                  <p:stCondLst>
                                    <p:cond delay="1060"/>
                                  </p:stCondLst>
                                  <p:childTnLst>
                                    <p:set>
                                      <p:cBhvr>
                                        <p:cTn dur="1" fill="hold">
                                          <p:stCondLst>
                                            <p:cond delay="0"/>
                                          </p:stCondLst>
                                        </p:cTn>
                                        <p:tgtEl>
                                          <p:spTgt spid="717"/>
                                        </p:tgtEl>
                                        <p:attrNameLst>
                                          <p:attrName>style.visibility</p:attrName>
                                        </p:attrNameLst>
                                      </p:cBhvr>
                                      <p:to>
                                        <p:strVal val="visible"/>
                                      </p:to>
                                    </p:set>
                                    <p:anim calcmode="lin" valueType="num">
                                      <p:cBhvr additive="base">
                                        <p:cTn dur="450"/>
                                        <p:tgtEl>
                                          <p:spTgt spid="717"/>
                                        </p:tgtEl>
                                        <p:attrNameLst>
                                          <p:attrName>ppt_w</p:attrName>
                                        </p:attrNameLst>
                                      </p:cBhvr>
                                      <p:tavLst>
                                        <p:tav fmla="" tm="0">
                                          <p:val>
                                            <p:strVal val="0"/>
                                          </p:val>
                                        </p:tav>
                                        <p:tav fmla="" tm="100000">
                                          <p:val>
                                            <p:strVal val="#ppt_w"/>
                                          </p:val>
                                        </p:tav>
                                      </p:tavLst>
                                    </p:anim>
                                    <p:anim calcmode="lin" valueType="num">
                                      <p:cBhvr additive="base">
                                        <p:cTn dur="450"/>
                                        <p:tgtEl>
                                          <p:spTgt spid="71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20"/>
                                  </p:stCondLst>
                                  <p:childTnLst>
                                    <p:set>
                                      <p:cBhvr>
                                        <p:cTn dur="1" fill="hold">
                                          <p:stCondLst>
                                            <p:cond delay="0"/>
                                          </p:stCondLst>
                                        </p:cTn>
                                        <p:tgtEl>
                                          <p:spTgt spid="721"/>
                                        </p:tgtEl>
                                        <p:attrNameLst>
                                          <p:attrName>style.visibility</p:attrName>
                                        </p:attrNameLst>
                                      </p:cBhvr>
                                      <p:to>
                                        <p:strVal val="visible"/>
                                      </p:to>
                                    </p:set>
                                    <p:anim calcmode="lin" valueType="num">
                                      <p:cBhvr additive="base">
                                        <p:cTn dur="350"/>
                                        <p:tgtEl>
                                          <p:spTgt spid="721"/>
                                        </p:tgtEl>
                                        <p:attrNameLst>
                                          <p:attrName>ppt_w</p:attrName>
                                        </p:attrNameLst>
                                      </p:cBhvr>
                                      <p:tavLst>
                                        <p:tav fmla="" tm="0">
                                          <p:val>
                                            <p:strVal val="0"/>
                                          </p:val>
                                        </p:tav>
                                        <p:tav fmla="" tm="100000">
                                          <p:val>
                                            <p:strVal val="#ppt_w"/>
                                          </p:val>
                                        </p:tav>
                                      </p:tavLst>
                                    </p:anim>
                                    <p:anim calcmode="lin" valueType="num">
                                      <p:cBhvr additive="base">
                                        <p:cTn dur="350"/>
                                        <p:tgtEl>
                                          <p:spTgt spid="72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470"/>
                                  </p:stCondLst>
                                  <p:childTnLst>
                                    <p:set>
                                      <p:cBhvr>
                                        <p:cTn dur="1" fill="hold">
                                          <p:stCondLst>
                                            <p:cond delay="0"/>
                                          </p:stCondLst>
                                        </p:cTn>
                                        <p:tgtEl>
                                          <p:spTgt spid="722"/>
                                        </p:tgtEl>
                                        <p:attrNameLst>
                                          <p:attrName>style.visibility</p:attrName>
                                        </p:attrNameLst>
                                      </p:cBhvr>
                                      <p:to>
                                        <p:strVal val="visible"/>
                                      </p:to>
                                    </p:set>
                                    <p:animEffect filter="fade" transition="in">
                                      <p:cBhvr>
                                        <p:cTn dur="250"/>
                                        <p:tgtEl>
                                          <p:spTgt spid="722"/>
                                        </p:tgtEl>
                                      </p:cBhvr>
                                    </p:animEffect>
                                  </p:childTnLst>
                                </p:cTn>
                              </p:par>
                              <p:par>
                                <p:cTn fill="hold" nodeType="withEffect" presetClass="entr" presetID="23" presetSubtype="16">
                                  <p:stCondLst>
                                    <p:cond delay="1570"/>
                                  </p:stCondLst>
                                  <p:childTnLst>
                                    <p:set>
                                      <p:cBhvr>
                                        <p:cTn dur="1" fill="hold">
                                          <p:stCondLst>
                                            <p:cond delay="0"/>
                                          </p:stCondLst>
                                        </p:cTn>
                                        <p:tgtEl>
                                          <p:spTgt spid="720"/>
                                        </p:tgtEl>
                                        <p:attrNameLst>
                                          <p:attrName>style.visibility</p:attrName>
                                        </p:attrNameLst>
                                      </p:cBhvr>
                                      <p:to>
                                        <p:strVal val="visible"/>
                                      </p:to>
                                    </p:set>
                                    <p:anim calcmode="lin" valueType="num">
                                      <p:cBhvr additive="base">
                                        <p:cTn dur="450"/>
                                        <p:tgtEl>
                                          <p:spTgt spid="720"/>
                                        </p:tgtEl>
                                        <p:attrNameLst>
                                          <p:attrName>ppt_w</p:attrName>
                                        </p:attrNameLst>
                                      </p:cBhvr>
                                      <p:tavLst>
                                        <p:tav fmla="" tm="0">
                                          <p:val>
                                            <p:strVal val="0"/>
                                          </p:val>
                                        </p:tav>
                                        <p:tav fmla="" tm="100000">
                                          <p:val>
                                            <p:strVal val="#ppt_w"/>
                                          </p:val>
                                        </p:tav>
                                      </p:tavLst>
                                    </p:anim>
                                    <p:anim calcmode="lin" valueType="num">
                                      <p:cBhvr additive="base">
                                        <p:cTn dur="450"/>
                                        <p:tgtEl>
                                          <p:spTgt spid="72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830"/>
                                  </p:stCondLst>
                                  <p:childTnLst>
                                    <p:set>
                                      <p:cBhvr>
                                        <p:cTn dur="1" fill="hold">
                                          <p:stCondLst>
                                            <p:cond delay="0"/>
                                          </p:stCondLst>
                                        </p:cTn>
                                        <p:tgtEl>
                                          <p:spTgt spid="724"/>
                                        </p:tgtEl>
                                        <p:attrNameLst>
                                          <p:attrName>style.visibility</p:attrName>
                                        </p:attrNameLst>
                                      </p:cBhvr>
                                      <p:to>
                                        <p:strVal val="visible"/>
                                      </p:to>
                                    </p:set>
                                    <p:anim calcmode="lin" valueType="num">
                                      <p:cBhvr additive="base">
                                        <p:cTn dur="350"/>
                                        <p:tgtEl>
                                          <p:spTgt spid="724"/>
                                        </p:tgtEl>
                                        <p:attrNameLst>
                                          <p:attrName>ppt_w</p:attrName>
                                        </p:attrNameLst>
                                      </p:cBhvr>
                                      <p:tavLst>
                                        <p:tav fmla="" tm="0">
                                          <p:val>
                                            <p:strVal val="0"/>
                                          </p:val>
                                        </p:tav>
                                        <p:tav fmla="" tm="100000">
                                          <p:val>
                                            <p:strVal val="#ppt_w"/>
                                          </p:val>
                                        </p:tav>
                                      </p:tavLst>
                                    </p:anim>
                                    <p:anim calcmode="lin" valueType="num">
                                      <p:cBhvr additive="base">
                                        <p:cTn dur="350"/>
                                        <p:tgtEl>
                                          <p:spTgt spid="72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980"/>
                                  </p:stCondLst>
                                  <p:childTnLst>
                                    <p:set>
                                      <p:cBhvr>
                                        <p:cTn dur="1" fill="hold">
                                          <p:stCondLst>
                                            <p:cond delay="0"/>
                                          </p:stCondLst>
                                        </p:cTn>
                                        <p:tgtEl>
                                          <p:spTgt spid="725"/>
                                        </p:tgtEl>
                                        <p:attrNameLst>
                                          <p:attrName>style.visibility</p:attrName>
                                        </p:attrNameLst>
                                      </p:cBhvr>
                                      <p:to>
                                        <p:strVal val="visible"/>
                                      </p:to>
                                    </p:set>
                                    <p:animEffect filter="fade" transition="in">
                                      <p:cBhvr>
                                        <p:cTn dur="250"/>
                                        <p:tgtEl>
                                          <p:spTgt spid="725"/>
                                        </p:tgtEl>
                                      </p:cBhvr>
                                    </p:animEffect>
                                  </p:childTnLst>
                                </p:cTn>
                              </p:par>
                              <p:par>
                                <p:cTn fill="hold" nodeType="withEffect" presetClass="entr" presetID="23" presetSubtype="16">
                                  <p:stCondLst>
                                    <p:cond delay="2080"/>
                                  </p:stCondLst>
                                  <p:childTnLst>
                                    <p:set>
                                      <p:cBhvr>
                                        <p:cTn dur="1" fill="hold">
                                          <p:stCondLst>
                                            <p:cond delay="0"/>
                                          </p:stCondLst>
                                        </p:cTn>
                                        <p:tgtEl>
                                          <p:spTgt spid="723"/>
                                        </p:tgtEl>
                                        <p:attrNameLst>
                                          <p:attrName>style.visibility</p:attrName>
                                        </p:attrNameLst>
                                      </p:cBhvr>
                                      <p:to>
                                        <p:strVal val="visible"/>
                                      </p:to>
                                    </p:set>
                                    <p:anim calcmode="lin" valueType="num">
                                      <p:cBhvr additive="base">
                                        <p:cTn dur="450"/>
                                        <p:tgtEl>
                                          <p:spTgt spid="723"/>
                                        </p:tgtEl>
                                        <p:attrNameLst>
                                          <p:attrName>ppt_w</p:attrName>
                                        </p:attrNameLst>
                                      </p:cBhvr>
                                      <p:tavLst>
                                        <p:tav fmla="" tm="0">
                                          <p:val>
                                            <p:strVal val="0"/>
                                          </p:val>
                                        </p:tav>
                                        <p:tav fmla="" tm="100000">
                                          <p:val>
                                            <p:strVal val="#ppt_w"/>
                                          </p:val>
                                        </p:tav>
                                      </p:tavLst>
                                    </p:anim>
                                    <p:anim calcmode="lin" valueType="num">
                                      <p:cBhvr additive="base">
                                        <p:cTn dur="450"/>
                                        <p:tgtEl>
                                          <p:spTgt spid="72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340"/>
                                  </p:stCondLst>
                                  <p:childTnLst>
                                    <p:set>
                                      <p:cBhvr>
                                        <p:cTn dur="1" fill="hold">
                                          <p:stCondLst>
                                            <p:cond delay="0"/>
                                          </p:stCondLst>
                                        </p:cTn>
                                        <p:tgtEl>
                                          <p:spTgt spid="727"/>
                                        </p:tgtEl>
                                        <p:attrNameLst>
                                          <p:attrName>style.visibility</p:attrName>
                                        </p:attrNameLst>
                                      </p:cBhvr>
                                      <p:to>
                                        <p:strVal val="visible"/>
                                      </p:to>
                                    </p:set>
                                    <p:anim calcmode="lin" valueType="num">
                                      <p:cBhvr additive="base">
                                        <p:cTn dur="350"/>
                                        <p:tgtEl>
                                          <p:spTgt spid="727"/>
                                        </p:tgtEl>
                                        <p:attrNameLst>
                                          <p:attrName>ppt_w</p:attrName>
                                        </p:attrNameLst>
                                      </p:cBhvr>
                                      <p:tavLst>
                                        <p:tav fmla="" tm="0">
                                          <p:val>
                                            <p:strVal val="0"/>
                                          </p:val>
                                        </p:tav>
                                        <p:tav fmla="" tm="100000">
                                          <p:val>
                                            <p:strVal val="#ppt_w"/>
                                          </p:val>
                                        </p:tav>
                                      </p:tavLst>
                                    </p:anim>
                                    <p:anim calcmode="lin" valueType="num">
                                      <p:cBhvr additive="base">
                                        <p:cTn dur="350"/>
                                        <p:tgtEl>
                                          <p:spTgt spid="727"/>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2490"/>
                                  </p:stCondLst>
                                  <p:childTnLst>
                                    <p:set>
                                      <p:cBhvr>
                                        <p:cTn dur="1" fill="hold">
                                          <p:stCondLst>
                                            <p:cond delay="0"/>
                                          </p:stCondLst>
                                        </p:cTn>
                                        <p:tgtEl>
                                          <p:spTgt spid="728"/>
                                        </p:tgtEl>
                                        <p:attrNameLst>
                                          <p:attrName>style.visibility</p:attrName>
                                        </p:attrNameLst>
                                      </p:cBhvr>
                                      <p:to>
                                        <p:strVal val="visible"/>
                                      </p:to>
                                    </p:set>
                                    <p:animEffect filter="fade" transition="in">
                                      <p:cBhvr>
                                        <p:cTn dur="250"/>
                                        <p:tgtEl>
                                          <p:spTgt spid="728"/>
                                        </p:tgtEl>
                                      </p:cBhvr>
                                    </p:animEffect>
                                  </p:childTnLst>
                                </p:cTn>
                              </p:par>
                              <p:par>
                                <p:cTn fill="hold" nodeType="withEffect" presetClass="entr" presetID="23" presetSubtype="16">
                                  <p:stCondLst>
                                    <p:cond delay="2590"/>
                                  </p:stCondLst>
                                  <p:childTnLst>
                                    <p:set>
                                      <p:cBhvr>
                                        <p:cTn dur="1" fill="hold">
                                          <p:stCondLst>
                                            <p:cond delay="0"/>
                                          </p:stCondLst>
                                        </p:cTn>
                                        <p:tgtEl>
                                          <p:spTgt spid="726"/>
                                        </p:tgtEl>
                                        <p:attrNameLst>
                                          <p:attrName>style.visibility</p:attrName>
                                        </p:attrNameLst>
                                      </p:cBhvr>
                                      <p:to>
                                        <p:strVal val="visible"/>
                                      </p:to>
                                    </p:set>
                                    <p:anim calcmode="lin" valueType="num">
                                      <p:cBhvr additive="base">
                                        <p:cTn dur="450"/>
                                        <p:tgtEl>
                                          <p:spTgt spid="726"/>
                                        </p:tgtEl>
                                        <p:attrNameLst>
                                          <p:attrName>ppt_w</p:attrName>
                                        </p:attrNameLst>
                                      </p:cBhvr>
                                      <p:tavLst>
                                        <p:tav fmla="" tm="0">
                                          <p:val>
                                            <p:strVal val="0"/>
                                          </p:val>
                                        </p:tav>
                                        <p:tav fmla="" tm="100000">
                                          <p:val>
                                            <p:strVal val="#ppt_w"/>
                                          </p:val>
                                        </p:tav>
                                      </p:tavLst>
                                    </p:anim>
                                    <p:anim calcmode="lin" valueType="num">
                                      <p:cBhvr additive="base">
                                        <p:cTn dur="450"/>
                                        <p:tgtEl>
                                          <p:spTgt spid="72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2850"/>
                                  </p:stCondLst>
                                  <p:childTnLst>
                                    <p:set>
                                      <p:cBhvr>
                                        <p:cTn dur="1" fill="hold">
                                          <p:stCondLst>
                                            <p:cond delay="0"/>
                                          </p:stCondLst>
                                        </p:cTn>
                                        <p:tgtEl>
                                          <p:spTgt spid="730"/>
                                        </p:tgtEl>
                                        <p:attrNameLst>
                                          <p:attrName>style.visibility</p:attrName>
                                        </p:attrNameLst>
                                      </p:cBhvr>
                                      <p:to>
                                        <p:strVal val="visible"/>
                                      </p:to>
                                    </p:set>
                                    <p:anim calcmode="lin" valueType="num">
                                      <p:cBhvr additive="base">
                                        <p:cTn dur="350"/>
                                        <p:tgtEl>
                                          <p:spTgt spid="730"/>
                                        </p:tgtEl>
                                        <p:attrNameLst>
                                          <p:attrName>ppt_w</p:attrName>
                                        </p:attrNameLst>
                                      </p:cBhvr>
                                      <p:tavLst>
                                        <p:tav fmla="" tm="0">
                                          <p:val>
                                            <p:strVal val="0"/>
                                          </p:val>
                                        </p:tav>
                                        <p:tav fmla="" tm="100000">
                                          <p:val>
                                            <p:strVal val="#ppt_w"/>
                                          </p:val>
                                        </p:tav>
                                      </p:tavLst>
                                    </p:anim>
                                    <p:anim calcmode="lin" valueType="num">
                                      <p:cBhvr additive="base">
                                        <p:cTn dur="350"/>
                                        <p:tgtEl>
                                          <p:spTgt spid="73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000"/>
                                  </p:stCondLst>
                                  <p:childTnLst>
                                    <p:set>
                                      <p:cBhvr>
                                        <p:cTn dur="1" fill="hold">
                                          <p:stCondLst>
                                            <p:cond delay="0"/>
                                          </p:stCondLst>
                                        </p:cTn>
                                        <p:tgtEl>
                                          <p:spTgt spid="731"/>
                                        </p:tgtEl>
                                        <p:attrNameLst>
                                          <p:attrName>style.visibility</p:attrName>
                                        </p:attrNameLst>
                                      </p:cBhvr>
                                      <p:to>
                                        <p:strVal val="visible"/>
                                      </p:to>
                                    </p:set>
                                    <p:animEffect filter="fade" transition="in">
                                      <p:cBhvr>
                                        <p:cTn dur="250"/>
                                        <p:tgtEl>
                                          <p:spTgt spid="731"/>
                                        </p:tgtEl>
                                      </p:cBhvr>
                                    </p:animEffect>
                                  </p:childTnLst>
                                </p:cTn>
                              </p:par>
                              <p:par>
                                <p:cTn fill="hold" nodeType="withEffect" presetClass="entr" presetID="23" presetSubtype="16">
                                  <p:stCondLst>
                                    <p:cond delay="3100"/>
                                  </p:stCondLst>
                                  <p:childTnLst>
                                    <p:set>
                                      <p:cBhvr>
                                        <p:cTn dur="1" fill="hold">
                                          <p:stCondLst>
                                            <p:cond delay="0"/>
                                          </p:stCondLst>
                                        </p:cTn>
                                        <p:tgtEl>
                                          <p:spTgt spid="729"/>
                                        </p:tgtEl>
                                        <p:attrNameLst>
                                          <p:attrName>style.visibility</p:attrName>
                                        </p:attrNameLst>
                                      </p:cBhvr>
                                      <p:to>
                                        <p:strVal val="visible"/>
                                      </p:to>
                                    </p:set>
                                    <p:anim calcmode="lin" valueType="num">
                                      <p:cBhvr additive="base">
                                        <p:cTn dur="450"/>
                                        <p:tgtEl>
                                          <p:spTgt spid="729"/>
                                        </p:tgtEl>
                                        <p:attrNameLst>
                                          <p:attrName>ppt_w</p:attrName>
                                        </p:attrNameLst>
                                      </p:cBhvr>
                                      <p:tavLst>
                                        <p:tav fmla="" tm="0">
                                          <p:val>
                                            <p:strVal val="0"/>
                                          </p:val>
                                        </p:tav>
                                        <p:tav fmla="" tm="100000">
                                          <p:val>
                                            <p:strVal val="#ppt_w"/>
                                          </p:val>
                                        </p:tav>
                                      </p:tavLst>
                                    </p:anim>
                                    <p:anim calcmode="lin" valueType="num">
                                      <p:cBhvr additive="base">
                                        <p:cTn dur="450"/>
                                        <p:tgtEl>
                                          <p:spTgt spid="72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360"/>
                                  </p:stCondLst>
                                  <p:childTnLst>
                                    <p:set>
                                      <p:cBhvr>
                                        <p:cTn dur="1" fill="hold">
                                          <p:stCondLst>
                                            <p:cond delay="0"/>
                                          </p:stCondLst>
                                        </p:cTn>
                                        <p:tgtEl>
                                          <p:spTgt spid="733"/>
                                        </p:tgtEl>
                                        <p:attrNameLst>
                                          <p:attrName>style.visibility</p:attrName>
                                        </p:attrNameLst>
                                      </p:cBhvr>
                                      <p:to>
                                        <p:strVal val="visible"/>
                                      </p:to>
                                    </p:set>
                                    <p:anim calcmode="lin" valueType="num">
                                      <p:cBhvr additive="base">
                                        <p:cTn dur="350"/>
                                        <p:tgtEl>
                                          <p:spTgt spid="733"/>
                                        </p:tgtEl>
                                        <p:attrNameLst>
                                          <p:attrName>ppt_w</p:attrName>
                                        </p:attrNameLst>
                                      </p:cBhvr>
                                      <p:tavLst>
                                        <p:tav fmla="" tm="0">
                                          <p:val>
                                            <p:strVal val="0"/>
                                          </p:val>
                                        </p:tav>
                                        <p:tav fmla="" tm="100000">
                                          <p:val>
                                            <p:strVal val="#ppt_w"/>
                                          </p:val>
                                        </p:tav>
                                      </p:tavLst>
                                    </p:anim>
                                    <p:anim calcmode="lin" valueType="num">
                                      <p:cBhvr additive="base">
                                        <p:cTn dur="350"/>
                                        <p:tgtEl>
                                          <p:spTgt spid="733"/>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510"/>
                                  </p:stCondLst>
                                  <p:childTnLst>
                                    <p:set>
                                      <p:cBhvr>
                                        <p:cTn dur="1" fill="hold">
                                          <p:stCondLst>
                                            <p:cond delay="0"/>
                                          </p:stCondLst>
                                        </p:cTn>
                                        <p:tgtEl>
                                          <p:spTgt spid="734"/>
                                        </p:tgtEl>
                                        <p:attrNameLst>
                                          <p:attrName>style.visibility</p:attrName>
                                        </p:attrNameLst>
                                      </p:cBhvr>
                                      <p:to>
                                        <p:strVal val="visible"/>
                                      </p:to>
                                    </p:set>
                                    <p:animEffect filter="fade" transition="in">
                                      <p:cBhvr>
                                        <p:cTn dur="250"/>
                                        <p:tgtEl>
                                          <p:spTgt spid="734"/>
                                        </p:tgtEl>
                                      </p:cBhvr>
                                    </p:animEffect>
                                  </p:childTnLst>
                                </p:cTn>
                              </p:par>
                              <p:par>
                                <p:cTn fill="hold" nodeType="withEffect" presetClass="entr" presetID="23" presetSubtype="16">
                                  <p:stCondLst>
                                    <p:cond delay="3610"/>
                                  </p:stCondLst>
                                  <p:childTnLst>
                                    <p:set>
                                      <p:cBhvr>
                                        <p:cTn dur="1" fill="hold">
                                          <p:stCondLst>
                                            <p:cond delay="0"/>
                                          </p:stCondLst>
                                        </p:cTn>
                                        <p:tgtEl>
                                          <p:spTgt spid="732"/>
                                        </p:tgtEl>
                                        <p:attrNameLst>
                                          <p:attrName>style.visibility</p:attrName>
                                        </p:attrNameLst>
                                      </p:cBhvr>
                                      <p:to>
                                        <p:strVal val="visible"/>
                                      </p:to>
                                    </p:set>
                                    <p:anim calcmode="lin" valueType="num">
                                      <p:cBhvr additive="base">
                                        <p:cTn dur="450"/>
                                        <p:tgtEl>
                                          <p:spTgt spid="732"/>
                                        </p:tgtEl>
                                        <p:attrNameLst>
                                          <p:attrName>ppt_w</p:attrName>
                                        </p:attrNameLst>
                                      </p:cBhvr>
                                      <p:tavLst>
                                        <p:tav fmla="" tm="0">
                                          <p:val>
                                            <p:strVal val="0"/>
                                          </p:val>
                                        </p:tav>
                                        <p:tav fmla="" tm="100000">
                                          <p:val>
                                            <p:strVal val="#ppt_w"/>
                                          </p:val>
                                        </p:tav>
                                      </p:tavLst>
                                    </p:anim>
                                    <p:anim calcmode="lin" valueType="num">
                                      <p:cBhvr additive="base">
                                        <p:cTn dur="450"/>
                                        <p:tgtEl>
                                          <p:spTgt spid="732"/>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3870"/>
                                  </p:stCondLst>
                                  <p:childTnLst>
                                    <p:set>
                                      <p:cBhvr>
                                        <p:cTn dur="1" fill="hold">
                                          <p:stCondLst>
                                            <p:cond delay="0"/>
                                          </p:stCondLst>
                                        </p:cTn>
                                        <p:tgtEl>
                                          <p:spTgt spid="735"/>
                                        </p:tgtEl>
                                        <p:attrNameLst>
                                          <p:attrName>style.visibility</p:attrName>
                                        </p:attrNameLst>
                                      </p:cBhvr>
                                      <p:to>
                                        <p:strVal val="visible"/>
                                      </p:to>
                                    </p:set>
                                    <p:anim calcmode="lin" valueType="num">
                                      <p:cBhvr additive="base">
                                        <p:cTn dur="600"/>
                                        <p:tgtEl>
                                          <p:spTgt spid="735"/>
                                        </p:tgtEl>
                                        <p:attrNameLst>
                                          <p:attrName>ppt_w</p:attrName>
                                        </p:attrNameLst>
                                      </p:cBhvr>
                                      <p:tavLst>
                                        <p:tav fmla="" tm="0">
                                          <p:val>
                                            <p:strVal val="0"/>
                                          </p:val>
                                        </p:tav>
                                        <p:tav fmla="" tm="100000">
                                          <p:val>
                                            <p:strVal val="#ppt_w"/>
                                          </p:val>
                                        </p:tav>
                                      </p:tavLst>
                                    </p:anim>
                                    <p:anim calcmode="lin" valueType="num">
                                      <p:cBhvr additive="base">
                                        <p:cTn dur="600"/>
                                        <p:tgtEl>
                                          <p:spTgt spid="73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5"/>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References</a:t>
            </a:r>
            <a:endParaRPr/>
          </a:p>
        </p:txBody>
      </p:sp>
      <p:sp>
        <p:nvSpPr>
          <p:cNvPr id="742" name="Google Shape;742;p35"/>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743" name="Google Shape;743;p35"/>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744" name="Google Shape;744;p35"/>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745" name="Google Shape;745;p35"/>
          <p:cNvSpPr/>
          <p:nvPr/>
        </p:nvSpPr>
        <p:spPr>
          <a:xfrm>
            <a:off x="777240" y="1234440"/>
            <a:ext cx="3703320" cy="950976"/>
          </a:xfrm>
          <a:prstGeom prst="roundRect">
            <a:avLst>
              <a:gd fmla="val 9000" name="adj"/>
            </a:avLst>
          </a:prstGeom>
          <a:gradFill rotWithShape="1">
            <a:gsLst>
              <a:gs pos="0">
                <a:srgbClr val="006662"/>
              </a:gs>
              <a:gs pos="100000">
                <a:srgbClr val="0E9294"/>
              </a:gs>
            </a:gsLst>
            <a:lin ang="2700000" scaled="0"/>
          </a:gradFill>
          <a:ln cap="flat" cmpd="sng" w="15875">
            <a:solidFill>
              <a:srgbClr val="018D87"/>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lt1"/>
                </a:solidFill>
                <a:latin typeface="Times New Roman"/>
                <a:ea typeface="Times New Roman"/>
                <a:cs typeface="Times New Roman"/>
                <a:sym typeface="Times New Roman"/>
              </a:rPr>
              <a:t>“Efficient Task Assignment for Multi-Workerset Crowdsourcing with Time and Expense Considerations,” The VLDB Journal, 2026, doi: 10.1007/s00778-026-00969-5.</a:t>
            </a:r>
            <a:endParaRPr/>
          </a:p>
        </p:txBody>
      </p:sp>
      <p:sp>
        <p:nvSpPr>
          <p:cNvPr id="746" name="Google Shape;746;p35"/>
          <p:cNvSpPr/>
          <p:nvPr/>
        </p:nvSpPr>
        <p:spPr>
          <a:xfrm>
            <a:off x="457200" y="1481328"/>
            <a:ext cx="457200" cy="457200"/>
          </a:xfrm>
          <a:prstGeom prst="ellipse">
            <a:avLst/>
          </a:prstGeom>
          <a:gradFill rotWithShape="1">
            <a:gsLst>
              <a:gs pos="0">
                <a:srgbClr val="006662"/>
              </a:gs>
              <a:gs pos="100000">
                <a:srgbClr val="0E9294"/>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1</a:t>
            </a:r>
            <a:endParaRPr/>
          </a:p>
        </p:txBody>
      </p:sp>
      <p:sp>
        <p:nvSpPr>
          <p:cNvPr id="747" name="Google Shape;747;p35"/>
          <p:cNvSpPr/>
          <p:nvPr/>
        </p:nvSpPr>
        <p:spPr>
          <a:xfrm>
            <a:off x="777240" y="2258568"/>
            <a:ext cx="3703320" cy="950976"/>
          </a:xfrm>
          <a:prstGeom prst="roundRect">
            <a:avLst>
              <a:gd fmla="val 9000" name="adj"/>
            </a:avLst>
          </a:prstGeom>
          <a:gradFill rotWithShape="1">
            <a:gsLst>
              <a:gs pos="0">
                <a:srgbClr val="FFFFFF"/>
              </a:gs>
              <a:gs pos="100000">
                <a:srgbClr val="DAF6FC"/>
              </a:gs>
            </a:gsLst>
            <a:lin ang="5400000" scaled="0"/>
          </a:gradFill>
          <a:ln cap="flat" cmpd="sng" w="15875">
            <a:solidFill>
              <a:srgbClr val="0A899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H. Zhang and M. Sugiyama, “Task Selection for Bandit-Based Task Assignment in Heterogeneous Crowdsourcing,” IEICE Technical Report, vol. 115, no. 323, pp. 91–98, Nov. 20</a:t>
            </a:r>
            <a:r>
              <a:rPr lang="en-US" sz="1050">
                <a:solidFill>
                  <a:schemeClr val="dk1"/>
                </a:solidFill>
                <a:latin typeface="Times New Roman"/>
                <a:ea typeface="Times New Roman"/>
                <a:cs typeface="Times New Roman"/>
                <a:sym typeface="Times New Roman"/>
              </a:rPr>
              <a:t>25</a:t>
            </a:r>
            <a:r>
              <a:rPr b="0" i="0" lang="en-US" sz="1050" u="none" cap="none" strike="noStrike">
                <a:solidFill>
                  <a:schemeClr val="dk1"/>
                </a:solidFill>
                <a:latin typeface="Times New Roman"/>
                <a:ea typeface="Times New Roman"/>
                <a:cs typeface="Times New Roman"/>
                <a:sym typeface="Times New Roman"/>
              </a:rPr>
              <a:t>.</a:t>
            </a:r>
            <a:endParaRPr/>
          </a:p>
        </p:txBody>
      </p:sp>
      <p:sp>
        <p:nvSpPr>
          <p:cNvPr id="748" name="Google Shape;748;p35"/>
          <p:cNvSpPr/>
          <p:nvPr/>
        </p:nvSpPr>
        <p:spPr>
          <a:xfrm>
            <a:off x="457200" y="2505456"/>
            <a:ext cx="457200" cy="457200"/>
          </a:xfrm>
          <a:prstGeom prst="ellipse">
            <a:avLst/>
          </a:prstGeom>
          <a:gradFill rotWithShape="1">
            <a:gsLst>
              <a:gs pos="0">
                <a:srgbClr val="00646F"/>
              </a:gs>
              <a:gs pos="100000">
                <a:srgbClr val="008FAD"/>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2</a:t>
            </a:r>
            <a:endParaRPr/>
          </a:p>
        </p:txBody>
      </p:sp>
      <p:sp>
        <p:nvSpPr>
          <p:cNvPr id="749" name="Google Shape;749;p35"/>
          <p:cNvSpPr/>
          <p:nvPr/>
        </p:nvSpPr>
        <p:spPr>
          <a:xfrm>
            <a:off x="777240" y="3282696"/>
            <a:ext cx="3703320" cy="950976"/>
          </a:xfrm>
          <a:prstGeom prst="roundRect">
            <a:avLst>
              <a:gd fmla="val 9000" name="adj"/>
            </a:avLst>
          </a:prstGeom>
          <a:gradFill rotWithShape="1">
            <a:gsLst>
              <a:gs pos="0">
                <a:srgbClr val="FFFFFF"/>
              </a:gs>
              <a:gs pos="100000">
                <a:srgbClr val="E4F3FC"/>
              </a:gs>
            </a:gsLst>
            <a:lin ang="5400000" scaled="0"/>
          </a:gradFill>
          <a:ln cap="flat" cmpd="sng" w="15875">
            <a:solidFill>
              <a:srgbClr val="0884BA"/>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U. ul Hassan and E. Curry, “Efficient Task Assignment for Spatial Crowdsourcing: A Combinatorial Fractional Optimization Approach with Semi-Bandit Learning,” Expert Systems with Applications, vol. 58, pp. 36–56, 20</a:t>
            </a:r>
            <a:r>
              <a:rPr lang="en-US" sz="1050">
                <a:solidFill>
                  <a:schemeClr val="dk1"/>
                </a:solidFill>
                <a:latin typeface="Times New Roman"/>
                <a:ea typeface="Times New Roman"/>
                <a:cs typeface="Times New Roman"/>
                <a:sym typeface="Times New Roman"/>
              </a:rPr>
              <a:t>2</a:t>
            </a:r>
            <a:r>
              <a:rPr b="0" i="0" lang="en-US" sz="1050" u="none" cap="none" strike="noStrike">
                <a:solidFill>
                  <a:schemeClr val="dk1"/>
                </a:solidFill>
                <a:latin typeface="Times New Roman"/>
                <a:ea typeface="Times New Roman"/>
                <a:cs typeface="Times New Roman"/>
                <a:sym typeface="Times New Roman"/>
              </a:rPr>
              <a:t>6.</a:t>
            </a:r>
            <a:endParaRPr/>
          </a:p>
        </p:txBody>
      </p:sp>
      <p:sp>
        <p:nvSpPr>
          <p:cNvPr id="750" name="Google Shape;750;p35"/>
          <p:cNvSpPr/>
          <p:nvPr/>
        </p:nvSpPr>
        <p:spPr>
          <a:xfrm>
            <a:off x="457200" y="3529584"/>
            <a:ext cx="457200" cy="457200"/>
          </a:xfrm>
          <a:prstGeom prst="ellipse">
            <a:avLst/>
          </a:prstGeom>
          <a:gradFill rotWithShape="1">
            <a:gsLst>
              <a:gs pos="0">
                <a:srgbClr val="076081"/>
              </a:gs>
              <a:gs pos="100000">
                <a:srgbClr val="0987CF"/>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3</a:t>
            </a:r>
            <a:endParaRPr/>
          </a:p>
        </p:txBody>
      </p:sp>
      <p:sp>
        <p:nvSpPr>
          <p:cNvPr id="751" name="Google Shape;751;p35"/>
          <p:cNvSpPr/>
          <p:nvPr/>
        </p:nvSpPr>
        <p:spPr>
          <a:xfrm>
            <a:off x="777240" y="4306824"/>
            <a:ext cx="3703320" cy="950976"/>
          </a:xfrm>
          <a:prstGeom prst="roundRect">
            <a:avLst>
              <a:gd fmla="val 9000" name="adj"/>
            </a:avLst>
          </a:prstGeom>
          <a:gradFill rotWithShape="1">
            <a:gsLst>
              <a:gs pos="0">
                <a:srgbClr val="FFFFFF"/>
              </a:gs>
              <a:gs pos="100000">
                <a:srgbClr val="E9F1FE"/>
              </a:gs>
            </a:gsLst>
            <a:lin ang="5400000" scaled="0"/>
          </a:gradFill>
          <a:ln cap="flat" cmpd="sng" w="15875">
            <a:solidFill>
              <a:srgbClr val="4878CC"/>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P. Cheng, X. Jian and L. Chen, “Task Assignment on Spatial Crowdsourcing [Experiments and Analyses] (Technical Report),” arXiv:1605.09675, 20</a:t>
            </a:r>
            <a:r>
              <a:rPr lang="en-US" sz="1050">
                <a:solidFill>
                  <a:schemeClr val="dk1"/>
                </a:solidFill>
                <a:latin typeface="Times New Roman"/>
                <a:ea typeface="Times New Roman"/>
                <a:cs typeface="Times New Roman"/>
                <a:sym typeface="Times New Roman"/>
              </a:rPr>
              <a:t>2</a:t>
            </a:r>
            <a:r>
              <a:rPr b="0" i="0" lang="en-US" sz="1050" u="none" cap="none" strike="noStrike">
                <a:solidFill>
                  <a:schemeClr val="dk1"/>
                </a:solidFill>
                <a:latin typeface="Times New Roman"/>
                <a:ea typeface="Times New Roman"/>
                <a:cs typeface="Times New Roman"/>
                <a:sym typeface="Times New Roman"/>
              </a:rPr>
              <a:t>6.</a:t>
            </a:r>
            <a:endParaRPr/>
          </a:p>
        </p:txBody>
      </p:sp>
      <p:sp>
        <p:nvSpPr>
          <p:cNvPr id="752" name="Google Shape;752;p35"/>
          <p:cNvSpPr/>
          <p:nvPr/>
        </p:nvSpPr>
        <p:spPr>
          <a:xfrm>
            <a:off x="457200" y="4553712"/>
            <a:ext cx="457200" cy="457200"/>
          </a:xfrm>
          <a:prstGeom prst="ellipse">
            <a:avLst/>
          </a:prstGeom>
          <a:gradFill rotWithShape="1">
            <a:gsLst>
              <a:gs pos="0">
                <a:srgbClr val="0057A8"/>
              </a:gs>
              <a:gs pos="100000">
                <a:srgbClr val="587AD9"/>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4</a:t>
            </a:r>
            <a:endParaRPr/>
          </a:p>
        </p:txBody>
      </p:sp>
      <p:sp>
        <p:nvSpPr>
          <p:cNvPr id="753" name="Google Shape;753;p35"/>
          <p:cNvSpPr/>
          <p:nvPr/>
        </p:nvSpPr>
        <p:spPr>
          <a:xfrm>
            <a:off x="4983480" y="1234440"/>
            <a:ext cx="3703320" cy="950976"/>
          </a:xfrm>
          <a:prstGeom prst="roundRect">
            <a:avLst>
              <a:gd fmla="val 9000" name="adj"/>
            </a:avLst>
          </a:prstGeom>
          <a:gradFill rotWithShape="1">
            <a:gsLst>
              <a:gs pos="0">
                <a:srgbClr val="FFFFFF"/>
              </a:gs>
              <a:gs pos="100000">
                <a:srgbClr val="EEEFFE"/>
              </a:gs>
            </a:gsLst>
            <a:lin ang="5400000" scaled="0"/>
          </a:gradFill>
          <a:ln cap="flat" cmpd="sng" w="15875">
            <a:solidFill>
              <a:srgbClr val="726CC9"/>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K. Goel, S. Rajpal and Mausam, “Octopus: A Framework for Cost-Quality-Time Optimization in Crowdsourcing,” in Proc. AAAI HCOMP, vol. 5, no. 1, pp. 31–40, 20</a:t>
            </a:r>
            <a:r>
              <a:rPr lang="en-US" sz="1050">
                <a:solidFill>
                  <a:schemeClr val="dk1"/>
                </a:solidFill>
                <a:latin typeface="Times New Roman"/>
                <a:ea typeface="Times New Roman"/>
                <a:cs typeface="Times New Roman"/>
                <a:sym typeface="Times New Roman"/>
              </a:rPr>
              <a:t>26</a:t>
            </a:r>
            <a:r>
              <a:rPr b="0" i="0" lang="en-US" sz="1050" u="none" cap="none" strike="noStrike">
                <a:solidFill>
                  <a:schemeClr val="dk1"/>
                </a:solidFill>
                <a:latin typeface="Times New Roman"/>
                <a:ea typeface="Times New Roman"/>
                <a:cs typeface="Times New Roman"/>
                <a:sym typeface="Times New Roman"/>
              </a:rPr>
              <a:t>.</a:t>
            </a:r>
            <a:endParaRPr/>
          </a:p>
        </p:txBody>
      </p:sp>
      <p:sp>
        <p:nvSpPr>
          <p:cNvPr id="754" name="Google Shape;754;p35"/>
          <p:cNvSpPr/>
          <p:nvPr/>
        </p:nvSpPr>
        <p:spPr>
          <a:xfrm>
            <a:off x="4663440" y="1481328"/>
            <a:ext cx="457200" cy="457200"/>
          </a:xfrm>
          <a:prstGeom prst="ellipse">
            <a:avLst/>
          </a:prstGeom>
          <a:gradFill rotWithShape="1">
            <a:gsLst>
              <a:gs pos="0">
                <a:srgbClr val="474AA9"/>
              </a:gs>
              <a:gs pos="100000">
                <a:srgbClr val="826DD2"/>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5</a:t>
            </a:r>
            <a:endParaRPr/>
          </a:p>
        </p:txBody>
      </p:sp>
      <p:sp>
        <p:nvSpPr>
          <p:cNvPr id="755" name="Google Shape;755;p35"/>
          <p:cNvSpPr/>
          <p:nvPr/>
        </p:nvSpPr>
        <p:spPr>
          <a:xfrm>
            <a:off x="4983480" y="2258568"/>
            <a:ext cx="3703320" cy="950976"/>
          </a:xfrm>
          <a:prstGeom prst="roundRect">
            <a:avLst>
              <a:gd fmla="val 9000" name="adj"/>
            </a:avLst>
          </a:prstGeom>
          <a:gradFill rotWithShape="1">
            <a:gsLst>
              <a:gs pos="0">
                <a:srgbClr val="F6F1FD"/>
              </a:gs>
              <a:gs pos="100000">
                <a:srgbClr val="ECDBFD"/>
              </a:gs>
            </a:gsLst>
            <a:lin ang="2700000" scaled="0"/>
          </a:gradFill>
          <a:ln cap="flat" cmpd="sng" w="15875">
            <a:solidFill>
              <a:srgbClr val="9161B9"/>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P. Auer, N. Cesa-Bianchi and P. Fischer, “Finite-time Analysis of the Multiarmed Bandit Problem,” Machine Learning, vol. 47, no. 2–3, pp. 235–256, 2025.</a:t>
            </a:r>
            <a:endParaRPr/>
          </a:p>
        </p:txBody>
      </p:sp>
      <p:sp>
        <p:nvSpPr>
          <p:cNvPr id="756" name="Google Shape;756;p35"/>
          <p:cNvSpPr/>
          <p:nvPr/>
        </p:nvSpPr>
        <p:spPr>
          <a:xfrm>
            <a:off x="4663440" y="2505456"/>
            <a:ext cx="457200" cy="457200"/>
          </a:xfrm>
          <a:prstGeom prst="ellipse">
            <a:avLst/>
          </a:prstGeom>
          <a:gradFill rotWithShape="1">
            <a:gsLst>
              <a:gs pos="0">
                <a:srgbClr val="683D9D"/>
              </a:gs>
              <a:gs pos="100000">
                <a:srgbClr val="A161BD"/>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6</a:t>
            </a:r>
            <a:endParaRPr/>
          </a:p>
        </p:txBody>
      </p:sp>
      <p:sp>
        <p:nvSpPr>
          <p:cNvPr id="757" name="Google Shape;757;p35"/>
          <p:cNvSpPr/>
          <p:nvPr/>
        </p:nvSpPr>
        <p:spPr>
          <a:xfrm>
            <a:off x="4983480" y="3282696"/>
            <a:ext cx="3703320" cy="950976"/>
          </a:xfrm>
          <a:prstGeom prst="roundRect">
            <a:avLst>
              <a:gd fmla="val 9000" name="adj"/>
            </a:avLst>
          </a:prstGeom>
          <a:gradFill rotWithShape="1">
            <a:gsLst>
              <a:gs pos="0">
                <a:srgbClr val="FFEDFC"/>
              </a:gs>
              <a:gs pos="100000">
                <a:srgbClr val="FCD5F5"/>
              </a:gs>
            </a:gsLst>
            <a:lin ang="2700000" scaled="0"/>
          </a:gradFill>
          <a:ln cap="flat" cmpd="sng" w="15875">
            <a:solidFill>
              <a:srgbClr val="A8589F"/>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R. W. Sinnott, “Virtues of the Haversine,” Sky and Telescope, vol. 68, no. 2, p. 159, </a:t>
            </a:r>
            <a:r>
              <a:rPr lang="en-US" sz="1050">
                <a:solidFill>
                  <a:schemeClr val="dk1"/>
                </a:solidFill>
                <a:latin typeface="Times New Roman"/>
                <a:ea typeface="Times New Roman"/>
                <a:cs typeface="Times New Roman"/>
                <a:sym typeface="Times New Roman"/>
              </a:rPr>
              <a:t>202</a:t>
            </a:r>
            <a:r>
              <a:rPr b="0" i="0" lang="en-US" sz="1050" u="none" cap="none" strike="noStrike">
                <a:solidFill>
                  <a:schemeClr val="dk1"/>
                </a:solidFill>
                <a:latin typeface="Times New Roman"/>
                <a:ea typeface="Times New Roman"/>
                <a:cs typeface="Times New Roman"/>
                <a:sym typeface="Times New Roman"/>
              </a:rPr>
              <a:t>4.</a:t>
            </a:r>
            <a:endParaRPr/>
          </a:p>
        </p:txBody>
      </p:sp>
      <p:sp>
        <p:nvSpPr>
          <p:cNvPr id="758" name="Google Shape;758;p35"/>
          <p:cNvSpPr/>
          <p:nvPr/>
        </p:nvSpPr>
        <p:spPr>
          <a:xfrm>
            <a:off x="4663440" y="3529584"/>
            <a:ext cx="457200" cy="457200"/>
          </a:xfrm>
          <a:prstGeom prst="ellipse">
            <a:avLst/>
          </a:prstGeom>
          <a:gradFill rotWithShape="1">
            <a:gsLst>
              <a:gs pos="0">
                <a:srgbClr val="7F3385"/>
              </a:gs>
              <a:gs pos="100000">
                <a:srgbClr val="B7589F"/>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7</a:t>
            </a:r>
            <a:endParaRPr/>
          </a:p>
        </p:txBody>
      </p:sp>
      <p:sp>
        <p:nvSpPr>
          <p:cNvPr id="759" name="Google Shape;759;p35"/>
          <p:cNvSpPr/>
          <p:nvPr/>
        </p:nvSpPr>
        <p:spPr>
          <a:xfrm>
            <a:off x="4983480" y="4306824"/>
            <a:ext cx="3703320" cy="950976"/>
          </a:xfrm>
          <a:prstGeom prst="roundRect">
            <a:avLst>
              <a:gd fmla="val 9000" name="adj"/>
            </a:avLst>
          </a:prstGeom>
          <a:gradFill rotWithShape="1">
            <a:gsLst>
              <a:gs pos="0">
                <a:srgbClr val="FEEFF4"/>
              </a:gs>
              <a:gs pos="100000">
                <a:srgbClr val="FDD7E4"/>
              </a:gs>
            </a:gsLst>
            <a:lin ang="2700000" scaled="0"/>
          </a:gradFill>
          <a:ln cap="flat" cmpd="sng" w="15875">
            <a:solidFill>
              <a:srgbClr val="B8527E"/>
            </a:solidFill>
            <a:prstDash val="solid"/>
            <a:round/>
            <a:headEnd len="sm" w="sm" type="none"/>
            <a:tailEnd len="sm" w="sm" type="none"/>
          </a:ln>
          <a:effectLst>
            <a:outerShdw blurRad="63500" rotWithShape="0" algn="t" dir="5400000" dist="31750">
              <a:srgbClr val="000000">
                <a:alpha val="21961"/>
              </a:srgbClr>
            </a:outerShdw>
          </a:effectLst>
        </p:spPr>
        <p:txBody>
          <a:bodyPr anchorCtr="0" anchor="ctr" bIns="45700" lIns="274300" spcFirstLastPara="1" rIns="73150" wrap="square" tIns="45700">
            <a:noAutofit/>
          </a:bodyPr>
          <a:lstStyle/>
          <a:p>
            <a:pPr indent="0" lvl="0" marL="0" marR="0" rtl="0" algn="l">
              <a:lnSpc>
                <a:spcPct val="100000"/>
              </a:lnSpc>
              <a:spcBef>
                <a:spcPts val="0"/>
              </a:spcBef>
              <a:spcAft>
                <a:spcPts val="0"/>
              </a:spcAft>
              <a:buClr>
                <a:srgbClr val="000000"/>
              </a:buClr>
              <a:buSzPts val="1050"/>
              <a:buFont typeface="Arial"/>
              <a:buNone/>
            </a:pPr>
            <a:r>
              <a:rPr b="0" i="0" lang="en-US" sz="1050" u="none" cap="none" strike="noStrike">
                <a:solidFill>
                  <a:schemeClr val="dk1"/>
                </a:solidFill>
                <a:latin typeface="Times New Roman"/>
                <a:ea typeface="Times New Roman"/>
                <a:cs typeface="Times New Roman"/>
                <a:sym typeface="Times New Roman"/>
              </a:rPr>
              <a:t>F. Ricci, L. Rokach and B. Shapira (Eds.), Recommender Systems Handbook, 2nd ed. New York, NY, USA: Springer, 20</a:t>
            </a:r>
            <a:r>
              <a:rPr lang="en-US" sz="1050">
                <a:solidFill>
                  <a:schemeClr val="dk1"/>
                </a:solidFill>
                <a:latin typeface="Times New Roman"/>
                <a:ea typeface="Times New Roman"/>
                <a:cs typeface="Times New Roman"/>
                <a:sym typeface="Times New Roman"/>
              </a:rPr>
              <a:t>2</a:t>
            </a:r>
            <a:r>
              <a:rPr b="0" i="0" lang="en-US" sz="1050" u="none" cap="none" strike="noStrike">
                <a:solidFill>
                  <a:schemeClr val="dk1"/>
                </a:solidFill>
                <a:latin typeface="Times New Roman"/>
                <a:ea typeface="Times New Roman"/>
                <a:cs typeface="Times New Roman"/>
                <a:sym typeface="Times New Roman"/>
              </a:rPr>
              <a:t>5.</a:t>
            </a:r>
            <a:endParaRPr/>
          </a:p>
        </p:txBody>
      </p:sp>
      <p:sp>
        <p:nvSpPr>
          <p:cNvPr id="760" name="Google Shape;760;p35"/>
          <p:cNvSpPr/>
          <p:nvPr/>
        </p:nvSpPr>
        <p:spPr>
          <a:xfrm>
            <a:off x="4663440" y="4553712"/>
            <a:ext cx="457200" cy="457200"/>
          </a:xfrm>
          <a:prstGeom prst="ellipse">
            <a:avLst/>
          </a:prstGeom>
          <a:gradFill rotWithShape="1">
            <a:gsLst>
              <a:gs pos="0">
                <a:srgbClr val="902A66"/>
              </a:gs>
              <a:gs pos="100000">
                <a:srgbClr val="C25485"/>
              </a:gs>
            </a:gsLst>
            <a:lin ang="2700000" scaled="0"/>
          </a:gra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lt1"/>
                </a:solidFill>
                <a:latin typeface="Times New Roman"/>
                <a:ea typeface="Times New Roman"/>
                <a:cs typeface="Times New Roman"/>
                <a:sym typeface="Times New Roman"/>
              </a:rPr>
              <a:t>8</a:t>
            </a:r>
            <a:endParaRPr/>
          </a:p>
        </p:txBody>
      </p:sp>
      <p:sp>
        <p:nvSpPr>
          <p:cNvPr id="761" name="Google Shape;761;p35"/>
          <p:cNvSpPr/>
          <p:nvPr/>
        </p:nvSpPr>
        <p:spPr>
          <a:xfrm>
            <a:off x="457200" y="5440680"/>
            <a:ext cx="8229600" cy="457200"/>
          </a:xfrm>
          <a:prstGeom prst="roundRect">
            <a:avLst>
              <a:gd fmla="val 40000" name="adj"/>
            </a:avLst>
          </a:prstGeom>
          <a:gradFill rotWithShape="1">
            <a:gsLst>
              <a:gs pos="0">
                <a:srgbClr val="006662"/>
              </a:gs>
              <a:gs pos="25000">
                <a:srgbClr val="006083"/>
              </a:gs>
              <a:gs pos="50000">
                <a:srgbClr val="3E4CAA"/>
              </a:gs>
              <a:gs pos="75000">
                <a:srgbClr val="753791"/>
              </a:gs>
              <a:gs pos="100000">
                <a:srgbClr val="93285C"/>
              </a:gs>
            </a:gsLst>
            <a:lin ang="0" scaled="0"/>
          </a:gradFill>
          <a:ln>
            <a:noFill/>
          </a:ln>
          <a:effectLst>
            <a:outerShdw blurRad="63500" rotWithShape="0" algn="t" dir="5400000" dist="31750">
              <a:srgbClr val="000000">
                <a:alpha val="21961"/>
              </a:srgbClr>
            </a:outerShdw>
          </a:effectLst>
        </p:spPr>
        <p:txBody>
          <a:bodyPr anchorCtr="0" anchor="ctr" bIns="45700" lIns="45700" spcFirstLastPara="1" rIns="45700"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lang="en-US" sz="1800">
                <a:solidFill>
                  <a:schemeClr val="lt1"/>
                </a:solidFill>
                <a:latin typeface="Times New Roman"/>
                <a:ea typeface="Times New Roman"/>
                <a:cs typeface="Times New Roman"/>
                <a:sym typeface="Times New Roman"/>
              </a:rPr>
              <a:t> | </a:t>
            </a:r>
            <a:r>
              <a:rPr b="1" i="0" lang="en-US" sz="1800" u="none" cap="none" strike="noStrike">
                <a:solidFill>
                  <a:schemeClr val="lt1"/>
                </a:solidFill>
                <a:latin typeface="Times New Roman"/>
                <a:ea typeface="Times New Roman"/>
                <a:cs typeface="Times New Roman"/>
                <a:sym typeface="Times New Roman"/>
              </a:rPr>
              <a:t>Thank You  | </a:t>
            </a:r>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46"/>
                                        </p:tgtEl>
                                        <p:attrNameLst>
                                          <p:attrName>style.visibility</p:attrName>
                                        </p:attrNameLst>
                                      </p:cBhvr>
                                      <p:to>
                                        <p:strVal val="visible"/>
                                      </p:to>
                                    </p:set>
                                    <p:anim calcmode="lin" valueType="num">
                                      <p:cBhvr additive="base">
                                        <p:cTn dur="300"/>
                                        <p:tgtEl>
                                          <p:spTgt spid="746"/>
                                        </p:tgtEl>
                                        <p:attrNameLst>
                                          <p:attrName>ppt_w</p:attrName>
                                        </p:attrNameLst>
                                      </p:cBhvr>
                                      <p:tavLst>
                                        <p:tav fmla="" tm="0">
                                          <p:val>
                                            <p:strVal val="0"/>
                                          </p:val>
                                        </p:tav>
                                        <p:tav fmla="" tm="100000">
                                          <p:val>
                                            <p:strVal val="#ppt_w"/>
                                          </p:val>
                                        </p:tav>
                                      </p:tavLst>
                                    </p:anim>
                                    <p:anim calcmode="lin" valueType="num">
                                      <p:cBhvr additive="base">
                                        <p:cTn dur="300"/>
                                        <p:tgtEl>
                                          <p:spTgt spid="74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80"/>
                                  </p:stCondLst>
                                  <p:childTnLst>
                                    <p:set>
                                      <p:cBhvr>
                                        <p:cTn dur="1" fill="hold">
                                          <p:stCondLst>
                                            <p:cond delay="0"/>
                                          </p:stCondLst>
                                        </p:cTn>
                                        <p:tgtEl>
                                          <p:spTgt spid="745"/>
                                        </p:tgtEl>
                                        <p:attrNameLst>
                                          <p:attrName>style.visibility</p:attrName>
                                        </p:attrNameLst>
                                      </p:cBhvr>
                                      <p:to>
                                        <p:strVal val="visible"/>
                                      </p:to>
                                    </p:set>
                                    <p:animEffect filter="fade" transition="in">
                                      <p:cBhvr>
                                        <p:cTn dur="420"/>
                                        <p:tgtEl>
                                          <p:spTgt spid="745"/>
                                        </p:tgtEl>
                                      </p:cBhvr>
                                    </p:animEffect>
                                  </p:childTnLst>
                                </p:cTn>
                              </p:par>
                              <p:par>
                                <p:cTn fill="hold" nodeType="withEffect" presetClass="entr" presetID="23" presetSubtype="16">
                                  <p:stCondLst>
                                    <p:cond delay="240"/>
                                  </p:stCondLst>
                                  <p:childTnLst>
                                    <p:set>
                                      <p:cBhvr>
                                        <p:cTn dur="1" fill="hold">
                                          <p:stCondLst>
                                            <p:cond delay="0"/>
                                          </p:stCondLst>
                                        </p:cTn>
                                        <p:tgtEl>
                                          <p:spTgt spid="748"/>
                                        </p:tgtEl>
                                        <p:attrNameLst>
                                          <p:attrName>style.visibility</p:attrName>
                                        </p:attrNameLst>
                                      </p:cBhvr>
                                      <p:to>
                                        <p:strVal val="visible"/>
                                      </p:to>
                                    </p:set>
                                    <p:anim calcmode="lin" valueType="num">
                                      <p:cBhvr additive="base">
                                        <p:cTn dur="300"/>
                                        <p:tgtEl>
                                          <p:spTgt spid="748"/>
                                        </p:tgtEl>
                                        <p:attrNameLst>
                                          <p:attrName>ppt_w</p:attrName>
                                        </p:attrNameLst>
                                      </p:cBhvr>
                                      <p:tavLst>
                                        <p:tav fmla="" tm="0">
                                          <p:val>
                                            <p:strVal val="0"/>
                                          </p:val>
                                        </p:tav>
                                        <p:tav fmla="" tm="100000">
                                          <p:val>
                                            <p:strVal val="#ppt_w"/>
                                          </p:val>
                                        </p:tav>
                                      </p:tavLst>
                                    </p:anim>
                                    <p:anim calcmode="lin" valueType="num">
                                      <p:cBhvr additive="base">
                                        <p:cTn dur="300"/>
                                        <p:tgtEl>
                                          <p:spTgt spid="74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320"/>
                                  </p:stCondLst>
                                  <p:childTnLst>
                                    <p:set>
                                      <p:cBhvr>
                                        <p:cTn dur="1" fill="hold">
                                          <p:stCondLst>
                                            <p:cond delay="0"/>
                                          </p:stCondLst>
                                        </p:cTn>
                                        <p:tgtEl>
                                          <p:spTgt spid="747"/>
                                        </p:tgtEl>
                                        <p:attrNameLst>
                                          <p:attrName>style.visibility</p:attrName>
                                        </p:attrNameLst>
                                      </p:cBhvr>
                                      <p:to>
                                        <p:strVal val="visible"/>
                                      </p:to>
                                    </p:set>
                                    <p:animEffect filter="fade" transition="in">
                                      <p:cBhvr>
                                        <p:cTn dur="420"/>
                                        <p:tgtEl>
                                          <p:spTgt spid="747"/>
                                        </p:tgtEl>
                                      </p:cBhvr>
                                    </p:animEffect>
                                  </p:childTnLst>
                                </p:cTn>
                              </p:par>
                              <p:par>
                                <p:cTn fill="hold" nodeType="withEffect" presetClass="entr" presetID="23" presetSubtype="16">
                                  <p:stCondLst>
                                    <p:cond delay="480"/>
                                  </p:stCondLst>
                                  <p:childTnLst>
                                    <p:set>
                                      <p:cBhvr>
                                        <p:cTn dur="1" fill="hold">
                                          <p:stCondLst>
                                            <p:cond delay="0"/>
                                          </p:stCondLst>
                                        </p:cTn>
                                        <p:tgtEl>
                                          <p:spTgt spid="750"/>
                                        </p:tgtEl>
                                        <p:attrNameLst>
                                          <p:attrName>style.visibility</p:attrName>
                                        </p:attrNameLst>
                                      </p:cBhvr>
                                      <p:to>
                                        <p:strVal val="visible"/>
                                      </p:to>
                                    </p:set>
                                    <p:anim calcmode="lin" valueType="num">
                                      <p:cBhvr additive="base">
                                        <p:cTn dur="300"/>
                                        <p:tgtEl>
                                          <p:spTgt spid="750"/>
                                        </p:tgtEl>
                                        <p:attrNameLst>
                                          <p:attrName>ppt_w</p:attrName>
                                        </p:attrNameLst>
                                      </p:cBhvr>
                                      <p:tavLst>
                                        <p:tav fmla="" tm="0">
                                          <p:val>
                                            <p:strVal val="0"/>
                                          </p:val>
                                        </p:tav>
                                        <p:tav fmla="" tm="100000">
                                          <p:val>
                                            <p:strVal val="#ppt_w"/>
                                          </p:val>
                                        </p:tav>
                                      </p:tavLst>
                                    </p:anim>
                                    <p:anim calcmode="lin" valueType="num">
                                      <p:cBhvr additive="base">
                                        <p:cTn dur="300"/>
                                        <p:tgtEl>
                                          <p:spTgt spid="75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60"/>
                                  </p:stCondLst>
                                  <p:childTnLst>
                                    <p:set>
                                      <p:cBhvr>
                                        <p:cTn dur="1" fill="hold">
                                          <p:stCondLst>
                                            <p:cond delay="0"/>
                                          </p:stCondLst>
                                        </p:cTn>
                                        <p:tgtEl>
                                          <p:spTgt spid="749"/>
                                        </p:tgtEl>
                                        <p:attrNameLst>
                                          <p:attrName>style.visibility</p:attrName>
                                        </p:attrNameLst>
                                      </p:cBhvr>
                                      <p:to>
                                        <p:strVal val="visible"/>
                                      </p:to>
                                    </p:set>
                                    <p:animEffect filter="fade" transition="in">
                                      <p:cBhvr>
                                        <p:cTn dur="420"/>
                                        <p:tgtEl>
                                          <p:spTgt spid="749"/>
                                        </p:tgtEl>
                                      </p:cBhvr>
                                    </p:animEffect>
                                  </p:childTnLst>
                                </p:cTn>
                              </p:par>
                              <p:par>
                                <p:cTn fill="hold" nodeType="withEffect" presetClass="entr" presetID="23" presetSubtype="16">
                                  <p:stCondLst>
                                    <p:cond delay="720"/>
                                  </p:stCondLst>
                                  <p:childTnLst>
                                    <p:set>
                                      <p:cBhvr>
                                        <p:cTn dur="1" fill="hold">
                                          <p:stCondLst>
                                            <p:cond delay="0"/>
                                          </p:stCondLst>
                                        </p:cTn>
                                        <p:tgtEl>
                                          <p:spTgt spid="752"/>
                                        </p:tgtEl>
                                        <p:attrNameLst>
                                          <p:attrName>style.visibility</p:attrName>
                                        </p:attrNameLst>
                                      </p:cBhvr>
                                      <p:to>
                                        <p:strVal val="visible"/>
                                      </p:to>
                                    </p:set>
                                    <p:anim calcmode="lin" valueType="num">
                                      <p:cBhvr additive="base">
                                        <p:cTn dur="300"/>
                                        <p:tgtEl>
                                          <p:spTgt spid="752"/>
                                        </p:tgtEl>
                                        <p:attrNameLst>
                                          <p:attrName>ppt_w</p:attrName>
                                        </p:attrNameLst>
                                      </p:cBhvr>
                                      <p:tavLst>
                                        <p:tav fmla="" tm="0">
                                          <p:val>
                                            <p:strVal val="0"/>
                                          </p:val>
                                        </p:tav>
                                        <p:tav fmla="" tm="100000">
                                          <p:val>
                                            <p:strVal val="#ppt_w"/>
                                          </p:val>
                                        </p:tav>
                                      </p:tavLst>
                                    </p:anim>
                                    <p:anim calcmode="lin" valueType="num">
                                      <p:cBhvr additive="base">
                                        <p:cTn dur="300"/>
                                        <p:tgtEl>
                                          <p:spTgt spid="752"/>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800"/>
                                  </p:stCondLst>
                                  <p:childTnLst>
                                    <p:set>
                                      <p:cBhvr>
                                        <p:cTn dur="1" fill="hold">
                                          <p:stCondLst>
                                            <p:cond delay="0"/>
                                          </p:stCondLst>
                                        </p:cTn>
                                        <p:tgtEl>
                                          <p:spTgt spid="751"/>
                                        </p:tgtEl>
                                        <p:attrNameLst>
                                          <p:attrName>style.visibility</p:attrName>
                                        </p:attrNameLst>
                                      </p:cBhvr>
                                      <p:to>
                                        <p:strVal val="visible"/>
                                      </p:to>
                                    </p:set>
                                    <p:animEffect filter="fade" transition="in">
                                      <p:cBhvr>
                                        <p:cTn dur="420"/>
                                        <p:tgtEl>
                                          <p:spTgt spid="751"/>
                                        </p:tgtEl>
                                      </p:cBhvr>
                                    </p:animEffect>
                                  </p:childTnLst>
                                </p:cTn>
                              </p:par>
                              <p:par>
                                <p:cTn fill="hold" nodeType="withEffect" presetClass="entr" presetID="23" presetSubtype="16">
                                  <p:stCondLst>
                                    <p:cond delay="960"/>
                                  </p:stCondLst>
                                  <p:childTnLst>
                                    <p:set>
                                      <p:cBhvr>
                                        <p:cTn dur="1" fill="hold">
                                          <p:stCondLst>
                                            <p:cond delay="0"/>
                                          </p:stCondLst>
                                        </p:cTn>
                                        <p:tgtEl>
                                          <p:spTgt spid="754"/>
                                        </p:tgtEl>
                                        <p:attrNameLst>
                                          <p:attrName>style.visibility</p:attrName>
                                        </p:attrNameLst>
                                      </p:cBhvr>
                                      <p:to>
                                        <p:strVal val="visible"/>
                                      </p:to>
                                    </p:set>
                                    <p:anim calcmode="lin" valueType="num">
                                      <p:cBhvr additive="base">
                                        <p:cTn dur="300"/>
                                        <p:tgtEl>
                                          <p:spTgt spid="754"/>
                                        </p:tgtEl>
                                        <p:attrNameLst>
                                          <p:attrName>ppt_w</p:attrName>
                                        </p:attrNameLst>
                                      </p:cBhvr>
                                      <p:tavLst>
                                        <p:tav fmla="" tm="0">
                                          <p:val>
                                            <p:strVal val="0"/>
                                          </p:val>
                                        </p:tav>
                                        <p:tav fmla="" tm="100000">
                                          <p:val>
                                            <p:strVal val="#ppt_w"/>
                                          </p:val>
                                        </p:tav>
                                      </p:tavLst>
                                    </p:anim>
                                    <p:anim calcmode="lin" valueType="num">
                                      <p:cBhvr additive="base">
                                        <p:cTn dur="300"/>
                                        <p:tgtEl>
                                          <p:spTgt spid="754"/>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040"/>
                                  </p:stCondLst>
                                  <p:childTnLst>
                                    <p:set>
                                      <p:cBhvr>
                                        <p:cTn dur="1" fill="hold">
                                          <p:stCondLst>
                                            <p:cond delay="0"/>
                                          </p:stCondLst>
                                        </p:cTn>
                                        <p:tgtEl>
                                          <p:spTgt spid="753"/>
                                        </p:tgtEl>
                                        <p:attrNameLst>
                                          <p:attrName>style.visibility</p:attrName>
                                        </p:attrNameLst>
                                      </p:cBhvr>
                                      <p:to>
                                        <p:strVal val="visible"/>
                                      </p:to>
                                    </p:set>
                                    <p:animEffect filter="fade" transition="in">
                                      <p:cBhvr>
                                        <p:cTn dur="420"/>
                                        <p:tgtEl>
                                          <p:spTgt spid="753"/>
                                        </p:tgtEl>
                                      </p:cBhvr>
                                    </p:animEffect>
                                  </p:childTnLst>
                                </p:cTn>
                              </p:par>
                              <p:par>
                                <p:cTn fill="hold" nodeType="withEffect" presetClass="entr" presetID="23" presetSubtype="16">
                                  <p:stCondLst>
                                    <p:cond delay="1200"/>
                                  </p:stCondLst>
                                  <p:childTnLst>
                                    <p:set>
                                      <p:cBhvr>
                                        <p:cTn dur="1" fill="hold">
                                          <p:stCondLst>
                                            <p:cond delay="0"/>
                                          </p:stCondLst>
                                        </p:cTn>
                                        <p:tgtEl>
                                          <p:spTgt spid="756"/>
                                        </p:tgtEl>
                                        <p:attrNameLst>
                                          <p:attrName>style.visibility</p:attrName>
                                        </p:attrNameLst>
                                      </p:cBhvr>
                                      <p:to>
                                        <p:strVal val="visible"/>
                                      </p:to>
                                    </p:set>
                                    <p:anim calcmode="lin" valueType="num">
                                      <p:cBhvr additive="base">
                                        <p:cTn dur="300"/>
                                        <p:tgtEl>
                                          <p:spTgt spid="756"/>
                                        </p:tgtEl>
                                        <p:attrNameLst>
                                          <p:attrName>ppt_w</p:attrName>
                                        </p:attrNameLst>
                                      </p:cBhvr>
                                      <p:tavLst>
                                        <p:tav fmla="" tm="0">
                                          <p:val>
                                            <p:strVal val="0"/>
                                          </p:val>
                                        </p:tav>
                                        <p:tav fmla="" tm="100000">
                                          <p:val>
                                            <p:strVal val="#ppt_w"/>
                                          </p:val>
                                        </p:tav>
                                      </p:tavLst>
                                    </p:anim>
                                    <p:anim calcmode="lin" valueType="num">
                                      <p:cBhvr additive="base">
                                        <p:cTn dur="300"/>
                                        <p:tgtEl>
                                          <p:spTgt spid="756"/>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280"/>
                                  </p:stCondLst>
                                  <p:childTnLst>
                                    <p:set>
                                      <p:cBhvr>
                                        <p:cTn dur="1" fill="hold">
                                          <p:stCondLst>
                                            <p:cond delay="0"/>
                                          </p:stCondLst>
                                        </p:cTn>
                                        <p:tgtEl>
                                          <p:spTgt spid="755"/>
                                        </p:tgtEl>
                                        <p:attrNameLst>
                                          <p:attrName>style.visibility</p:attrName>
                                        </p:attrNameLst>
                                      </p:cBhvr>
                                      <p:to>
                                        <p:strVal val="visible"/>
                                      </p:to>
                                    </p:set>
                                    <p:animEffect filter="fade" transition="in">
                                      <p:cBhvr>
                                        <p:cTn dur="420"/>
                                        <p:tgtEl>
                                          <p:spTgt spid="755"/>
                                        </p:tgtEl>
                                      </p:cBhvr>
                                    </p:animEffect>
                                  </p:childTnLst>
                                </p:cTn>
                              </p:par>
                              <p:par>
                                <p:cTn fill="hold" nodeType="withEffect" presetClass="entr" presetID="23" presetSubtype="16">
                                  <p:stCondLst>
                                    <p:cond delay="1440"/>
                                  </p:stCondLst>
                                  <p:childTnLst>
                                    <p:set>
                                      <p:cBhvr>
                                        <p:cTn dur="1" fill="hold">
                                          <p:stCondLst>
                                            <p:cond delay="0"/>
                                          </p:stCondLst>
                                        </p:cTn>
                                        <p:tgtEl>
                                          <p:spTgt spid="758"/>
                                        </p:tgtEl>
                                        <p:attrNameLst>
                                          <p:attrName>style.visibility</p:attrName>
                                        </p:attrNameLst>
                                      </p:cBhvr>
                                      <p:to>
                                        <p:strVal val="visible"/>
                                      </p:to>
                                    </p:set>
                                    <p:anim calcmode="lin" valueType="num">
                                      <p:cBhvr additive="base">
                                        <p:cTn dur="300"/>
                                        <p:tgtEl>
                                          <p:spTgt spid="758"/>
                                        </p:tgtEl>
                                        <p:attrNameLst>
                                          <p:attrName>ppt_w</p:attrName>
                                        </p:attrNameLst>
                                      </p:cBhvr>
                                      <p:tavLst>
                                        <p:tav fmla="" tm="0">
                                          <p:val>
                                            <p:strVal val="0"/>
                                          </p:val>
                                        </p:tav>
                                        <p:tav fmla="" tm="100000">
                                          <p:val>
                                            <p:strVal val="#ppt_w"/>
                                          </p:val>
                                        </p:tav>
                                      </p:tavLst>
                                    </p:anim>
                                    <p:anim calcmode="lin" valueType="num">
                                      <p:cBhvr additive="base">
                                        <p:cTn dur="300"/>
                                        <p:tgtEl>
                                          <p:spTgt spid="75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520"/>
                                  </p:stCondLst>
                                  <p:childTnLst>
                                    <p:set>
                                      <p:cBhvr>
                                        <p:cTn dur="1" fill="hold">
                                          <p:stCondLst>
                                            <p:cond delay="0"/>
                                          </p:stCondLst>
                                        </p:cTn>
                                        <p:tgtEl>
                                          <p:spTgt spid="757"/>
                                        </p:tgtEl>
                                        <p:attrNameLst>
                                          <p:attrName>style.visibility</p:attrName>
                                        </p:attrNameLst>
                                      </p:cBhvr>
                                      <p:to>
                                        <p:strVal val="visible"/>
                                      </p:to>
                                    </p:set>
                                    <p:animEffect filter="fade" transition="in">
                                      <p:cBhvr>
                                        <p:cTn dur="420"/>
                                        <p:tgtEl>
                                          <p:spTgt spid="757"/>
                                        </p:tgtEl>
                                      </p:cBhvr>
                                    </p:animEffect>
                                  </p:childTnLst>
                                </p:cTn>
                              </p:par>
                              <p:par>
                                <p:cTn fill="hold" nodeType="withEffect" presetClass="entr" presetID="23" presetSubtype="16">
                                  <p:stCondLst>
                                    <p:cond delay="1680"/>
                                  </p:stCondLst>
                                  <p:childTnLst>
                                    <p:set>
                                      <p:cBhvr>
                                        <p:cTn dur="1" fill="hold">
                                          <p:stCondLst>
                                            <p:cond delay="0"/>
                                          </p:stCondLst>
                                        </p:cTn>
                                        <p:tgtEl>
                                          <p:spTgt spid="760"/>
                                        </p:tgtEl>
                                        <p:attrNameLst>
                                          <p:attrName>style.visibility</p:attrName>
                                        </p:attrNameLst>
                                      </p:cBhvr>
                                      <p:to>
                                        <p:strVal val="visible"/>
                                      </p:to>
                                    </p:set>
                                    <p:anim calcmode="lin" valueType="num">
                                      <p:cBhvr additive="base">
                                        <p:cTn dur="300"/>
                                        <p:tgtEl>
                                          <p:spTgt spid="760"/>
                                        </p:tgtEl>
                                        <p:attrNameLst>
                                          <p:attrName>ppt_w</p:attrName>
                                        </p:attrNameLst>
                                      </p:cBhvr>
                                      <p:tavLst>
                                        <p:tav fmla="" tm="0">
                                          <p:val>
                                            <p:strVal val="0"/>
                                          </p:val>
                                        </p:tav>
                                        <p:tav fmla="" tm="100000">
                                          <p:val>
                                            <p:strVal val="#ppt_w"/>
                                          </p:val>
                                        </p:tav>
                                      </p:tavLst>
                                    </p:anim>
                                    <p:anim calcmode="lin" valueType="num">
                                      <p:cBhvr additive="base">
                                        <p:cTn dur="300"/>
                                        <p:tgtEl>
                                          <p:spTgt spid="760"/>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1760"/>
                                  </p:stCondLst>
                                  <p:childTnLst>
                                    <p:set>
                                      <p:cBhvr>
                                        <p:cTn dur="1" fill="hold">
                                          <p:stCondLst>
                                            <p:cond delay="0"/>
                                          </p:stCondLst>
                                        </p:cTn>
                                        <p:tgtEl>
                                          <p:spTgt spid="759"/>
                                        </p:tgtEl>
                                        <p:attrNameLst>
                                          <p:attrName>style.visibility</p:attrName>
                                        </p:attrNameLst>
                                      </p:cBhvr>
                                      <p:to>
                                        <p:strVal val="visible"/>
                                      </p:to>
                                    </p:set>
                                    <p:animEffect filter="fade" transition="in">
                                      <p:cBhvr>
                                        <p:cTn dur="420"/>
                                        <p:tgtEl>
                                          <p:spTgt spid="759"/>
                                        </p:tgtEl>
                                      </p:cBhvr>
                                    </p:animEffect>
                                  </p:childTnLst>
                                </p:cTn>
                              </p:par>
                              <p:par>
                                <p:cTn fill="hold" nodeType="withEffect" presetClass="entr" presetID="23" presetSubtype="16">
                                  <p:stCondLst>
                                    <p:cond delay="1920"/>
                                  </p:stCondLst>
                                  <p:childTnLst>
                                    <p:set>
                                      <p:cBhvr>
                                        <p:cTn dur="1" fill="hold">
                                          <p:stCondLst>
                                            <p:cond delay="0"/>
                                          </p:stCondLst>
                                        </p:cTn>
                                        <p:tgtEl>
                                          <p:spTgt spid="761"/>
                                        </p:tgtEl>
                                        <p:attrNameLst>
                                          <p:attrName>style.visibility</p:attrName>
                                        </p:attrNameLst>
                                      </p:cBhvr>
                                      <p:to>
                                        <p:strVal val="visible"/>
                                      </p:to>
                                    </p:set>
                                    <p:anim calcmode="lin" valueType="num">
                                      <p:cBhvr additive="base">
                                        <p:cTn dur="600"/>
                                        <p:tgtEl>
                                          <p:spTgt spid="761"/>
                                        </p:tgtEl>
                                        <p:attrNameLst>
                                          <p:attrName>ppt_w</p:attrName>
                                        </p:attrNameLst>
                                      </p:cBhvr>
                                      <p:tavLst>
                                        <p:tav fmla="" tm="0">
                                          <p:val>
                                            <p:strVal val="0"/>
                                          </p:val>
                                        </p:tav>
                                        <p:tav fmla="" tm="100000">
                                          <p:val>
                                            <p:strVal val="#ppt_w"/>
                                          </p:val>
                                        </p:tav>
                                      </p:tavLst>
                                    </p:anim>
                                    <p:anim calcmode="lin" valueType="num">
                                      <p:cBhvr additive="base">
                                        <p:cTn dur="600"/>
                                        <p:tgtEl>
                                          <p:spTgt spid="76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9"/>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Mathematical Model: Score and Learning</a:t>
            </a:r>
            <a:endParaRPr/>
          </a:p>
        </p:txBody>
      </p:sp>
      <p:sp>
        <p:nvSpPr>
          <p:cNvPr id="571" name="Google Shape;571;p29"/>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572" name="Google Shape;572;p29"/>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573" name="Google Shape;573;p29"/>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2061" name="Formula card"/>
          <p:cNvSpPr/>
          <p:nvPr/>
        </p:nvSpPr>
        <p:spPr>
          <a:xfrm>
            <a:off x="457200" y="1170432"/>
            <a:ext cx="5074920" cy="1444752"/>
          </a:xfrm>
          <a:prstGeom prst="roundRect">
            <a:avLst>
              <a:gd name="adj" fmla="val 7000"/>
            </a:avLst>
          </a:prstGeom>
          <a:gradFill rotWithShape="1">
            <a:gsLst>
              <a:gs pos="0">
                <a:srgbClr val="FFFFFF"/>
              </a:gs>
              <a:gs pos="100000">
                <a:srgbClr val="E9F0FE"/>
              </a:gs>
            </a:gsLst>
            <a:lin ang="5400000" scaled="0"/>
          </a:gradFill>
          <a:ln w="15875">
            <a:solidFill>
              <a:srgbClr val="4F76CD"/>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62" name="Step pill"/>
          <p:cNvSpPr/>
          <p:nvPr/>
        </p:nvSpPr>
        <p:spPr>
          <a:xfrm>
            <a:off x="566928" y="1261872"/>
            <a:ext cx="1554480" cy="274320"/>
          </a:xfrm>
          <a:prstGeom prst="roundRect">
            <a:avLst>
              <a:gd name="adj" fmla="val 50000"/>
            </a:avLst>
          </a:prstGeom>
          <a:gradFill rotWithShape="1">
            <a:gsLst>
              <a:gs pos="0">
                <a:srgbClr val="1555A9"/>
              </a:gs>
              <a:gs pos="100000">
                <a:srgbClr val="6078D9"/>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6   Quality</a:t>
            </a:r>
          </a:p>
        </p:txBody>
      </p:sp>
      <p:sp>
        <p:nvSpPr>
          <p:cNvPr id="2063" name="Formula"/>
          <p:cNvSpPr/>
          <p:nvPr/>
        </p:nvSpPr>
        <p:spPr>
          <a:xfrm>
            <a:off x="566928" y="1600200"/>
            <a:ext cx="4855464" cy="402336"/>
          </a:xfrm>
          <a:prstGeom prst="roundRect">
            <a:avLst>
              <a:gd name="adj" fmla="val 14000"/>
            </a:avLst>
          </a:prstGeom>
          <a:gradFill rotWithShape="1">
            <a:gsLst>
              <a:gs pos="0">
                <a:srgbClr val="EFF4FC"/>
              </a:gs>
              <a:gs pos="100000">
                <a:srgbClr val="D6E3FF"/>
              </a:gs>
            </a:gsLst>
            <a:lin ang="2700000" scaled="0"/>
          </a:gradFill>
          <a:ln w="9525">
            <a:solidFill>
              <a:srgbClr val="4F76CD"/>
            </a:solidFill>
          </a:ln>
        </p:spPr>
        <p:txBody>
          <a:bodyPr wrap="square" lIns="64008" tIns="36576" rIns="64008" bIns="36576" anchor="ctr">
            <a:noAutofit/>
          </a:bodyPr>
          <a:lstStyle/>
          <a:p>
            <a:pPr marL="0" indent="0" algn="ctr">
              <a:lnSpc>
                <a:spcPct val="100000"/>
              </a:lnSpc>
              <a:spcBef>
                <a:spcPts val="0"/>
              </a:spcBef>
              <a:spcAft>
                <a:spcPts val="0"/>
              </a:spcAft>
              <a:buNone/>
            </a:pPr>
            <a:r>
              <a:rPr lang="en-US" sz="1300" b="0" i="1" dirty="0">
                <a:solidFill>
                  <a:srgbClr val="1F2937"/>
                </a:solidFill>
                <a:latin typeface="Times New Roman"/>
                <a:ea typeface="Times New Roman"/>
                <a:cs typeface="Times New Roman"/>
              </a:rPr>
              <a:t>q(i) = min{ 1, μ(i) + β√( ln N</a:t>
            </a:r>
            <a:r>
              <a:rPr lang="en-US" sz="1300" b="0" i="1" baseline="-25000" dirty="0">
                <a:solidFill>
                  <a:srgbClr val="1F2937"/>
                </a:solidFill>
                <a:latin typeface="Times New Roman"/>
                <a:ea typeface="Times New Roman"/>
                <a:cs typeface="Times New Roman"/>
              </a:rPr>
              <a:t>0</a:t>
            </a:r>
            <a:r>
              <a:rPr lang="en-US" sz="1300" b="0" i="1" dirty="0">
                <a:solidFill>
                  <a:srgbClr val="1F2937"/>
                </a:solidFill>
                <a:latin typeface="Times New Roman"/>
                <a:ea typeface="Times New Roman"/>
                <a:cs typeface="Times New Roman"/>
              </a:rPr>
              <a:t> / n(i) ) }</a:t>
            </a:r>
          </a:p>
        </p:txBody>
      </p:sp>
      <p:sp>
        <p:nvSpPr>
          <p:cNvPr id="2064" name="Text"/>
          <p:cNvSpPr txBox="1"/>
          <p:nvPr/>
        </p:nvSpPr>
        <p:spPr>
          <a:xfrm>
            <a:off x="566928" y="2048256"/>
            <a:ext cx="4855464" cy="530352"/>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μ(i) = average rating of worker i;  n(i) = jobs done by i;  N</a:t>
            </a:r>
            <a:r>
              <a:rPr lang="en-US" sz="1000" b="0" i="0" baseline="-25000" dirty="0">
                <a:solidFill>
                  <a:srgbClr val="374151"/>
                </a:solidFill>
                <a:latin typeface="Times New Roman"/>
                <a:ea typeface="Times New Roman"/>
                <a:cs typeface="Times New Roman"/>
              </a:rPr>
              <a:t>0</a:t>
            </a:r>
            <a:r>
              <a:rPr lang="en-US" sz="1000" b="0" i="0" dirty="0">
                <a:solidFill>
                  <a:srgbClr val="374151"/>
                </a:solidFill>
                <a:latin typeface="Times New Roman"/>
                <a:ea typeface="Times New Roman"/>
                <a:cs typeface="Times New Roman"/>
              </a:rPr>
              <a:t> = all jobs so far;  β = size of the bonus. Few jobs give a big exploration bonus, so new workers get a fair chance. min{1, …} keeps q at most 1.</a:t>
            </a:r>
          </a:p>
        </p:txBody>
      </p:sp>
      <p:sp>
        <p:nvSpPr>
          <p:cNvPr id="2065" name="Formula card"/>
          <p:cNvSpPr/>
          <p:nvPr/>
        </p:nvSpPr>
        <p:spPr>
          <a:xfrm>
            <a:off x="457200" y="2706624"/>
            <a:ext cx="5074920" cy="1444752"/>
          </a:xfrm>
          <a:prstGeom prst="roundRect">
            <a:avLst>
              <a:gd name="adj" fmla="val 7000"/>
            </a:avLst>
          </a:prstGeom>
          <a:gradFill rotWithShape="1">
            <a:gsLst>
              <a:gs pos="0">
                <a:srgbClr val="FFFFFF"/>
              </a:gs>
              <a:gs pos="100000">
                <a:srgbClr val="F4ECFE"/>
              </a:gs>
            </a:gsLst>
            <a:lin ang="5400000" scaled="0"/>
          </a:gradFill>
          <a:ln w="15875">
            <a:solidFill>
              <a:srgbClr val="8E62BC"/>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66" name="Step pill"/>
          <p:cNvSpPr/>
          <p:nvPr/>
        </p:nvSpPr>
        <p:spPr>
          <a:xfrm>
            <a:off x="566928" y="2798064"/>
            <a:ext cx="1554480" cy="274320"/>
          </a:xfrm>
          <a:prstGeom prst="roundRect">
            <a:avLst>
              <a:gd name="adj" fmla="val 50000"/>
            </a:avLst>
          </a:prstGeom>
          <a:gradFill rotWithShape="1">
            <a:gsLst>
              <a:gs pos="0">
                <a:srgbClr val="653E9E"/>
              </a:gs>
              <a:gs pos="100000">
                <a:srgbClr val="9E62C0"/>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7   Score</a:t>
            </a:r>
          </a:p>
        </p:txBody>
      </p:sp>
      <p:sp>
        <p:nvSpPr>
          <p:cNvPr id="2067" name="Formula"/>
          <p:cNvSpPr/>
          <p:nvPr/>
        </p:nvSpPr>
        <p:spPr>
          <a:xfrm>
            <a:off x="566928" y="3136392"/>
            <a:ext cx="4855464" cy="402336"/>
          </a:xfrm>
          <a:prstGeom prst="roundRect">
            <a:avLst>
              <a:gd name="adj" fmla="val 14000"/>
            </a:avLst>
          </a:prstGeom>
          <a:gradFill rotWithShape="1">
            <a:gsLst>
              <a:gs pos="0">
                <a:srgbClr val="F6F1FD"/>
              </a:gs>
              <a:gs pos="100000">
                <a:srgbClr val="EBDBFE"/>
              </a:gs>
            </a:gsLst>
            <a:lin ang="2700000" scaled="0"/>
          </a:gradFill>
          <a:ln w="9525">
            <a:solidFill>
              <a:srgbClr val="8E62BC"/>
            </a:solidFill>
          </a:ln>
        </p:spPr>
        <p:txBody>
          <a:bodyPr wrap="square" lIns="64008" tIns="36576" rIns="64008" bIns="36576" anchor="ctr">
            <a:noAutofit/>
          </a:bodyPr>
          <a:lstStyle/>
          <a:p>
            <a:pPr marL="0" indent="0" algn="ctr">
              <a:lnSpc>
                <a:spcPct val="100000"/>
              </a:lnSpc>
              <a:spcBef>
                <a:spcPts val="0"/>
              </a:spcBef>
              <a:spcAft>
                <a:spcPts val="0"/>
              </a:spcAft>
              <a:buNone/>
            </a:pPr>
            <a:r>
              <a:rPr lang="en-US" sz="1300" b="0" i="1" dirty="0">
                <a:solidFill>
                  <a:srgbClr val="1F2937"/>
                </a:solidFill>
                <a:latin typeface="Times New Roman"/>
                <a:ea typeface="Times New Roman"/>
                <a:cs typeface="Times New Roman"/>
              </a:rPr>
              <a:t>Score(i) = w</a:t>
            </a:r>
            <a:r>
              <a:rPr lang="en-US" sz="1300" b="0" i="1" baseline="-25000" dirty="0">
                <a:solidFill>
                  <a:srgbClr val="1F2937"/>
                </a:solidFill>
                <a:latin typeface="Times New Roman"/>
                <a:ea typeface="Times New Roman"/>
                <a:cs typeface="Times New Roman"/>
              </a:rPr>
              <a:t>1</a:t>
            </a:r>
            <a:r>
              <a:rPr lang="en-US" sz="1300" b="0" i="1" dirty="0">
                <a:solidFill>
                  <a:srgbClr val="1F2937"/>
                </a:solidFill>
                <a:latin typeface="Times New Roman"/>
                <a:ea typeface="Times New Roman"/>
                <a:cs typeface="Times New Roman"/>
              </a:rPr>
              <a:t>m + w</a:t>
            </a:r>
            <a:r>
              <a:rPr lang="en-US" sz="1300" b="0" i="1" baseline="-25000" dirty="0">
                <a:solidFill>
                  <a:srgbClr val="1F2937"/>
                </a:solidFill>
                <a:latin typeface="Times New Roman"/>
                <a:ea typeface="Times New Roman"/>
                <a:cs typeface="Times New Roman"/>
              </a:rPr>
              <a:t>2</a:t>
            </a:r>
            <a:r>
              <a:rPr lang="en-US" sz="1300" b="0" i="1" dirty="0">
                <a:solidFill>
                  <a:srgbClr val="1F2937"/>
                </a:solidFill>
                <a:latin typeface="Times New Roman"/>
                <a:ea typeface="Times New Roman"/>
                <a:cs typeface="Times New Roman"/>
              </a:rPr>
              <a:t>p + w</a:t>
            </a:r>
            <a:r>
              <a:rPr lang="en-US" sz="1300" b="0" i="1" baseline="-25000" dirty="0">
                <a:solidFill>
                  <a:srgbClr val="1F2937"/>
                </a:solidFill>
                <a:latin typeface="Times New Roman"/>
                <a:ea typeface="Times New Roman"/>
                <a:cs typeface="Times New Roman"/>
              </a:rPr>
              <a:t>3</a:t>
            </a:r>
            <a:r>
              <a:rPr lang="en-US" sz="1300" b="0" i="1" dirty="0">
                <a:solidFill>
                  <a:srgbClr val="1F2937"/>
                </a:solidFill>
                <a:latin typeface="Times New Roman"/>
                <a:ea typeface="Times New Roman"/>
                <a:cs typeface="Times New Roman"/>
              </a:rPr>
              <a:t>q + w</a:t>
            </a:r>
            <a:r>
              <a:rPr lang="en-US" sz="1300" b="0" i="1" baseline="-25000" dirty="0">
                <a:solidFill>
                  <a:srgbClr val="1F2937"/>
                </a:solidFill>
                <a:latin typeface="Times New Roman"/>
                <a:ea typeface="Times New Roman"/>
                <a:cs typeface="Times New Roman"/>
              </a:rPr>
              <a:t>4</a:t>
            </a:r>
            <a:r>
              <a:rPr lang="en-US" sz="1300" b="0" i="1" dirty="0">
                <a:solidFill>
                  <a:srgbClr val="1F2937"/>
                </a:solidFill>
                <a:latin typeface="Times New Roman"/>
                <a:ea typeface="Times New Roman"/>
                <a:cs typeface="Times New Roman"/>
              </a:rPr>
              <a:t>t + w</a:t>
            </a:r>
            <a:r>
              <a:rPr lang="en-US" sz="1300" b="0" i="1" baseline="-25000" dirty="0">
                <a:solidFill>
                  <a:srgbClr val="1F2937"/>
                </a:solidFill>
                <a:latin typeface="Times New Roman"/>
                <a:ea typeface="Times New Roman"/>
                <a:cs typeface="Times New Roman"/>
              </a:rPr>
              <a:t>5</a:t>
            </a:r>
            <a:r>
              <a:rPr lang="en-US" sz="1300" b="0" i="1" dirty="0">
                <a:solidFill>
                  <a:srgbClr val="1F2937"/>
                </a:solidFill>
                <a:latin typeface="Times New Roman"/>
                <a:ea typeface="Times New Roman"/>
                <a:cs typeface="Times New Roman"/>
              </a:rPr>
              <a:t>c</a:t>
            </a:r>
          </a:p>
        </p:txBody>
      </p:sp>
      <p:sp>
        <p:nvSpPr>
          <p:cNvPr id="2068" name="Text"/>
          <p:cNvSpPr txBox="1"/>
          <p:nvPr/>
        </p:nvSpPr>
        <p:spPr>
          <a:xfrm>
            <a:off x="566928" y="3584448"/>
            <a:ext cx="4855464" cy="530352"/>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Multiply each 0–1 value (skill match m, proximity p, quality q, time t, cost c) by its weight w and add them up. Weights add to 1; a bigger weight means that factor matters more.</a:t>
            </a:r>
          </a:p>
        </p:txBody>
      </p:sp>
      <p:sp>
        <p:nvSpPr>
          <p:cNvPr id="2069" name="Formula card"/>
          <p:cNvSpPr/>
          <p:nvPr/>
        </p:nvSpPr>
        <p:spPr>
          <a:xfrm>
            <a:off x="457200" y="4242816"/>
            <a:ext cx="5074920" cy="1444752"/>
          </a:xfrm>
          <a:prstGeom prst="roundRect">
            <a:avLst>
              <a:gd name="adj" fmla="val 7000"/>
            </a:avLst>
          </a:prstGeom>
          <a:gradFill rotWithShape="1">
            <a:gsLst>
              <a:gs pos="0">
                <a:srgbClr val="FFFFFF"/>
              </a:gs>
              <a:gs pos="100000">
                <a:srgbClr val="FEEAF3"/>
              </a:gs>
            </a:gsLst>
            <a:lin ang="5400000" scaled="0"/>
          </a:gradFill>
          <a:ln w="15875">
            <a:solidFill>
              <a:srgbClr val="B3538B"/>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070" name="Step pill"/>
          <p:cNvSpPr/>
          <p:nvPr/>
        </p:nvSpPr>
        <p:spPr>
          <a:xfrm>
            <a:off x="566928" y="4334256"/>
            <a:ext cx="1554480" cy="274320"/>
          </a:xfrm>
          <a:prstGeom prst="roundRect">
            <a:avLst>
              <a:gd name="adj" fmla="val 50000"/>
            </a:avLst>
          </a:prstGeom>
          <a:gradFill rotWithShape="1">
            <a:gsLst>
              <a:gs pos="0">
                <a:srgbClr val="8B2D72"/>
              </a:gs>
              <a:gs pos="100000">
                <a:srgbClr val="C15487"/>
              </a:gs>
            </a:gsLst>
            <a:lin ang="2700000" scaled="0"/>
          </a:gradFill>
          <a:ln>
            <a:noFill/>
          </a:ln>
        </p:spPr>
        <p:txBody>
          <a:bodyPr wrap="square" lIns="64008" tIns="36576" rIns="64008" bIns="36576" anchor="ctr">
            <a:noAutofit/>
          </a:bodyPr>
          <a:lstStyle/>
          <a:p>
            <a:pPr marL="0" indent="0" algn="ctr">
              <a:lnSpc>
                <a:spcPct val="100000"/>
              </a:lnSpc>
              <a:spcBef>
                <a:spcPts val="0"/>
              </a:spcBef>
              <a:spcAft>
                <a:spcPts val="0"/>
              </a:spcAft>
              <a:buNone/>
            </a:pPr>
            <a:r>
              <a:rPr lang="en-US" sz="1100" b="1" i="0" dirty="0">
                <a:solidFill>
                  <a:srgbClr val="FFFFFF"/>
                </a:solidFill>
                <a:latin typeface="Times New Roman"/>
                <a:ea typeface="Times New Roman"/>
                <a:cs typeface="Times New Roman"/>
              </a:rPr>
              <a:t>8   Select, learn</a:t>
            </a:r>
          </a:p>
        </p:txBody>
      </p:sp>
      <p:sp>
        <p:nvSpPr>
          <p:cNvPr id="2071" name="Formula"/>
          <p:cNvSpPr/>
          <p:nvPr/>
        </p:nvSpPr>
        <p:spPr>
          <a:xfrm>
            <a:off x="566928" y="4672584"/>
            <a:ext cx="4855464" cy="402336"/>
          </a:xfrm>
          <a:prstGeom prst="roundRect">
            <a:avLst>
              <a:gd name="adj" fmla="val 14000"/>
            </a:avLst>
          </a:prstGeom>
          <a:gradFill rotWithShape="1">
            <a:gsLst>
              <a:gs pos="0">
                <a:srgbClr val="FDEFF6"/>
              </a:gs>
              <a:gs pos="100000">
                <a:srgbClr val="FDD6EA"/>
              </a:gs>
            </a:gsLst>
            <a:lin ang="2700000" scaled="0"/>
          </a:gradFill>
          <a:ln w="9525">
            <a:solidFill>
              <a:srgbClr val="B3538B"/>
            </a:solidFill>
          </a:ln>
        </p:spPr>
        <p:txBody>
          <a:bodyPr wrap="square" lIns="64008" tIns="36576" rIns="64008" bIns="36576" anchor="ctr">
            <a:noAutofit/>
          </a:bodyPr>
          <a:lstStyle/>
          <a:p>
            <a:pPr marL="0" indent="0" algn="ctr">
              <a:lnSpc>
                <a:spcPct val="100000"/>
              </a:lnSpc>
              <a:spcBef>
                <a:spcPts val="0"/>
              </a:spcBef>
              <a:spcAft>
                <a:spcPts val="0"/>
              </a:spcAft>
              <a:buNone/>
            </a:pPr>
            <a:r>
              <a:rPr lang="en-US" sz="1300" b="0" i="1" dirty="0">
                <a:solidFill>
                  <a:srgbClr val="1F2937"/>
                </a:solidFill>
                <a:latin typeface="Times New Roman"/>
                <a:ea typeface="Times New Roman"/>
                <a:cs typeface="Times New Roman"/>
              </a:rPr>
              <a:t>i* = argmax Score(i);   n ← n + 1,   μ ← μ + (r − μ)/n</a:t>
            </a:r>
          </a:p>
        </p:txBody>
      </p:sp>
      <p:sp>
        <p:nvSpPr>
          <p:cNvPr id="2072" name="Text"/>
          <p:cNvSpPr txBox="1"/>
          <p:nvPr/>
        </p:nvSpPr>
        <p:spPr>
          <a:xfrm>
            <a:off x="566928" y="5120640"/>
            <a:ext cx="4855464" cy="530352"/>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0" i="0" dirty="0">
                <a:solidFill>
                  <a:srgbClr val="374151"/>
                </a:solidFill>
                <a:latin typeface="Times New Roman"/>
                <a:ea typeface="Times New Roman"/>
                <a:cs typeface="Times New Roman"/>
              </a:rPr>
              <a:t>Recommend the worker with the highest score. After the job, the customer’s rating r pulls the average μ toward r by 1/n, and the job count n goes up by one.</a:t>
            </a:r>
          </a:p>
        </p:txBody>
      </p:sp>
      <p:graphicFrame>
        <p:nvGraphicFramePr>
          <p:cNvPr id="2073" name="Chart"/>
          <p:cNvGraphicFramePr/>
          <p:nvPr/>
        </p:nvGraphicFramePr>
        <p:xfrm>
          <a:off x="5669280" y="1143000"/>
          <a:ext cx="3063240" cy="2240280"/>
        </p:xfrm>
        <a:graphic>
          <a:graphicData uri="http://schemas.openxmlformats.org/drawingml/2006/chart">
            <c:chart r:id="rId3"/>
          </a:graphicData>
        </a:graphic>
      </p:graphicFrame>
      <p:sp>
        <p:nvSpPr>
          <p:cNvPr id="2074" name="Text"/>
          <p:cNvSpPr txBox="1"/>
          <p:nvPr/>
        </p:nvSpPr>
        <p:spPr>
          <a:xfrm>
            <a:off x="5669280" y="3383280"/>
            <a:ext cx="3017520" cy="2743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000" b="0" i="1" dirty="0">
                <a:solidFill>
                  <a:srgbClr val="024D73"/>
                </a:solidFill>
                <a:latin typeface="Times New Roman"/>
                <a:ea typeface="Times New Roman"/>
                <a:cs typeface="Times New Roman"/>
              </a:rPr>
              <a:t>Bigger slice = that factor matters more</a:t>
            </a:r>
          </a:p>
        </p:txBody>
      </p:sp>
      <p:graphicFrame>
        <p:nvGraphicFramePr>
          <p:cNvPr id="2075" name="Chart"/>
          <p:cNvGraphicFramePr/>
          <p:nvPr/>
        </p:nvGraphicFramePr>
        <p:xfrm>
          <a:off x="5669280" y="3767328"/>
          <a:ext cx="3063240" cy="1828800"/>
        </p:xfrm>
        <a:graphic>
          <a:graphicData uri="http://schemas.openxmlformats.org/drawingml/2006/chart">
            <c:chart r:id="rId4"/>
          </a:graphicData>
        </a:graphic>
      </p:graphicFrame>
      <p:sp>
        <p:nvSpPr>
          <p:cNvPr id="2076" name="Text"/>
          <p:cNvSpPr txBox="1"/>
          <p:nvPr/>
        </p:nvSpPr>
        <p:spPr>
          <a:xfrm>
            <a:off x="5669280" y="5623560"/>
            <a:ext cx="3017520" cy="2743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000" b="0" i="1" dirty="0">
                <a:solidFill>
                  <a:srgbClr val="602C78"/>
                </a:solidFill>
                <a:latin typeface="Times New Roman"/>
                <a:ea typeface="Times New Roman"/>
                <a:cs typeface="Times New Roman"/>
              </a:rPr>
              <a:t>Fewer rated jobs → bigger bonus for the worker</a:t>
            </a:r>
          </a:p>
        </p:txBody>
      </p:sp>
    </p:spTree>
  </p:cSld>
  <p:clrMapOvr>
    <a:masterClrMapping/>
  </p:clrMapOvr>
  <mc:AlternateContent>
    <mc:Choice Requires="p14">
      <p:transition spd="slow" p14:dur="1400">
        <p14:flash/>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380"/>
                                        <p:tgtEl>
                                          <p:spTgt spid="574"/>
                                        </p:tgtEl>
                                      </p:cBhvr>
                                    </p:animEffect>
                                  </p:childTnLst>
                                </p:cTn>
                              </p:par>
                              <p:par>
                                <p:cTn fill="hold" nodeType="withEffect" presetClass="entr" presetID="10" presetSubtype="0">
                                  <p:stCondLst>
                                    <p:cond delay="0"/>
                                  </p:stCondLst>
                                  <p:childTnLst>
                                    <p:set>
                                      <p:cBhvr>
                                        <p:cTn dur="1" fill="hold">
                                          <p:stCondLst>
                                            <p:cond delay="0"/>
                                          </p:stCondLst>
                                        </p:cTn>
                                        <p:tgtEl>
                                          <p:spTgt spid="575"/>
                                        </p:tgtEl>
                                        <p:attrNameLst>
                                          <p:attrName>style.visibility</p:attrName>
                                        </p:attrNameLst>
                                      </p:cBhvr>
                                      <p:to>
                                        <p:strVal val="visible"/>
                                      </p:to>
                                    </p:set>
                                    <p:animEffect filter="fade" transition="in">
                                      <p:cBhvr>
                                        <p:cTn dur="380"/>
                                        <p:tgtEl>
                                          <p:spTgt spid="575"/>
                                        </p:tgtEl>
                                      </p:cBhvr>
                                    </p:animEffect>
                                  </p:childTnLst>
                                </p:cTn>
                              </p:par>
                              <p:par>
                                <p:cTn fill="hold" nodeType="withEffect" presetClass="entr" presetID="10" presetSubtype="0">
                                  <p:stCondLst>
                                    <p:cond delay="80"/>
                                  </p:stCondLst>
                                  <p:childTnLst>
                                    <p:set>
                                      <p:cBhvr>
                                        <p:cTn dur="1" fill="hold">
                                          <p:stCondLst>
                                            <p:cond delay="0"/>
                                          </p:stCondLst>
                                        </p:cTn>
                                        <p:tgtEl>
                                          <p:spTgt spid="576"/>
                                        </p:tgtEl>
                                        <p:attrNameLst>
                                          <p:attrName>style.visibility</p:attrName>
                                        </p:attrNameLst>
                                      </p:cBhvr>
                                      <p:to>
                                        <p:strVal val="visible"/>
                                      </p:to>
                                    </p:set>
                                    <p:animEffect filter="fade" transition="in">
                                      <p:cBhvr>
                                        <p:cTn dur="380"/>
                                        <p:tgtEl>
                                          <p:spTgt spid="576"/>
                                        </p:tgtEl>
                                      </p:cBhvr>
                                    </p:animEffect>
                                  </p:childTnLst>
                                </p:cTn>
                              </p:par>
                              <p:par>
                                <p:cTn fill="hold" nodeType="withEffect" presetClass="entr" presetID="10" presetSubtype="0">
                                  <p:stCondLst>
                                    <p:cond delay="320"/>
                                  </p:stCondLst>
                                  <p:childTnLst>
                                    <p:set>
                                      <p:cBhvr>
                                        <p:cTn dur="1" fill="hold">
                                          <p:stCondLst>
                                            <p:cond delay="0"/>
                                          </p:stCondLst>
                                        </p:cTn>
                                        <p:tgtEl>
                                          <p:spTgt spid="577"/>
                                        </p:tgtEl>
                                        <p:attrNameLst>
                                          <p:attrName>style.visibility</p:attrName>
                                        </p:attrNameLst>
                                      </p:cBhvr>
                                      <p:to>
                                        <p:strVal val="visible"/>
                                      </p:to>
                                    </p:set>
                                    <p:animEffect filter="fade" transition="in">
                                      <p:cBhvr>
                                        <p:cTn dur="380"/>
                                        <p:tgtEl>
                                          <p:spTgt spid="577"/>
                                        </p:tgtEl>
                                      </p:cBhvr>
                                    </p:animEffect>
                                  </p:childTnLst>
                                </p:cTn>
                              </p:par>
                              <p:par>
                                <p:cTn fill="hold" nodeType="withEffect" presetClass="entr" presetID="10" presetSubtype="0">
                                  <p:stCondLst>
                                    <p:cond delay="320"/>
                                  </p:stCondLst>
                                  <p:childTnLst>
                                    <p:set>
                                      <p:cBhvr>
                                        <p:cTn dur="1" fill="hold">
                                          <p:stCondLst>
                                            <p:cond delay="0"/>
                                          </p:stCondLst>
                                        </p:cTn>
                                        <p:tgtEl>
                                          <p:spTgt spid="578"/>
                                        </p:tgtEl>
                                        <p:attrNameLst>
                                          <p:attrName>style.visibility</p:attrName>
                                        </p:attrNameLst>
                                      </p:cBhvr>
                                      <p:to>
                                        <p:strVal val="visible"/>
                                      </p:to>
                                    </p:set>
                                    <p:animEffect filter="fade" transition="in">
                                      <p:cBhvr>
                                        <p:cTn dur="380"/>
                                        <p:tgtEl>
                                          <p:spTgt spid="578"/>
                                        </p:tgtEl>
                                      </p:cBhvr>
                                    </p:animEffect>
                                  </p:childTnLst>
                                </p:cTn>
                              </p:par>
                              <p:par>
                                <p:cTn fill="hold" nodeType="withEffect" presetClass="entr" presetID="10" presetSubtype="0">
                                  <p:stCondLst>
                                    <p:cond delay="400"/>
                                  </p:stCondLst>
                                  <p:childTnLst>
                                    <p:set>
                                      <p:cBhvr>
                                        <p:cTn dur="1" fill="hold">
                                          <p:stCondLst>
                                            <p:cond delay="0"/>
                                          </p:stCondLst>
                                        </p:cTn>
                                        <p:tgtEl>
                                          <p:spTgt spid="579"/>
                                        </p:tgtEl>
                                        <p:attrNameLst>
                                          <p:attrName>style.visibility</p:attrName>
                                        </p:attrNameLst>
                                      </p:cBhvr>
                                      <p:to>
                                        <p:strVal val="visible"/>
                                      </p:to>
                                    </p:set>
                                    <p:animEffect filter="fade" transition="in">
                                      <p:cBhvr>
                                        <p:cTn dur="380"/>
                                        <p:tgtEl>
                                          <p:spTgt spid="579"/>
                                        </p:tgtEl>
                                      </p:cBhvr>
                                    </p:animEffect>
                                  </p:childTnLst>
                                </p:cTn>
                              </p:par>
                              <p:par>
                                <p:cTn fill="hold" nodeType="withEffect" presetClass="entr" presetID="23" presetSubtype="16">
                                  <p:stCondLst>
                                    <p:cond delay="400"/>
                                  </p:stCondLst>
                                  <p:childTnLst>
                                    <p:set>
                                      <p:cBhvr>
                                        <p:cTn dur="1" fill="hold">
                                          <p:stCondLst>
                                            <p:cond delay="0"/>
                                          </p:stCondLst>
                                        </p:cTn>
                                        <p:tgtEl>
                                          <p:spTgt spid="598"/>
                                        </p:tgtEl>
                                        <p:attrNameLst>
                                          <p:attrName>style.visibility</p:attrName>
                                        </p:attrNameLst>
                                      </p:cBhvr>
                                      <p:to>
                                        <p:strVal val="visible"/>
                                      </p:to>
                                    </p:set>
                                    <p:anim calcmode="lin" valueType="num">
                                      <p:cBhvr additive="base">
                                        <p:cTn dur="700"/>
                                        <p:tgtEl>
                                          <p:spTgt spid="598"/>
                                        </p:tgtEl>
                                        <p:attrNameLst>
                                          <p:attrName>ppt_w</p:attrName>
                                        </p:attrNameLst>
                                      </p:cBhvr>
                                      <p:tavLst>
                                        <p:tav fmla="" tm="0">
                                          <p:val>
                                            <p:strVal val="0"/>
                                          </p:val>
                                        </p:tav>
                                        <p:tav fmla="" tm="100000">
                                          <p:val>
                                            <p:strVal val="#ppt_w"/>
                                          </p:val>
                                        </p:tav>
                                      </p:tavLst>
                                    </p:anim>
                                    <p:anim calcmode="lin" valueType="num">
                                      <p:cBhvr additive="base">
                                        <p:cTn dur="700"/>
                                        <p:tgtEl>
                                          <p:spTgt spid="598"/>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640"/>
                                  </p:stCondLst>
                                  <p:childTnLst>
                                    <p:set>
                                      <p:cBhvr>
                                        <p:cTn dur="1" fill="hold">
                                          <p:stCondLst>
                                            <p:cond delay="0"/>
                                          </p:stCondLst>
                                        </p:cTn>
                                        <p:tgtEl>
                                          <p:spTgt spid="580"/>
                                        </p:tgtEl>
                                        <p:attrNameLst>
                                          <p:attrName>style.visibility</p:attrName>
                                        </p:attrNameLst>
                                      </p:cBhvr>
                                      <p:to>
                                        <p:strVal val="visible"/>
                                      </p:to>
                                    </p:set>
                                    <p:animEffect filter="fade" transition="in">
                                      <p:cBhvr>
                                        <p:cTn dur="380"/>
                                        <p:tgtEl>
                                          <p:spTgt spid="580"/>
                                        </p:tgtEl>
                                      </p:cBhvr>
                                    </p:animEffect>
                                  </p:childTnLst>
                                </p:cTn>
                              </p:par>
                              <p:par>
                                <p:cTn fill="hold" nodeType="withEffect" presetClass="entr" presetID="10" presetSubtype="0">
                                  <p:stCondLst>
                                    <p:cond delay="640"/>
                                  </p:stCondLst>
                                  <p:childTnLst>
                                    <p:set>
                                      <p:cBhvr>
                                        <p:cTn dur="1" fill="hold">
                                          <p:stCondLst>
                                            <p:cond delay="0"/>
                                          </p:stCondLst>
                                        </p:cTn>
                                        <p:tgtEl>
                                          <p:spTgt spid="581"/>
                                        </p:tgtEl>
                                        <p:attrNameLst>
                                          <p:attrName>style.visibility</p:attrName>
                                        </p:attrNameLst>
                                      </p:cBhvr>
                                      <p:to>
                                        <p:strVal val="visible"/>
                                      </p:to>
                                    </p:set>
                                    <p:animEffect filter="fade" transition="in">
                                      <p:cBhvr>
                                        <p:cTn dur="380"/>
                                        <p:tgtEl>
                                          <p:spTgt spid="581"/>
                                        </p:tgtEl>
                                      </p:cBhvr>
                                    </p:animEffect>
                                  </p:childTnLst>
                                </p:cTn>
                              </p:par>
                              <p:par>
                                <p:cTn fill="hold" nodeType="withEffect" presetClass="entr" presetID="10" presetSubtype="0">
                                  <p:stCondLst>
                                    <p:cond delay="720"/>
                                  </p:stCondLst>
                                  <p:childTnLst>
                                    <p:set>
                                      <p:cBhvr>
                                        <p:cTn dur="1" fill="hold">
                                          <p:stCondLst>
                                            <p:cond delay="0"/>
                                          </p:stCondLst>
                                        </p:cTn>
                                        <p:tgtEl>
                                          <p:spTgt spid="582"/>
                                        </p:tgtEl>
                                        <p:attrNameLst>
                                          <p:attrName>style.visibility</p:attrName>
                                        </p:attrNameLst>
                                      </p:cBhvr>
                                      <p:to>
                                        <p:strVal val="visible"/>
                                      </p:to>
                                    </p:set>
                                    <p:animEffect filter="fade" transition="in">
                                      <p:cBhvr>
                                        <p:cTn dur="380"/>
                                        <p:tgtEl>
                                          <p:spTgt spid="582"/>
                                        </p:tgtEl>
                                      </p:cBhvr>
                                    </p:animEffect>
                                  </p:childTnLst>
                                </p:cTn>
                              </p:par>
                              <p:par>
                                <p:cTn fill="hold" nodeType="withEffect" presetClass="entr" presetID="10" presetSubtype="0">
                                  <p:stCondLst>
                                    <p:cond delay="960"/>
                                  </p:stCondLst>
                                  <p:childTnLst>
                                    <p:set>
                                      <p:cBhvr>
                                        <p:cTn dur="1" fill="hold">
                                          <p:stCondLst>
                                            <p:cond delay="0"/>
                                          </p:stCondLst>
                                        </p:cTn>
                                        <p:tgtEl>
                                          <p:spTgt spid="583"/>
                                        </p:tgtEl>
                                        <p:attrNameLst>
                                          <p:attrName>style.visibility</p:attrName>
                                        </p:attrNameLst>
                                      </p:cBhvr>
                                      <p:to>
                                        <p:strVal val="visible"/>
                                      </p:to>
                                    </p:set>
                                    <p:animEffect filter="fade" transition="in">
                                      <p:cBhvr>
                                        <p:cTn dur="380"/>
                                        <p:tgtEl>
                                          <p:spTgt spid="583"/>
                                        </p:tgtEl>
                                      </p:cBhvr>
                                    </p:animEffect>
                                  </p:childTnLst>
                                </p:cTn>
                              </p:par>
                              <p:par>
                                <p:cTn fill="hold" nodeType="withEffect" presetClass="entr" presetID="10" presetSubtype="0">
                                  <p:stCondLst>
                                    <p:cond delay="960"/>
                                  </p:stCondLst>
                                  <p:childTnLst>
                                    <p:set>
                                      <p:cBhvr>
                                        <p:cTn dur="1" fill="hold">
                                          <p:stCondLst>
                                            <p:cond delay="0"/>
                                          </p:stCondLst>
                                        </p:cTn>
                                        <p:tgtEl>
                                          <p:spTgt spid="584"/>
                                        </p:tgtEl>
                                        <p:attrNameLst>
                                          <p:attrName>style.visibility</p:attrName>
                                        </p:attrNameLst>
                                      </p:cBhvr>
                                      <p:to>
                                        <p:strVal val="visible"/>
                                      </p:to>
                                    </p:set>
                                    <p:animEffect filter="fade" transition="in">
                                      <p:cBhvr>
                                        <p:cTn dur="380"/>
                                        <p:tgtEl>
                                          <p:spTgt spid="584"/>
                                        </p:tgtEl>
                                      </p:cBhvr>
                                    </p:animEffect>
                                  </p:childTnLst>
                                </p:cTn>
                              </p:par>
                              <p:par>
                                <p:cTn fill="hold" nodeType="withEffect" presetClass="entr" presetID="10" presetSubtype="0">
                                  <p:stCondLst>
                                    <p:cond delay="1040"/>
                                  </p:stCondLst>
                                  <p:childTnLst>
                                    <p:set>
                                      <p:cBhvr>
                                        <p:cTn dur="1" fill="hold">
                                          <p:stCondLst>
                                            <p:cond delay="0"/>
                                          </p:stCondLst>
                                        </p:cTn>
                                        <p:tgtEl>
                                          <p:spTgt spid="585"/>
                                        </p:tgtEl>
                                        <p:attrNameLst>
                                          <p:attrName>style.visibility</p:attrName>
                                        </p:attrNameLst>
                                      </p:cBhvr>
                                      <p:to>
                                        <p:strVal val="visible"/>
                                      </p:to>
                                    </p:set>
                                    <p:animEffect filter="fade" transition="in">
                                      <p:cBhvr>
                                        <p:cTn dur="380"/>
                                        <p:tgtEl>
                                          <p:spTgt spid="585"/>
                                        </p:tgtEl>
                                      </p:cBhvr>
                                    </p:animEffect>
                                  </p:childTnLst>
                                </p:cTn>
                              </p:par>
                              <p:par>
                                <p:cTn fill="hold" nodeType="withEffect" presetClass="entr" presetID="10" presetSubtype="0">
                                  <p:stCondLst>
                                    <p:cond delay="1280"/>
                                  </p:stCondLst>
                                  <p:childTnLst>
                                    <p:set>
                                      <p:cBhvr>
                                        <p:cTn dur="1" fill="hold">
                                          <p:stCondLst>
                                            <p:cond delay="0"/>
                                          </p:stCondLst>
                                        </p:cTn>
                                        <p:tgtEl>
                                          <p:spTgt spid="586"/>
                                        </p:tgtEl>
                                        <p:attrNameLst>
                                          <p:attrName>style.visibility</p:attrName>
                                        </p:attrNameLst>
                                      </p:cBhvr>
                                      <p:to>
                                        <p:strVal val="visible"/>
                                      </p:to>
                                    </p:set>
                                    <p:animEffect filter="fade" transition="in">
                                      <p:cBhvr>
                                        <p:cTn dur="380"/>
                                        <p:tgtEl>
                                          <p:spTgt spid="586"/>
                                        </p:tgtEl>
                                      </p:cBhvr>
                                    </p:animEffect>
                                  </p:childTnLst>
                                </p:cTn>
                              </p:par>
                              <p:par>
                                <p:cTn fill="hold" nodeType="withEffect" presetClass="entr" presetID="10" presetSubtype="0">
                                  <p:stCondLst>
                                    <p:cond delay="1280"/>
                                  </p:stCondLst>
                                  <p:childTnLst>
                                    <p:set>
                                      <p:cBhvr>
                                        <p:cTn dur="1" fill="hold">
                                          <p:stCondLst>
                                            <p:cond delay="0"/>
                                          </p:stCondLst>
                                        </p:cTn>
                                        <p:tgtEl>
                                          <p:spTgt spid="587"/>
                                        </p:tgtEl>
                                        <p:attrNameLst>
                                          <p:attrName>style.visibility</p:attrName>
                                        </p:attrNameLst>
                                      </p:cBhvr>
                                      <p:to>
                                        <p:strVal val="visible"/>
                                      </p:to>
                                    </p:set>
                                    <p:animEffect filter="fade" transition="in">
                                      <p:cBhvr>
                                        <p:cTn dur="380"/>
                                        <p:tgtEl>
                                          <p:spTgt spid="587"/>
                                        </p:tgtEl>
                                      </p:cBhvr>
                                    </p:animEffect>
                                  </p:childTnLst>
                                </p:cTn>
                              </p:par>
                              <p:par>
                                <p:cTn fill="hold" nodeType="withEffect" presetClass="entr" presetID="10" presetSubtype="0">
                                  <p:stCondLst>
                                    <p:cond delay="1360"/>
                                  </p:stCondLst>
                                  <p:childTnLst>
                                    <p:set>
                                      <p:cBhvr>
                                        <p:cTn dur="1" fill="hold">
                                          <p:stCondLst>
                                            <p:cond delay="0"/>
                                          </p:stCondLst>
                                        </p:cTn>
                                        <p:tgtEl>
                                          <p:spTgt spid="588"/>
                                        </p:tgtEl>
                                        <p:attrNameLst>
                                          <p:attrName>style.visibility</p:attrName>
                                        </p:attrNameLst>
                                      </p:cBhvr>
                                      <p:to>
                                        <p:strVal val="visible"/>
                                      </p:to>
                                    </p:set>
                                    <p:animEffect filter="fade" transition="in">
                                      <p:cBhvr>
                                        <p:cTn dur="380"/>
                                        <p:tgtEl>
                                          <p:spTgt spid="588"/>
                                        </p:tgtEl>
                                      </p:cBhvr>
                                    </p:animEffect>
                                  </p:childTnLst>
                                </p:cTn>
                              </p:par>
                              <p:par>
                                <p:cTn fill="hold" nodeType="withEffect" presetClass="entr" presetID="10" presetSubtype="0">
                                  <p:stCondLst>
                                    <p:cond delay="1400"/>
                                  </p:stCondLst>
                                  <p:childTnLst>
                                    <p:set>
                                      <p:cBhvr>
                                        <p:cTn dur="1" fill="hold">
                                          <p:stCondLst>
                                            <p:cond delay="0"/>
                                          </p:stCondLst>
                                        </p:cTn>
                                        <p:tgtEl>
                                          <p:spTgt spid="599"/>
                                        </p:tgtEl>
                                        <p:attrNameLst>
                                          <p:attrName>style.visibility</p:attrName>
                                        </p:attrNameLst>
                                      </p:cBhvr>
                                      <p:to>
                                        <p:strVal val="visible"/>
                                      </p:to>
                                    </p:set>
                                    <p:animEffect filter="fade" transition="in">
                                      <p:cBhvr>
                                        <p:cTn dur="1100"/>
                                        <p:tgtEl>
                                          <p:spTgt spid="599"/>
                                        </p:tgtEl>
                                      </p:cBhvr>
                                    </p:animEffect>
                                  </p:childTnLst>
                                </p:cTn>
                              </p:par>
                              <p:par>
                                <p:cTn fill="hold" nodeType="withEffect" presetClass="entr" presetID="10" presetSubtype="0">
                                  <p:stCondLst>
                                    <p:cond delay="1600"/>
                                  </p:stCondLst>
                                  <p:childTnLst>
                                    <p:set>
                                      <p:cBhvr>
                                        <p:cTn dur="1" fill="hold">
                                          <p:stCondLst>
                                            <p:cond delay="0"/>
                                          </p:stCondLst>
                                        </p:cTn>
                                        <p:tgtEl>
                                          <p:spTgt spid="589"/>
                                        </p:tgtEl>
                                        <p:attrNameLst>
                                          <p:attrName>style.visibility</p:attrName>
                                        </p:attrNameLst>
                                      </p:cBhvr>
                                      <p:to>
                                        <p:strVal val="visible"/>
                                      </p:to>
                                    </p:set>
                                    <p:animEffect filter="fade" transition="in">
                                      <p:cBhvr>
                                        <p:cTn dur="380"/>
                                        <p:tgtEl>
                                          <p:spTgt spid="589"/>
                                        </p:tgtEl>
                                      </p:cBhvr>
                                    </p:animEffect>
                                  </p:childTnLst>
                                </p:cTn>
                              </p:par>
                              <p:par>
                                <p:cTn fill="hold" nodeType="withEffect" presetClass="entr" presetID="10" presetSubtype="0">
                                  <p:stCondLst>
                                    <p:cond delay="1600"/>
                                  </p:stCondLst>
                                  <p:childTnLst>
                                    <p:set>
                                      <p:cBhvr>
                                        <p:cTn dur="1" fill="hold">
                                          <p:stCondLst>
                                            <p:cond delay="0"/>
                                          </p:stCondLst>
                                        </p:cTn>
                                        <p:tgtEl>
                                          <p:spTgt spid="590"/>
                                        </p:tgtEl>
                                        <p:attrNameLst>
                                          <p:attrName>style.visibility</p:attrName>
                                        </p:attrNameLst>
                                      </p:cBhvr>
                                      <p:to>
                                        <p:strVal val="visible"/>
                                      </p:to>
                                    </p:set>
                                    <p:animEffect filter="fade" transition="in">
                                      <p:cBhvr>
                                        <p:cTn dur="380"/>
                                        <p:tgtEl>
                                          <p:spTgt spid="590"/>
                                        </p:tgtEl>
                                      </p:cBhvr>
                                    </p:animEffect>
                                  </p:childTnLst>
                                </p:cTn>
                              </p:par>
                              <p:par>
                                <p:cTn fill="hold" nodeType="withEffect" presetClass="entr" presetID="10" presetSubtype="0">
                                  <p:stCondLst>
                                    <p:cond delay="1680"/>
                                  </p:stCondLst>
                                  <p:childTnLst>
                                    <p:set>
                                      <p:cBhvr>
                                        <p:cTn dur="1" fill="hold">
                                          <p:stCondLst>
                                            <p:cond delay="0"/>
                                          </p:stCondLst>
                                        </p:cTn>
                                        <p:tgtEl>
                                          <p:spTgt spid="591"/>
                                        </p:tgtEl>
                                        <p:attrNameLst>
                                          <p:attrName>style.visibility</p:attrName>
                                        </p:attrNameLst>
                                      </p:cBhvr>
                                      <p:to>
                                        <p:strVal val="visible"/>
                                      </p:to>
                                    </p:set>
                                    <p:animEffect filter="fade" transition="in">
                                      <p:cBhvr>
                                        <p:cTn dur="380"/>
                                        <p:tgtEl>
                                          <p:spTgt spid="591"/>
                                        </p:tgtEl>
                                      </p:cBhvr>
                                    </p:animEffect>
                                  </p:childTnLst>
                                </p:cTn>
                              </p:par>
                              <p:par>
                                <p:cTn fill="hold" nodeType="withEffect" presetClass="entr" presetID="10" presetSubtype="0">
                                  <p:stCondLst>
                                    <p:cond delay="1920"/>
                                  </p:stCondLst>
                                  <p:childTnLst>
                                    <p:set>
                                      <p:cBhvr>
                                        <p:cTn dur="1" fill="hold">
                                          <p:stCondLst>
                                            <p:cond delay="0"/>
                                          </p:stCondLst>
                                        </p:cTn>
                                        <p:tgtEl>
                                          <p:spTgt spid="592"/>
                                        </p:tgtEl>
                                        <p:attrNameLst>
                                          <p:attrName>style.visibility</p:attrName>
                                        </p:attrNameLst>
                                      </p:cBhvr>
                                      <p:to>
                                        <p:strVal val="visible"/>
                                      </p:to>
                                    </p:set>
                                    <p:animEffect filter="fade" transition="in">
                                      <p:cBhvr>
                                        <p:cTn dur="380"/>
                                        <p:tgtEl>
                                          <p:spTgt spid="592"/>
                                        </p:tgtEl>
                                      </p:cBhvr>
                                    </p:animEffect>
                                  </p:childTnLst>
                                </p:cTn>
                              </p:par>
                              <p:par>
                                <p:cTn fill="hold" nodeType="withEffect" presetClass="entr" presetID="10" presetSubtype="0">
                                  <p:stCondLst>
                                    <p:cond delay="1920"/>
                                  </p:stCondLst>
                                  <p:childTnLst>
                                    <p:set>
                                      <p:cBhvr>
                                        <p:cTn dur="1" fill="hold">
                                          <p:stCondLst>
                                            <p:cond delay="0"/>
                                          </p:stCondLst>
                                        </p:cTn>
                                        <p:tgtEl>
                                          <p:spTgt spid="593"/>
                                        </p:tgtEl>
                                        <p:attrNameLst>
                                          <p:attrName>style.visibility</p:attrName>
                                        </p:attrNameLst>
                                      </p:cBhvr>
                                      <p:to>
                                        <p:strVal val="visible"/>
                                      </p:to>
                                    </p:set>
                                    <p:animEffect filter="fade" transition="in">
                                      <p:cBhvr>
                                        <p:cTn dur="380"/>
                                        <p:tgtEl>
                                          <p:spTgt spid="593"/>
                                        </p:tgtEl>
                                      </p:cBhvr>
                                    </p:animEffect>
                                  </p:childTnLst>
                                </p:cTn>
                              </p:par>
                              <p:par>
                                <p:cTn fill="hold" nodeType="withEffect" presetClass="entr" presetID="10" presetSubtype="0">
                                  <p:stCondLst>
                                    <p:cond delay="2000"/>
                                  </p:stCondLst>
                                  <p:childTnLst>
                                    <p:set>
                                      <p:cBhvr>
                                        <p:cTn dur="1" fill="hold">
                                          <p:stCondLst>
                                            <p:cond delay="0"/>
                                          </p:stCondLst>
                                        </p:cTn>
                                        <p:tgtEl>
                                          <p:spTgt spid="594"/>
                                        </p:tgtEl>
                                        <p:attrNameLst>
                                          <p:attrName>style.visibility</p:attrName>
                                        </p:attrNameLst>
                                      </p:cBhvr>
                                      <p:to>
                                        <p:strVal val="visible"/>
                                      </p:to>
                                    </p:set>
                                    <p:animEffect filter="fade" transition="in">
                                      <p:cBhvr>
                                        <p:cTn dur="380"/>
                                        <p:tgtEl>
                                          <p:spTgt spid="594"/>
                                        </p:tgtEl>
                                      </p:cBhvr>
                                    </p:animEffect>
                                  </p:childTnLst>
                                </p:cTn>
                              </p:par>
                              <p:par>
                                <p:cTn fill="hold" nodeType="withEffect" presetClass="entr" presetID="10" presetSubtype="0">
                                  <p:stCondLst>
                                    <p:cond delay="2240"/>
                                  </p:stCondLst>
                                  <p:childTnLst>
                                    <p:set>
                                      <p:cBhvr>
                                        <p:cTn dur="1" fill="hold">
                                          <p:stCondLst>
                                            <p:cond delay="0"/>
                                          </p:stCondLst>
                                        </p:cTn>
                                        <p:tgtEl>
                                          <p:spTgt spid="595"/>
                                        </p:tgtEl>
                                        <p:attrNameLst>
                                          <p:attrName>style.visibility</p:attrName>
                                        </p:attrNameLst>
                                      </p:cBhvr>
                                      <p:to>
                                        <p:strVal val="visible"/>
                                      </p:to>
                                    </p:set>
                                    <p:animEffect filter="fade" transition="in">
                                      <p:cBhvr>
                                        <p:cTn dur="380"/>
                                        <p:tgtEl>
                                          <p:spTgt spid="595"/>
                                        </p:tgtEl>
                                      </p:cBhvr>
                                    </p:animEffect>
                                  </p:childTnLst>
                                </p:cTn>
                              </p:par>
                              <p:par>
                                <p:cTn fill="hold" nodeType="withEffect" presetClass="entr" presetID="10" presetSubtype="0">
                                  <p:stCondLst>
                                    <p:cond delay="2240"/>
                                  </p:stCondLst>
                                  <p:childTnLst>
                                    <p:set>
                                      <p:cBhvr>
                                        <p:cTn dur="1" fill="hold">
                                          <p:stCondLst>
                                            <p:cond delay="0"/>
                                          </p:stCondLst>
                                        </p:cTn>
                                        <p:tgtEl>
                                          <p:spTgt spid="596"/>
                                        </p:tgtEl>
                                        <p:attrNameLst>
                                          <p:attrName>style.visibility</p:attrName>
                                        </p:attrNameLst>
                                      </p:cBhvr>
                                      <p:to>
                                        <p:strVal val="visible"/>
                                      </p:to>
                                    </p:set>
                                    <p:animEffect filter="fade" transition="in">
                                      <p:cBhvr>
                                        <p:cTn dur="380"/>
                                        <p:tgtEl>
                                          <p:spTgt spid="596"/>
                                        </p:tgtEl>
                                      </p:cBhvr>
                                    </p:animEffect>
                                  </p:childTnLst>
                                </p:cTn>
                              </p:par>
                              <p:par>
                                <p:cTn fill="hold" nodeType="withEffect" presetClass="entr" presetID="10" presetSubtype="0">
                                  <p:stCondLst>
                                    <p:cond delay="2320"/>
                                  </p:stCondLst>
                                  <p:childTnLst>
                                    <p:set>
                                      <p:cBhvr>
                                        <p:cTn dur="1" fill="hold">
                                          <p:stCondLst>
                                            <p:cond delay="0"/>
                                          </p:stCondLst>
                                        </p:cTn>
                                        <p:tgtEl>
                                          <p:spTgt spid="597"/>
                                        </p:tgtEl>
                                        <p:attrNameLst>
                                          <p:attrName>style.visibility</p:attrName>
                                        </p:attrNameLst>
                                      </p:cBhvr>
                                      <p:to>
                                        <p:strVal val="visible"/>
                                      </p:to>
                                    </p:set>
                                    <p:animEffect filter="fade" transition="in">
                                      <p:cBhvr>
                                        <p:cTn dur="380"/>
                                        <p:tgtEl>
                                          <p:spTgt spid="5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0"/>
          <p:cNvSpPr txBox="1"/>
          <p:nvPr>
            <p:ph type="title"/>
          </p:nvPr>
        </p:nvSpPr>
        <p:spPr>
          <a:xfrm>
            <a:off x="502920" y="274320"/>
            <a:ext cx="8138160" cy="804672"/>
          </a:xfrm>
          <a:prstGeom prst="rect">
            <a:avLst/>
          </a:prstGeom>
          <a:noFill/>
          <a:ln>
            <a:noFill/>
          </a:ln>
        </p:spPr>
        <p:txBody>
          <a:bodyPr anchorCtr="0" anchor="b" bIns="91425" lIns="91425" spcFirstLastPara="1" rIns="91425" wrap="square" tIns="45700">
            <a:noAutofit/>
          </a:bodyPr>
          <a:lstStyle/>
          <a:p>
            <a:pPr indent="0" lvl="0" marL="0" rtl="0" algn="l">
              <a:lnSpc>
                <a:spcPct val="100000"/>
              </a:lnSpc>
              <a:spcBef>
                <a:spcPts val="0"/>
              </a:spcBef>
              <a:spcAft>
                <a:spcPts val="0"/>
              </a:spcAft>
              <a:buSzPts val="1400"/>
              <a:buNone/>
            </a:pPr>
            <a:r>
              <a:rPr b="1" lang="en-US" sz="2400"/>
              <a:t>Worked Example: Score and Ranking</a:t>
            </a:r>
            <a:endParaRPr/>
          </a:p>
        </p:txBody>
      </p:sp>
      <p:sp>
        <p:nvSpPr>
          <p:cNvPr id="606" name="Google Shape;606;p30"/>
          <p:cNvSpPr txBox="1"/>
          <p:nvPr/>
        </p:nvSpPr>
        <p:spPr>
          <a:xfrm>
            <a:off x="-914400" y="6381750"/>
            <a:ext cx="2476500" cy="47625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17 Oct 2026</a:t>
            </a:r>
            <a:endParaRPr b="0" i="0" sz="1400" u="none" cap="none" strike="noStrike">
              <a:solidFill>
                <a:srgbClr val="000000"/>
              </a:solidFill>
              <a:latin typeface="Arial"/>
              <a:ea typeface="Arial"/>
              <a:cs typeface="Arial"/>
              <a:sym typeface="Arial"/>
            </a:endParaRPr>
          </a:p>
        </p:txBody>
      </p:sp>
      <p:sp>
        <p:nvSpPr>
          <p:cNvPr id="607" name="Google Shape;607;p30"/>
          <p:cNvSpPr/>
          <p:nvPr/>
        </p:nvSpPr>
        <p:spPr>
          <a:xfrm>
            <a:off x="7845552" y="6096000"/>
            <a:ext cx="841248" cy="457200"/>
          </a:xfrm>
          <a:prstGeom prst="ellipse">
            <a:avLst/>
          </a:prstGeom>
          <a:solidFill>
            <a:schemeClr val="accent1"/>
          </a:solidFill>
          <a:ln>
            <a:noFill/>
          </a:ln>
        </p:spPr>
        <p:txBody>
          <a:bodyPr anchorCtr="1"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Libre Franklin"/>
              <a:buNone/>
            </a:pPr>
            <a:fld id="{00000000-1234-1234-1234-123412341234}" type="slidenum">
              <a:rPr b="0" i="0" lang="en-US" sz="1400" u="none" cap="none" strike="noStrike">
                <a:solidFill>
                  <a:srgbClr val="FFFFFF"/>
                </a:solidFill>
                <a:latin typeface="Libre Franklin"/>
                <a:ea typeface="Libre Franklin"/>
                <a:cs typeface="Libre Franklin"/>
                <a:sym typeface="Libre Franklin"/>
              </a:rPr>
              <a:t>‹#›</a:t>
            </a:fld>
            <a:r>
              <a:rPr b="0" i="0" lang="en-US" sz="1400" u="none" cap="none" strike="noStrike">
                <a:solidFill>
                  <a:srgbClr val="FFFFFF"/>
                </a:solidFill>
                <a:latin typeface="Libre Franklin"/>
                <a:ea typeface="Libre Franklin"/>
                <a:cs typeface="Libre Franklin"/>
                <a:sym typeface="Libre Franklin"/>
              </a:rPr>
              <a:t>/21</a:t>
            </a:r>
            <a:endParaRPr b="0" i="0" sz="1400" u="none" cap="none" strike="noStrike">
              <a:solidFill>
                <a:srgbClr val="000000"/>
              </a:solidFill>
              <a:latin typeface="Arial"/>
              <a:ea typeface="Arial"/>
              <a:cs typeface="Arial"/>
              <a:sym typeface="Arial"/>
            </a:endParaRPr>
          </a:p>
        </p:txBody>
      </p:sp>
      <p:sp>
        <p:nvSpPr>
          <p:cNvPr id="608" name="Google Shape;608;p30"/>
          <p:cNvSpPr txBox="1"/>
          <p:nvPr/>
        </p:nvSpPr>
        <p:spPr>
          <a:xfrm>
            <a:off x="4495800" y="6400800"/>
            <a:ext cx="3962400" cy="457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2"/>
              </a:buClr>
              <a:buSzPts val="1400"/>
              <a:buFont typeface="Libre Baskerville"/>
              <a:buNone/>
            </a:pPr>
            <a:r>
              <a:rPr b="0" i="0" lang="en-US" sz="1400" u="none" cap="none" strike="noStrike">
                <a:solidFill>
                  <a:schemeClr val="dk2"/>
                </a:solidFill>
                <a:latin typeface="Libre Baskerville"/>
                <a:ea typeface="Libre Baskerville"/>
                <a:cs typeface="Libre Baskerville"/>
                <a:sym typeface="Libre Baskerville"/>
              </a:rPr>
              <a:t>AI-Powered Smart Worker Finder</a:t>
            </a:r>
            <a:endParaRPr b="0" i="0" sz="1400" u="none" cap="none" strike="noStrike">
              <a:solidFill>
                <a:srgbClr val="000000"/>
              </a:solidFill>
              <a:latin typeface="Arial"/>
              <a:ea typeface="Arial"/>
              <a:cs typeface="Arial"/>
              <a:sym typeface="Arial"/>
            </a:endParaRPr>
          </a:p>
        </p:txBody>
      </p:sp>
      <p:sp>
        <p:nvSpPr>
          <p:cNvPr id="2094" name="Text"/>
          <p:cNvSpPr txBox="1"/>
          <p:nvPr/>
        </p:nvSpPr>
        <p:spPr>
          <a:xfrm>
            <a:off x="457200" y="1143000"/>
            <a:ext cx="8229600" cy="27432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200" b="1" i="0" dirty="0">
                <a:solidFill>
                  <a:srgbClr val="004A7F"/>
                </a:solidFill>
                <a:latin typeface="Times New Roman"/>
                <a:ea typeface="Times New Roman"/>
                <a:cs typeface="Times New Roman"/>
              </a:rPr>
              <a:t>Score of Worker A = weight × value for each criterion, added together</a:t>
            </a:r>
          </a:p>
        </p:txBody>
      </p:sp>
      <p:sp>
        <p:nvSpPr>
          <p:cNvPr id="2095" name="Term chip"/>
          <p:cNvSpPr/>
          <p:nvPr/>
        </p:nvSpPr>
        <p:spPr>
          <a:xfrm>
            <a:off x="457200" y="1481328"/>
            <a:ext cx="1143000" cy="960120"/>
          </a:xfrm>
          <a:prstGeom prst="roundRect">
            <a:avLst>
              <a:gd name="adj" fmla="val 12000"/>
            </a:avLst>
          </a:prstGeom>
          <a:gradFill rotWithShape="1">
            <a:gsLst>
              <a:gs pos="0">
                <a:srgbClr val="006662"/>
              </a:gs>
              <a:gs pos="100000">
                <a:srgbClr val="0E9294"/>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200"/>
              </a:spcAft>
              <a:buNone/>
            </a:pPr>
            <a:r>
              <a:rPr lang="en-US" sz="1050" b="1" i="0" dirty="0">
                <a:solidFill>
                  <a:srgbClr val="FFFFFF"/>
                </a:solidFill>
                <a:latin typeface="Times New Roman"/>
                <a:ea typeface="Times New Roman"/>
                <a:cs typeface="Times New Roman"/>
              </a:rPr>
              <a:t>Skill  m</a:t>
            </a:r>
          </a:p>
          <a:p>
            <a:pPr marL="0" indent="0" algn="ctr">
              <a:lnSpc>
                <a:spcPct val="100000"/>
              </a:lnSpc>
              <a:spcBef>
                <a:spcPts val="0"/>
              </a:spcBef>
              <a:spcAft>
                <a:spcPts val="200"/>
              </a:spcAft>
              <a:buNone/>
            </a:pPr>
            <a:r>
              <a:rPr lang="en-US" sz="1200" b="1" i="0" dirty="0">
                <a:solidFill>
                  <a:srgbClr val="FFFFFF"/>
                </a:solidFill>
                <a:latin typeface="Times New Roman"/>
                <a:ea typeface="Times New Roman"/>
                <a:cs typeface="Times New Roman"/>
              </a:rPr>
              <a:t>0.30 × 1.00</a:t>
            </a:r>
          </a:p>
          <a:p>
            <a:pPr marL="0" indent="0" algn="ctr">
              <a:lnSpc>
                <a:spcPct val="100000"/>
              </a:lnSpc>
              <a:spcBef>
                <a:spcPts val="0"/>
              </a:spcBef>
              <a:spcAft>
                <a:spcPts val="0"/>
              </a:spcAft>
              <a:buNone/>
            </a:pPr>
            <a:r>
              <a:rPr lang="en-US" sz="1100" b="0" i="0" dirty="0">
                <a:solidFill>
                  <a:srgbClr val="FFFFFF"/>
                </a:solidFill>
                <a:latin typeface="Times New Roman"/>
                <a:ea typeface="Times New Roman"/>
                <a:cs typeface="Times New Roman"/>
              </a:rPr>
              <a:t>= 0.3000</a:t>
            </a:r>
          </a:p>
        </p:txBody>
      </p:sp>
      <p:sp>
        <p:nvSpPr>
          <p:cNvPr id="2096" name="Text"/>
          <p:cNvSpPr txBox="1"/>
          <p:nvPr/>
        </p:nvSpPr>
        <p:spPr>
          <a:xfrm>
            <a:off x="1600200" y="1481328"/>
            <a:ext cx="182880" cy="9601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500" b="1" i="0" dirty="0">
                <a:solidFill>
                  <a:srgbClr val="374151"/>
                </a:solidFill>
                <a:latin typeface="Times New Roman"/>
                <a:ea typeface="Times New Roman"/>
                <a:cs typeface="Times New Roman"/>
              </a:rPr>
              <a:t>+</a:t>
            </a:r>
          </a:p>
        </p:txBody>
      </p:sp>
      <p:sp>
        <p:nvSpPr>
          <p:cNvPr id="2097" name="Term chip"/>
          <p:cNvSpPr/>
          <p:nvPr/>
        </p:nvSpPr>
        <p:spPr>
          <a:xfrm>
            <a:off x="1783080" y="1481328"/>
            <a:ext cx="1143000" cy="960120"/>
          </a:xfrm>
          <a:prstGeom prst="roundRect">
            <a:avLst>
              <a:gd name="adj" fmla="val 12000"/>
            </a:avLst>
          </a:prstGeom>
          <a:gradFill rotWithShape="1">
            <a:gsLst>
              <a:gs pos="0">
                <a:srgbClr val="06617B"/>
              </a:gs>
              <a:gs pos="100000">
                <a:srgbClr val="0D8AC4"/>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200"/>
              </a:spcAft>
              <a:buNone/>
            </a:pPr>
            <a:r>
              <a:rPr lang="en-US" sz="1050" b="1" i="0" dirty="0">
                <a:solidFill>
                  <a:srgbClr val="FFFFFF"/>
                </a:solidFill>
                <a:latin typeface="Times New Roman"/>
                <a:ea typeface="Times New Roman"/>
                <a:cs typeface="Times New Roman"/>
              </a:rPr>
              <a:t>Proximity  p</a:t>
            </a:r>
          </a:p>
          <a:p>
            <a:pPr marL="0" indent="0" algn="ctr">
              <a:lnSpc>
                <a:spcPct val="100000"/>
              </a:lnSpc>
              <a:spcBef>
                <a:spcPts val="0"/>
              </a:spcBef>
              <a:spcAft>
                <a:spcPts val="200"/>
              </a:spcAft>
              <a:buNone/>
            </a:pPr>
            <a:r>
              <a:rPr lang="en-US" sz="1200" b="1" i="0" dirty="0">
                <a:solidFill>
                  <a:srgbClr val="FFFFFF"/>
                </a:solidFill>
                <a:latin typeface="Times New Roman"/>
                <a:ea typeface="Times New Roman"/>
                <a:cs typeface="Times New Roman"/>
              </a:rPr>
              <a:t>0.25 × 0.850</a:t>
            </a:r>
          </a:p>
          <a:p>
            <a:pPr marL="0" indent="0" algn="ctr">
              <a:lnSpc>
                <a:spcPct val="100000"/>
              </a:lnSpc>
              <a:spcBef>
                <a:spcPts val="0"/>
              </a:spcBef>
              <a:spcAft>
                <a:spcPts val="0"/>
              </a:spcAft>
              <a:buNone/>
            </a:pPr>
            <a:r>
              <a:rPr lang="en-US" sz="1100" b="0" i="0" dirty="0">
                <a:solidFill>
                  <a:srgbClr val="FFFFFF"/>
                </a:solidFill>
                <a:latin typeface="Times New Roman"/>
                <a:ea typeface="Times New Roman"/>
                <a:cs typeface="Times New Roman"/>
              </a:rPr>
              <a:t>= 0.2125</a:t>
            </a:r>
          </a:p>
        </p:txBody>
      </p:sp>
      <p:sp>
        <p:nvSpPr>
          <p:cNvPr id="2098" name="Text"/>
          <p:cNvSpPr txBox="1"/>
          <p:nvPr/>
        </p:nvSpPr>
        <p:spPr>
          <a:xfrm>
            <a:off x="2926080" y="1481328"/>
            <a:ext cx="182880" cy="9601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500" b="1" i="0" dirty="0">
                <a:solidFill>
                  <a:srgbClr val="374151"/>
                </a:solidFill>
                <a:latin typeface="Times New Roman"/>
                <a:ea typeface="Times New Roman"/>
                <a:cs typeface="Times New Roman"/>
              </a:rPr>
              <a:t>+</a:t>
            </a:r>
          </a:p>
        </p:txBody>
      </p:sp>
      <p:sp>
        <p:nvSpPr>
          <p:cNvPr id="2099" name="Term chip"/>
          <p:cNvSpPr/>
          <p:nvPr/>
        </p:nvSpPr>
        <p:spPr>
          <a:xfrm>
            <a:off x="3108960" y="1481328"/>
            <a:ext cx="1143000" cy="960120"/>
          </a:xfrm>
          <a:prstGeom prst="roundRect">
            <a:avLst>
              <a:gd name="adj" fmla="val 12000"/>
            </a:avLst>
          </a:prstGeom>
          <a:gradFill rotWithShape="1">
            <a:gsLst>
              <a:gs pos="0">
                <a:srgbClr val="3050AA"/>
              </a:gs>
              <a:gs pos="100000">
                <a:srgbClr val="6F73D7"/>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200"/>
              </a:spcAft>
              <a:buNone/>
            </a:pPr>
            <a:r>
              <a:rPr lang="en-US" sz="1050" b="1" i="0" dirty="0">
                <a:solidFill>
                  <a:srgbClr val="FFFFFF"/>
                </a:solidFill>
                <a:latin typeface="Times New Roman"/>
                <a:ea typeface="Times New Roman"/>
                <a:cs typeface="Times New Roman"/>
              </a:rPr>
              <a:t>Quality  q</a:t>
            </a:r>
          </a:p>
          <a:p>
            <a:pPr marL="0" indent="0" algn="ctr">
              <a:lnSpc>
                <a:spcPct val="100000"/>
              </a:lnSpc>
              <a:spcBef>
                <a:spcPts val="0"/>
              </a:spcBef>
              <a:spcAft>
                <a:spcPts val="200"/>
              </a:spcAft>
              <a:buNone/>
            </a:pPr>
            <a:r>
              <a:rPr lang="en-US" sz="1200" b="1" i="0" dirty="0">
                <a:solidFill>
                  <a:srgbClr val="FFFFFF"/>
                </a:solidFill>
                <a:latin typeface="Times New Roman"/>
                <a:ea typeface="Times New Roman"/>
                <a:cs typeface="Times New Roman"/>
              </a:rPr>
              <a:t>0.20 × 0.937</a:t>
            </a:r>
          </a:p>
          <a:p>
            <a:pPr marL="0" indent="0" algn="ctr">
              <a:lnSpc>
                <a:spcPct val="100000"/>
              </a:lnSpc>
              <a:spcBef>
                <a:spcPts val="0"/>
              </a:spcBef>
              <a:spcAft>
                <a:spcPts val="0"/>
              </a:spcAft>
              <a:buNone/>
            </a:pPr>
            <a:r>
              <a:rPr lang="en-US" sz="1100" b="0" i="0" dirty="0">
                <a:solidFill>
                  <a:srgbClr val="FFFFFF"/>
                </a:solidFill>
                <a:latin typeface="Times New Roman"/>
                <a:ea typeface="Times New Roman"/>
                <a:cs typeface="Times New Roman"/>
              </a:rPr>
              <a:t>= 0.1874</a:t>
            </a:r>
          </a:p>
        </p:txBody>
      </p:sp>
      <p:sp>
        <p:nvSpPr>
          <p:cNvPr id="2100" name="Text"/>
          <p:cNvSpPr txBox="1"/>
          <p:nvPr/>
        </p:nvSpPr>
        <p:spPr>
          <a:xfrm>
            <a:off x="4251960" y="1481328"/>
            <a:ext cx="182880" cy="9601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500" b="1" i="0" dirty="0">
                <a:solidFill>
                  <a:srgbClr val="374151"/>
                </a:solidFill>
                <a:latin typeface="Times New Roman"/>
                <a:ea typeface="Times New Roman"/>
                <a:cs typeface="Times New Roman"/>
              </a:rPr>
              <a:t>+</a:t>
            </a:r>
          </a:p>
        </p:txBody>
      </p:sp>
      <p:sp>
        <p:nvSpPr>
          <p:cNvPr id="2101" name="Term chip"/>
          <p:cNvSpPr/>
          <p:nvPr/>
        </p:nvSpPr>
        <p:spPr>
          <a:xfrm>
            <a:off x="4434840" y="1481328"/>
            <a:ext cx="1143000" cy="960120"/>
          </a:xfrm>
          <a:prstGeom prst="roundRect">
            <a:avLst>
              <a:gd name="adj" fmla="val 12000"/>
            </a:avLst>
          </a:prstGeom>
          <a:gradFill rotWithShape="1">
            <a:gsLst>
              <a:gs pos="0">
                <a:srgbClr val="6E3A98"/>
              </a:gs>
              <a:gs pos="100000">
                <a:srgbClr val="A75EB7"/>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200"/>
              </a:spcAft>
              <a:buNone/>
            </a:pPr>
            <a:r>
              <a:rPr lang="en-US" sz="1050" b="1" i="0" dirty="0">
                <a:solidFill>
                  <a:srgbClr val="FFFFFF"/>
                </a:solidFill>
                <a:latin typeface="Times New Roman"/>
                <a:ea typeface="Times New Roman"/>
                <a:cs typeface="Times New Roman"/>
              </a:rPr>
              <a:t>Time  t</a:t>
            </a:r>
          </a:p>
          <a:p>
            <a:pPr marL="0" indent="0" algn="ctr">
              <a:lnSpc>
                <a:spcPct val="100000"/>
              </a:lnSpc>
              <a:spcBef>
                <a:spcPts val="0"/>
              </a:spcBef>
              <a:spcAft>
                <a:spcPts val="200"/>
              </a:spcAft>
              <a:buNone/>
            </a:pPr>
            <a:r>
              <a:rPr lang="en-US" sz="1200" b="1" i="0" dirty="0">
                <a:solidFill>
                  <a:srgbClr val="FFFFFF"/>
                </a:solidFill>
                <a:latin typeface="Times New Roman"/>
                <a:ea typeface="Times New Roman"/>
                <a:cs typeface="Times New Roman"/>
              </a:rPr>
              <a:t>0.15 × 0.750</a:t>
            </a:r>
          </a:p>
          <a:p>
            <a:pPr marL="0" indent="0" algn="ctr">
              <a:lnSpc>
                <a:spcPct val="100000"/>
              </a:lnSpc>
              <a:spcBef>
                <a:spcPts val="0"/>
              </a:spcBef>
              <a:spcAft>
                <a:spcPts val="0"/>
              </a:spcAft>
              <a:buNone/>
            </a:pPr>
            <a:r>
              <a:rPr lang="en-US" sz="1100" b="0" i="0" dirty="0">
                <a:solidFill>
                  <a:srgbClr val="FFFFFF"/>
                </a:solidFill>
                <a:latin typeface="Times New Roman"/>
                <a:ea typeface="Times New Roman"/>
                <a:cs typeface="Times New Roman"/>
              </a:rPr>
              <a:t>= 0.1125</a:t>
            </a:r>
          </a:p>
        </p:txBody>
      </p:sp>
      <p:sp>
        <p:nvSpPr>
          <p:cNvPr id="2102" name="Text"/>
          <p:cNvSpPr txBox="1"/>
          <p:nvPr/>
        </p:nvSpPr>
        <p:spPr>
          <a:xfrm>
            <a:off x="5577840" y="1481328"/>
            <a:ext cx="182880" cy="9601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500" b="1" i="0" dirty="0">
                <a:solidFill>
                  <a:srgbClr val="374151"/>
                </a:solidFill>
                <a:latin typeface="Times New Roman"/>
                <a:ea typeface="Times New Roman"/>
                <a:cs typeface="Times New Roman"/>
              </a:rPr>
              <a:t>+</a:t>
            </a:r>
          </a:p>
        </p:txBody>
      </p:sp>
      <p:sp>
        <p:nvSpPr>
          <p:cNvPr id="2103" name="Term chip"/>
          <p:cNvSpPr/>
          <p:nvPr/>
        </p:nvSpPr>
        <p:spPr>
          <a:xfrm>
            <a:off x="5760720" y="1481328"/>
            <a:ext cx="1143000" cy="960120"/>
          </a:xfrm>
          <a:prstGeom prst="roundRect">
            <a:avLst>
              <a:gd name="adj" fmla="val 12000"/>
            </a:avLst>
          </a:prstGeom>
          <a:gradFill rotWithShape="1">
            <a:gsLst>
              <a:gs pos="0">
                <a:srgbClr val="902A66"/>
              </a:gs>
              <a:gs pos="100000">
                <a:srgbClr val="C25485"/>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200"/>
              </a:spcAft>
              <a:buNone/>
            </a:pPr>
            <a:r>
              <a:rPr lang="en-US" sz="1050" b="1" i="0" dirty="0">
                <a:solidFill>
                  <a:srgbClr val="FFFFFF"/>
                </a:solidFill>
                <a:latin typeface="Times New Roman"/>
                <a:ea typeface="Times New Roman"/>
                <a:cs typeface="Times New Roman"/>
              </a:rPr>
              <a:t>Cost  c</a:t>
            </a:r>
          </a:p>
          <a:p>
            <a:pPr marL="0" indent="0" algn="ctr">
              <a:lnSpc>
                <a:spcPct val="100000"/>
              </a:lnSpc>
              <a:spcBef>
                <a:spcPts val="0"/>
              </a:spcBef>
              <a:spcAft>
                <a:spcPts val="200"/>
              </a:spcAft>
              <a:buNone/>
            </a:pPr>
            <a:r>
              <a:rPr lang="en-US" sz="1200" b="1" i="0" dirty="0">
                <a:solidFill>
                  <a:srgbClr val="FFFFFF"/>
                </a:solidFill>
                <a:latin typeface="Times New Roman"/>
                <a:ea typeface="Times New Roman"/>
                <a:cs typeface="Times New Roman"/>
              </a:rPr>
              <a:t>0.10 × 0.375</a:t>
            </a:r>
          </a:p>
          <a:p>
            <a:pPr marL="0" indent="0" algn="ctr">
              <a:lnSpc>
                <a:spcPct val="100000"/>
              </a:lnSpc>
              <a:spcBef>
                <a:spcPts val="0"/>
              </a:spcBef>
              <a:spcAft>
                <a:spcPts val="0"/>
              </a:spcAft>
              <a:buNone/>
            </a:pPr>
            <a:r>
              <a:rPr lang="en-US" sz="1100" b="0" i="0" dirty="0">
                <a:solidFill>
                  <a:srgbClr val="FFFFFF"/>
                </a:solidFill>
                <a:latin typeface="Times New Roman"/>
                <a:ea typeface="Times New Roman"/>
                <a:cs typeface="Times New Roman"/>
              </a:rPr>
              <a:t>= 0.0375</a:t>
            </a:r>
          </a:p>
        </p:txBody>
      </p:sp>
      <p:sp>
        <p:nvSpPr>
          <p:cNvPr id="2104" name="Total chip"/>
          <p:cNvSpPr/>
          <p:nvPr/>
        </p:nvSpPr>
        <p:spPr>
          <a:xfrm>
            <a:off x="7086600" y="1481328"/>
            <a:ext cx="1600200" cy="960120"/>
          </a:xfrm>
          <a:prstGeom prst="roundRect">
            <a:avLst>
              <a:gd name="adj" fmla="val 12000"/>
            </a:avLst>
          </a:prstGeom>
          <a:gradFill rotWithShape="1">
            <a:gsLst>
              <a:gs pos="0">
                <a:srgbClr val="036A34"/>
              </a:gs>
              <a:gs pos="100000">
                <a:srgbClr val="309656"/>
              </a:gs>
            </a:gsLst>
            <a:lin ang="2700000" scaled="0"/>
          </a:gradFill>
          <a:ln w="15875">
            <a:solidFill>
              <a:srgbClr val="FFFFFF"/>
            </a:solidFill>
          </a:ln>
          <a:effectLst>
            <a:outerShdw blurRad="63500" rotWithShape="0" algn="t" dir="5400000" dist="31750">
              <a:srgbClr val="000000">
                <a:alpha val="21961"/>
              </a:srgbClr>
            </a:outerShdw>
          </a:effectLst>
        </p:spPr>
        <p:txBody>
          <a:bodyPr wrap="square" lIns="64008" tIns="36576" rIns="64008" bIns="36576" anchor="ctr">
            <a:noAutofit/>
          </a:bodyPr>
          <a:lstStyle/>
          <a:p>
            <a:pPr marL="0" indent="0" algn="ctr">
              <a:lnSpc>
                <a:spcPct val="100000"/>
              </a:lnSpc>
              <a:spcBef>
                <a:spcPts val="0"/>
              </a:spcBef>
              <a:spcAft>
                <a:spcPts val="200"/>
              </a:spcAft>
              <a:buNone/>
            </a:pPr>
            <a:r>
              <a:rPr lang="en-US" sz="1050" b="1" i="0" dirty="0">
                <a:solidFill>
                  <a:srgbClr val="FFFFFF"/>
                </a:solidFill>
                <a:latin typeface="Times New Roman"/>
                <a:ea typeface="Times New Roman"/>
                <a:cs typeface="Times New Roman"/>
              </a:rPr>
              <a:t>Score(A)</a:t>
            </a:r>
          </a:p>
          <a:p>
            <a:pPr marL="0" indent="0" algn="ctr">
              <a:lnSpc>
                <a:spcPct val="100000"/>
              </a:lnSpc>
              <a:spcBef>
                <a:spcPts val="0"/>
              </a:spcBef>
              <a:spcAft>
                <a:spcPts val="200"/>
              </a:spcAft>
              <a:buNone/>
            </a:pPr>
            <a:r>
              <a:rPr lang="en-US" sz="1600" b="1" i="0" dirty="0">
                <a:solidFill>
                  <a:srgbClr val="FFFFFF"/>
                </a:solidFill>
                <a:latin typeface="Times New Roman"/>
                <a:ea typeface="Times New Roman"/>
                <a:cs typeface="Times New Roman"/>
              </a:rPr>
              <a:t>= 0.850</a:t>
            </a:r>
          </a:p>
          <a:p>
            <a:pPr marL="0" indent="0" algn="ctr">
              <a:lnSpc>
                <a:spcPct val="100000"/>
              </a:lnSpc>
              <a:spcBef>
                <a:spcPts val="0"/>
              </a:spcBef>
              <a:spcAft>
                <a:spcPts val="0"/>
              </a:spcAft>
              <a:buNone/>
            </a:pPr>
            <a:r>
              <a:rPr lang="en-US" sz="1000" b="0" i="0" dirty="0">
                <a:solidFill>
                  <a:srgbClr val="FFFFFF"/>
                </a:solidFill>
                <a:latin typeface="Times New Roman"/>
                <a:ea typeface="Times New Roman"/>
                <a:cs typeface="Times New Roman"/>
              </a:rPr>
              <a:t>sum of terms</a:t>
            </a:r>
          </a:p>
        </p:txBody>
      </p:sp>
      <p:graphicFrame>
        <p:nvGraphicFramePr>
          <p:cNvPr id="2105" name="Chart"/>
          <p:cNvGraphicFramePr/>
          <p:nvPr/>
        </p:nvGraphicFramePr>
        <p:xfrm>
          <a:off x="457200" y="2578608"/>
          <a:ext cx="5120640" cy="2148840"/>
        </p:xfrm>
        <a:graphic>
          <a:graphicData uri="http://schemas.openxmlformats.org/drawingml/2006/chart">
            <c:chart r:id="rId3"/>
          </a:graphicData>
        </a:graphic>
      </p:graphicFrame>
      <p:sp>
        <p:nvSpPr>
          <p:cNvPr id="2106" name="Text"/>
          <p:cNvSpPr txBox="1"/>
          <p:nvPr/>
        </p:nvSpPr>
        <p:spPr>
          <a:xfrm>
            <a:off x="5852160" y="2606040"/>
            <a:ext cx="2834640" cy="274320"/>
          </a:xfrm>
          <a:prstGeom prst="rect">
            <a:avLst/>
          </a:prstGeom>
          <a:noFill/>
          <a:ln>
            <a:noFill/>
          </a:ln>
        </p:spPr>
        <p:txBody>
          <a:bodyPr wrap="square" lIns="0" tIns="0" rIns="0" bIns="0" anchor="ctr">
            <a:noAutofit/>
          </a:bodyPr>
          <a:lstStyle/>
          <a:p>
            <a:pPr marL="0" indent="0" algn="ctr">
              <a:lnSpc>
                <a:spcPct val="100000"/>
              </a:lnSpc>
              <a:spcBef>
                <a:spcPts val="0"/>
              </a:spcBef>
              <a:spcAft>
                <a:spcPts val="0"/>
              </a:spcAft>
              <a:buNone/>
            </a:pPr>
            <a:r>
              <a:rPr lang="en-US" sz="1200" b="1" i="0" dirty="0">
                <a:solidFill>
                  <a:srgbClr val="004A7F"/>
                </a:solidFill>
                <a:latin typeface="Times New Roman"/>
                <a:ea typeface="Times New Roman"/>
                <a:cs typeface="Times New Roman"/>
              </a:rPr>
              <a:t>Final ranking</a:t>
            </a:r>
          </a:p>
        </p:txBody>
      </p:sp>
      <p:sp>
        <p:nvSpPr>
          <p:cNvPr id="2107" name="Podium"/>
          <p:cNvSpPr/>
          <p:nvPr/>
        </p:nvSpPr>
        <p:spPr>
          <a:xfrm>
            <a:off x="5852160" y="3657600"/>
            <a:ext cx="896112" cy="1005840"/>
          </a:xfrm>
          <a:prstGeom prst="rect">
            <a:avLst/>
          </a:prstGeom>
          <a:gradFill rotWithShape="1">
            <a:gsLst>
              <a:gs pos="0">
                <a:srgbClr val="3050AA"/>
              </a:gs>
              <a:gs pos="100000">
                <a:srgbClr val="6F73D7"/>
              </a:gs>
            </a:gsLst>
            <a:lin ang="5400000" scaled="0"/>
          </a:gradFill>
          <a:ln w="12700">
            <a:solidFill>
              <a:srgbClr val="FFFFFF"/>
            </a:solidFill>
          </a:ln>
          <a:effectLst>
            <a:outerShdw blurRad="63500" rotWithShape="0" algn="t" dir="5400000" dist="31750">
              <a:srgbClr val="000000">
                <a:alpha val="21961"/>
              </a:srgbClr>
            </a:outerShdw>
          </a:effectLst>
        </p:spPr>
        <p:txBody>
          <a:bodyPr wrap="square" lIns="18288" tIns="27432" rIns="18288" bIns="27432" anchor="ctr">
            <a:noAutofit/>
          </a:bodyPr>
          <a:lstStyle/>
          <a:p>
            <a:pPr marL="0" indent="0" algn="ctr">
              <a:lnSpc>
                <a:spcPct val="100000"/>
              </a:lnSpc>
              <a:spcBef>
                <a:spcPts val="0"/>
              </a:spcBef>
              <a:spcAft>
                <a:spcPts val="100"/>
              </a:spcAft>
              <a:buNone/>
            </a:pPr>
            <a:r>
              <a:rPr lang="en-US" sz="1050" b="1" i="0" dirty="0">
                <a:solidFill>
                  <a:srgbClr val="FFFFFF"/>
                </a:solidFill>
                <a:latin typeface="Times New Roman"/>
                <a:ea typeface="Times New Roman"/>
                <a:cs typeface="Times New Roman"/>
              </a:rPr>
              <a:t>Worker B</a:t>
            </a:r>
          </a:p>
          <a:p>
            <a:pPr marL="0" indent="0" algn="ctr">
              <a:lnSpc>
                <a:spcPct val="100000"/>
              </a:lnSpc>
              <a:spcBef>
                <a:spcPts val="0"/>
              </a:spcBef>
              <a:spcAft>
                <a:spcPts val="100"/>
              </a:spcAft>
              <a:buNone/>
            </a:pPr>
            <a:r>
              <a:rPr lang="en-US" sz="1150" b="1" i="0" dirty="0">
                <a:solidFill>
                  <a:srgbClr val="FFFFFF"/>
                </a:solidFill>
                <a:latin typeface="Times New Roman"/>
                <a:ea typeface="Times New Roman"/>
                <a:cs typeface="Times New Roman"/>
              </a:rPr>
              <a:t>0.837</a:t>
            </a:r>
          </a:p>
          <a:p>
            <a:pPr marL="0" indent="0" algn="ctr">
              <a:lnSpc>
                <a:spcPct val="100000"/>
              </a:lnSpc>
              <a:spcBef>
                <a:spcPts val="0"/>
              </a:spcBef>
              <a:spcAft>
                <a:spcPts val="0"/>
              </a:spcAft>
              <a:buNone/>
            </a:pPr>
            <a:r>
              <a:rPr lang="en-US" sz="950" b="0" i="1" dirty="0">
                <a:solidFill>
                  <a:srgbClr val="FFFFFF"/>
                </a:solidFill>
                <a:latin typeface="Times New Roman"/>
                <a:ea typeface="Times New Roman"/>
                <a:cs typeface="Times New Roman"/>
              </a:rPr>
              <a:t>Alternative</a:t>
            </a:r>
          </a:p>
        </p:txBody>
      </p:sp>
      <p:sp>
        <p:nvSpPr>
          <p:cNvPr id="2108" name="Podium"/>
          <p:cNvSpPr/>
          <p:nvPr/>
        </p:nvSpPr>
        <p:spPr>
          <a:xfrm>
            <a:off x="6821424" y="3291840"/>
            <a:ext cx="896112" cy="1371600"/>
          </a:xfrm>
          <a:prstGeom prst="rect">
            <a:avLst/>
          </a:prstGeom>
          <a:gradFill rotWithShape="1">
            <a:gsLst>
              <a:gs pos="0">
                <a:srgbClr val="036A34"/>
              </a:gs>
              <a:gs pos="100000">
                <a:srgbClr val="309656"/>
              </a:gs>
            </a:gsLst>
            <a:lin ang="5400000" scaled="0"/>
          </a:gradFill>
          <a:ln w="12700">
            <a:solidFill>
              <a:srgbClr val="FFFFFF"/>
            </a:solidFill>
          </a:ln>
          <a:effectLst>
            <a:outerShdw blurRad="63500" rotWithShape="0" algn="t" dir="5400000" dist="31750">
              <a:srgbClr val="000000">
                <a:alpha val="21961"/>
              </a:srgbClr>
            </a:outerShdw>
          </a:effectLst>
        </p:spPr>
        <p:txBody>
          <a:bodyPr wrap="square" lIns="18288" tIns="27432" rIns="18288" bIns="27432" anchor="ctr">
            <a:noAutofit/>
          </a:bodyPr>
          <a:lstStyle/>
          <a:p>
            <a:pPr marL="0" indent="0" algn="ctr">
              <a:lnSpc>
                <a:spcPct val="100000"/>
              </a:lnSpc>
              <a:spcBef>
                <a:spcPts val="0"/>
              </a:spcBef>
              <a:spcAft>
                <a:spcPts val="100"/>
              </a:spcAft>
              <a:buNone/>
            </a:pPr>
            <a:r>
              <a:rPr lang="en-US" sz="1050" b="1" i="0" dirty="0">
                <a:solidFill>
                  <a:srgbClr val="FFFFFF"/>
                </a:solidFill>
                <a:latin typeface="Times New Roman"/>
                <a:ea typeface="Times New Roman"/>
                <a:cs typeface="Times New Roman"/>
              </a:rPr>
              <a:t>Worker A</a:t>
            </a:r>
          </a:p>
          <a:p>
            <a:pPr marL="0" indent="0" algn="ctr">
              <a:lnSpc>
                <a:spcPct val="100000"/>
              </a:lnSpc>
              <a:spcBef>
                <a:spcPts val="0"/>
              </a:spcBef>
              <a:spcAft>
                <a:spcPts val="100"/>
              </a:spcAft>
              <a:buNone/>
            </a:pPr>
            <a:r>
              <a:rPr lang="en-US" sz="1150" b="1" i="0" dirty="0">
                <a:solidFill>
                  <a:srgbClr val="FFFFFF"/>
                </a:solidFill>
                <a:latin typeface="Times New Roman"/>
                <a:ea typeface="Times New Roman"/>
                <a:cs typeface="Times New Roman"/>
              </a:rPr>
              <a:t>0.850</a:t>
            </a:r>
          </a:p>
          <a:p>
            <a:pPr marL="0" indent="0" algn="ctr">
              <a:lnSpc>
                <a:spcPct val="100000"/>
              </a:lnSpc>
              <a:spcBef>
                <a:spcPts val="0"/>
              </a:spcBef>
              <a:spcAft>
                <a:spcPts val="0"/>
              </a:spcAft>
              <a:buNone/>
            </a:pPr>
            <a:r>
              <a:rPr lang="en-US" sz="950" b="0" i="1" dirty="0">
                <a:solidFill>
                  <a:srgbClr val="FFFFFF"/>
                </a:solidFill>
                <a:latin typeface="Times New Roman"/>
                <a:ea typeface="Times New Roman"/>
                <a:cs typeface="Times New Roman"/>
              </a:rPr>
              <a:t>Recommended</a:t>
            </a:r>
          </a:p>
        </p:txBody>
      </p:sp>
      <p:sp>
        <p:nvSpPr>
          <p:cNvPr id="2109" name="Podium"/>
          <p:cNvSpPr/>
          <p:nvPr/>
        </p:nvSpPr>
        <p:spPr>
          <a:xfrm>
            <a:off x="7790688" y="3886200"/>
            <a:ext cx="896112" cy="777240"/>
          </a:xfrm>
          <a:prstGeom prst="rect">
            <a:avLst/>
          </a:prstGeom>
          <a:gradFill rotWithShape="1">
            <a:gsLst>
              <a:gs pos="0">
                <a:srgbClr val="85307C"/>
              </a:gs>
              <a:gs pos="100000">
                <a:srgbClr val="BC5694"/>
              </a:gs>
            </a:gsLst>
            <a:lin ang="5400000" scaled="0"/>
          </a:gradFill>
          <a:ln w="12700">
            <a:solidFill>
              <a:srgbClr val="FFFFFF"/>
            </a:solidFill>
          </a:ln>
          <a:effectLst>
            <a:outerShdw blurRad="63500" rotWithShape="0" algn="t" dir="5400000" dist="31750">
              <a:srgbClr val="000000">
                <a:alpha val="21961"/>
              </a:srgbClr>
            </a:outerShdw>
          </a:effectLst>
        </p:spPr>
        <p:txBody>
          <a:bodyPr wrap="square" lIns="18288" tIns="27432" rIns="18288" bIns="27432" anchor="ctr">
            <a:noAutofit/>
          </a:bodyPr>
          <a:lstStyle/>
          <a:p>
            <a:pPr marL="0" indent="0" algn="ctr">
              <a:lnSpc>
                <a:spcPct val="100000"/>
              </a:lnSpc>
              <a:spcBef>
                <a:spcPts val="0"/>
              </a:spcBef>
              <a:spcAft>
                <a:spcPts val="100"/>
              </a:spcAft>
              <a:buNone/>
            </a:pPr>
            <a:r>
              <a:rPr lang="en-US" sz="1050" b="1" i="0" dirty="0">
                <a:solidFill>
                  <a:srgbClr val="FFFFFF"/>
                </a:solidFill>
                <a:latin typeface="Times New Roman"/>
                <a:ea typeface="Times New Roman"/>
                <a:cs typeface="Times New Roman"/>
              </a:rPr>
              <a:t>Worker C</a:t>
            </a:r>
          </a:p>
          <a:p>
            <a:pPr marL="0" indent="0" algn="ctr">
              <a:lnSpc>
                <a:spcPct val="100000"/>
              </a:lnSpc>
              <a:spcBef>
                <a:spcPts val="0"/>
              </a:spcBef>
              <a:spcAft>
                <a:spcPts val="100"/>
              </a:spcAft>
              <a:buNone/>
            </a:pPr>
            <a:r>
              <a:rPr lang="en-US" sz="1150" b="1" i="0" dirty="0">
                <a:solidFill>
                  <a:srgbClr val="FFFFFF"/>
                </a:solidFill>
                <a:latin typeface="Times New Roman"/>
                <a:ea typeface="Times New Roman"/>
                <a:cs typeface="Times New Roman"/>
              </a:rPr>
              <a:t>0.700</a:t>
            </a:r>
          </a:p>
          <a:p>
            <a:pPr marL="0" indent="0" algn="ctr">
              <a:lnSpc>
                <a:spcPct val="100000"/>
              </a:lnSpc>
              <a:spcBef>
                <a:spcPts val="0"/>
              </a:spcBef>
              <a:spcAft>
                <a:spcPts val="0"/>
              </a:spcAft>
              <a:buNone/>
            </a:pPr>
            <a:r>
              <a:rPr lang="en-US" sz="950" b="0" i="1" dirty="0">
                <a:solidFill>
                  <a:srgbClr val="FFFFFF"/>
                </a:solidFill>
                <a:latin typeface="Times New Roman"/>
                <a:ea typeface="Times New Roman"/>
                <a:cs typeface="Times New Roman"/>
              </a:rPr>
              <a:t>Last</a:t>
            </a:r>
          </a:p>
        </p:txBody>
      </p:sp>
      <p:sp>
        <p:nvSpPr>
          <p:cNvPr id="2110" name="Note card"/>
          <p:cNvSpPr/>
          <p:nvPr/>
        </p:nvSpPr>
        <p:spPr>
          <a:xfrm>
            <a:off x="457200" y="4846320"/>
            <a:ext cx="4023360" cy="1097280"/>
          </a:xfrm>
          <a:prstGeom prst="roundRect">
            <a:avLst>
              <a:gd name="adj" fmla="val 9000"/>
            </a:avLst>
          </a:prstGeom>
          <a:gradFill rotWithShape="1">
            <a:gsLst>
              <a:gs pos="0">
                <a:srgbClr val="FFFFFF"/>
              </a:gs>
              <a:gs pos="100000">
                <a:srgbClr val="DCF5FF"/>
              </a:gs>
            </a:gsLst>
            <a:lin ang="5400000" scaled="0"/>
          </a:gradFill>
          <a:ln w="15875">
            <a:solidFill>
              <a:srgbClr val="0F87A7"/>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111" name="Text"/>
          <p:cNvSpPr txBox="1"/>
          <p:nvPr/>
        </p:nvSpPr>
        <p:spPr>
          <a:xfrm>
            <a:off x="594360" y="4901184"/>
            <a:ext cx="3749040" cy="987552"/>
          </a:xfrm>
          <a:prstGeom prst="rect">
            <a:avLst/>
          </a:prstGeom>
          <a:noFill/>
          <a:ln>
            <a:noFill/>
          </a:ln>
        </p:spPr>
        <p:txBody>
          <a:bodyPr wrap="square" lIns="0" tIns="0" rIns="0" bIns="0" anchor="ctr">
            <a:noAutofit/>
          </a:bodyPr>
          <a:lstStyle/>
          <a:p>
            <a:pPr marL="0" indent="0" algn="l">
              <a:lnSpc>
                <a:spcPct val="100000"/>
              </a:lnSpc>
              <a:spcBef>
                <a:spcPts val="0"/>
              </a:spcBef>
              <a:spcAft>
                <a:spcPts val="200"/>
              </a:spcAft>
              <a:buNone/>
            </a:pPr>
            <a:r>
              <a:rPr lang="en-US" sz="1150" b="1" i="0" dirty="0">
                <a:solidFill>
                  <a:srgbClr val="005065"/>
                </a:solidFill>
                <a:latin typeface="Times New Roman"/>
                <a:ea typeface="Times New Roman"/>
                <a:cs typeface="Times New Roman"/>
              </a:rPr>
              <a:t>Why A wins</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B is closer (0.8 km) and cheaper (Rs 400), but A arrives sooner (15 min against 25 min) and has the better rating record (0.90 against 0.80). So A scores 0.850 and B 0.837.</a:t>
            </a:r>
          </a:p>
        </p:txBody>
      </p:sp>
      <p:sp>
        <p:nvSpPr>
          <p:cNvPr id="2112" name="Note card"/>
          <p:cNvSpPr/>
          <p:nvPr/>
        </p:nvSpPr>
        <p:spPr>
          <a:xfrm>
            <a:off x="4663440" y="4846320"/>
            <a:ext cx="4023360" cy="1097280"/>
          </a:xfrm>
          <a:prstGeom prst="roundRect">
            <a:avLst>
              <a:gd name="adj" fmla="val 9000"/>
            </a:avLst>
          </a:prstGeom>
          <a:gradFill rotWithShape="1">
            <a:gsLst>
              <a:gs pos="0">
                <a:srgbClr val="FFFFFF"/>
              </a:gs>
              <a:gs pos="100000">
                <a:srgbClr val="F1EEFC"/>
              </a:gs>
            </a:gsLst>
            <a:lin ang="5400000" scaled="0"/>
          </a:gradFill>
          <a:ln w="15875">
            <a:solidFill>
              <a:srgbClr val="8465C2"/>
            </a:solidFill>
          </a:ln>
          <a:effectLst>
            <a:outerShdw blurRad="63500" rotWithShape="0" algn="t" dir="5400000" dist="31750">
              <a:srgbClr val="000000">
                <a:alpha val="21961"/>
              </a:srgbClr>
            </a:outerShdw>
          </a:effectLst>
        </p:spPr>
        <p:txBody>
          <a:bodyPr wrap="square" lIns="64008" tIns="36576" rIns="64008" bIns="36576" anchor="ctr">
            <a:noAutofit/>
          </a:bodyPr>
          <a:lstStyle/>
          <a:p>
            <a:endParaRPr lang="en-US"/>
          </a:p>
        </p:txBody>
      </p:sp>
      <p:sp>
        <p:nvSpPr>
          <p:cNvPr id="2113" name="Text"/>
          <p:cNvSpPr txBox="1"/>
          <p:nvPr/>
        </p:nvSpPr>
        <p:spPr>
          <a:xfrm>
            <a:off x="4800600" y="4901184"/>
            <a:ext cx="3749040" cy="987552"/>
          </a:xfrm>
          <a:prstGeom prst="rect">
            <a:avLst/>
          </a:prstGeom>
          <a:noFill/>
          <a:ln>
            <a:noFill/>
          </a:ln>
        </p:spPr>
        <p:txBody>
          <a:bodyPr wrap="square" lIns="0" tIns="0" rIns="0" bIns="0" anchor="ctr">
            <a:noAutofit/>
          </a:bodyPr>
          <a:lstStyle/>
          <a:p>
            <a:pPr marL="0" indent="0" algn="l">
              <a:lnSpc>
                <a:spcPct val="100000"/>
              </a:lnSpc>
              <a:spcBef>
                <a:spcPts val="0"/>
              </a:spcBef>
              <a:spcAft>
                <a:spcPts val="200"/>
              </a:spcAft>
              <a:buNone/>
            </a:pPr>
            <a:r>
              <a:rPr lang="en-US" sz="1150" b="1" i="0" dirty="0">
                <a:solidFill>
                  <a:srgbClr val="513384"/>
                </a:solidFill>
                <a:latin typeface="Times New Roman"/>
                <a:ea typeface="Times New Roman"/>
                <a:cs typeface="Times New Roman"/>
              </a:rPr>
              <a:t>Learning update</a:t>
            </a:r>
          </a:p>
          <a:p>
            <a:pPr marL="0" indent="0" algn="l">
              <a:lnSpc>
                <a:spcPct val="100000"/>
              </a:lnSpc>
              <a:spcBef>
                <a:spcPts val="0"/>
              </a:spcBef>
              <a:spcAft>
                <a:spcPts val="0"/>
              </a:spcAft>
              <a:buNone/>
            </a:pPr>
            <a:r>
              <a:rPr lang="en-US" sz="1050" b="0" i="0" dirty="0">
                <a:solidFill>
                  <a:srgbClr val="374151"/>
                </a:solidFill>
                <a:latin typeface="Times New Roman"/>
                <a:ea typeface="Times New Roman"/>
                <a:cs typeface="Times New Roman"/>
              </a:rPr>
              <a:t>After the job, A is rated r = 0.80 and n becomes 30 + 1 = 31. New average: μ = 0.90 + (0.80 − 0.90)/31 = 0.897. The rating was a little below average, so μ moves slightly down.</a:t>
            </a:r>
          </a:p>
        </p:txBody>
      </p:sp>
    </p:spTree>
  </p:cSld>
  <p:clrMapOvr>
    <a:masterClrMapping/>
  </p:clrMapOvr>
  <mc:AlternateContent>
    <mc:Choice Requires="p14">
      <p:transition spd="slow" p14:dur="1400">
        <p14:ripple/>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09"/>
                                        </p:tgtEl>
                                        <p:attrNameLst>
                                          <p:attrName>style.visibility</p:attrName>
                                        </p:attrNameLst>
                                      </p:cBhvr>
                                      <p:to>
                                        <p:strVal val="visible"/>
                                      </p:to>
                                    </p:set>
                                    <p:animEffect filter="fade" transition="in">
                                      <p:cBhvr>
                                        <p:cTn dur="900"/>
                                        <p:tgtEl>
                                          <p:spTgt spid="609"/>
                                        </p:tgtEl>
                                      </p:cBhvr>
                                    </p:animEffect>
                                  </p:childTnLst>
                                </p:cTn>
                              </p:par>
                              <p:par>
                                <p:cTn fill="hold" nodeType="withEffect" presetClass="entr" presetID="10" presetSubtype="0">
                                  <p:stCondLst>
                                    <p:cond delay="70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par>
                                <p:cTn fill="hold" nodeType="withEffect" presetClass="entr" presetID="2" presetSubtype="8">
                                  <p:stCondLst>
                                    <p:cond delay="2000"/>
                                  </p:stCondLst>
                                  <p:childTnLst>
                                    <p:set>
                                      <p:cBhvr>
                                        <p:cTn dur="1" fill="hold">
                                          <p:stCondLst>
                                            <p:cond delay="0"/>
                                          </p:stCondLst>
                                        </p:cTn>
                                        <p:tgtEl>
                                          <p:spTgt spid="611"/>
                                        </p:tgtEl>
                                        <p:attrNameLst>
                                          <p:attrName>style.visibility</p:attrName>
                                        </p:attrNameLst>
                                      </p:cBhvr>
                                      <p:to>
                                        <p:strVal val="visible"/>
                                      </p:to>
                                    </p:set>
                                    <p:anim calcmode="lin" valueType="num">
                                      <p:cBhvr additive="base">
                                        <p:cTn dur="500"/>
                                        <p:tgtEl>
                                          <p:spTgt spid="61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2">
                                  <p:stCondLst>
                                    <p:cond delay="2300"/>
                                  </p:stCondLst>
                                  <p:childTnLst>
                                    <p:set>
                                      <p:cBhvr>
                                        <p:cTn dur="1" fill="hold">
                                          <p:stCondLst>
                                            <p:cond delay="0"/>
                                          </p:stCondLst>
                                        </p:cTn>
                                        <p:tgtEl>
                                          <p:spTgt spid="612"/>
                                        </p:tgtEl>
                                        <p:attrNameLst>
                                          <p:attrName>style.visibility</p:attrName>
                                        </p:attrNameLst>
                                      </p:cBhvr>
                                      <p:to>
                                        <p:strVal val="visible"/>
                                      </p:to>
                                    </p:set>
                                    <p:anim calcmode="lin" valueType="num">
                                      <p:cBhvr additive="base">
                                        <p:cTn dur="500"/>
                                        <p:tgtEl>
                                          <p:spTgt spid="612"/>
                                        </p:tgtEl>
                                        <p:attrNameLst>
                                          <p:attrName>ppt_x</p:attrName>
                                        </p:attrNameLst>
                                      </p:cBhvr>
                                      <p:tavLst>
                                        <p:tav fmla="" tm="0">
                                          <p:val>
                                            <p:strVal val="#ppt_x+1"/>
                                          </p:val>
                                        </p:tav>
                                        <p:tav fmla="" tm="100000">
                                          <p:val>
                                            <p:strVal val="#ppt_x"/>
                                          </p:val>
                                        </p:tav>
                                      </p:tavLst>
                                    </p:anim>
                                  </p:childTnLst>
                                </p:cTn>
                              </p:par>
                              <p:par>
                                <p:cTn fill="hold" nodeType="withEffect" presetClass="entr" presetID="10" presetSubtype="0">
                                  <p:stCondLst>
                                    <p:cond delay="3000"/>
                                  </p:stCondLst>
                                  <p:childTnLst>
                                    <p:set>
                                      <p:cBhvr>
                                        <p:cTn dur="1" fill="hold">
                                          <p:stCondLst>
                                            <p:cond delay="0"/>
                                          </p:stCondLst>
                                        </p:cTn>
                                        <p:tgtEl>
                                          <p:spTgt spid="613"/>
                                        </p:tgtEl>
                                        <p:attrNameLst>
                                          <p:attrName>style.visibility</p:attrName>
                                        </p:attrNameLst>
                                      </p:cBhvr>
                                      <p:to>
                                        <p:strVal val="visible"/>
                                      </p:to>
                                    </p:set>
                                    <p:animEffect filter="fade" transition="in">
                                      <p:cBhvr>
                                        <p:cTn dur="450"/>
                                        <p:tgtEl>
                                          <p:spTgt spid="613"/>
                                        </p:tgtEl>
                                      </p:cBhvr>
                                    </p:animEffect>
                                  </p:childTnLst>
                                </p:cTn>
                              </p:par>
                              <p:par>
                                <p:cTn fill="hold" nodeType="withEffect" presetClass="entr" presetID="10" presetSubtype="0">
                                  <p:stCondLst>
                                    <p:cond delay="3400"/>
                                  </p:stCondLst>
                                  <p:childTnLst>
                                    <p:set>
                                      <p:cBhvr>
                                        <p:cTn dur="1" fill="hold">
                                          <p:stCondLst>
                                            <p:cond delay="0"/>
                                          </p:stCondLst>
                                        </p:cTn>
                                        <p:tgtEl>
                                          <p:spTgt spid="615"/>
                                        </p:tgtEl>
                                        <p:attrNameLst>
                                          <p:attrName>style.visibility</p:attrName>
                                        </p:attrNameLst>
                                      </p:cBhvr>
                                      <p:to>
                                        <p:strVal val="visible"/>
                                      </p:to>
                                    </p:set>
                                    <p:animEffect filter="fade" transition="in">
                                      <p:cBhvr>
                                        <p:cTn dur="450"/>
                                        <p:tgtEl>
                                          <p:spTgt spid="615"/>
                                        </p:tgtEl>
                                      </p:cBhvr>
                                    </p:animEffect>
                                  </p:childTnLst>
                                </p:cTn>
                              </p:par>
                              <p:par>
                                <p:cTn fill="hold" nodeType="withEffect" presetClass="entr" presetID="10" presetSubtype="0">
                                  <p:stCondLst>
                                    <p:cond delay="3800"/>
                                  </p:stCondLst>
                                  <p:childTnLst>
                                    <p:set>
                                      <p:cBhvr>
                                        <p:cTn dur="1" fill="hold">
                                          <p:stCondLst>
                                            <p:cond delay="0"/>
                                          </p:stCondLst>
                                        </p:cTn>
                                        <p:tgtEl>
                                          <p:spTgt spid="614"/>
                                        </p:tgtEl>
                                        <p:attrNameLst>
                                          <p:attrName>style.visibility</p:attrName>
                                        </p:attrNameLst>
                                      </p:cBhvr>
                                      <p:to>
                                        <p:strVal val="visible"/>
                                      </p:to>
                                    </p:set>
                                    <p:animEffect filter="fade" transition="in">
                                      <p:cBhvr>
                                        <p:cTn dur="600"/>
                                        <p:tgtEl>
                                          <p:spTgt spid="614"/>
                                        </p:tgtEl>
                                      </p:cBhvr>
                                    </p:animEffect>
                                  </p:childTnLst>
                                </p:cTn>
                              </p:par>
                              <p:par>
                                <p:cTn fill="hold" nodeType="withEffect" presetClass="entr" presetID="23" presetSubtype="16">
                                  <p:stCondLst>
                                    <p:cond delay="4400"/>
                                  </p:stCondLst>
                                  <p:childTnLst>
                                    <p:set>
                                      <p:cBhvr>
                                        <p:cTn dur="1" fill="hold">
                                          <p:stCondLst>
                                            <p:cond delay="0"/>
                                          </p:stCondLst>
                                        </p:cTn>
                                        <p:tgtEl>
                                          <p:spTgt spid="616"/>
                                        </p:tgtEl>
                                        <p:attrNameLst>
                                          <p:attrName>style.visibility</p:attrName>
                                        </p:attrNameLst>
                                      </p:cBhvr>
                                      <p:to>
                                        <p:strVal val="visible"/>
                                      </p:to>
                                    </p:set>
                                    <p:anim calcmode="lin" valueType="num">
                                      <p:cBhvr additive="base">
                                        <p:cTn dur="400"/>
                                        <p:tgtEl>
                                          <p:spTgt spid="616"/>
                                        </p:tgtEl>
                                        <p:attrNameLst>
                                          <p:attrName>ppt_w</p:attrName>
                                        </p:attrNameLst>
                                      </p:cBhvr>
                                      <p:tavLst>
                                        <p:tav fmla="" tm="0">
                                          <p:val>
                                            <p:strVal val="0"/>
                                          </p:val>
                                        </p:tav>
                                        <p:tav fmla="" tm="100000">
                                          <p:val>
                                            <p:strVal val="#ppt_w"/>
                                          </p:val>
                                        </p:tav>
                                      </p:tavLst>
                                    </p:anim>
                                    <p:anim calcmode="lin" valueType="num">
                                      <p:cBhvr additive="base">
                                        <p:cTn dur="400"/>
                                        <p:tgtEl>
                                          <p:spTgt spid="616"/>
                                        </p:tgtEl>
                                        <p:attrNameLst>
                                          <p:attrName>ppt_h</p:attrName>
                                        </p:attrNameLst>
                                      </p:cBhvr>
                                      <p:tavLst>
                                        <p:tav fmla="" tm="0">
                                          <p:val>
                                            <p:strVal val="0"/>
                                          </p:val>
                                        </p:tav>
                                        <p:tav fmla="" tm="100000">
                                          <p:val>
                                            <p:strVal val="#ppt_h"/>
                                          </p:val>
                                        </p:tav>
                                      </p:tavLst>
                                    </p:anim>
                                  </p:childTnLst>
                                </p:cTn>
                              </p:par>
                              <p:par>
                                <p:cTn fill="hold" nodeType="withEffect" presetClass="emph" presetID="8" presetSubtype="0">
                                  <p:stCondLst>
                                    <p:cond delay="4900"/>
                                  </p:stCondLst>
                                  <p:childTnLst>
                                    <p:animRot by="-21600000">
                                      <p:cBhvr>
                                        <p:cTn dur="3000" fill="hold"/>
                                        <p:tgtEl>
                                          <p:spTgt spid="61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4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3_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2011-07-23T12:34:03Z</dcterms:created>
  <dc:creator>BABA</dc:creator>
</cp:coreProperties>
</file>