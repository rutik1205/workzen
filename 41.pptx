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0" r:id="rId2"/>
    <p:sldMasterId id="2147483658" r:id="rId3"/>
    <p:sldMasterId id="2147483660" r:id="rId4"/>
    <p:sldMasterId id="2147483662" r:id="rId5"/>
  </p:sldMasterIdLst>
  <p:notesMasterIdLst>
    <p:notesMasterId r:id="rId23"/>
  </p:notesMasterIdLst>
  <p:sldIdLst>
    <p:sldId id="25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Lst>
  <p:sldSz cx="9144000" cy="6858000" type="screen4x3"/>
  <p:notesSz cx="6858000" cy="9144000"/>
  <p:embeddedFontLst>
    <p:embeddedFont>
      <p:font typeface="Libre Baskerville" panose="02000000000000000000" pitchFamily="2" charset="0"/>
      <p:regular r:id="rId24"/>
      <p:bold r:id="rId25"/>
      <p:italic r:id="rId26"/>
    </p:embeddedFont>
    <p:embeddedFont>
      <p:font typeface="Libre Franklin"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gx8Kr1OzWQV9UYp9odDdZoT7aK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6A656E0-A7AC-4FEC-B299-668A8D95E06C}">
  <a:tblStyle styleId="{36A656E0-A7AC-4FEC-B299-668A8D95E06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3.fntdata"/><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6.xml"/><Relationship Id="rId42"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2.fntdata"/><Relationship Id="rId38"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fntdata"/><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
            <a:headEnd type="none" w="sm" len="sm"/>
            <a:tailEnd type="none" w="sm" len="sm"/>
          </a:ln>
        </p:spPr>
      </p:sp>
      <p:sp>
        <p:nvSpPr>
          <p:cNvPr id="131" name="Google Shape;13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800" b="0" i="0" u="none" strike="noStrike" cap="none"/>
              <a:t>Good morning everyone. My seminar topic is the AI-Powered Smart Worker Finder, a system that recommends the most suitable skilled worker (electrician, plumber, mechanic, technician) for a customer request. It is guided by Dr. Shwetal K. Patil, and is based on the CrowdBwO multi-armed bandit approach.</a:t>
            </a:r>
            <a:endParaRPr/>
          </a:p>
        </p:txBody>
      </p:sp>
      <p:sp>
        <p:nvSpPr>
          <p:cNvPr id="132" name="Google Shape;132;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This is the road-map of the seminar: introduction, technology trends, literature review, problem statement, objectives, scope, architecture and methodology, algorithms and mathematical model, advantages, limitations, conclusion, future scope and references.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Finding a skilled worker such as an electrician, plumber, mechanic or technician is still slow and uncertain. The AI-Powered Smart Worker Finder reads the problem, searches nearby workers, ranks them with AI and recommends the most suitable one. It is based on CrowdBwO, a multi-armed bandit approach that learns worker quality from earlier results.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system sits at the meeting point of machine learning and recommendation systems, location-based services, real-time computing, cloud computing, generative AI and NLP, and multi-armed bandits. The same technologies power on-demand home, vehicle and appliance repair services.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Four related papers and the base paper were reviewed. Zhang and Sugiyama use bandits for task selection. Hassan and Curry handle spatial crowdsourcing with semi-bandit learning and cut travel cost by about eighty percent. Cheng et al. compare spatial algorithms. Goel et al. propose Octopus for cost, quality and time. The base paper CrowdBwO learns worker quality and selects worker sets. None of them is a skilled-worker finder.</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problem is to build an intelligent and dynamic worker-assignment system that recommends the most suitable available worker by balancing skill, proximity, quality, time and cost. The inputs are the problem text, location, urgency and budget; the limits are the search radius, the time limit and the expense limit.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aim is to study how a Smart Worker Finder can find, rank and recommend the most suitable skilled worker. It is split into six objectives: AI and recommender systems, the CrowdBwO approach, ranking by six criteria, location, real-time and cloud support, NLP and generative AI, and learning from feedback.</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proposed framework has five modules: request understanding, location-based search, real-time availability, the ranking engine and the learning module, all running on a cloud platform. The seminar covers the concept and working of the system. A mobile app, payments, legal matters, identity verification, full deployment and the derivation of bandit algorithms are outside the scope.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architecture is a pipeline of five layers supported by a data and cloud layer. Customer input goes to request understanding, then nearby worker search, then AI ranking and selection with the bandit learner, then recommendation and booking, and finally service and feedback. The feedback returns ratings and outcomes to the ranking layer so later recommendations improve.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Take a customer whose kitchen tap is leaking. The system reads the text and finds the service, plumber, with a sixty minute limit and a budget of eight hundred rupees. It searches a ten kilometre radius, keeps only skilled free workers A, B and C, ranks them, recommends A with B and C as alternatives, and finally stores the rating, time and cost so the next ranking is better.</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Five algorithms work together. Service classification finds the trade from the text. Haversine geospatial search keeps workers within the radius. Weighted multi-criteria scoring combines skill, distance, time and cost. A multi-armed bandit with an upper confidence bound estimates quality. Constrained selection respects the time and expense limits for group jobs.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model has six parts: customers, requests, workers, features, ranking function and output. From the customer’s words we pick the most likely service. The haversine formula gives the distance on the curved earth. Only workers with the skill who are available and within the radius stay as candidates. Distance, time and cost are turned into values between zero and one, where closer, faster and cheaper is nearer to one.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Quality is the average rating plus an exploration bonus. The bonus is large when a worker has done few jobs, so new workers get a fair chance. The score is a weighted sum of the five values with weights 0.30, 0.25, 0.20, 0.15 and 0.10. The worker with the highest score is recommended, and after the job the rating updates the average and the job count. For group jobs the CrowdBwO idea of choosing worker sets under time and expense limits is used.</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model is applied to the plumber request: radius ten kilometres, time limit sixty minutes, budget eight hundred rupees. Raw data of workers A, B and C are converted to values between zero and one. Worker A scores 0.850, B scores 0.837 and C scores 0.700, so A is recommended. After A is rated 0.80 for the job, n becomes 31 and the average becomes 0.897.</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Six advantages: less waiting time, a better match, a balanced decision, learning from feedback, a fair chance for new workers and better use of workers. Seven limitations: dependence on correct data, cold start, fake or biased ratings, privacy concerns, choice of weights, dependence on network and cloud, and possible unfairness.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Finding a skilled worker by hand is slow. The Smart Worker Finder understands the problem, searches nearby free workers, ranks them with a weighted score and recommends the best one. Using the CrowdBwO idea, quality is estimated from ratings and updated after each job. Its results depend on correct data, honest ratings and sensible weights, and location privacy needs care. Future work includes learned weights, photo and voice input, real travel time, fairness methods, dynamic pricing, group jobs and privacy-preserving design.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These are the eight references. Reference one is the base paper on CrowdBwO. References two to five are the related work on bandit-based and spatial crowdsourcing. References six to eight are the supporting literature on bandits, the haversine formula and recommender systems. Thank you. I am happy to take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4"/>
          <p:cNvSpPr txBox="1">
            <a:spLocks noGrp="1"/>
          </p:cNvSpPr>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575"/>
              </a:spcBef>
              <a:spcAft>
                <a:spcPts val="0"/>
              </a:spcAft>
              <a:buSzPts val="2210"/>
              <a:buNone/>
              <a:defRPr sz="2600">
                <a:solidFill>
                  <a:schemeClr val="dk2"/>
                </a:solidFill>
              </a:defRPr>
            </a:lvl1pPr>
            <a:lvl2pPr lvl="1" algn="ctr">
              <a:lnSpc>
                <a:spcPct val="100000"/>
              </a:lnSpc>
              <a:spcBef>
                <a:spcPts val="375"/>
              </a:spcBef>
              <a:spcAft>
                <a:spcPts val="0"/>
              </a:spcAft>
              <a:buSzPts val="1530"/>
              <a:buNone/>
              <a:defRPr/>
            </a:lvl2pPr>
            <a:lvl3pPr lvl="2" algn="ctr">
              <a:lnSpc>
                <a:spcPct val="100000"/>
              </a:lnSpc>
              <a:spcBef>
                <a:spcPts val="375"/>
              </a:spcBef>
              <a:spcAft>
                <a:spcPts val="0"/>
              </a:spcAft>
              <a:buSzPts val="1530"/>
              <a:buNone/>
              <a:defRPr/>
            </a:lvl3pPr>
            <a:lvl4pPr lvl="3" algn="ctr">
              <a:lnSpc>
                <a:spcPct val="100000"/>
              </a:lnSpc>
              <a:spcBef>
                <a:spcPts val="375"/>
              </a:spcBef>
              <a:spcAft>
                <a:spcPts val="0"/>
              </a:spcAft>
              <a:buSzPts val="1440"/>
              <a:buNone/>
              <a:defRPr/>
            </a:lvl4pPr>
            <a:lvl5pPr lvl="4" algn="ctr">
              <a:lnSpc>
                <a:spcPct val="100000"/>
              </a:lnSpc>
              <a:spcBef>
                <a:spcPts val="375"/>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a:endParaRPr/>
          </a:p>
        </p:txBody>
      </p:sp>
      <p:sp>
        <p:nvSpPr>
          <p:cNvPr id="22" name="Google Shape;22;p4"/>
          <p:cNvSpPr txBox="1">
            <a:spLocks noGrp="1"/>
          </p:cNvSpPr>
          <p:nvPr>
            <p:ph type="ctrTitle"/>
          </p:nvPr>
        </p:nvSpPr>
        <p:spPr>
          <a:xfrm>
            <a:off x="457200" y="1505930"/>
            <a:ext cx="8229600" cy="1470025"/>
          </a:xfrm>
          <a:prstGeom prst="rect">
            <a:avLst/>
          </a:prstGeom>
          <a:noFill/>
          <a:ln>
            <a:noFill/>
          </a:ln>
        </p:spPr>
        <p:txBody>
          <a:bodyPr spcFirstLastPara="1" wrap="square" lIns="91425" tIns="45700" rIns="91425" bIns="91425"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37" name="Google Shape;37;p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rot="5400000">
            <a:off x="4709478" y="2194564"/>
            <a:ext cx="5851525" cy="201168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rot="5400000">
            <a:off x="769938" y="419103"/>
            <a:ext cx="5851525" cy="55626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3" name="Google Shape;43;p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body" idx="1"/>
          </p:nvPr>
        </p:nvSpPr>
        <p:spPr>
          <a:xfrm rot="5400000">
            <a:off x="2514600" y="-152400"/>
            <a:ext cx="4572000" cy="77724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9" name="Google Shape;49;p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9"/>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10"/>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75"/>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5"/>
              </a:spcBef>
              <a:spcAft>
                <a:spcPts val="0"/>
              </a:spcAft>
              <a:buSzPts val="1700"/>
              <a:buNone/>
              <a:defRPr sz="2000" b="1"/>
            </a:lvl2pPr>
            <a:lvl3pPr marL="1371600" lvl="2" indent="-228600" algn="l">
              <a:lnSpc>
                <a:spcPct val="100000"/>
              </a:lnSpc>
              <a:spcBef>
                <a:spcPts val="375"/>
              </a:spcBef>
              <a:spcAft>
                <a:spcPts val="0"/>
              </a:spcAft>
              <a:buSzPts val="1530"/>
              <a:buNone/>
              <a:defRPr sz="1800" b="1"/>
            </a:lvl3pPr>
            <a:lvl4pPr marL="1828800" lvl="3" indent="-228600" algn="l">
              <a:lnSpc>
                <a:spcPct val="100000"/>
              </a:lnSpc>
              <a:spcBef>
                <a:spcPts val="375"/>
              </a:spcBef>
              <a:spcAft>
                <a:spcPts val="0"/>
              </a:spcAft>
              <a:buSzPts val="1280"/>
              <a:buNone/>
              <a:defRPr sz="1600" b="1"/>
            </a:lvl4pPr>
            <a:lvl5pPr marL="2286000" lvl="4" indent="-228600" algn="l">
              <a:lnSpc>
                <a:spcPct val="100000"/>
              </a:lnSpc>
              <a:spcBef>
                <a:spcPts val="375"/>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4" name="Google Shape;64;p11"/>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75"/>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5"/>
              </a:spcBef>
              <a:spcAft>
                <a:spcPts val="0"/>
              </a:spcAft>
              <a:buSzPts val="1700"/>
              <a:buNone/>
              <a:defRPr sz="2000" b="1"/>
            </a:lvl2pPr>
            <a:lvl3pPr marL="1371600" lvl="2" indent="-228600" algn="l">
              <a:lnSpc>
                <a:spcPct val="100000"/>
              </a:lnSpc>
              <a:spcBef>
                <a:spcPts val="375"/>
              </a:spcBef>
              <a:spcAft>
                <a:spcPts val="0"/>
              </a:spcAft>
              <a:buSzPts val="1530"/>
              <a:buNone/>
              <a:defRPr sz="1800" b="1"/>
            </a:lvl3pPr>
            <a:lvl4pPr marL="1828800" lvl="3" indent="-228600" algn="l">
              <a:lnSpc>
                <a:spcPct val="100000"/>
              </a:lnSpc>
              <a:spcBef>
                <a:spcPts val="375"/>
              </a:spcBef>
              <a:spcAft>
                <a:spcPts val="0"/>
              </a:spcAft>
              <a:buSzPts val="1280"/>
              <a:buNone/>
              <a:defRPr sz="1600" b="1"/>
            </a:lvl4pPr>
            <a:lvl5pPr marL="2286000" lvl="4" indent="-228600" algn="l">
              <a:lnSpc>
                <a:spcPct val="100000"/>
              </a:lnSpc>
              <a:spcBef>
                <a:spcPts val="375"/>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5" name="Google Shape;65;p11"/>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6" name="Google Shape;66;p11"/>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7" name="Google Shape;67;p1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1"/>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0"/>
        <p:cNvGrpSpPr/>
        <p:nvPr/>
      </p:nvGrpSpPr>
      <p:grpSpPr>
        <a:xfrm>
          <a:off x="0" y="0"/>
          <a:ext cx="0" cy="0"/>
          <a:chOff x="0" y="0"/>
          <a:chExt cx="0" cy="0"/>
        </a:xfrm>
      </p:grpSpPr>
      <p:sp>
        <p:nvSpPr>
          <p:cNvPr id="71" name="Google Shape;71;p12"/>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body" idx="1"/>
          </p:nvPr>
        </p:nvSpPr>
        <p:spPr>
          <a:xfrm>
            <a:off x="914400" y="1447800"/>
            <a:ext cx="374904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73" name="Google Shape;73;p12"/>
          <p:cNvSpPr txBox="1">
            <a:spLocks noGrp="1"/>
          </p:cNvSpPr>
          <p:nvPr>
            <p:ph type="body" idx="2"/>
          </p:nvPr>
        </p:nvSpPr>
        <p:spPr>
          <a:xfrm>
            <a:off x="4933950" y="1447800"/>
            <a:ext cx="374904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74" name="Google Shape;74;p1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Clr>
                <a:schemeClr val="dk2"/>
              </a:buClr>
              <a:buSzPts val="4000"/>
              <a:buFont typeface="Libre Franklin"/>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4"/>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2040"/>
              <a:buNone/>
              <a:defRPr sz="2400">
                <a:solidFill>
                  <a:srgbClr val="888888"/>
                </a:solidFill>
              </a:defRPr>
            </a:lvl1pPr>
            <a:lvl2pPr marL="914400" lvl="1" indent="-228600" algn="l">
              <a:lnSpc>
                <a:spcPct val="100000"/>
              </a:lnSpc>
              <a:spcBef>
                <a:spcPts val="375"/>
              </a:spcBef>
              <a:spcAft>
                <a:spcPts val="0"/>
              </a:spcAft>
              <a:buSzPts val="1530"/>
              <a:buNone/>
              <a:defRPr sz="1800">
                <a:solidFill>
                  <a:srgbClr val="888888"/>
                </a:solidFill>
              </a:defRPr>
            </a:lvl2pPr>
            <a:lvl3pPr marL="1371600" lvl="2" indent="-228600" algn="l">
              <a:lnSpc>
                <a:spcPct val="100000"/>
              </a:lnSpc>
              <a:spcBef>
                <a:spcPts val="375"/>
              </a:spcBef>
              <a:spcAft>
                <a:spcPts val="0"/>
              </a:spcAft>
              <a:buSzPts val="1360"/>
              <a:buNone/>
              <a:defRPr sz="1600">
                <a:solidFill>
                  <a:srgbClr val="888888"/>
                </a:solidFill>
              </a:defRPr>
            </a:lvl3pPr>
            <a:lvl4pPr marL="1828800" lvl="3" indent="-228600" algn="l">
              <a:lnSpc>
                <a:spcPct val="100000"/>
              </a:lnSpc>
              <a:spcBef>
                <a:spcPts val="375"/>
              </a:spcBef>
              <a:spcAft>
                <a:spcPts val="0"/>
              </a:spcAft>
              <a:buSzPts val="1120"/>
              <a:buNone/>
              <a:defRPr sz="1400">
                <a:solidFill>
                  <a:srgbClr val="888888"/>
                </a:solidFill>
              </a:defRPr>
            </a:lvl4pPr>
            <a:lvl5pPr marL="2286000" lvl="4" indent="-228600" algn="l">
              <a:lnSpc>
                <a:spcPct val="100000"/>
              </a:lnSpc>
              <a:spcBef>
                <a:spcPts val="375"/>
              </a:spcBef>
              <a:spcAft>
                <a:spcPts val="0"/>
              </a:spcAft>
              <a:buSzPts val="1400"/>
              <a:buFont typeface="Libre Baskerville"/>
              <a:buNone/>
              <a:defRPr sz="1400">
                <a:solidFill>
                  <a:srgbClr val="888888"/>
                </a:solidFill>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91" name="Google Shape;91;p1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4"/>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4"/>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Clr>
                <a:schemeClr val="dk2"/>
              </a:buClr>
              <a:buSzPts val="4000"/>
              <a:buFont typeface="Libre Franklin"/>
              <a:buNone/>
              <a:defRPr sz="4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6"/>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1530"/>
              <a:buNone/>
              <a:defRPr sz="1800"/>
            </a:lvl1pPr>
            <a:lvl2pPr marL="914400" lvl="1" indent="-228600" algn="l">
              <a:lnSpc>
                <a:spcPct val="100000"/>
              </a:lnSpc>
              <a:spcBef>
                <a:spcPts val="375"/>
              </a:spcBef>
              <a:spcAft>
                <a:spcPts val="0"/>
              </a:spcAft>
              <a:buSzPts val="1020"/>
              <a:buNone/>
              <a:defRPr sz="1200"/>
            </a:lvl2pPr>
            <a:lvl3pPr marL="1371600" lvl="2" indent="-228600" algn="l">
              <a:lnSpc>
                <a:spcPct val="100000"/>
              </a:lnSpc>
              <a:spcBef>
                <a:spcPts val="375"/>
              </a:spcBef>
              <a:spcAft>
                <a:spcPts val="0"/>
              </a:spcAft>
              <a:buSzPts val="850"/>
              <a:buNone/>
              <a:defRPr sz="1000"/>
            </a:lvl3pPr>
            <a:lvl4pPr marL="1828800" lvl="3" indent="-228600" algn="l">
              <a:lnSpc>
                <a:spcPct val="100000"/>
              </a:lnSpc>
              <a:spcBef>
                <a:spcPts val="375"/>
              </a:spcBef>
              <a:spcAft>
                <a:spcPts val="0"/>
              </a:spcAft>
              <a:buSzPts val="720"/>
              <a:buNone/>
              <a:defRPr sz="900"/>
            </a:lvl4pPr>
            <a:lvl5pPr marL="2286000" lvl="4" indent="-228600" algn="l">
              <a:lnSpc>
                <a:spcPct val="100000"/>
              </a:lnSpc>
              <a:spcBef>
                <a:spcPts val="375"/>
              </a:spcBef>
              <a:spcAft>
                <a:spcPts val="0"/>
              </a:spcAft>
              <a:buSzPts val="900"/>
              <a:buFont typeface="Libre Baskerville"/>
              <a:buNone/>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07" name="Google Shape;107;p16"/>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08" name="Google Shape;108;p1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16"/>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lnSpc>
                <a:spcPct val="100000"/>
              </a:lnSpc>
              <a:spcBef>
                <a:spcPts val="0"/>
              </a:spcBef>
              <a:spcAft>
                <a:spcPts val="0"/>
              </a:spcAft>
              <a:buClr>
                <a:schemeClr val="dk2"/>
              </a:buClr>
              <a:buSzPts val="2800"/>
              <a:buFont typeface="Libre Franklin"/>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18"/>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1360"/>
              <a:buFont typeface="Libre Baskerville"/>
              <a:buNone/>
              <a:defRPr sz="1600"/>
            </a:lvl1pPr>
            <a:lvl2pPr marL="914400" lvl="1" indent="-293370" algn="l">
              <a:lnSpc>
                <a:spcPct val="100000"/>
              </a:lnSpc>
              <a:spcBef>
                <a:spcPts val="375"/>
              </a:spcBef>
              <a:spcAft>
                <a:spcPts val="0"/>
              </a:spcAft>
              <a:buSzPts val="1020"/>
              <a:buChar char="⚫"/>
              <a:defRPr sz="1200"/>
            </a:lvl2pPr>
            <a:lvl3pPr marL="1371600" lvl="2" indent="-282575" algn="l">
              <a:lnSpc>
                <a:spcPct val="100000"/>
              </a:lnSpc>
              <a:spcBef>
                <a:spcPts val="375"/>
              </a:spcBef>
              <a:spcAft>
                <a:spcPts val="0"/>
              </a:spcAft>
              <a:buSzPts val="850"/>
              <a:buChar char="⚫"/>
              <a:defRPr sz="1000"/>
            </a:lvl3pPr>
            <a:lvl4pPr marL="1828800" lvl="3" indent="-274320" algn="l">
              <a:lnSpc>
                <a:spcPct val="100000"/>
              </a:lnSpc>
              <a:spcBef>
                <a:spcPts val="375"/>
              </a:spcBef>
              <a:spcAft>
                <a:spcPts val="0"/>
              </a:spcAft>
              <a:buSzPts val="720"/>
              <a:buChar char="⚫"/>
              <a:defRPr sz="900"/>
            </a:lvl4pPr>
            <a:lvl5pPr marL="2286000" lvl="4" indent="-285750" algn="l">
              <a:lnSpc>
                <a:spcPct val="100000"/>
              </a:lnSpc>
              <a:spcBef>
                <a:spcPts val="375"/>
              </a:spcBef>
              <a:spcAft>
                <a:spcPts val="0"/>
              </a:spcAft>
              <a:buSzPts val="900"/>
              <a:buFont typeface="Libre Baskerville"/>
              <a:buChar char="o"/>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25" name="Google Shape;125;p18"/>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
        <p:nvSpPr>
          <p:cNvPr id="126" name="Google Shape;126;p1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8"/>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18"/>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3"/>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3"/>
          <p:cNvSpPr/>
          <p:nvPr/>
        </p:nvSpPr>
        <p:spPr>
          <a:xfrm>
            <a:off x="65087" y="69850"/>
            <a:ext cx="9013825" cy="6691312"/>
          </a:xfrm>
          <a:prstGeom prst="roundRect">
            <a:avLst>
              <a:gd name="adj" fmla="val 1065"/>
            </a:avLst>
          </a:prstGeom>
          <a:blipFill rotWithShape="1">
            <a:blip r:embed="rId3">
              <a:alphaModFix/>
            </a:blip>
            <a:stretch>
              <a:fillRect/>
            </a:stretch>
          </a:blip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3"/>
          <p:cNvSpPr txBox="1"/>
          <p:nvPr/>
        </p:nvSpPr>
        <p:spPr>
          <a:xfrm>
            <a:off x="63500" y="1449387"/>
            <a:ext cx="9020175" cy="15271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 name="Google Shape;13;p3"/>
          <p:cNvSpPr txBox="1"/>
          <p:nvPr/>
        </p:nvSpPr>
        <p:spPr>
          <a:xfrm>
            <a:off x="63500" y="1397000"/>
            <a:ext cx="9020175" cy="120650"/>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 name="Google Shape;14;p3"/>
          <p:cNvSpPr txBox="1"/>
          <p:nvPr/>
        </p:nvSpPr>
        <p:spPr>
          <a:xfrm>
            <a:off x="63500" y="2976562"/>
            <a:ext cx="9020175" cy="111125"/>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 name="Google Shape;15;p3"/>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6" name="Google Shape;16;p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7" name="Google Shape;17;p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 name="Google Shape;18;p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 name="Google Shape;19;p3"/>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
        <p:cNvGrpSpPr/>
        <p:nvPr/>
      </p:nvGrpSpPr>
      <p:grpSpPr>
        <a:xfrm>
          <a:off x="0" y="0"/>
          <a:ext cx="0" cy="0"/>
          <a:chOff x="0" y="0"/>
          <a:chExt cx="0" cy="0"/>
        </a:xfrm>
      </p:grpSpPr>
      <p:sp>
        <p:nvSpPr>
          <p:cNvPr id="27" name="Google Shape;27;p5"/>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 name="Google Shape;28;p5"/>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 name="Google Shape;29;p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30" name="Google Shape;30;p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31" name="Google Shape;31;p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2" name="Google Shape;32;p5"/>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3" name="Google Shape;33;p5"/>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
        <p:cNvGrpSpPr/>
        <p:nvPr/>
      </p:nvGrpSpPr>
      <p:grpSpPr>
        <a:xfrm>
          <a:off x="0" y="0"/>
          <a:ext cx="0" cy="0"/>
          <a:chOff x="0" y="0"/>
          <a:chExt cx="0" cy="0"/>
        </a:xfrm>
      </p:grpSpPr>
      <p:sp>
        <p:nvSpPr>
          <p:cNvPr id="78" name="Google Shape;78;p13"/>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 name="Google Shape;79;p13"/>
          <p:cNvSpPr/>
          <p:nvPr/>
        </p:nvSpPr>
        <p:spPr>
          <a:xfrm>
            <a:off x="65313" y="69755"/>
            <a:ext cx="9013372" cy="6692201"/>
          </a:xfrm>
          <a:prstGeom prst="roundRect">
            <a:avLst>
              <a:gd name="adj" fmla="val 4929"/>
            </a:avLst>
          </a:prstGeom>
          <a:blipFill rotWithShape="1">
            <a:blip r:embed="rId3">
              <a:alphaModFix/>
            </a:blip>
            <a:stretch>
              <a:fillRect/>
            </a:stretch>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80" name="Google Shape;80;p13"/>
          <p:cNvSpPr txBox="1"/>
          <p:nvPr/>
        </p:nvSpPr>
        <p:spPr>
          <a:xfrm rot="10800000" flipH="1">
            <a:off x="69850" y="2376487"/>
            <a:ext cx="901382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1" name="Google Shape;81;p13"/>
          <p:cNvSpPr txBox="1"/>
          <p:nvPr/>
        </p:nvSpPr>
        <p:spPr>
          <a:xfrm>
            <a:off x="69850" y="2341562"/>
            <a:ext cx="9013825" cy="46037"/>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 name="Google Shape;82;p13"/>
          <p:cNvSpPr txBox="1"/>
          <p:nvPr/>
        </p:nvSpPr>
        <p:spPr>
          <a:xfrm>
            <a:off x="68262" y="2468562"/>
            <a:ext cx="9015412" cy="46037"/>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 name="Google Shape;83;p13"/>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84" name="Google Shape;84;p1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85" name="Google Shape;85;p1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6" name="Google Shape;86;p13"/>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7" name="Google Shape;87;p13"/>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5"/>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5"/>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5"/>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8" name="Google Shape;98;p15"/>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9" name="Google Shape;99;p1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00" name="Google Shape;100;p1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01" name="Google Shape;101;p1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2" name="Google Shape;102;p15"/>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3" name="Google Shape;103;p15"/>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17"/>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3" name="Google Shape;113;p17"/>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4" name="Google Shape;114;p17"/>
          <p:cNvSpPr txBox="1"/>
          <p:nvPr/>
        </p:nvSpPr>
        <p:spPr>
          <a:xfrm rot="10800000" flipH="1">
            <a:off x="68262" y="4683125"/>
            <a:ext cx="900747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5" name="Google Shape;115;p17"/>
          <p:cNvSpPr txBox="1"/>
          <p:nvPr/>
        </p:nvSpPr>
        <p:spPr>
          <a:xfrm>
            <a:off x="68262" y="4649787"/>
            <a:ext cx="9007475" cy="46037"/>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6" name="Google Shape;116;p17"/>
          <p:cNvSpPr txBox="1"/>
          <p:nvPr/>
        </p:nvSpPr>
        <p:spPr>
          <a:xfrm>
            <a:off x="68262" y="4773612"/>
            <a:ext cx="9007475" cy="47625"/>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7" name="Google Shape;117;p17"/>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18" name="Google Shape;118;p17"/>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19" name="Google Shape;119;p1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0" name="Google Shape;120;p17"/>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1" name="Google Shape;121;p17"/>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
          <p:cNvSpPr txBox="1">
            <a:spLocks noGrp="1"/>
          </p:cNvSpPr>
          <p:nvPr>
            <p:ph type="subTitle" idx="1"/>
          </p:nvPr>
        </p:nvSpPr>
        <p:spPr>
          <a:xfrm>
            <a:off x="1219200" y="3048000"/>
            <a:ext cx="6400800" cy="3810000"/>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80000"/>
              </a:lnSpc>
              <a:spcBef>
                <a:spcPts val="0"/>
              </a:spcBef>
              <a:spcAft>
                <a:spcPts val="0"/>
              </a:spcAft>
              <a:buSzPts val="1530"/>
              <a:buNone/>
            </a:pPr>
            <a:r>
              <a:rPr lang="en-US" sz="1800" b="1" i="0" u="none" dirty="0">
                <a:solidFill>
                  <a:schemeClr val="dk1"/>
                </a:solidFill>
                <a:latin typeface="Times New Roman"/>
                <a:ea typeface="Times New Roman"/>
                <a:cs typeface="Times New Roman"/>
                <a:sym typeface="Times New Roman"/>
              </a:rPr>
              <a:t>Presented By</a:t>
            </a:r>
            <a:endParaRPr dirty="0"/>
          </a:p>
          <a:p>
            <a:pPr marL="0" lvl="0" indent="0" algn="ctr" rtl="0">
              <a:lnSpc>
                <a:spcPct val="80000"/>
              </a:lnSpc>
              <a:spcBef>
                <a:spcPts val="500"/>
              </a:spcBef>
              <a:spcAft>
                <a:spcPts val="0"/>
              </a:spcAft>
              <a:buSzPts val="1700"/>
              <a:buNone/>
            </a:pPr>
            <a:r>
              <a:rPr lang="en-US" sz="2000" b="1" i="0" u="none" dirty="0">
                <a:solidFill>
                  <a:schemeClr val="dk2"/>
                </a:solidFill>
                <a:latin typeface="Times New Roman"/>
                <a:ea typeface="Times New Roman"/>
                <a:cs typeface="Times New Roman"/>
                <a:sym typeface="Times New Roman"/>
              </a:rPr>
              <a:t>Mr. </a:t>
            </a:r>
            <a:r>
              <a:rPr lang="en-US" sz="2000" b="1" dirty="0">
                <a:latin typeface="Times New Roman"/>
                <a:ea typeface="Times New Roman"/>
                <a:cs typeface="Times New Roman"/>
                <a:sym typeface="Times New Roman"/>
              </a:rPr>
              <a:t>Rudraksh Mahesh Goswami</a:t>
            </a:r>
            <a:endParaRPr dirty="0"/>
          </a:p>
          <a:p>
            <a:pPr marL="0" lvl="0" indent="0" algn="ctr" rtl="0">
              <a:lnSpc>
                <a:spcPct val="80000"/>
              </a:lnSpc>
              <a:spcBef>
                <a:spcPts val="500"/>
              </a:spcBef>
              <a:spcAft>
                <a:spcPts val="0"/>
              </a:spcAft>
              <a:buSzPts val="1530"/>
              <a:buNone/>
            </a:pPr>
            <a:r>
              <a:rPr lang="en-US" sz="1800" b="0" i="0" u="none" dirty="0">
                <a:solidFill>
                  <a:schemeClr val="dk2"/>
                </a:solidFill>
                <a:latin typeface="Times New Roman"/>
                <a:ea typeface="Times New Roman"/>
                <a:cs typeface="Times New Roman"/>
                <a:sym typeface="Times New Roman"/>
              </a:rPr>
              <a:t>TE (COMP) Div: A</a:t>
            </a:r>
            <a:endParaRPr dirty="0"/>
          </a:p>
          <a:p>
            <a:pPr marL="0" lvl="0" indent="0" algn="ctr" rtl="0">
              <a:lnSpc>
                <a:spcPct val="80000"/>
              </a:lnSpc>
              <a:spcBef>
                <a:spcPts val="500"/>
              </a:spcBef>
              <a:spcAft>
                <a:spcPts val="0"/>
              </a:spcAft>
              <a:buSzPts val="1530"/>
              <a:buNone/>
            </a:pPr>
            <a:r>
              <a:rPr lang="en-US" sz="1800" b="0" i="0" u="none" dirty="0">
                <a:solidFill>
                  <a:schemeClr val="dk2"/>
                </a:solidFill>
                <a:latin typeface="Times New Roman"/>
                <a:ea typeface="Times New Roman"/>
                <a:cs typeface="Times New Roman"/>
                <a:sym typeface="Times New Roman"/>
              </a:rPr>
              <a:t>Roll No. : 41</a:t>
            </a:r>
            <a:endParaRPr dirty="0"/>
          </a:p>
          <a:p>
            <a:pPr marL="0" lvl="0" indent="0" algn="ctr" rtl="0">
              <a:lnSpc>
                <a:spcPct val="80000"/>
              </a:lnSpc>
              <a:spcBef>
                <a:spcPts val="500"/>
              </a:spcBef>
              <a:spcAft>
                <a:spcPts val="0"/>
              </a:spcAft>
              <a:buSzPts val="1360"/>
              <a:buNone/>
            </a:pPr>
            <a:r>
              <a:rPr lang="en-US" sz="1600" b="0" i="0" u="none" dirty="0">
                <a:solidFill>
                  <a:schemeClr val="dk2"/>
                </a:solidFill>
                <a:latin typeface="Times New Roman"/>
                <a:ea typeface="Times New Roman"/>
                <a:cs typeface="Times New Roman"/>
                <a:sym typeface="Times New Roman"/>
              </a:rPr>
              <a:t>Academic Year 202</a:t>
            </a:r>
            <a:r>
              <a:rPr lang="en-US" sz="1600" dirty="0">
                <a:latin typeface="Times New Roman"/>
                <a:ea typeface="Times New Roman"/>
                <a:cs typeface="Times New Roman"/>
                <a:sym typeface="Times New Roman"/>
              </a:rPr>
              <a:t>6</a:t>
            </a:r>
            <a:r>
              <a:rPr lang="en-US" sz="1600" b="0" i="0" u="none" dirty="0">
                <a:solidFill>
                  <a:schemeClr val="dk2"/>
                </a:solidFill>
                <a:latin typeface="Times New Roman"/>
                <a:ea typeface="Times New Roman"/>
                <a:cs typeface="Times New Roman"/>
                <a:sym typeface="Times New Roman"/>
              </a:rPr>
              <a:t>-2</a:t>
            </a:r>
            <a:r>
              <a:rPr lang="en-US" sz="1600" dirty="0">
                <a:latin typeface="Times New Roman"/>
                <a:ea typeface="Times New Roman"/>
                <a:cs typeface="Times New Roman"/>
                <a:sym typeface="Times New Roman"/>
              </a:rPr>
              <a:t>7</a:t>
            </a:r>
            <a:endParaRPr dirty="0"/>
          </a:p>
          <a:p>
            <a:pPr marL="0" lvl="0" indent="0" algn="ctr" rtl="0">
              <a:lnSpc>
                <a:spcPct val="80000"/>
              </a:lnSpc>
              <a:spcBef>
                <a:spcPts val="500"/>
              </a:spcBef>
              <a:spcAft>
                <a:spcPts val="0"/>
              </a:spcAft>
              <a:buSzPts val="1445"/>
              <a:buNone/>
            </a:pPr>
            <a:r>
              <a:rPr lang="en-US" sz="1700" b="1" i="0" u="none" dirty="0">
                <a:solidFill>
                  <a:schemeClr val="dk1"/>
                </a:solidFill>
                <a:latin typeface="Times New Roman"/>
                <a:ea typeface="Times New Roman"/>
                <a:cs typeface="Times New Roman"/>
                <a:sym typeface="Times New Roman"/>
              </a:rPr>
              <a:t>Under the Guidance of</a:t>
            </a:r>
            <a:endParaRPr dirty="0"/>
          </a:p>
          <a:p>
            <a:r>
              <a:rPr lang="en-IN" sz="1800" b="1" dirty="0"/>
              <a:t>Mrs. Tejaswini S. </a:t>
            </a:r>
            <a:r>
              <a:rPr lang="en-IN" sz="1800" b="1" dirty="0" err="1"/>
              <a:t>Bhoye</a:t>
            </a:r>
            <a:endParaRPr lang="en-IN" sz="1800" b="1" dirty="0"/>
          </a:p>
          <a:p>
            <a:pPr marL="0" lvl="0" indent="0" algn="ctr" rtl="0">
              <a:lnSpc>
                <a:spcPct val="80000"/>
              </a:lnSpc>
              <a:spcBef>
                <a:spcPts val="500"/>
              </a:spcBef>
              <a:spcAft>
                <a:spcPts val="0"/>
              </a:spcAft>
              <a:buSzPts val="935"/>
              <a:buNone/>
            </a:pPr>
            <a:endParaRPr sz="1100" b="0" i="0" u="none" dirty="0">
              <a:solidFill>
                <a:schemeClr val="dk2"/>
              </a:solidFill>
              <a:latin typeface="Times New Roman"/>
              <a:ea typeface="Times New Roman"/>
              <a:cs typeface="Times New Roman"/>
              <a:sym typeface="Times New Roman"/>
            </a:endParaRPr>
          </a:p>
          <a:p>
            <a:pPr marL="0" lvl="0" indent="0" algn="ctr" rtl="0">
              <a:lnSpc>
                <a:spcPct val="80000"/>
              </a:lnSpc>
              <a:spcBef>
                <a:spcPts val="500"/>
              </a:spcBef>
              <a:spcAft>
                <a:spcPts val="0"/>
              </a:spcAft>
              <a:buSzPts val="1020"/>
              <a:buNone/>
            </a:pPr>
            <a:r>
              <a:rPr lang="en-US" sz="1200" b="0" i="0" u="none" dirty="0">
                <a:solidFill>
                  <a:schemeClr val="dk1"/>
                </a:solidFill>
                <a:latin typeface="Times New Roman"/>
                <a:ea typeface="Times New Roman"/>
                <a:cs typeface="Times New Roman"/>
                <a:sym typeface="Times New Roman"/>
              </a:rPr>
              <a:t>"</a:t>
            </a:r>
            <a:r>
              <a:rPr lang="en-US" sz="1100" b="1" i="1" dirty="0">
                <a:solidFill>
                  <a:schemeClr val="dk1"/>
                </a:solidFill>
                <a:highlight>
                  <a:srgbClr val="FFFFFF"/>
                </a:highlight>
                <a:latin typeface="Arial"/>
                <a:ea typeface="Arial"/>
                <a:cs typeface="Arial"/>
                <a:sym typeface="Arial"/>
              </a:rPr>
              <a:t>To achieve techno-social excellence by fostering innovative, sustainable and ubiquitous computing solutions for societal needs</a:t>
            </a:r>
            <a:r>
              <a:rPr lang="en-US" sz="1100" dirty="0">
                <a:solidFill>
                  <a:schemeClr val="dk1"/>
                </a:solidFill>
                <a:latin typeface="Arial"/>
                <a:ea typeface="Arial"/>
                <a:cs typeface="Arial"/>
                <a:sym typeface="Arial"/>
              </a:rPr>
              <a:t> </a:t>
            </a:r>
            <a:r>
              <a:rPr lang="en-US" sz="1200" b="0" i="0" u="none" dirty="0">
                <a:solidFill>
                  <a:schemeClr val="dk1"/>
                </a:solidFill>
                <a:latin typeface="Times New Roman"/>
                <a:ea typeface="Times New Roman"/>
                <a:cs typeface="Times New Roman"/>
                <a:sym typeface="Times New Roman"/>
              </a:rPr>
              <a:t>"</a:t>
            </a:r>
            <a:endParaRPr dirty="0">
              <a:solidFill>
                <a:schemeClr val="dk1"/>
              </a:solidFill>
            </a:endParaRPr>
          </a:p>
          <a:p>
            <a:pPr marL="0" lvl="0" indent="0" algn="ctr" rtl="0">
              <a:lnSpc>
                <a:spcPct val="80000"/>
              </a:lnSpc>
              <a:spcBef>
                <a:spcPts val="500"/>
              </a:spcBef>
              <a:spcAft>
                <a:spcPts val="0"/>
              </a:spcAft>
              <a:buSzPts val="1530"/>
              <a:buNone/>
            </a:pPr>
            <a:r>
              <a:rPr lang="en-US" sz="1800" b="1" i="0" u="none" dirty="0">
                <a:solidFill>
                  <a:schemeClr val="dk1"/>
                </a:solidFill>
                <a:latin typeface="Times New Roman"/>
                <a:ea typeface="Times New Roman"/>
                <a:cs typeface="Times New Roman"/>
                <a:sym typeface="Times New Roman"/>
              </a:rPr>
              <a:t>Department of Computer Engineering</a:t>
            </a:r>
            <a:endParaRPr sz="1800" b="1" i="0" u="none" dirty="0">
              <a:solidFill>
                <a:schemeClr val="dk1"/>
              </a:solidFill>
              <a:latin typeface="Times New Roman"/>
              <a:ea typeface="Times New Roman"/>
              <a:cs typeface="Times New Roman"/>
              <a:sym typeface="Times New Roman"/>
            </a:endParaRPr>
          </a:p>
          <a:p>
            <a:pPr marL="0" lvl="0" indent="0" algn="ctr" rtl="0">
              <a:lnSpc>
                <a:spcPct val="80000"/>
              </a:lnSpc>
              <a:spcBef>
                <a:spcPts val="500"/>
              </a:spcBef>
              <a:spcAft>
                <a:spcPts val="0"/>
              </a:spcAft>
              <a:buSzPts val="1530"/>
              <a:buNone/>
            </a:pPr>
            <a:endParaRPr sz="1800" b="1" dirty="0">
              <a:solidFill>
                <a:schemeClr val="dk1"/>
              </a:solidFill>
              <a:latin typeface="Times New Roman"/>
              <a:ea typeface="Times New Roman"/>
              <a:cs typeface="Times New Roman"/>
              <a:sym typeface="Times New Roman"/>
            </a:endParaRPr>
          </a:p>
          <a:p>
            <a:pPr marL="0" lvl="0" indent="0" algn="ctr" rtl="0">
              <a:lnSpc>
                <a:spcPct val="80000"/>
              </a:lnSpc>
              <a:spcBef>
                <a:spcPts val="500"/>
              </a:spcBef>
              <a:spcAft>
                <a:spcPts val="0"/>
              </a:spcAft>
              <a:buSzPts val="1105"/>
              <a:buNone/>
            </a:pPr>
            <a:r>
              <a:rPr lang="en-US" sz="1300" b="0" i="0" u="none" dirty="0">
                <a:solidFill>
                  <a:schemeClr val="dk1"/>
                </a:solidFill>
                <a:latin typeface="Times New Roman"/>
                <a:ea typeface="Times New Roman"/>
                <a:cs typeface="Times New Roman"/>
                <a:sym typeface="Times New Roman"/>
              </a:rPr>
              <a:t>“</a:t>
            </a:r>
            <a:r>
              <a:rPr lang="en-US" sz="1300" dirty="0">
                <a:solidFill>
                  <a:schemeClr val="dk1"/>
                </a:solidFill>
                <a:latin typeface="Times New Roman"/>
                <a:ea typeface="Times New Roman"/>
                <a:cs typeface="Times New Roman"/>
                <a:sym typeface="Times New Roman"/>
              </a:rPr>
              <a:t>To develop techno-social excellent engineering graduates for the welfare of society.”</a:t>
            </a:r>
            <a:endParaRPr sz="1300" dirty="0">
              <a:solidFill>
                <a:schemeClr val="dk1"/>
              </a:solidFill>
              <a:latin typeface="Times New Roman"/>
              <a:ea typeface="Times New Roman"/>
              <a:cs typeface="Times New Roman"/>
              <a:sym typeface="Times New Roman"/>
            </a:endParaRPr>
          </a:p>
          <a:p>
            <a:pPr marL="0" lvl="0" indent="0" algn="ctr" rtl="0">
              <a:lnSpc>
                <a:spcPct val="80000"/>
              </a:lnSpc>
              <a:spcBef>
                <a:spcPts val="500"/>
              </a:spcBef>
              <a:spcAft>
                <a:spcPts val="0"/>
              </a:spcAft>
              <a:buSzPts val="1360"/>
              <a:buNone/>
            </a:pPr>
            <a:r>
              <a:rPr lang="en-US" sz="1600" b="1" i="0" u="none" dirty="0">
                <a:solidFill>
                  <a:schemeClr val="dk1"/>
                </a:solidFill>
                <a:latin typeface="Times New Roman"/>
                <a:ea typeface="Times New Roman"/>
                <a:cs typeface="Times New Roman"/>
                <a:sym typeface="Times New Roman"/>
              </a:rPr>
              <a:t>Marathwada Mitra Mandal’s</a:t>
            </a:r>
            <a:endParaRPr dirty="0"/>
          </a:p>
          <a:p>
            <a:pPr marL="0" lvl="0" indent="0" algn="ctr" rtl="0">
              <a:lnSpc>
                <a:spcPct val="80000"/>
              </a:lnSpc>
              <a:spcBef>
                <a:spcPts val="500"/>
              </a:spcBef>
              <a:spcAft>
                <a:spcPts val="0"/>
              </a:spcAft>
              <a:buSzPts val="1105"/>
              <a:buNone/>
            </a:pPr>
            <a:r>
              <a:rPr lang="en-US" sz="1300" b="1" i="0" u="none" dirty="0">
                <a:solidFill>
                  <a:schemeClr val="dk1"/>
                </a:solidFill>
                <a:latin typeface="Times New Roman"/>
                <a:ea typeface="Times New Roman"/>
                <a:cs typeface="Times New Roman"/>
                <a:sym typeface="Times New Roman"/>
              </a:rPr>
              <a:t>INSTITUTE OF TECHNOLOGY (MMIT)</a:t>
            </a:r>
            <a:endParaRPr dirty="0"/>
          </a:p>
          <a:p>
            <a:pPr marL="0" lvl="0" indent="0" algn="ctr" rtl="0">
              <a:lnSpc>
                <a:spcPct val="80000"/>
              </a:lnSpc>
              <a:spcBef>
                <a:spcPts val="500"/>
              </a:spcBef>
              <a:spcAft>
                <a:spcPts val="0"/>
              </a:spcAft>
              <a:buSzPts val="1105"/>
              <a:buNone/>
            </a:pPr>
            <a:r>
              <a:rPr lang="en-US" sz="1300" b="1" i="0" u="none" dirty="0" err="1">
                <a:solidFill>
                  <a:schemeClr val="dk1"/>
                </a:solidFill>
                <a:latin typeface="Times New Roman"/>
                <a:ea typeface="Times New Roman"/>
                <a:cs typeface="Times New Roman"/>
                <a:sym typeface="Times New Roman"/>
              </a:rPr>
              <a:t>Lohgaon</a:t>
            </a:r>
            <a:r>
              <a:rPr lang="en-US" sz="1300" b="1" i="0" u="none" dirty="0">
                <a:solidFill>
                  <a:schemeClr val="dk1"/>
                </a:solidFill>
                <a:latin typeface="Times New Roman"/>
                <a:ea typeface="Times New Roman"/>
                <a:cs typeface="Times New Roman"/>
                <a:sym typeface="Times New Roman"/>
              </a:rPr>
              <a:t>, Pune-411047</a:t>
            </a:r>
            <a:endParaRPr dirty="0"/>
          </a:p>
          <a:p>
            <a:pPr marL="0" lvl="0" indent="0" algn="ctr" rtl="0">
              <a:lnSpc>
                <a:spcPct val="100000"/>
              </a:lnSpc>
              <a:spcBef>
                <a:spcPts val="575"/>
              </a:spcBef>
              <a:spcAft>
                <a:spcPts val="0"/>
              </a:spcAft>
              <a:buSzPts val="1105"/>
              <a:buNone/>
            </a:pPr>
            <a:endParaRPr sz="1300" b="1" i="0" u="none" dirty="0">
              <a:solidFill>
                <a:schemeClr val="dk1"/>
              </a:solidFill>
              <a:latin typeface="Times New Roman"/>
              <a:ea typeface="Times New Roman"/>
              <a:cs typeface="Times New Roman"/>
              <a:sym typeface="Times New Roman"/>
            </a:endParaRPr>
          </a:p>
        </p:txBody>
      </p:sp>
      <p:sp>
        <p:nvSpPr>
          <p:cNvPr id="135" name="Google Shape;135;p1"/>
          <p:cNvSpPr txBox="1">
            <a:spLocks noGrp="1"/>
          </p:cNvSpPr>
          <p:nvPr>
            <p:ph type="ctrTitle"/>
          </p:nvPr>
        </p:nvSpPr>
        <p:spPr>
          <a:xfrm>
            <a:off x="462116" y="1389888"/>
            <a:ext cx="8224684" cy="1604137"/>
          </a:xfrm>
          <a:prstGeom prst="rect">
            <a:avLst/>
          </a:prstGeom>
          <a:noFill/>
          <a:ln>
            <a:noFill/>
          </a:ln>
        </p:spPr>
        <p:txBody>
          <a:bodyPr spcFirstLastPara="1" wrap="square" lIns="91425" tIns="45700" rIns="91425" bIns="91425" anchor="ctr" anchorCtr="0">
            <a:noAutofit/>
          </a:bodyPr>
          <a:lstStyle/>
          <a:p>
            <a:r>
              <a:rPr lang="en-IN" sz="2800" b="1" dirty="0"/>
              <a:t>AI-POWERED DRONE-BASED CROP DISEASE DETECTION USING COMPUTER VISION</a:t>
            </a:r>
            <a:endParaRPr lang="en-IN" sz="2800" dirty="0"/>
          </a:p>
        </p:txBody>
      </p:sp>
      <p:pic>
        <p:nvPicPr>
          <p:cNvPr id="136" name="Google Shape;136;p1"/>
          <p:cNvPicPr preferRelativeResize="0"/>
          <p:nvPr/>
        </p:nvPicPr>
        <p:blipFill rotWithShape="1">
          <a:blip r:embed="rId3">
            <a:alphaModFix/>
          </a:blip>
          <a:srcRect/>
          <a:stretch/>
        </p:blipFill>
        <p:spPr>
          <a:xfrm>
            <a:off x="3951387" y="181400"/>
            <a:ext cx="1052512" cy="1143000"/>
          </a:xfrm>
          <a:prstGeom prst="rect">
            <a:avLst/>
          </a:prstGeom>
          <a:noFill/>
          <a:ln>
            <a:noFill/>
          </a:ln>
        </p:spPr>
      </p:pic>
      <p:sp>
        <p:nvSpPr>
          <p:cNvPr id="137" name="Google Shape;137;p1"/>
          <p:cNvSpPr/>
          <p:nvPr/>
        </p:nvSpPr>
        <p:spPr>
          <a:xfrm>
            <a:off x="-914400" y="1389888"/>
            <a:ext cx="502920" cy="1581912"/>
          </a:xfrm>
          <a:prstGeom prst="parallelogram">
            <a:avLst>
              <a:gd name="adj" fmla="val 40000"/>
            </a:avLst>
          </a:prstGeom>
          <a:solidFill>
            <a:schemeClr val="lt1">
              <a:alpha val="27843"/>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36"/>
                                        </p:tgtEl>
                                        <p:attrNameLst>
                                          <p:attrName>style.visibility</p:attrName>
                                        </p:attrNameLst>
                                      </p:cBhvr>
                                      <p:to>
                                        <p:strVal val="visible"/>
                                      </p:to>
                                    </p:set>
                                    <p:anim calcmode="lin" valueType="num">
                                      <p:cBhvr additive="base">
                                        <p:cTn id="7" dur="700"/>
                                        <p:tgtEl>
                                          <p:spTgt spid="136"/>
                                        </p:tgtEl>
                                        <p:attrNameLst>
                                          <p:attrName>ppt_w</p:attrName>
                                        </p:attrNameLst>
                                      </p:cBhvr>
                                      <p:tavLst>
                                        <p:tav tm="0">
                                          <p:val>
                                            <p:strVal val="0"/>
                                          </p:val>
                                        </p:tav>
                                        <p:tav tm="100000">
                                          <p:val>
                                            <p:strVal val="#ppt_w"/>
                                          </p:val>
                                        </p:tav>
                                      </p:tavLst>
                                    </p:anim>
                                    <p:anim calcmode="lin" valueType="num">
                                      <p:cBhvr additive="base">
                                        <p:cTn id="8" dur="700"/>
                                        <p:tgtEl>
                                          <p:spTgt spid="136"/>
                                        </p:tgtEl>
                                        <p:attrNameLst>
                                          <p:attrName>ppt_h</p:attrName>
                                        </p:attrNameLst>
                                      </p:cBhvr>
                                      <p:tavLst>
                                        <p:tav tm="0">
                                          <p:val>
                                            <p:strVal val="0"/>
                                          </p:val>
                                        </p:tav>
                                        <p:tav tm="100000">
                                          <p:val>
                                            <p:strVal val="#ppt_h"/>
                                          </p:val>
                                        </p:tav>
                                      </p:tavLst>
                                    </p:anim>
                                  </p:childTnLst>
                                </p:cTn>
                              </p:par>
                              <p:par>
                                <p:cTn id="9" presetID="10" presetClass="entr" presetSubtype="0" fill="hold" nodeType="withEffect">
                                  <p:stCondLst>
                                    <p:cond delay="300"/>
                                  </p:stCondLst>
                                  <p:childTnLst>
                                    <p:set>
                                      <p:cBhvr>
                                        <p:cTn id="10" dur="1" fill="hold">
                                          <p:stCondLst>
                                            <p:cond delay="0"/>
                                          </p:stCondLst>
                                        </p:cTn>
                                        <p:tgtEl>
                                          <p:spTgt spid="135"/>
                                        </p:tgtEl>
                                        <p:attrNameLst>
                                          <p:attrName>style.visibility</p:attrName>
                                        </p:attrNameLst>
                                      </p:cBhvr>
                                      <p:to>
                                        <p:strVal val="visible"/>
                                      </p:to>
                                    </p:set>
                                    <p:animEffect transition="in" filter="fade">
                                      <p:cBhvr>
                                        <p:cTn id="11" dur="900"/>
                                        <p:tgtEl>
                                          <p:spTgt spid="135"/>
                                        </p:tgtEl>
                                      </p:cBhvr>
                                    </p:animEffect>
                                  </p:childTnLst>
                                </p:cTn>
                              </p:par>
                              <p:par>
                                <p:cTn id="12" presetID="10" presetClass="entr" presetSubtype="0" fill="hold" nodeType="withEffect">
                                  <p:stCondLst>
                                    <p:cond delay="800"/>
                                  </p:stCondLst>
                                  <p:childTnLst>
                                    <p:set>
                                      <p:cBhvr>
                                        <p:cTn id="13" dur="1" fill="hold">
                                          <p:stCondLst>
                                            <p:cond delay="0"/>
                                          </p:stCondLst>
                                        </p:cTn>
                                        <p:tgtEl>
                                          <p:spTgt spid="134">
                                            <p:txEl>
                                              <p:pRg st="0" end="0"/>
                                            </p:txEl>
                                          </p:spTgt>
                                        </p:tgtEl>
                                        <p:attrNameLst>
                                          <p:attrName>style.visibility</p:attrName>
                                        </p:attrNameLst>
                                      </p:cBhvr>
                                      <p:to>
                                        <p:strVal val="visible"/>
                                      </p:to>
                                    </p:set>
                                    <p:animEffect transition="in" filter="fade">
                                      <p:cBhvr>
                                        <p:cTn id="14" dur="500"/>
                                        <p:tgtEl>
                                          <p:spTgt spid="134">
                                            <p:txEl>
                                              <p:pRg st="0" end="0"/>
                                            </p:txEl>
                                          </p:spTgt>
                                        </p:tgtEl>
                                      </p:cBhvr>
                                    </p:animEffect>
                                  </p:childTnLst>
                                </p:cTn>
                              </p:par>
                              <p:par>
                                <p:cTn id="15" presetID="10" presetClass="entr" presetSubtype="0" fill="hold" nodeType="withEffect">
                                  <p:stCondLst>
                                    <p:cond delay="800"/>
                                  </p:stCondLst>
                                  <p:childTnLst>
                                    <p:set>
                                      <p:cBhvr>
                                        <p:cTn id="16" dur="1" fill="hold">
                                          <p:stCondLst>
                                            <p:cond delay="0"/>
                                          </p:stCondLst>
                                        </p:cTn>
                                        <p:tgtEl>
                                          <p:spTgt spid="134">
                                            <p:txEl>
                                              <p:pRg st="1" end="1"/>
                                            </p:txEl>
                                          </p:spTgt>
                                        </p:tgtEl>
                                        <p:attrNameLst>
                                          <p:attrName>style.visibility</p:attrName>
                                        </p:attrNameLst>
                                      </p:cBhvr>
                                      <p:to>
                                        <p:strVal val="visible"/>
                                      </p:to>
                                    </p:set>
                                    <p:animEffect transition="in" filter="fade">
                                      <p:cBhvr>
                                        <p:cTn id="17" dur="500"/>
                                        <p:tgtEl>
                                          <p:spTgt spid="134">
                                            <p:txEl>
                                              <p:pRg st="1" end="1"/>
                                            </p:txEl>
                                          </p:spTgt>
                                        </p:tgtEl>
                                      </p:cBhvr>
                                    </p:animEffect>
                                  </p:childTnLst>
                                </p:cTn>
                              </p:par>
                              <p:par>
                                <p:cTn id="18" presetID="10" presetClass="entr" presetSubtype="0" fill="hold" nodeType="withEffect">
                                  <p:stCondLst>
                                    <p:cond delay="800"/>
                                  </p:stCondLst>
                                  <p:childTnLst>
                                    <p:set>
                                      <p:cBhvr>
                                        <p:cTn id="19" dur="1" fill="hold">
                                          <p:stCondLst>
                                            <p:cond delay="0"/>
                                          </p:stCondLst>
                                        </p:cTn>
                                        <p:tgtEl>
                                          <p:spTgt spid="134">
                                            <p:txEl>
                                              <p:pRg st="2" end="2"/>
                                            </p:txEl>
                                          </p:spTgt>
                                        </p:tgtEl>
                                        <p:attrNameLst>
                                          <p:attrName>style.visibility</p:attrName>
                                        </p:attrNameLst>
                                      </p:cBhvr>
                                      <p:to>
                                        <p:strVal val="visible"/>
                                      </p:to>
                                    </p:set>
                                    <p:animEffect transition="in" filter="fade">
                                      <p:cBhvr>
                                        <p:cTn id="20" dur="500"/>
                                        <p:tgtEl>
                                          <p:spTgt spid="134">
                                            <p:txEl>
                                              <p:pRg st="2" end="2"/>
                                            </p:txEl>
                                          </p:spTgt>
                                        </p:tgtEl>
                                      </p:cBhvr>
                                    </p:animEffect>
                                  </p:childTnLst>
                                </p:cTn>
                              </p:par>
                              <p:par>
                                <p:cTn id="21" presetID="10" presetClass="entr" presetSubtype="0" fill="hold" nodeType="withEffect">
                                  <p:stCondLst>
                                    <p:cond delay="800"/>
                                  </p:stCondLst>
                                  <p:childTnLst>
                                    <p:set>
                                      <p:cBhvr>
                                        <p:cTn id="22" dur="1" fill="hold">
                                          <p:stCondLst>
                                            <p:cond delay="0"/>
                                          </p:stCondLst>
                                        </p:cTn>
                                        <p:tgtEl>
                                          <p:spTgt spid="134">
                                            <p:txEl>
                                              <p:pRg st="3" end="3"/>
                                            </p:txEl>
                                          </p:spTgt>
                                        </p:tgtEl>
                                        <p:attrNameLst>
                                          <p:attrName>style.visibility</p:attrName>
                                        </p:attrNameLst>
                                      </p:cBhvr>
                                      <p:to>
                                        <p:strVal val="visible"/>
                                      </p:to>
                                    </p:set>
                                    <p:animEffect transition="in" filter="fade">
                                      <p:cBhvr>
                                        <p:cTn id="23" dur="500"/>
                                        <p:tgtEl>
                                          <p:spTgt spid="134">
                                            <p:txEl>
                                              <p:pRg st="3" end="3"/>
                                            </p:txEl>
                                          </p:spTgt>
                                        </p:tgtEl>
                                      </p:cBhvr>
                                    </p:animEffect>
                                  </p:childTnLst>
                                </p:cTn>
                              </p:par>
                              <p:par>
                                <p:cTn id="24" presetID="10" presetClass="entr" presetSubtype="0" fill="hold" nodeType="withEffect">
                                  <p:stCondLst>
                                    <p:cond delay="800"/>
                                  </p:stCondLst>
                                  <p:childTnLst>
                                    <p:set>
                                      <p:cBhvr>
                                        <p:cTn id="25" dur="1" fill="hold">
                                          <p:stCondLst>
                                            <p:cond delay="0"/>
                                          </p:stCondLst>
                                        </p:cTn>
                                        <p:tgtEl>
                                          <p:spTgt spid="134">
                                            <p:txEl>
                                              <p:pRg st="4" end="4"/>
                                            </p:txEl>
                                          </p:spTgt>
                                        </p:tgtEl>
                                        <p:attrNameLst>
                                          <p:attrName>style.visibility</p:attrName>
                                        </p:attrNameLst>
                                      </p:cBhvr>
                                      <p:to>
                                        <p:strVal val="visible"/>
                                      </p:to>
                                    </p:set>
                                    <p:animEffect transition="in" filter="fade">
                                      <p:cBhvr>
                                        <p:cTn id="26" dur="500"/>
                                        <p:tgtEl>
                                          <p:spTgt spid="134">
                                            <p:txEl>
                                              <p:pRg st="4" end="4"/>
                                            </p:txEl>
                                          </p:spTgt>
                                        </p:tgtEl>
                                      </p:cBhvr>
                                    </p:animEffect>
                                  </p:childTnLst>
                                </p:cTn>
                              </p:par>
                              <p:par>
                                <p:cTn id="27" presetID="10" presetClass="entr" presetSubtype="0" fill="hold" nodeType="withEffect">
                                  <p:stCondLst>
                                    <p:cond delay="800"/>
                                  </p:stCondLst>
                                  <p:childTnLst>
                                    <p:set>
                                      <p:cBhvr>
                                        <p:cTn id="28" dur="1" fill="hold">
                                          <p:stCondLst>
                                            <p:cond delay="0"/>
                                          </p:stCondLst>
                                        </p:cTn>
                                        <p:tgtEl>
                                          <p:spTgt spid="134">
                                            <p:txEl>
                                              <p:pRg st="5" end="5"/>
                                            </p:txEl>
                                          </p:spTgt>
                                        </p:tgtEl>
                                        <p:attrNameLst>
                                          <p:attrName>style.visibility</p:attrName>
                                        </p:attrNameLst>
                                      </p:cBhvr>
                                      <p:to>
                                        <p:strVal val="visible"/>
                                      </p:to>
                                    </p:set>
                                    <p:animEffect transition="in" filter="fade">
                                      <p:cBhvr>
                                        <p:cTn id="29" dur="500"/>
                                        <p:tgtEl>
                                          <p:spTgt spid="134">
                                            <p:txEl>
                                              <p:pRg st="5" end="5"/>
                                            </p:txEl>
                                          </p:spTgt>
                                        </p:tgtEl>
                                      </p:cBhvr>
                                    </p:animEffect>
                                  </p:childTnLst>
                                </p:cTn>
                              </p:par>
                              <p:par>
                                <p:cTn id="30" presetID="10" presetClass="entr" presetSubtype="0" fill="hold" nodeType="withEffect">
                                  <p:stCondLst>
                                    <p:cond delay="800"/>
                                  </p:stCondLst>
                                  <p:childTnLst>
                                    <p:set>
                                      <p:cBhvr>
                                        <p:cTn id="31" dur="1" fill="hold">
                                          <p:stCondLst>
                                            <p:cond delay="0"/>
                                          </p:stCondLst>
                                        </p:cTn>
                                        <p:tgtEl>
                                          <p:spTgt spid="134">
                                            <p:txEl>
                                              <p:pRg st="8" end="8"/>
                                            </p:txEl>
                                          </p:spTgt>
                                        </p:tgtEl>
                                        <p:attrNameLst>
                                          <p:attrName>style.visibility</p:attrName>
                                        </p:attrNameLst>
                                      </p:cBhvr>
                                      <p:to>
                                        <p:strVal val="visible"/>
                                      </p:to>
                                    </p:set>
                                    <p:animEffect transition="in" filter="fade">
                                      <p:cBhvr>
                                        <p:cTn id="32" dur="500"/>
                                        <p:tgtEl>
                                          <p:spTgt spid="134">
                                            <p:txEl>
                                              <p:pRg st="8" end="8"/>
                                            </p:txEl>
                                          </p:spTgt>
                                        </p:tgtEl>
                                      </p:cBhvr>
                                    </p:animEffect>
                                  </p:childTnLst>
                                </p:cTn>
                              </p:par>
                              <p:par>
                                <p:cTn id="33" presetID="10" presetClass="entr" presetSubtype="0" fill="hold" nodeType="withEffect">
                                  <p:stCondLst>
                                    <p:cond delay="800"/>
                                  </p:stCondLst>
                                  <p:childTnLst>
                                    <p:set>
                                      <p:cBhvr>
                                        <p:cTn id="34" dur="1" fill="hold">
                                          <p:stCondLst>
                                            <p:cond delay="0"/>
                                          </p:stCondLst>
                                        </p:cTn>
                                        <p:tgtEl>
                                          <p:spTgt spid="134">
                                            <p:txEl>
                                              <p:pRg st="9" end="9"/>
                                            </p:txEl>
                                          </p:spTgt>
                                        </p:tgtEl>
                                        <p:attrNameLst>
                                          <p:attrName>style.visibility</p:attrName>
                                        </p:attrNameLst>
                                      </p:cBhvr>
                                      <p:to>
                                        <p:strVal val="visible"/>
                                      </p:to>
                                    </p:set>
                                    <p:animEffect transition="in" filter="fade">
                                      <p:cBhvr>
                                        <p:cTn id="35" dur="500"/>
                                        <p:tgtEl>
                                          <p:spTgt spid="134">
                                            <p:txEl>
                                              <p:pRg st="9" end="9"/>
                                            </p:txEl>
                                          </p:spTgt>
                                        </p:tgtEl>
                                      </p:cBhvr>
                                    </p:animEffect>
                                  </p:childTnLst>
                                </p:cTn>
                              </p:par>
                              <p:par>
                                <p:cTn id="36" presetID="10" presetClass="entr" presetSubtype="0" fill="hold" nodeType="withEffect">
                                  <p:stCondLst>
                                    <p:cond delay="800"/>
                                  </p:stCondLst>
                                  <p:childTnLst>
                                    <p:set>
                                      <p:cBhvr>
                                        <p:cTn id="37" dur="1" fill="hold">
                                          <p:stCondLst>
                                            <p:cond delay="0"/>
                                          </p:stCondLst>
                                        </p:cTn>
                                        <p:tgtEl>
                                          <p:spTgt spid="134">
                                            <p:txEl>
                                              <p:pRg st="11" end="11"/>
                                            </p:txEl>
                                          </p:spTgt>
                                        </p:tgtEl>
                                        <p:attrNameLst>
                                          <p:attrName>style.visibility</p:attrName>
                                        </p:attrNameLst>
                                      </p:cBhvr>
                                      <p:to>
                                        <p:strVal val="visible"/>
                                      </p:to>
                                    </p:set>
                                    <p:animEffect transition="in" filter="fade">
                                      <p:cBhvr>
                                        <p:cTn id="38" dur="500"/>
                                        <p:tgtEl>
                                          <p:spTgt spid="134">
                                            <p:txEl>
                                              <p:pRg st="11" end="11"/>
                                            </p:txEl>
                                          </p:spTgt>
                                        </p:tgtEl>
                                      </p:cBhvr>
                                    </p:animEffect>
                                  </p:childTnLst>
                                </p:cTn>
                              </p:par>
                              <p:par>
                                <p:cTn id="39" presetID="10" presetClass="entr" presetSubtype="0" fill="hold" nodeType="withEffect">
                                  <p:stCondLst>
                                    <p:cond delay="800"/>
                                  </p:stCondLst>
                                  <p:childTnLst>
                                    <p:set>
                                      <p:cBhvr>
                                        <p:cTn id="40" dur="1" fill="hold">
                                          <p:stCondLst>
                                            <p:cond delay="0"/>
                                          </p:stCondLst>
                                        </p:cTn>
                                        <p:tgtEl>
                                          <p:spTgt spid="134">
                                            <p:txEl>
                                              <p:pRg st="12" end="12"/>
                                            </p:txEl>
                                          </p:spTgt>
                                        </p:tgtEl>
                                        <p:attrNameLst>
                                          <p:attrName>style.visibility</p:attrName>
                                        </p:attrNameLst>
                                      </p:cBhvr>
                                      <p:to>
                                        <p:strVal val="visible"/>
                                      </p:to>
                                    </p:set>
                                    <p:animEffect transition="in" filter="fade">
                                      <p:cBhvr>
                                        <p:cTn id="41" dur="500"/>
                                        <p:tgtEl>
                                          <p:spTgt spid="134">
                                            <p:txEl>
                                              <p:pRg st="12" end="12"/>
                                            </p:txEl>
                                          </p:spTgt>
                                        </p:tgtEl>
                                      </p:cBhvr>
                                    </p:animEffect>
                                  </p:childTnLst>
                                </p:cTn>
                              </p:par>
                              <p:par>
                                <p:cTn id="42" presetID="10" presetClass="entr" presetSubtype="0" fill="hold" nodeType="withEffect">
                                  <p:stCondLst>
                                    <p:cond delay="800"/>
                                  </p:stCondLst>
                                  <p:childTnLst>
                                    <p:set>
                                      <p:cBhvr>
                                        <p:cTn id="43" dur="1" fill="hold">
                                          <p:stCondLst>
                                            <p:cond delay="0"/>
                                          </p:stCondLst>
                                        </p:cTn>
                                        <p:tgtEl>
                                          <p:spTgt spid="134">
                                            <p:txEl>
                                              <p:pRg st="13" end="13"/>
                                            </p:txEl>
                                          </p:spTgt>
                                        </p:tgtEl>
                                        <p:attrNameLst>
                                          <p:attrName>style.visibility</p:attrName>
                                        </p:attrNameLst>
                                      </p:cBhvr>
                                      <p:to>
                                        <p:strVal val="visible"/>
                                      </p:to>
                                    </p:set>
                                    <p:animEffect transition="in" filter="fade">
                                      <p:cBhvr>
                                        <p:cTn id="44" dur="500"/>
                                        <p:tgtEl>
                                          <p:spTgt spid="134">
                                            <p:txEl>
                                              <p:pRg st="13" end="13"/>
                                            </p:txEl>
                                          </p:spTgt>
                                        </p:tgtEl>
                                      </p:cBhvr>
                                    </p:animEffect>
                                  </p:childTnLst>
                                </p:cTn>
                              </p:par>
                              <p:par>
                                <p:cTn id="45" presetID="10" presetClass="entr" presetSubtype="0" fill="hold" nodeType="withEffect">
                                  <p:stCondLst>
                                    <p:cond delay="800"/>
                                  </p:stCondLst>
                                  <p:childTnLst>
                                    <p:set>
                                      <p:cBhvr>
                                        <p:cTn id="46" dur="1" fill="hold">
                                          <p:stCondLst>
                                            <p:cond delay="0"/>
                                          </p:stCondLst>
                                        </p:cTn>
                                        <p:tgtEl>
                                          <p:spTgt spid="134">
                                            <p:txEl>
                                              <p:pRg st="14" end="14"/>
                                            </p:txEl>
                                          </p:spTgt>
                                        </p:tgtEl>
                                        <p:attrNameLst>
                                          <p:attrName>style.visibility</p:attrName>
                                        </p:attrNameLst>
                                      </p:cBhvr>
                                      <p:to>
                                        <p:strVal val="visible"/>
                                      </p:to>
                                    </p:set>
                                    <p:animEffect transition="in" filter="fade">
                                      <p:cBhvr>
                                        <p:cTn id="47" dur="500"/>
                                        <p:tgtEl>
                                          <p:spTgt spid="13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Contents</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2</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7" name="Contents list"/>
          <p:cNvSpPr txBox="1"/>
          <p:nvPr/>
        </p:nvSpPr>
        <p:spPr>
          <a:xfrm>
            <a:off x="1188720" y="1280160"/>
            <a:ext cx="5669280" cy="4480560"/>
          </a:xfrm>
          <a:prstGeom prst="rect">
            <a:avLst/>
          </a:prstGeom>
          <a:noFill/>
        </p:spPr>
        <p:txBody>
          <a:bodyPr wrap="square">
            <a:spAutoFit/>
          </a:bodyPr>
          <a:lstStyle/>
          <a:p>
            <a:pPr marL="0" indent="0">
              <a:spcBef>
                <a:spcPts val="0"/>
              </a:spcBef>
              <a:spcAft>
                <a:spcPts val="800"/>
              </a:spcAft>
              <a:buNone/>
            </a:pPr>
            <a:r>
              <a:rPr sz="1800" b="0" i="0" dirty="0">
                <a:solidFill>
                  <a:srgbClr val="262626"/>
                </a:solidFill>
                <a:latin typeface="Times New Roman"/>
              </a:rPr>
              <a:t>1.   Introduction</a:t>
            </a:r>
          </a:p>
          <a:p>
            <a:pPr marL="0" indent="0">
              <a:spcBef>
                <a:spcPts val="0"/>
              </a:spcBef>
              <a:spcAft>
                <a:spcPts val="800"/>
              </a:spcAft>
              <a:buNone/>
            </a:pPr>
            <a:r>
              <a:rPr sz="1800" b="0" i="0" dirty="0">
                <a:solidFill>
                  <a:srgbClr val="262626"/>
                </a:solidFill>
                <a:latin typeface="Times New Roman"/>
              </a:rPr>
              <a:t>2.   Relevance to Current Technology Trends</a:t>
            </a:r>
          </a:p>
          <a:p>
            <a:pPr marL="0" indent="0">
              <a:spcBef>
                <a:spcPts val="0"/>
              </a:spcBef>
              <a:spcAft>
                <a:spcPts val="800"/>
              </a:spcAft>
              <a:buNone/>
            </a:pPr>
            <a:r>
              <a:rPr sz="1800" b="0" i="0" dirty="0">
                <a:solidFill>
                  <a:srgbClr val="262626"/>
                </a:solidFill>
                <a:latin typeface="Times New Roman"/>
              </a:rPr>
              <a:t>3.   Literature Review</a:t>
            </a:r>
          </a:p>
          <a:p>
            <a:pPr marL="0" indent="0">
              <a:spcBef>
                <a:spcPts val="0"/>
              </a:spcBef>
              <a:spcAft>
                <a:spcPts val="800"/>
              </a:spcAft>
              <a:buNone/>
            </a:pPr>
            <a:r>
              <a:rPr sz="1800" b="0" i="0" dirty="0">
                <a:solidFill>
                  <a:srgbClr val="262626"/>
                </a:solidFill>
                <a:latin typeface="Times New Roman"/>
              </a:rPr>
              <a:t>4.   Problem Statement</a:t>
            </a:r>
          </a:p>
          <a:p>
            <a:pPr marL="0" indent="0">
              <a:spcBef>
                <a:spcPts val="0"/>
              </a:spcBef>
              <a:spcAft>
                <a:spcPts val="800"/>
              </a:spcAft>
              <a:buNone/>
            </a:pPr>
            <a:r>
              <a:rPr sz="1800" b="0" i="0" dirty="0">
                <a:solidFill>
                  <a:srgbClr val="262626"/>
                </a:solidFill>
                <a:latin typeface="Times New Roman"/>
              </a:rPr>
              <a:t>5.   Objectives</a:t>
            </a:r>
          </a:p>
          <a:p>
            <a:pPr marL="0" indent="0">
              <a:spcBef>
                <a:spcPts val="0"/>
              </a:spcBef>
              <a:spcAft>
                <a:spcPts val="800"/>
              </a:spcAft>
              <a:buNone/>
            </a:pPr>
            <a:r>
              <a:rPr sz="1800" b="0" i="0" dirty="0">
                <a:solidFill>
                  <a:srgbClr val="262626"/>
                </a:solidFill>
                <a:latin typeface="Times New Roman"/>
              </a:rPr>
              <a:t>6.   Proposed Seminar Scope / Proposed Framework</a:t>
            </a:r>
          </a:p>
          <a:p>
            <a:pPr marL="0" indent="0">
              <a:spcBef>
                <a:spcPts val="0"/>
              </a:spcBef>
              <a:spcAft>
                <a:spcPts val="800"/>
              </a:spcAft>
              <a:buNone/>
            </a:pPr>
            <a:r>
              <a:rPr sz="1800" b="0" i="0" dirty="0">
                <a:solidFill>
                  <a:srgbClr val="262626"/>
                </a:solidFill>
                <a:latin typeface="Times New Roman"/>
              </a:rPr>
              <a:t>7.   System Architecture / Methodology</a:t>
            </a:r>
          </a:p>
          <a:p>
            <a:pPr marL="0" indent="0">
              <a:spcBef>
                <a:spcPts val="0"/>
              </a:spcBef>
              <a:spcAft>
                <a:spcPts val="800"/>
              </a:spcAft>
              <a:buNone/>
            </a:pPr>
            <a:r>
              <a:rPr sz="1800" b="0" i="0" dirty="0">
                <a:solidFill>
                  <a:srgbClr val="262626"/>
                </a:solidFill>
                <a:latin typeface="Times New Roman"/>
              </a:rPr>
              <a:t>8.   Algorithm / Mathematical Module</a:t>
            </a:r>
          </a:p>
          <a:p>
            <a:pPr marL="0" indent="0">
              <a:spcBef>
                <a:spcPts val="0"/>
              </a:spcBef>
              <a:spcAft>
                <a:spcPts val="800"/>
              </a:spcAft>
              <a:buNone/>
            </a:pPr>
            <a:r>
              <a:rPr sz="1800" b="0" i="0" dirty="0">
                <a:solidFill>
                  <a:srgbClr val="262626"/>
                </a:solidFill>
                <a:latin typeface="Times New Roman"/>
              </a:rPr>
              <a:t>9.   Advantages</a:t>
            </a:r>
          </a:p>
          <a:p>
            <a:pPr marL="0" indent="0">
              <a:spcBef>
                <a:spcPts val="0"/>
              </a:spcBef>
              <a:spcAft>
                <a:spcPts val="800"/>
              </a:spcAft>
              <a:buNone/>
            </a:pPr>
            <a:r>
              <a:rPr sz="1800" b="0" i="0" dirty="0">
                <a:solidFill>
                  <a:srgbClr val="262626"/>
                </a:solidFill>
                <a:latin typeface="Times New Roman"/>
              </a:rPr>
              <a:t>10.   Limitations</a:t>
            </a:r>
          </a:p>
          <a:p>
            <a:pPr marL="0" indent="0">
              <a:spcBef>
                <a:spcPts val="0"/>
              </a:spcBef>
              <a:spcAft>
                <a:spcPts val="800"/>
              </a:spcAft>
              <a:buNone/>
            </a:pPr>
            <a:r>
              <a:rPr sz="1800" b="0" i="0" dirty="0">
                <a:solidFill>
                  <a:srgbClr val="262626"/>
                </a:solidFill>
                <a:latin typeface="Times New Roman"/>
              </a:rPr>
              <a:t>11.   Conclusion</a:t>
            </a:r>
          </a:p>
          <a:p>
            <a:pPr marL="0" indent="0">
              <a:spcBef>
                <a:spcPts val="0"/>
              </a:spcBef>
              <a:spcAft>
                <a:spcPts val="800"/>
              </a:spcAft>
              <a:buNone/>
            </a:pPr>
            <a:r>
              <a:rPr sz="1800" b="0" i="0" dirty="0">
                <a:solidFill>
                  <a:srgbClr val="262626"/>
                </a:solidFill>
                <a:latin typeface="Times New Roman"/>
              </a:rPr>
              <a:t>12.   Future Scope</a:t>
            </a:r>
          </a:p>
          <a:p>
            <a:pPr marL="0" indent="0">
              <a:spcBef>
                <a:spcPts val="0"/>
              </a:spcBef>
              <a:spcAft>
                <a:spcPts val="800"/>
              </a:spcAft>
              <a:buNone/>
            </a:pPr>
            <a:r>
              <a:rPr sz="1800" b="0" i="0" dirty="0">
                <a:solidFill>
                  <a:srgbClr val="262626"/>
                </a:solidFill>
                <a:latin typeface="Times New Roman"/>
              </a:rPr>
              <a:t>13.   References</a:t>
            </a:r>
          </a:p>
        </p:txBody>
      </p:sp>
      <p:sp>
        <p:nvSpPr>
          <p:cNvPr id="8" name="Contents page numbers"/>
          <p:cNvSpPr txBox="1"/>
          <p:nvPr/>
        </p:nvSpPr>
        <p:spPr>
          <a:xfrm>
            <a:off x="6949440" y="1280160"/>
            <a:ext cx="914400" cy="4480560"/>
          </a:xfrm>
          <a:prstGeom prst="rect">
            <a:avLst/>
          </a:prstGeom>
          <a:noFill/>
        </p:spPr>
        <p:txBody>
          <a:bodyPr wrap="square">
            <a:spAutoFit/>
          </a:bodyPr>
          <a:lstStyle/>
          <a:p>
            <a:pPr marL="0" indent="0" algn="r">
              <a:spcBef>
                <a:spcPts val="0"/>
              </a:spcBef>
              <a:spcAft>
                <a:spcPts val="800"/>
              </a:spcAft>
              <a:buNone/>
            </a:pPr>
            <a:r>
              <a:rPr sz="1800" b="0" i="0">
                <a:solidFill>
                  <a:srgbClr val="262626"/>
                </a:solidFill>
                <a:latin typeface="Times New Roman"/>
              </a:rPr>
              <a:t>3</a:t>
            </a:r>
          </a:p>
          <a:p>
            <a:pPr marL="0" indent="0" algn="r">
              <a:spcBef>
                <a:spcPts val="0"/>
              </a:spcBef>
              <a:spcAft>
                <a:spcPts val="800"/>
              </a:spcAft>
              <a:buNone/>
            </a:pPr>
            <a:r>
              <a:rPr sz="1800" b="0" i="0">
                <a:solidFill>
                  <a:srgbClr val="262626"/>
                </a:solidFill>
                <a:latin typeface="Times New Roman"/>
              </a:rPr>
              <a:t>4</a:t>
            </a:r>
          </a:p>
          <a:p>
            <a:pPr marL="0" indent="0" algn="r">
              <a:spcBef>
                <a:spcPts val="0"/>
              </a:spcBef>
              <a:spcAft>
                <a:spcPts val="800"/>
              </a:spcAft>
              <a:buNone/>
            </a:pPr>
            <a:r>
              <a:rPr sz="1800" b="0" i="0">
                <a:solidFill>
                  <a:srgbClr val="262626"/>
                </a:solidFill>
                <a:latin typeface="Times New Roman"/>
              </a:rPr>
              <a:t>5</a:t>
            </a:r>
          </a:p>
          <a:p>
            <a:pPr marL="0" indent="0" algn="r">
              <a:spcBef>
                <a:spcPts val="0"/>
              </a:spcBef>
              <a:spcAft>
                <a:spcPts val="800"/>
              </a:spcAft>
              <a:buNone/>
            </a:pPr>
            <a:r>
              <a:rPr sz="1800" b="0" i="0">
                <a:solidFill>
                  <a:srgbClr val="262626"/>
                </a:solidFill>
                <a:latin typeface="Times New Roman"/>
              </a:rPr>
              <a:t>6</a:t>
            </a:r>
          </a:p>
          <a:p>
            <a:pPr marL="0" indent="0" algn="r">
              <a:spcBef>
                <a:spcPts val="0"/>
              </a:spcBef>
              <a:spcAft>
                <a:spcPts val="800"/>
              </a:spcAft>
              <a:buNone/>
            </a:pPr>
            <a:r>
              <a:rPr sz="1800" b="0" i="0">
                <a:solidFill>
                  <a:srgbClr val="262626"/>
                </a:solidFill>
                <a:latin typeface="Times New Roman"/>
              </a:rPr>
              <a:t>7</a:t>
            </a:r>
          </a:p>
          <a:p>
            <a:pPr marL="0" indent="0" algn="r">
              <a:spcBef>
                <a:spcPts val="0"/>
              </a:spcBef>
              <a:spcAft>
                <a:spcPts val="800"/>
              </a:spcAft>
              <a:buNone/>
            </a:pPr>
            <a:r>
              <a:rPr sz="1800" b="0" i="0">
                <a:solidFill>
                  <a:srgbClr val="262626"/>
                </a:solidFill>
                <a:latin typeface="Times New Roman"/>
              </a:rPr>
              <a:t>8</a:t>
            </a:r>
          </a:p>
          <a:p>
            <a:pPr marL="0" indent="0" algn="r">
              <a:spcBef>
                <a:spcPts val="0"/>
              </a:spcBef>
              <a:spcAft>
                <a:spcPts val="800"/>
              </a:spcAft>
              <a:buNone/>
            </a:pPr>
            <a:r>
              <a:rPr sz="1800" b="0" i="0">
                <a:solidFill>
                  <a:srgbClr val="262626"/>
                </a:solidFill>
                <a:latin typeface="Times New Roman"/>
              </a:rPr>
              <a:t>9</a:t>
            </a:r>
          </a:p>
          <a:p>
            <a:pPr marL="0" indent="0" algn="r">
              <a:spcBef>
                <a:spcPts val="0"/>
              </a:spcBef>
              <a:spcAft>
                <a:spcPts val="800"/>
              </a:spcAft>
              <a:buNone/>
            </a:pPr>
            <a:r>
              <a:rPr sz="1800" b="0" i="0">
                <a:solidFill>
                  <a:srgbClr val="262626"/>
                </a:solidFill>
                <a:latin typeface="Times New Roman"/>
              </a:rPr>
              <a:t>11</a:t>
            </a:r>
          </a:p>
          <a:p>
            <a:pPr marL="0" indent="0" algn="r">
              <a:spcBef>
                <a:spcPts val="0"/>
              </a:spcBef>
              <a:spcAft>
                <a:spcPts val="800"/>
              </a:spcAft>
              <a:buNone/>
            </a:pPr>
            <a:r>
              <a:rPr sz="1800" b="0" i="0">
                <a:solidFill>
                  <a:srgbClr val="262626"/>
                </a:solidFill>
                <a:latin typeface="Times New Roman"/>
              </a:rPr>
              <a:t>15</a:t>
            </a:r>
          </a:p>
          <a:p>
            <a:pPr marL="0" indent="0" algn="r">
              <a:spcBef>
                <a:spcPts val="0"/>
              </a:spcBef>
              <a:spcAft>
                <a:spcPts val="800"/>
              </a:spcAft>
              <a:buNone/>
            </a:pPr>
            <a:r>
              <a:rPr sz="1800" b="0" i="0">
                <a:solidFill>
                  <a:srgbClr val="262626"/>
                </a:solidFill>
                <a:latin typeface="Times New Roman"/>
              </a:rPr>
              <a:t>15</a:t>
            </a:r>
          </a:p>
          <a:p>
            <a:pPr marL="0" indent="0" algn="r">
              <a:spcBef>
                <a:spcPts val="0"/>
              </a:spcBef>
              <a:spcAft>
                <a:spcPts val="800"/>
              </a:spcAft>
              <a:buNone/>
            </a:pPr>
            <a:r>
              <a:rPr sz="1800" b="0" i="0">
                <a:solidFill>
                  <a:srgbClr val="262626"/>
                </a:solidFill>
                <a:latin typeface="Times New Roman"/>
              </a:rPr>
              <a:t>16</a:t>
            </a:r>
          </a:p>
          <a:p>
            <a:pPr marL="0" indent="0" algn="r">
              <a:spcBef>
                <a:spcPts val="0"/>
              </a:spcBef>
              <a:spcAft>
                <a:spcPts val="800"/>
              </a:spcAft>
              <a:buNone/>
            </a:pPr>
            <a:r>
              <a:rPr sz="1800" b="0" i="0">
                <a:solidFill>
                  <a:srgbClr val="262626"/>
                </a:solidFill>
                <a:latin typeface="Times New Roman"/>
              </a:rPr>
              <a:t>16</a:t>
            </a:r>
          </a:p>
          <a:p>
            <a:pPr marL="0" indent="0" algn="r">
              <a:spcBef>
                <a:spcPts val="0"/>
              </a:spcBef>
              <a:spcAft>
                <a:spcPts val="800"/>
              </a:spcAft>
              <a:buNone/>
            </a:pPr>
            <a:r>
              <a:rPr sz="1800" b="0" i="0">
                <a:solidFill>
                  <a:srgbClr val="262626"/>
                </a:solidFill>
                <a:latin typeface="Times New Roman"/>
              </a:rPr>
              <a:t>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dirty="0"/>
              <a:t>Introduction</a:t>
            </a:r>
            <a:endParaRPr dirty="0"/>
          </a:p>
        </p:txBody>
      </p:sp>
      <p:sp>
        <p:nvSpPr>
          <p:cNvPr id="4" name="Google Shape;623;p31"/>
          <p:cNvSpPr txBox="1"/>
          <p:nvPr/>
        </p:nvSpPr>
        <p:spPr>
          <a:xfrm>
            <a:off x="-914400" y="6381750"/>
            <a:ext cx="2476500" cy="47625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2"/>
              </a:buClr>
              <a:buSzPts val="1400"/>
              <a:buFont typeface="Libre Baskerville"/>
              <a:buNone/>
            </a:pPr>
            <a:endParaRPr sz="1400" b="0" i="0" u="none" strike="noStrike" cap="none" dirty="0">
              <a:solidFill>
                <a:srgbClr val="000000"/>
              </a:solidFill>
              <a:latin typeface="Arial"/>
              <a:ea typeface="Arial"/>
              <a:cs typeface="Arial"/>
              <a:sym typeface="Arial"/>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3</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2733368" y="6007510"/>
            <a:ext cx="5724832" cy="850490"/>
          </a:xfrm>
          <a:prstGeom prst="rect">
            <a:avLst/>
          </a:prstGeom>
          <a:noFill/>
          <a:ln>
            <a:noFill/>
          </a:ln>
        </p:spPr>
        <p:txBody>
          <a:bodyPr spcFirstLastPara="1" wrap="square" lIns="91425" tIns="45700" rIns="91425" bIns="45700" anchor="ctr" anchorCtr="0">
            <a:noAutofit/>
          </a:bodyPr>
          <a:lstStyle/>
          <a:p>
            <a:pPr lvl="0">
              <a:buClr>
                <a:schemeClr val="dk2"/>
              </a:buClr>
              <a:buSzPts val="1400"/>
            </a:pPr>
            <a:endParaRPr sz="105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TextBox 6"/>
          <p:cNvSpPr txBox="1"/>
          <p:nvPr/>
        </p:nvSpPr>
        <p:spPr>
          <a:xfrm>
            <a:off x="502920" y="1280160"/>
            <a:ext cx="8138160" cy="2848472"/>
          </a:xfrm>
          <a:prstGeom prst="rect">
            <a:avLst/>
          </a:prstGeom>
          <a:noFill/>
        </p:spPr>
        <p:txBody>
          <a:bodyPr wrap="square" lIns="45720" tIns="27432" rIns="45720" bIns="27432" anchor="t">
            <a:spAutoFit/>
          </a:bodyPr>
          <a:lstStyle/>
          <a:p>
            <a:pPr marL="228600" indent="-228600">
              <a:spcAft>
                <a:spcPts val="900"/>
              </a:spcAft>
              <a:buFont typeface="Arial"/>
              <a:buChar char="•"/>
            </a:pPr>
            <a:r>
              <a:rPr lang="en-IN" sz="1800" dirty="0">
                <a:latin typeface="Times New Roman" panose="02020603050405020304" pitchFamily="18" charset="0"/>
                <a:cs typeface="Times New Roman" panose="02020603050405020304" pitchFamily="18" charset="0"/>
              </a:rPr>
              <a:t>Crop diseases affect plant health, crop quality, and agricultural productivity.</a:t>
            </a:r>
          </a:p>
          <a:p>
            <a:pPr marL="228600" indent="-228600">
              <a:spcAft>
                <a:spcPts val="900"/>
              </a:spcAft>
              <a:buFont typeface="Arial"/>
              <a:buChar char="•"/>
            </a:pPr>
            <a:r>
              <a:rPr lang="en-IN" sz="1800" dirty="0">
                <a:latin typeface="Times New Roman" panose="02020603050405020304" pitchFamily="18" charset="0"/>
                <a:cs typeface="Times New Roman" panose="02020603050405020304" pitchFamily="18" charset="0"/>
              </a:rPr>
              <a:t>Traditional disease identification mainly depends on manual field inspection.</a:t>
            </a:r>
          </a:p>
          <a:p>
            <a:pPr marL="228600" indent="-228600">
              <a:spcAft>
                <a:spcPts val="900"/>
              </a:spcAft>
              <a:buFont typeface="Arial"/>
              <a:buChar char="•"/>
            </a:pPr>
            <a:r>
              <a:rPr lang="en-IN" sz="1800" dirty="0">
                <a:latin typeface="Times New Roman" panose="02020603050405020304" pitchFamily="18" charset="0"/>
                <a:cs typeface="Times New Roman" panose="02020603050405020304" pitchFamily="18" charset="0"/>
              </a:rPr>
              <a:t>Manual inspection can be time-consuming for large agricultural areas.</a:t>
            </a:r>
          </a:p>
          <a:p>
            <a:pPr marL="228600" indent="-228600">
              <a:spcAft>
                <a:spcPts val="900"/>
              </a:spcAft>
              <a:buFont typeface="Arial"/>
              <a:buChar char="•"/>
            </a:pPr>
            <a:r>
              <a:rPr lang="en-IN" sz="1800" dirty="0">
                <a:latin typeface="Times New Roman" panose="02020603050405020304" pitchFamily="18" charset="0"/>
                <a:cs typeface="Times New Roman" panose="02020603050405020304" pitchFamily="18" charset="0"/>
              </a:rPr>
              <a:t>Drones capture aerial images of crops for efficient field monitoring.</a:t>
            </a:r>
          </a:p>
          <a:p>
            <a:pPr marL="228600" indent="-228600">
              <a:spcAft>
                <a:spcPts val="900"/>
              </a:spcAft>
              <a:buFont typeface="Arial"/>
              <a:buChar char="•"/>
            </a:pPr>
            <a:r>
              <a:rPr lang="en-IN" sz="1800" dirty="0">
                <a:latin typeface="Times New Roman" panose="02020603050405020304" pitchFamily="18" charset="0"/>
                <a:cs typeface="Times New Roman" panose="02020603050405020304" pitchFamily="18" charset="0"/>
              </a:rPr>
              <a:t>Computer Vision and Deep Learning help analyse images and identify possible disease symptoms.</a:t>
            </a:r>
          </a:p>
          <a:p>
            <a:pPr marL="228600" indent="-228600">
              <a:spcAft>
                <a:spcPts val="900"/>
              </a:spcAft>
              <a:buFont typeface="Arial"/>
              <a:buChar char="•"/>
            </a:pPr>
            <a:r>
              <a:rPr lang="en-IN" sz="1800" dirty="0">
                <a:latin typeface="Times New Roman" panose="02020603050405020304" pitchFamily="18" charset="0"/>
                <a:cs typeface="Times New Roman" panose="02020603050405020304" pitchFamily="18" charset="0"/>
              </a:rPr>
              <a:t>The seminar studies </a:t>
            </a:r>
            <a:r>
              <a:rPr lang="en-IN" sz="1800" dirty="0" err="1">
                <a:latin typeface="Times New Roman" panose="02020603050405020304" pitchFamily="18" charset="0"/>
                <a:cs typeface="Times New Roman" panose="02020603050405020304" pitchFamily="18" charset="0"/>
              </a:rPr>
              <a:t>AgroVisionNet</a:t>
            </a:r>
            <a:r>
              <a:rPr lang="en-IN" sz="1800" dirty="0">
                <a:latin typeface="Times New Roman" panose="02020603050405020304" pitchFamily="18" charset="0"/>
                <a:cs typeface="Times New Roman" panose="02020603050405020304" pitchFamily="18" charset="0"/>
              </a:rPr>
              <a:t> and other UAV-based disease detection approaches.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dirty="0"/>
              <a:t>Relevance to Current Technology Trends</a:t>
            </a:r>
            <a:endParaRPr dirty="0"/>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4</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3755922" y="6095998"/>
            <a:ext cx="4653116" cy="699442"/>
          </a:xfrm>
          <a:prstGeom prst="rect">
            <a:avLst/>
          </a:prstGeom>
          <a:noFill/>
          <a:ln>
            <a:noFill/>
          </a:ln>
        </p:spPr>
        <p:txBody>
          <a:bodyPr spcFirstLastPara="1" wrap="square" lIns="91425" tIns="45700" rIns="91425" bIns="45700" anchor="ctr" anchorCtr="0">
            <a:noAutofit/>
          </a:bodyPr>
          <a:lstStyle/>
          <a:p>
            <a:pPr lvl="0">
              <a:buClr>
                <a:schemeClr val="dk2"/>
              </a:buClr>
              <a:buSzPts val="1400"/>
            </a:pPr>
            <a:endParaRPr lang="en-US" sz="1050" dirty="0">
              <a:latin typeface="Times New Roman" panose="02020603050405020304" pitchFamily="18" charset="0"/>
              <a:cs typeface="Times New Roman" panose="02020603050405020304" pitchFamily="18" charset="0"/>
            </a:endParaRPr>
          </a:p>
        </p:txBody>
      </p:sp>
      <p:sp>
        <p:nvSpPr>
          <p:cNvPr id="7" name="Trends box"/>
          <p:cNvSpPr/>
          <p:nvPr/>
        </p:nvSpPr>
        <p:spPr>
          <a:xfrm>
            <a:off x="502920" y="1434160"/>
            <a:ext cx="3992879" cy="4661839"/>
          </a:xfrm>
          <a:prstGeom prst="rect">
            <a:avLst/>
          </a:prstGeom>
          <a:noFill/>
          <a:ln w="12700">
            <a:solidFill>
              <a:srgbClr val="A6A6A6"/>
            </a:solidFill>
          </a:ln>
        </p:spPr>
        <p:txBody>
          <a:bodyPr rtlCol="0" anchor="ctr"/>
          <a:lstStyle/>
          <a:p>
            <a:pPr algn="ctr"/>
            <a:endParaRPr/>
          </a:p>
        </p:txBody>
      </p:sp>
      <p:sp>
        <p:nvSpPr>
          <p:cNvPr id="8" name="Applications box"/>
          <p:cNvSpPr/>
          <p:nvPr/>
        </p:nvSpPr>
        <p:spPr>
          <a:xfrm>
            <a:off x="4846320" y="1434160"/>
            <a:ext cx="3840480" cy="4661838"/>
          </a:xfrm>
          <a:prstGeom prst="rect">
            <a:avLst/>
          </a:prstGeom>
          <a:noFill/>
          <a:ln w="12700">
            <a:solidFill>
              <a:srgbClr val="A6A6A6"/>
            </a:solidFill>
          </a:ln>
        </p:spPr>
        <p:txBody>
          <a:bodyPr rtlCol="0" anchor="ctr"/>
          <a:lstStyle/>
          <a:p>
            <a:pPr algn="ctr"/>
            <a:endParaRPr/>
          </a:p>
        </p:txBody>
      </p:sp>
      <p:sp>
        <p:nvSpPr>
          <p:cNvPr id="9" name="TextBox 8"/>
          <p:cNvSpPr txBox="1"/>
          <p:nvPr/>
        </p:nvSpPr>
        <p:spPr>
          <a:xfrm>
            <a:off x="640080" y="137160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Technology trends</a:t>
            </a:r>
          </a:p>
        </p:txBody>
      </p:sp>
      <p:sp>
        <p:nvSpPr>
          <p:cNvPr id="10" name="TextBox 9"/>
          <p:cNvSpPr txBox="1"/>
          <p:nvPr/>
        </p:nvSpPr>
        <p:spPr>
          <a:xfrm>
            <a:off x="640080" y="1828800"/>
            <a:ext cx="3657600" cy="4097532"/>
          </a:xfrm>
          <a:prstGeom prst="rect">
            <a:avLst/>
          </a:prstGeom>
          <a:noFill/>
        </p:spPr>
        <p:txBody>
          <a:bodyPr wrap="square" lIns="45720" tIns="27432" rIns="45720" bIns="27432" anchor="t">
            <a:spAutoFit/>
          </a:bodyPr>
          <a:lstStyle/>
          <a:p>
            <a:pPr marL="285750" indent="-285750">
              <a:spcAft>
                <a:spcPts val="800"/>
              </a:spcAf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UAV / Drone Technology</a:t>
            </a:r>
            <a:r>
              <a:rPr lang="en-IN" sz="1600" dirty="0">
                <a:latin typeface="Times New Roman" panose="02020603050405020304" pitchFamily="18" charset="0"/>
                <a:cs typeface="Times New Roman" panose="02020603050405020304" pitchFamily="18" charset="0"/>
              </a:rPr>
              <a:t> — capturing crop images and monitoring large agricultural areas.</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Computer Vision</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analyzing</a:t>
            </a:r>
            <a:r>
              <a:rPr lang="en-IN" sz="1600" dirty="0">
                <a:latin typeface="Times New Roman" panose="02020603050405020304" pitchFamily="18" charset="0"/>
                <a:cs typeface="Times New Roman" panose="02020603050405020304" pitchFamily="18" charset="0"/>
              </a:rPr>
              <a:t> drone-acquired crop images for disease identification.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Deep Learning</a:t>
            </a:r>
            <a:r>
              <a:rPr lang="en-IN" sz="1600" dirty="0">
                <a:latin typeface="Times New Roman" panose="02020603050405020304" pitchFamily="18" charset="0"/>
                <a:cs typeface="Times New Roman" panose="02020603050405020304" pitchFamily="18" charset="0"/>
              </a:rPr>
              <a:t> — detecting and classifying crop diseases from agricultural image data.</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Generative AI / GAN</a:t>
            </a:r>
            <a:r>
              <a:rPr lang="en-IN" sz="1600" dirty="0">
                <a:latin typeface="Times New Roman" panose="02020603050405020304" pitchFamily="18" charset="0"/>
                <a:cs typeface="Times New Roman" panose="02020603050405020304" pitchFamily="18" charset="0"/>
              </a:rPr>
              <a:t> — generating or enhancing image data to support crop disease detection.</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IoT-Based Systems</a:t>
            </a:r>
            <a:r>
              <a:rPr lang="en-IN" sz="1600" dirty="0">
                <a:latin typeface="Times New Roman" panose="02020603050405020304" pitchFamily="18" charset="0"/>
                <a:cs typeface="Times New Roman" panose="02020603050405020304" pitchFamily="18" charset="0"/>
              </a:rPr>
              <a:t> — supporting intelligent monitoring and detection of crop diseases using environmental sensor data..</a:t>
            </a:r>
          </a:p>
        </p:txBody>
      </p:sp>
      <p:sp>
        <p:nvSpPr>
          <p:cNvPr id="11" name="TextBox 10"/>
          <p:cNvSpPr txBox="1"/>
          <p:nvPr/>
        </p:nvSpPr>
        <p:spPr>
          <a:xfrm>
            <a:off x="4846320" y="137160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dirty="0">
                <a:solidFill>
                  <a:srgbClr val="D34817"/>
                </a:solidFill>
                <a:latin typeface="Times New Roman"/>
              </a:rPr>
              <a:t>Applications</a:t>
            </a:r>
          </a:p>
        </p:txBody>
      </p:sp>
      <p:sp>
        <p:nvSpPr>
          <p:cNvPr id="12" name="TextBox 11"/>
          <p:cNvSpPr txBox="1"/>
          <p:nvPr/>
        </p:nvSpPr>
        <p:spPr>
          <a:xfrm>
            <a:off x="4846320" y="1828800"/>
            <a:ext cx="3657600" cy="3748719"/>
          </a:xfrm>
          <a:prstGeom prst="rect">
            <a:avLst/>
          </a:prstGeom>
          <a:noFill/>
        </p:spPr>
        <p:txBody>
          <a:bodyPr wrap="square" lIns="45720" tIns="27432" rIns="45720" bIns="27432" anchor="t">
            <a:spAutoFit/>
          </a:bodyPr>
          <a:lstStyle/>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Crop Health Monitoring</a:t>
            </a:r>
            <a:r>
              <a:rPr lang="en-IN" sz="1600" dirty="0">
                <a:latin typeface="Times New Roman" panose="02020603050405020304" pitchFamily="18" charset="0"/>
                <a:cs typeface="Times New Roman" panose="02020603050405020304" pitchFamily="18" charset="0"/>
              </a:rPr>
              <a:t> — monitoring crop health over large agricultural fields.</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Early Disease Detection</a:t>
            </a:r>
            <a:r>
              <a:rPr lang="en-IN" sz="1600" dirty="0">
                <a:latin typeface="Times New Roman" panose="02020603050405020304" pitchFamily="18" charset="0"/>
                <a:cs typeface="Times New Roman" panose="02020603050405020304" pitchFamily="18" charset="0"/>
              </a:rPr>
              <a:t> — identifying disease symptoms at an early stage.</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Precision Agriculture</a:t>
            </a:r>
            <a:r>
              <a:rPr lang="en-IN" sz="1600" dirty="0">
                <a:latin typeface="Times New Roman" panose="02020603050405020304" pitchFamily="18" charset="0"/>
                <a:cs typeface="Times New Roman" panose="02020603050405020304" pitchFamily="18" charset="0"/>
              </a:rPr>
              <a:t> — helping farmers target affected areas for treatment.</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Smart Farming</a:t>
            </a:r>
            <a:r>
              <a:rPr lang="en-IN" sz="1600" dirty="0">
                <a:latin typeface="Times New Roman" panose="02020603050405020304" pitchFamily="18" charset="0"/>
                <a:cs typeface="Times New Roman" panose="02020603050405020304" pitchFamily="18" charset="0"/>
              </a:rPr>
              <a:t> — supporting data-driven agricultural decisions using AI and drone technology.</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Disease Mapping</a:t>
            </a:r>
            <a:r>
              <a:rPr lang="en-IN" sz="1600" dirty="0">
                <a:latin typeface="Times New Roman" panose="02020603050405020304" pitchFamily="18" charset="0"/>
                <a:cs typeface="Times New Roman" panose="02020603050405020304" pitchFamily="18" charset="0"/>
              </a:rPr>
              <a:t> — locating and mapping disease-affected areas for effective crop management.</a:t>
            </a:r>
          </a:p>
          <a:p>
            <a:pPr lvl="0"/>
            <a:endParaRPr sz="1600" b="0" i="0" dirty="0">
              <a:solidFill>
                <a:srgbClr val="262626"/>
              </a:solidFill>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dirty="0"/>
              <a:t>Literature Review</a:t>
            </a:r>
            <a:endParaRPr dirty="0"/>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5</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3431458" y="6096000"/>
            <a:ext cx="5026742" cy="762000"/>
          </a:xfrm>
          <a:prstGeom prst="rect">
            <a:avLst/>
          </a:prstGeom>
          <a:noFill/>
          <a:ln>
            <a:noFill/>
          </a:ln>
        </p:spPr>
        <p:txBody>
          <a:bodyPr spcFirstLastPara="1" wrap="square" lIns="91425" tIns="45700" rIns="91425" bIns="45700" anchor="ctr" anchorCtr="0">
            <a:noAutofit/>
          </a:bodyPr>
          <a:lstStyle/>
          <a:p>
            <a:pPr lvl="0">
              <a:buClr>
                <a:schemeClr val="dk2"/>
              </a:buClr>
              <a:buSzPts val="1400"/>
            </a:pPr>
            <a:endParaRPr lang="en-US" sz="1050" dirty="0">
              <a:latin typeface="Times New Roman" panose="02020603050405020304" pitchFamily="18" charset="0"/>
              <a:cs typeface="Times New Roman" panose="02020603050405020304" pitchFamily="18" charset="0"/>
            </a:endParaRPr>
          </a:p>
        </p:txBody>
      </p:sp>
      <p:graphicFrame>
        <p:nvGraphicFramePr>
          <p:cNvPr id="7" name="Literature table"/>
          <p:cNvGraphicFramePr>
            <a:graphicFrameLocks noGrp="1"/>
          </p:cNvGraphicFramePr>
          <p:nvPr>
            <p:extLst>
              <p:ext uri="{D42A27DB-BD31-4B8C-83A1-F6EECF244321}">
                <p14:modId xmlns:p14="http://schemas.microsoft.com/office/powerpoint/2010/main" val="581277635"/>
              </p:ext>
            </p:extLst>
          </p:nvPr>
        </p:nvGraphicFramePr>
        <p:xfrm>
          <a:off x="502920" y="1078992"/>
          <a:ext cx="8183879" cy="4346451"/>
        </p:xfrm>
        <a:graphic>
          <a:graphicData uri="http://schemas.openxmlformats.org/drawingml/2006/table">
            <a:tbl>
              <a:tblPr firstRow="1"/>
              <a:tblGrid>
                <a:gridCol w="505745">
                  <a:extLst>
                    <a:ext uri="{9D8B030D-6E8A-4147-A177-3AD203B41FA5}">
                      <a16:colId xmlns:a16="http://schemas.microsoft.com/office/drawing/2014/main" val="20000"/>
                    </a:ext>
                  </a:extLst>
                </a:gridCol>
                <a:gridCol w="1793097">
                  <a:extLst>
                    <a:ext uri="{9D8B030D-6E8A-4147-A177-3AD203B41FA5}">
                      <a16:colId xmlns:a16="http://schemas.microsoft.com/office/drawing/2014/main" val="20001"/>
                    </a:ext>
                  </a:extLst>
                </a:gridCol>
                <a:gridCol w="3352819">
                  <a:extLst>
                    <a:ext uri="{9D8B030D-6E8A-4147-A177-3AD203B41FA5}">
                      <a16:colId xmlns:a16="http://schemas.microsoft.com/office/drawing/2014/main" val="20002"/>
                    </a:ext>
                  </a:extLst>
                </a:gridCol>
                <a:gridCol w="2532218">
                  <a:extLst>
                    <a:ext uri="{9D8B030D-6E8A-4147-A177-3AD203B41FA5}">
                      <a16:colId xmlns:a16="http://schemas.microsoft.com/office/drawing/2014/main" val="20003"/>
                    </a:ext>
                  </a:extLst>
                </a:gridCol>
              </a:tblGrid>
              <a:tr h="398757">
                <a:tc>
                  <a:txBody>
                    <a:bodyPr/>
                    <a:lstStyle/>
                    <a:p>
                      <a:pPr marL="0" indent="0" algn="l">
                        <a:spcBef>
                          <a:spcPts val="0"/>
                        </a:spcBef>
                        <a:spcAft>
                          <a:spcPts val="0"/>
                        </a:spcAft>
                        <a:buNone/>
                      </a:pPr>
                      <a:r>
                        <a:rPr sz="1400" b="1" i="0">
                          <a:solidFill>
                            <a:srgbClr val="FFFFFF"/>
                          </a:solidFill>
                          <a:latin typeface="Times New Roman"/>
                        </a:rPr>
                        <a:t>Ref</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l">
                        <a:spcBef>
                          <a:spcPts val="0"/>
                        </a:spcBef>
                        <a:spcAft>
                          <a:spcPts val="0"/>
                        </a:spcAft>
                        <a:buNone/>
                      </a:pPr>
                      <a:r>
                        <a:rPr sz="1400" b="1" i="0">
                          <a:solidFill>
                            <a:srgbClr val="FFFFFF"/>
                          </a:solidFill>
                          <a:latin typeface="Times New Roman"/>
                        </a:rPr>
                        <a:t>Authors, year</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tc>
                  <a:txBody>
                    <a:bodyPr/>
                    <a:lstStyle/>
                    <a:p>
                      <a:pPr marL="0" indent="0" algn="l">
                        <a:spcBef>
                          <a:spcPts val="0"/>
                        </a:spcBef>
                        <a:spcAft>
                          <a:spcPts val="0"/>
                        </a:spcAft>
                        <a:buNone/>
                      </a:pPr>
                      <a:r>
                        <a:rPr sz="1400" b="1" i="0">
                          <a:solidFill>
                            <a:srgbClr val="FFFFFF"/>
                          </a:solidFill>
                          <a:latin typeface="Times New Roman"/>
                        </a:rPr>
                        <a:t>Method</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tc>
                  <a:txBody>
                    <a:bodyPr/>
                    <a:lstStyle/>
                    <a:p>
                      <a:pPr marL="0" indent="0" algn="l">
                        <a:spcBef>
                          <a:spcPts val="0"/>
                        </a:spcBef>
                        <a:spcAft>
                          <a:spcPts val="0"/>
                        </a:spcAft>
                        <a:buNone/>
                      </a:pPr>
                      <a:r>
                        <a:rPr sz="1400" b="1" i="0">
                          <a:solidFill>
                            <a:srgbClr val="FFFFFF"/>
                          </a:solidFill>
                          <a:latin typeface="Times New Roman"/>
                        </a:rPr>
                        <a:t>Limitation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extLst>
                  <a:ext uri="{0D108BD9-81ED-4DB2-BD59-A6C34878D82A}">
                    <a16:rowId xmlns:a16="http://schemas.microsoft.com/office/drawing/2014/main" val="10000"/>
                  </a:ext>
                </a:extLst>
              </a:tr>
              <a:tr h="797514">
                <a:tc>
                  <a:txBody>
                    <a:bodyPr/>
                    <a:lstStyle/>
                    <a:p>
                      <a:pPr marL="0" indent="0" algn="l">
                        <a:spcBef>
                          <a:spcPts val="0"/>
                        </a:spcBef>
                        <a:spcAft>
                          <a:spcPts val="0"/>
                        </a:spcAft>
                        <a:buNone/>
                      </a:pPr>
                      <a:r>
                        <a:rPr sz="1400" b="1" i="0">
                          <a:solidFill>
                            <a:srgbClr val="262626"/>
                          </a:solidFill>
                          <a:latin typeface="Times New Roman"/>
                        </a:rPr>
                        <a:t>[1]</a:t>
                      </a:r>
                    </a:p>
                  </a:txBody>
                  <a:tcPr marL="64008" marR="64008" marT="27432" marB="27432"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a:buNone/>
                      </a:pPr>
                      <a:r>
                        <a:rPr lang="en-IN" dirty="0"/>
                        <a:t>Manoj et al. (Base paper), 2026</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err="1">
                          <a:latin typeface="Times New Roman" panose="02020603050405020304" pitchFamily="18" charset="0"/>
                          <a:cs typeface="Times New Roman" panose="02020603050405020304" pitchFamily="18" charset="0"/>
                        </a:rPr>
                        <a:t>AgroVisionNet</a:t>
                      </a:r>
                      <a:r>
                        <a:rPr lang="en-IN" dirty="0">
                          <a:latin typeface="Times New Roman" panose="02020603050405020304" pitchFamily="18" charset="0"/>
                          <a:cs typeface="Times New Roman" panose="02020603050405020304" pitchFamily="18" charset="0"/>
                        </a:rPr>
                        <a:t>: hybrid CNN–Transformer using UAV images and environmental sensor data.</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Requires sensor integration and computational resources for deployment.</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7514">
                <a:tc>
                  <a:txBody>
                    <a:bodyPr/>
                    <a:lstStyle/>
                    <a:p>
                      <a:pPr marL="0" indent="0" algn="l">
                        <a:spcBef>
                          <a:spcPts val="0"/>
                        </a:spcBef>
                        <a:spcAft>
                          <a:spcPts val="0"/>
                        </a:spcAft>
                        <a:buNone/>
                      </a:pPr>
                      <a:r>
                        <a:rPr sz="1400" b="1" i="0">
                          <a:solidFill>
                            <a:srgbClr val="262626"/>
                          </a:solidFill>
                          <a:latin typeface="Times New Roman"/>
                        </a:rPr>
                        <a:t>[2]</a:t>
                      </a:r>
                    </a:p>
                  </a:txBody>
                  <a:tcPr marL="64008" marR="64008" marT="27432" marB="27432"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a:buNone/>
                      </a:pPr>
                      <a:r>
                        <a:rPr lang="en-IN" dirty="0"/>
                        <a:t>DSCONV-GAN, 2024</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YOLOv8 with Dynamic Snake Convolution and </a:t>
                      </a:r>
                      <a:r>
                        <a:rPr lang="en-IN" dirty="0" err="1"/>
                        <a:t>CycleGAN</a:t>
                      </a:r>
                      <a:r>
                        <a:rPr lang="en-IN" dirty="0"/>
                        <a:t> for cabbage wilt detection</a:t>
                      </a:r>
                    </a:p>
                  </a:txBody>
                  <a:tcPr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Focuses on a specific crop disease and complex growing environments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57638">
                <a:tc>
                  <a:txBody>
                    <a:bodyPr/>
                    <a:lstStyle/>
                    <a:p>
                      <a:pPr marL="0" indent="0" algn="l">
                        <a:spcBef>
                          <a:spcPts val="0"/>
                        </a:spcBef>
                        <a:spcAft>
                          <a:spcPts val="0"/>
                        </a:spcAft>
                        <a:buNone/>
                      </a:pPr>
                      <a:r>
                        <a:rPr sz="1400" b="1" i="0">
                          <a:solidFill>
                            <a:srgbClr val="262626"/>
                          </a:solidFill>
                          <a:latin typeface="Times New Roman"/>
                        </a:rPr>
                        <a:t>[3]</a:t>
                      </a:r>
                    </a:p>
                  </a:txBody>
                  <a:tcPr marL="64008" marR="64008" marT="27432" marB="27432"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err="1"/>
                        <a:t>Xoo</a:t>
                      </a:r>
                      <a:r>
                        <a:rPr lang="en-IN" dirty="0"/>
                        <a:t>-YOLO, 2023</a:t>
                      </a:r>
                    </a:p>
                    <a:p>
                      <a:pPr>
                        <a:buNone/>
                      </a:pPr>
                      <a:endParaRPr lang="en-IN" dirty="0"/>
                    </a:p>
                  </a:txBody>
                  <a:tcPr anchor="ctr">
                    <a:lnL w="9525" cap="flat" cmpd="sng">
                      <a:solidFill>
                        <a:srgbClr val="A6A6A6"/>
                      </a:solidFill>
                      <a:prstDash val="soli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Improved YOLO-Based </a:t>
                      </a:r>
                      <a:r>
                        <a:rPr lang="en-IN" dirty="0" err="1"/>
                        <a:t>Detaction</a:t>
                      </a:r>
                      <a:r>
                        <a:rPr lang="en-IN" dirty="0"/>
                        <a:t> of bacterial blight in wild rice UAV </a:t>
                      </a:r>
                      <a:r>
                        <a:rPr lang="en-IN" dirty="0" err="1"/>
                        <a:t>iamges</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Focuses on a specific disease and crop</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97514">
                <a:tc>
                  <a:txBody>
                    <a:bodyPr/>
                    <a:lstStyle/>
                    <a:p>
                      <a:pPr marL="0" indent="0" algn="l">
                        <a:spcBef>
                          <a:spcPts val="0"/>
                        </a:spcBef>
                        <a:spcAft>
                          <a:spcPts val="0"/>
                        </a:spcAft>
                        <a:buNone/>
                      </a:pPr>
                      <a:r>
                        <a:rPr sz="1400" b="1" i="0">
                          <a:solidFill>
                            <a:srgbClr val="262626"/>
                          </a:solidFill>
                          <a:latin typeface="Times New Roman"/>
                        </a:rPr>
                        <a:t>[4]</a:t>
                      </a:r>
                    </a:p>
                  </a:txBody>
                  <a:tcPr marL="64008" marR="64008" marT="27432" marB="27432"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a:buNone/>
                      </a:pPr>
                      <a:r>
                        <a:rPr lang="en-IN" dirty="0"/>
                        <a:t>Multimodal UAV Pipeline, 2025</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YOLO for aerial stress detection and </a:t>
                      </a:r>
                      <a:r>
                        <a:rPr lang="en-IN" dirty="0" err="1"/>
                        <a:t>DeiT</a:t>
                      </a:r>
                      <a:r>
                        <a:rPr lang="en-IN" dirty="0"/>
                        <a:t> for disease classification</a:t>
                      </a:r>
                    </a:p>
                  </a:txBody>
                  <a:tcPr anchor="ctr">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Depends on aerial image quality and model performance</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97514">
                <a:tc>
                  <a:txBody>
                    <a:bodyPr/>
                    <a:lstStyle/>
                    <a:p>
                      <a:pPr marL="0" indent="0" algn="l">
                        <a:spcBef>
                          <a:spcPts val="0"/>
                        </a:spcBef>
                        <a:spcAft>
                          <a:spcPts val="0"/>
                        </a:spcAft>
                        <a:buNone/>
                      </a:pPr>
                      <a:r>
                        <a:rPr sz="1400" b="1" i="0">
                          <a:solidFill>
                            <a:srgbClr val="262626"/>
                          </a:solidFill>
                          <a:latin typeface="Times New Roman"/>
                        </a:rPr>
                        <a:t>[5]</a:t>
                      </a:r>
                    </a:p>
                  </a:txBody>
                  <a:tcPr marL="64008" marR="64008" marT="27432" marB="27432"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Improved YOLOv4, 2024</a:t>
                      </a:r>
                    </a:p>
                    <a:p>
                      <a:pPr>
                        <a:buNone/>
                      </a:pP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tc>
                  <a:txBody>
                    <a:bodyPr/>
                    <a:lstStyle/>
                    <a:p>
                      <a:pPr>
                        <a:buNone/>
                      </a:pPr>
                      <a:r>
                        <a:rPr lang="en-IN" dirty="0"/>
                        <a:t>Enhanced YOLOv4 with attention mechanisms for pine wilt detection</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tc>
                  <a:txBody>
                    <a:bodyPr/>
                    <a:lstStyle/>
                    <a:p>
                      <a:pPr>
                        <a:buNone/>
                      </a:pPr>
                      <a:r>
                        <a:rPr lang="en-IN" dirty="0"/>
                        <a:t>Focuses on pine trees rather than common agricultural crops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685800" y="5441631"/>
            <a:ext cx="8138160" cy="1040285"/>
          </a:xfrm>
          <a:prstGeom prst="rect">
            <a:avLst/>
          </a:prstGeom>
          <a:noFill/>
        </p:spPr>
        <p:txBody>
          <a:bodyPr wrap="square" lIns="45720" tIns="27432" rIns="45720" bIns="27432" anchor="t">
            <a:spAutoFit/>
          </a:bodyPr>
          <a:lstStyle/>
          <a:p>
            <a:r>
              <a:rPr sz="1600" b="1" i="0" dirty="0">
                <a:solidFill>
                  <a:srgbClr val="262626"/>
                </a:solidFill>
                <a:latin typeface="Times New Roman"/>
              </a:rPr>
              <a:t>Research gap:</a:t>
            </a:r>
            <a:r>
              <a:rPr lang="en-IN" sz="1600" dirty="0"/>
              <a:t>No single approach consistently addresses multiple crop diseases, changing field conditions, sensor integration, and real-time detection in one generalizable system.</a:t>
            </a:r>
          </a:p>
          <a:p>
            <a:pPr marL="0" indent="0">
              <a:spcBef>
                <a:spcPts val="0"/>
              </a:spcBef>
              <a:spcAft>
                <a:spcPts val="0"/>
              </a:spcAft>
              <a:buNone/>
            </a:pPr>
            <a:endParaRPr sz="1600" b="0" i="0" dirty="0">
              <a:solidFill>
                <a:srgbClr val="262626"/>
              </a:solidFill>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dirty="0"/>
              <a:t>Problem Statement</a:t>
            </a:r>
            <a:endParaRPr dirty="0"/>
          </a:p>
        </p:txBody>
      </p:sp>
      <p:sp>
        <p:nvSpPr>
          <p:cNvPr id="4" name="Google Shape;623;p31"/>
          <p:cNvSpPr txBox="1"/>
          <p:nvPr/>
        </p:nvSpPr>
        <p:spPr>
          <a:xfrm>
            <a:off x="-914400" y="6381750"/>
            <a:ext cx="2476500" cy="47625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2"/>
              </a:buClr>
              <a:buSzPts val="1400"/>
              <a:buFont typeface="Libre Baskerville"/>
              <a:buNone/>
            </a:pPr>
            <a:endParaRPr sz="1400" b="0" i="0" u="none" strike="noStrike" cap="none" dirty="0">
              <a:solidFill>
                <a:srgbClr val="000000"/>
              </a:solidFill>
              <a:latin typeface="Arial"/>
              <a:ea typeface="Arial"/>
              <a:cs typeface="Arial"/>
              <a:sym typeface="Arial"/>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6</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3362632" y="6302477"/>
            <a:ext cx="4709652" cy="555523"/>
          </a:xfrm>
          <a:prstGeom prst="rect">
            <a:avLst/>
          </a:prstGeom>
          <a:noFill/>
          <a:ln>
            <a:noFill/>
          </a:ln>
        </p:spPr>
        <p:txBody>
          <a:bodyPr spcFirstLastPara="1" wrap="square" lIns="91425" tIns="45700" rIns="91425" bIns="45700" anchor="ctr" anchorCtr="0">
            <a:noAutofit/>
          </a:bodyPr>
          <a:lstStyle/>
          <a:p>
            <a:pPr lvl="0">
              <a:buClr>
                <a:schemeClr val="dk2"/>
              </a:buClr>
              <a:buSzPts val="1400"/>
            </a:pPr>
            <a:endParaRPr lang="en-US" sz="1050" dirty="0">
              <a:latin typeface="Times New Roman" panose="02020603050405020304" pitchFamily="18" charset="0"/>
              <a:cs typeface="Times New Roman" panose="02020603050405020304" pitchFamily="18" charset="0"/>
            </a:endParaRPr>
          </a:p>
        </p:txBody>
      </p:sp>
      <p:sp>
        <p:nvSpPr>
          <p:cNvPr id="7" name="Statement box"/>
          <p:cNvSpPr/>
          <p:nvPr/>
        </p:nvSpPr>
        <p:spPr>
          <a:xfrm>
            <a:off x="502920" y="1280160"/>
            <a:ext cx="8138160" cy="1600200"/>
          </a:xfrm>
          <a:prstGeom prst="rect">
            <a:avLst/>
          </a:prstGeom>
          <a:solidFill>
            <a:srgbClr val="F2F2F2"/>
          </a:solidFill>
          <a:ln w="12700">
            <a:solidFill>
              <a:srgbClr val="A6A6A6"/>
            </a:solidFill>
          </a:ln>
        </p:spPr>
        <p:txBody>
          <a:bodyPr rtlCol="0" anchor="ctr"/>
          <a:lstStyle/>
          <a:p>
            <a:pPr algn="ctr"/>
            <a:endParaRPr/>
          </a:p>
        </p:txBody>
      </p:sp>
      <p:sp>
        <p:nvSpPr>
          <p:cNvPr id="8" name="TextBox 7"/>
          <p:cNvSpPr txBox="1"/>
          <p:nvPr/>
        </p:nvSpPr>
        <p:spPr>
          <a:xfrm>
            <a:off x="640080" y="1637061"/>
            <a:ext cx="7863840" cy="886397"/>
          </a:xfrm>
          <a:prstGeom prst="rect">
            <a:avLst/>
          </a:prstGeom>
          <a:noFill/>
        </p:spPr>
        <p:txBody>
          <a:bodyPr wrap="square" lIns="45720" tIns="27432" rIns="45720" bIns="27432" anchor="ctr">
            <a:spAutoFit/>
          </a:bodyPr>
          <a:lstStyle/>
          <a:p>
            <a:r>
              <a:rPr lang="en-IN" sz="1800" dirty="0">
                <a:latin typeface="Times New Roman" panose="02020603050405020304" pitchFamily="18" charset="0"/>
                <a:cs typeface="Times New Roman" panose="02020603050405020304" pitchFamily="18" charset="0"/>
              </a:rPr>
              <a:t>Developing an intelligent drone-based crop disease detection system that can identify disease symptoms from aerial crop images using computer vision and AI, so that early detection and efficient crop monitoring can be achieved.</a:t>
            </a:r>
          </a:p>
        </p:txBody>
      </p:sp>
      <p:sp>
        <p:nvSpPr>
          <p:cNvPr id="9" name="TextBox 8"/>
          <p:cNvSpPr txBox="1"/>
          <p:nvPr/>
        </p:nvSpPr>
        <p:spPr>
          <a:xfrm>
            <a:off x="502920" y="3017520"/>
            <a:ext cx="54864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dirty="0">
                <a:solidFill>
                  <a:srgbClr val="D34817"/>
                </a:solidFill>
                <a:latin typeface="Times New Roman"/>
              </a:rPr>
              <a:t>Challenges the system must handle</a:t>
            </a:r>
          </a:p>
        </p:txBody>
      </p:sp>
      <p:sp>
        <p:nvSpPr>
          <p:cNvPr id="10" name="TextBox 9"/>
          <p:cNvSpPr txBox="1"/>
          <p:nvPr/>
        </p:nvSpPr>
        <p:spPr>
          <a:xfrm>
            <a:off x="502920" y="3474720"/>
            <a:ext cx="3931920" cy="2009781"/>
          </a:xfrm>
          <a:prstGeom prst="rect">
            <a:avLst/>
          </a:prstGeom>
          <a:noFill/>
        </p:spPr>
        <p:txBody>
          <a:bodyPr wrap="square" lIns="45720" tIns="27432" rIns="45720" bIns="27432" anchor="t">
            <a:spAutoFit/>
          </a:bodyPr>
          <a:lstStyle/>
          <a:p>
            <a:pPr marL="320040" indent="-320040">
              <a:spcAft>
                <a:spcPts val="600"/>
              </a:spcAft>
              <a:buFont typeface="Arial"/>
              <a:buAutoNum type="arabicPeriod"/>
            </a:pPr>
            <a:r>
              <a:rPr lang="en-IN" sz="1600" dirty="0">
                <a:latin typeface="Times New Roman" panose="02020603050405020304" pitchFamily="18" charset="0"/>
                <a:cs typeface="Times New Roman" panose="02020603050405020304" pitchFamily="18" charset="0"/>
              </a:rPr>
              <a:t>Capturing clear images of crops using drones. </a:t>
            </a:r>
          </a:p>
          <a:p>
            <a:pPr marL="320040" indent="-320040">
              <a:spcAft>
                <a:spcPts val="600"/>
              </a:spcAft>
              <a:buFont typeface="Arial"/>
              <a:buAutoNum type="arabicPeriod"/>
            </a:pPr>
            <a:r>
              <a:rPr lang="en-IN" sz="1600" dirty="0">
                <a:latin typeface="Times New Roman" panose="02020603050405020304" pitchFamily="18" charset="0"/>
                <a:cs typeface="Times New Roman" panose="02020603050405020304" pitchFamily="18" charset="0"/>
              </a:rPr>
              <a:t>Detecting early disease symptoms from crop images.</a:t>
            </a:r>
          </a:p>
          <a:p>
            <a:pPr marL="320040" indent="-320040">
              <a:spcAft>
                <a:spcPts val="600"/>
              </a:spcAft>
              <a:buFont typeface="Arial"/>
              <a:buAutoNum type="arabicPeriod"/>
            </a:pPr>
            <a:r>
              <a:rPr lang="en-IN" sz="1600" dirty="0">
                <a:latin typeface="Times New Roman" panose="02020603050405020304" pitchFamily="18" charset="0"/>
                <a:cs typeface="Times New Roman" panose="02020603050405020304" pitchFamily="18" charset="0"/>
              </a:rPr>
              <a:t>Identifying different crop diseases accurately.</a:t>
            </a:r>
          </a:p>
          <a:p>
            <a:pPr marL="320040" indent="-320040">
              <a:spcAft>
                <a:spcPts val="600"/>
              </a:spcAft>
              <a:buFont typeface="Arial"/>
              <a:buAutoNum type="arabicPeriod"/>
            </a:pPr>
            <a:endParaRPr lang="en-IN" sz="1600" dirty="0"/>
          </a:p>
        </p:txBody>
      </p:sp>
      <p:sp>
        <p:nvSpPr>
          <p:cNvPr id="11" name="TextBox 10"/>
          <p:cNvSpPr txBox="1"/>
          <p:nvPr/>
        </p:nvSpPr>
        <p:spPr>
          <a:xfrm>
            <a:off x="4572000" y="3474720"/>
            <a:ext cx="4069080" cy="2009781"/>
          </a:xfrm>
          <a:prstGeom prst="rect">
            <a:avLst/>
          </a:prstGeom>
          <a:noFill/>
        </p:spPr>
        <p:txBody>
          <a:bodyPr wrap="square" lIns="45720" tIns="27432" rIns="45720" bIns="27432" anchor="t">
            <a:spAutoFit/>
          </a:bodyPr>
          <a:lstStyle/>
          <a:p>
            <a:pPr marL="320040" indent="-320040">
              <a:spcAft>
                <a:spcPts val="600"/>
              </a:spcAft>
              <a:buFont typeface="Arial"/>
              <a:buAutoNum type="arabicPeriod" startAt="4"/>
            </a:pPr>
            <a:r>
              <a:rPr lang="en-IN" sz="1600" dirty="0">
                <a:latin typeface="Times New Roman" panose="02020603050405020304" pitchFamily="18" charset="0"/>
                <a:cs typeface="Times New Roman" panose="02020603050405020304" pitchFamily="18" charset="0"/>
              </a:rPr>
              <a:t>Handling changing lighting and environmental conditions.</a:t>
            </a:r>
          </a:p>
          <a:p>
            <a:pPr marL="320040" indent="-320040">
              <a:spcAft>
                <a:spcPts val="600"/>
              </a:spcAft>
              <a:buFont typeface="Arial"/>
              <a:buAutoNum type="arabicPeriod" startAt="4"/>
            </a:pPr>
            <a:r>
              <a:rPr lang="en-IN" sz="1600" dirty="0">
                <a:latin typeface="Times New Roman" panose="02020603050405020304" pitchFamily="18" charset="0"/>
                <a:cs typeface="Times New Roman" panose="02020603050405020304" pitchFamily="18" charset="0"/>
              </a:rPr>
              <a:t>Monitoring large agricultural fields efficiently.</a:t>
            </a:r>
          </a:p>
          <a:p>
            <a:pPr marL="320040" indent="-320040">
              <a:spcAft>
                <a:spcPts val="600"/>
              </a:spcAft>
              <a:buFont typeface="Arial"/>
              <a:buAutoNum type="arabicPeriod" startAt="4"/>
            </a:pPr>
            <a:r>
              <a:rPr lang="en-IN" sz="1600" dirty="0">
                <a:latin typeface="Times New Roman" panose="02020603050405020304" pitchFamily="18" charset="0"/>
                <a:cs typeface="Times New Roman" panose="02020603050405020304" pitchFamily="18" charset="0"/>
              </a:rPr>
              <a:t>Reducing false predictions and supporting timely disease management</a:t>
            </a:r>
            <a:r>
              <a:rPr lang="en-IN" sz="1600" dirty="0"/>
              <a:t>.</a:t>
            </a:r>
          </a:p>
          <a:p>
            <a:pPr>
              <a:spcBef>
                <a:spcPts val="0"/>
              </a:spcBef>
              <a:spcAft>
                <a:spcPts val="600"/>
              </a:spcAft>
            </a:pPr>
            <a:endParaRPr sz="1600" b="0" i="0" dirty="0">
              <a:solidFill>
                <a:srgbClr val="262626"/>
              </a:solidFill>
              <a:latin typeface="Times New Roman"/>
            </a:endParaRPr>
          </a:p>
        </p:txBody>
      </p:sp>
      <p:sp>
        <p:nvSpPr>
          <p:cNvPr id="12" name="TextBox 11"/>
          <p:cNvSpPr txBox="1"/>
          <p:nvPr/>
        </p:nvSpPr>
        <p:spPr>
          <a:xfrm>
            <a:off x="496554" y="5284797"/>
            <a:ext cx="8138160" cy="794064"/>
          </a:xfrm>
          <a:prstGeom prst="rect">
            <a:avLst/>
          </a:prstGeom>
          <a:noFill/>
        </p:spPr>
        <p:txBody>
          <a:bodyPr wrap="square" lIns="45720" tIns="27432" rIns="45720" bIns="27432" anchor="t">
            <a:spAutoFit/>
          </a:bodyPr>
          <a:lstStyle/>
          <a:p>
            <a:r>
              <a:rPr sz="1600" b="1" i="0" dirty="0">
                <a:solidFill>
                  <a:srgbClr val="262626"/>
                </a:solidFill>
                <a:latin typeface="Times New Roman" panose="02020603050405020304" pitchFamily="18" charset="0"/>
                <a:cs typeface="Times New Roman" panose="02020603050405020304" pitchFamily="18" charset="0"/>
              </a:rPr>
              <a:t>Inputs: </a:t>
            </a:r>
            <a:r>
              <a:rPr lang="en-IN" sz="1600" dirty="0">
                <a:latin typeface="Times New Roman" panose="02020603050405020304" pitchFamily="18" charset="0"/>
                <a:cs typeface="Times New Roman" panose="02020603050405020304" pitchFamily="18" charset="0"/>
              </a:rPr>
              <a:t>Drone images, crop images, optional environmental sensor data</a:t>
            </a:r>
            <a:r>
              <a:rPr lang="en-IN" sz="1600" dirty="0">
                <a:solidFill>
                  <a:srgbClr val="262626"/>
                </a:solidFill>
                <a:latin typeface="Times New Roman" panose="02020603050405020304" pitchFamily="18" charset="0"/>
                <a:cs typeface="Times New Roman" panose="02020603050405020304" pitchFamily="18" charset="0"/>
              </a:rPr>
              <a:t>.</a:t>
            </a:r>
          </a:p>
          <a:p>
            <a:r>
              <a:rPr lang="en-IN" sz="1600" b="1" dirty="0">
                <a:latin typeface="Times New Roman" panose="02020603050405020304" pitchFamily="18" charset="0"/>
                <a:cs typeface="Times New Roman" panose="02020603050405020304" pitchFamily="18" charset="0"/>
              </a:rPr>
              <a:t>Limits:</a:t>
            </a:r>
            <a:r>
              <a:rPr lang="en-IN" sz="1600" dirty="0">
                <a:latin typeface="Times New Roman" panose="02020603050405020304" pitchFamily="18" charset="0"/>
                <a:cs typeface="Times New Roman" panose="02020603050405020304" pitchFamily="18" charset="0"/>
              </a:rPr>
              <a:t> Image quality, model accuracy, processing time, environmental conditions.</a:t>
            </a:r>
          </a:p>
          <a:p>
            <a:endParaRPr lang="en-IN"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dirty="0">
                <a:latin typeface="Times New Roman" panose="02020603050405020304" pitchFamily="18" charset="0"/>
                <a:cs typeface="Times New Roman" panose="02020603050405020304" pitchFamily="18" charset="0"/>
              </a:rPr>
              <a:t>Objectives</a:t>
            </a:r>
            <a:endParaRPr dirty="0">
              <a:latin typeface="Times New Roman" panose="02020603050405020304" pitchFamily="18" charset="0"/>
              <a:cs typeface="Times New Roman" panose="02020603050405020304" pitchFamily="18" charset="0"/>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7</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4495800" y="64008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endParaRPr sz="1400" b="0" i="0" u="none" strike="noStrike" cap="none" dirty="0">
              <a:solidFill>
                <a:srgbClr val="000000"/>
              </a:solidFill>
              <a:latin typeface="Arial"/>
              <a:ea typeface="Arial"/>
              <a:cs typeface="Arial"/>
              <a:sym typeface="Arial"/>
            </a:endParaRPr>
          </a:p>
        </p:txBody>
      </p:sp>
      <p:sp>
        <p:nvSpPr>
          <p:cNvPr id="7" name="TextBox 6"/>
          <p:cNvSpPr txBox="1"/>
          <p:nvPr/>
        </p:nvSpPr>
        <p:spPr>
          <a:xfrm>
            <a:off x="502920" y="1280160"/>
            <a:ext cx="8138160" cy="824841"/>
          </a:xfrm>
          <a:prstGeom prst="rect">
            <a:avLst/>
          </a:prstGeom>
          <a:noFill/>
        </p:spPr>
        <p:txBody>
          <a:bodyPr wrap="square" lIns="45720" tIns="27432" rIns="45720" bIns="27432" anchor="t">
            <a:spAutoFit/>
          </a:bodyPr>
          <a:lstStyle/>
          <a:p>
            <a:r>
              <a:rPr sz="1700" b="1" i="0" dirty="0">
                <a:solidFill>
                  <a:srgbClr val="262626"/>
                </a:solidFill>
                <a:latin typeface="Times New Roman"/>
              </a:rPr>
              <a:t>Aim: </a:t>
            </a:r>
            <a:r>
              <a:rPr lang="en-IN" sz="1600" dirty="0"/>
              <a:t>to study how an AI-Powered Drone-Based Crop Disease Detection System can identify crop diseases early using drone images and computer vision.</a:t>
            </a:r>
          </a:p>
          <a:p>
            <a:pPr marL="0" indent="0">
              <a:spcBef>
                <a:spcPts val="0"/>
              </a:spcBef>
              <a:spcAft>
                <a:spcPts val="0"/>
              </a:spcAft>
              <a:buNone/>
            </a:pPr>
            <a:endParaRPr sz="1700" b="0" i="0" dirty="0">
              <a:solidFill>
                <a:srgbClr val="262626"/>
              </a:solidFill>
              <a:latin typeface="Times New Roman"/>
            </a:endParaRPr>
          </a:p>
        </p:txBody>
      </p:sp>
      <p:sp>
        <p:nvSpPr>
          <p:cNvPr id="8" name="TextBox 7"/>
          <p:cNvSpPr txBox="1"/>
          <p:nvPr/>
        </p:nvSpPr>
        <p:spPr>
          <a:xfrm>
            <a:off x="502920" y="2240280"/>
            <a:ext cx="8138160" cy="3956468"/>
          </a:xfrm>
          <a:prstGeom prst="rect">
            <a:avLst/>
          </a:prstGeom>
          <a:noFill/>
        </p:spPr>
        <p:txBody>
          <a:bodyPr wrap="square" lIns="45720" tIns="27432" rIns="45720" bIns="27432" anchor="t">
            <a:spAutoFit/>
          </a:bodyPr>
          <a:lstStyle/>
          <a:p>
            <a:pPr marL="320040" indent="-320040">
              <a:spcAft>
                <a:spcPts val="900"/>
              </a:spcAft>
              <a:buFont typeface="Arial"/>
              <a:buAutoNum type="arabicPeriod"/>
            </a:pPr>
            <a:r>
              <a:rPr lang="en-IN" sz="1800" dirty="0"/>
              <a:t>To study how Artificial Intelligence, Computer Vision and Deep Learning can improve crop disease detection.</a:t>
            </a:r>
          </a:p>
          <a:p>
            <a:pPr marL="320040" indent="-320040">
              <a:spcAft>
                <a:spcPts val="900"/>
              </a:spcAft>
              <a:buFont typeface="Arial"/>
              <a:buAutoNum type="arabicPeriod"/>
            </a:pPr>
            <a:r>
              <a:rPr lang="en-IN" sz="1800" dirty="0"/>
              <a:t>To </a:t>
            </a:r>
            <a:r>
              <a:rPr lang="en-IN" sz="1800" dirty="0" err="1"/>
              <a:t>analyze</a:t>
            </a:r>
            <a:r>
              <a:rPr lang="en-IN" sz="1800" dirty="0"/>
              <a:t> the </a:t>
            </a:r>
            <a:r>
              <a:rPr lang="en-IN" sz="1800" dirty="0" err="1"/>
              <a:t>AgroVisionNet</a:t>
            </a:r>
            <a:r>
              <a:rPr lang="en-IN" sz="1800" dirty="0"/>
              <a:t> approach for disease detection using UAV images and environmental sensor data.</a:t>
            </a:r>
          </a:p>
          <a:p>
            <a:pPr marL="320040" indent="-320040">
              <a:spcAft>
                <a:spcPts val="900"/>
              </a:spcAft>
              <a:buFont typeface="Arial"/>
              <a:buAutoNum type="arabicPeriod"/>
            </a:pPr>
            <a:r>
              <a:rPr lang="en-IN" sz="1800" dirty="0"/>
              <a:t>To understand how CNN, YOLO and Transformer models can detect and classify crop diseases.</a:t>
            </a:r>
          </a:p>
          <a:p>
            <a:pPr marL="320040" indent="-320040">
              <a:spcAft>
                <a:spcPts val="900"/>
              </a:spcAft>
              <a:buFont typeface="Arial"/>
              <a:buAutoNum type="arabicPeriod"/>
            </a:pPr>
            <a:r>
              <a:rPr lang="en-IN" sz="1800" dirty="0"/>
              <a:t>To examine how drone technology and real-time image processing support large-scale crop monitoring.</a:t>
            </a:r>
          </a:p>
          <a:p>
            <a:pPr marL="320040" indent="-320040">
              <a:spcAft>
                <a:spcPts val="900"/>
              </a:spcAft>
              <a:buFont typeface="Arial"/>
              <a:buAutoNum type="arabicPeriod"/>
            </a:pPr>
            <a:r>
              <a:rPr lang="en-IN" sz="1800" dirty="0"/>
              <a:t>To explore how GAN-based techniques can improve image data for crop disease detection.</a:t>
            </a:r>
          </a:p>
          <a:p>
            <a:pPr marL="320040" indent="-320040">
              <a:spcAft>
                <a:spcPts val="900"/>
              </a:spcAft>
              <a:buFont typeface="Arial"/>
              <a:buAutoNum type="arabicPeriod"/>
            </a:pPr>
            <a:r>
              <a:rPr lang="en-IN" sz="1800" dirty="0"/>
              <a:t>To study how explainable AI and environmental sensor integration can support reliable disease identification and timely crop management.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Proposed Seminar Scope / Proposed Framework</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8</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4495800" y="64008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endParaRPr sz="1400" b="0" i="0" u="none" strike="noStrike" cap="none" dirty="0">
              <a:solidFill>
                <a:srgbClr val="000000"/>
              </a:solidFill>
              <a:latin typeface="Arial"/>
              <a:ea typeface="Arial"/>
              <a:cs typeface="Arial"/>
              <a:sym typeface="Arial"/>
            </a:endParaRPr>
          </a:p>
        </p:txBody>
      </p:sp>
      <p:sp>
        <p:nvSpPr>
          <p:cNvPr id="7" name="Framework box"/>
          <p:cNvSpPr/>
          <p:nvPr/>
        </p:nvSpPr>
        <p:spPr>
          <a:xfrm>
            <a:off x="502920" y="1280160"/>
            <a:ext cx="3931920" cy="4480560"/>
          </a:xfrm>
          <a:prstGeom prst="rect">
            <a:avLst/>
          </a:prstGeom>
          <a:noFill/>
          <a:ln w="12700">
            <a:solidFill>
              <a:srgbClr val="A6A6A6"/>
            </a:solidFill>
          </a:ln>
        </p:spPr>
        <p:txBody>
          <a:bodyPr rtlCol="0" anchor="ctr"/>
          <a:lstStyle/>
          <a:p>
            <a:pPr algn="ctr"/>
            <a:endParaRPr/>
          </a:p>
        </p:txBody>
      </p:sp>
      <p:sp>
        <p:nvSpPr>
          <p:cNvPr id="8" name="TextBox 7"/>
          <p:cNvSpPr txBox="1"/>
          <p:nvPr/>
        </p:nvSpPr>
        <p:spPr>
          <a:xfrm>
            <a:off x="640080" y="137160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Proposed framework</a:t>
            </a:r>
          </a:p>
        </p:txBody>
      </p:sp>
      <p:sp>
        <p:nvSpPr>
          <p:cNvPr id="9" name="TextBox 8"/>
          <p:cNvSpPr txBox="1"/>
          <p:nvPr/>
        </p:nvSpPr>
        <p:spPr>
          <a:xfrm>
            <a:off x="640080" y="1828800"/>
            <a:ext cx="3657600" cy="5872377"/>
          </a:xfrm>
          <a:prstGeom prst="rect">
            <a:avLst/>
          </a:prstGeom>
          <a:noFill/>
        </p:spPr>
        <p:txBody>
          <a:bodyPr wrap="square" lIns="45720" tIns="27432" rIns="45720" bIns="27432" anchor="t">
            <a:spAutoFit/>
          </a:bodyPr>
          <a:lstStyle/>
          <a:p>
            <a:pPr>
              <a:spcBef>
                <a:spcPts val="0"/>
              </a:spcBef>
              <a:spcAft>
                <a:spcPts val="900"/>
              </a:spcAft>
            </a:pPr>
            <a:r>
              <a:rPr lang="en-IN" sz="1600" b="1" i="0" dirty="0">
                <a:solidFill>
                  <a:srgbClr val="262626"/>
                </a:solidFill>
                <a:latin typeface="Times New Roman"/>
              </a:rPr>
              <a:t>Image Acquisition : </a:t>
            </a:r>
            <a:r>
              <a:rPr lang="en-IN" sz="1600" i="0" dirty="0">
                <a:solidFill>
                  <a:srgbClr val="262626"/>
                </a:solidFill>
                <a:latin typeface="Times New Roman"/>
              </a:rPr>
              <a:t>UAV/drone-based crop</a:t>
            </a:r>
            <a:r>
              <a:rPr lang="en-IN" sz="1600" b="1" i="0" dirty="0">
                <a:solidFill>
                  <a:srgbClr val="262626"/>
                </a:solidFill>
                <a:latin typeface="Times New Roman"/>
              </a:rPr>
              <a:t> </a:t>
            </a:r>
            <a:r>
              <a:rPr lang="en-IN" sz="1600" i="0" dirty="0">
                <a:solidFill>
                  <a:srgbClr val="262626"/>
                </a:solidFill>
                <a:latin typeface="Times New Roman"/>
              </a:rPr>
              <a:t>images.</a:t>
            </a:r>
          </a:p>
          <a:p>
            <a:pPr>
              <a:spcBef>
                <a:spcPts val="0"/>
              </a:spcBef>
              <a:spcAft>
                <a:spcPts val="900"/>
              </a:spcAft>
            </a:pPr>
            <a:r>
              <a:rPr lang="en-IN" sz="1600" b="1" dirty="0">
                <a:solidFill>
                  <a:srgbClr val="262626"/>
                </a:solidFill>
                <a:latin typeface="Times New Roman"/>
              </a:rPr>
              <a:t>Image Processing </a:t>
            </a:r>
            <a:r>
              <a:rPr lang="en-IN" sz="1600" dirty="0">
                <a:solidFill>
                  <a:srgbClr val="262626"/>
                </a:solidFill>
                <a:latin typeface="Times New Roman"/>
              </a:rPr>
              <a:t>: preprocessing and enhancement.</a:t>
            </a:r>
          </a:p>
          <a:p>
            <a:pPr>
              <a:spcBef>
                <a:spcPts val="0"/>
              </a:spcBef>
              <a:spcAft>
                <a:spcPts val="900"/>
              </a:spcAft>
            </a:pPr>
            <a:r>
              <a:rPr lang="en-IN" sz="1600" b="1" dirty="0">
                <a:solidFill>
                  <a:srgbClr val="262626"/>
                </a:solidFill>
                <a:latin typeface="Times New Roman"/>
              </a:rPr>
              <a:t>Disease Detection : </a:t>
            </a:r>
            <a:r>
              <a:rPr lang="en-IN" sz="1600" dirty="0">
                <a:solidFill>
                  <a:srgbClr val="262626"/>
                </a:solidFill>
                <a:latin typeface="Times New Roman"/>
              </a:rPr>
              <a:t>AI-based image analysis</a:t>
            </a:r>
          </a:p>
          <a:p>
            <a:pPr>
              <a:spcBef>
                <a:spcPts val="0"/>
              </a:spcBef>
              <a:spcAft>
                <a:spcPts val="900"/>
              </a:spcAft>
            </a:pPr>
            <a:r>
              <a:rPr lang="en-IN" sz="1600" b="1" dirty="0">
                <a:solidFill>
                  <a:srgbClr val="262626"/>
                </a:solidFill>
                <a:latin typeface="Times New Roman"/>
              </a:rPr>
              <a:t>Sensor </a:t>
            </a:r>
            <a:r>
              <a:rPr lang="en-IN" sz="1600" b="1" dirty="0" err="1">
                <a:solidFill>
                  <a:srgbClr val="262626"/>
                </a:solidFill>
                <a:latin typeface="Times New Roman"/>
              </a:rPr>
              <a:t>Interagation</a:t>
            </a:r>
            <a:r>
              <a:rPr lang="en-IN" sz="1600" b="1" dirty="0">
                <a:solidFill>
                  <a:srgbClr val="262626"/>
                </a:solidFill>
                <a:latin typeface="Times New Roman"/>
              </a:rPr>
              <a:t> : </a:t>
            </a:r>
            <a:r>
              <a:rPr lang="en-IN" sz="1600" dirty="0">
                <a:solidFill>
                  <a:srgbClr val="262626"/>
                </a:solidFill>
                <a:latin typeface="Times New Roman"/>
              </a:rPr>
              <a:t>Environmental data fusion </a:t>
            </a:r>
          </a:p>
          <a:p>
            <a:pPr>
              <a:spcBef>
                <a:spcPts val="0"/>
              </a:spcBef>
              <a:spcAft>
                <a:spcPts val="900"/>
              </a:spcAft>
            </a:pPr>
            <a:r>
              <a:rPr lang="en-IN" sz="1600" b="1" dirty="0">
                <a:solidFill>
                  <a:srgbClr val="262626"/>
                </a:solidFill>
                <a:latin typeface="Times New Roman"/>
              </a:rPr>
              <a:t>Explainable AI : </a:t>
            </a:r>
            <a:r>
              <a:rPr lang="en-IN" sz="1600" dirty="0">
                <a:solidFill>
                  <a:srgbClr val="262626"/>
                </a:solidFill>
                <a:latin typeface="Times New Roman"/>
              </a:rPr>
              <a:t>Grade – CAM visualization</a:t>
            </a:r>
          </a:p>
          <a:p>
            <a:pPr>
              <a:spcBef>
                <a:spcPts val="0"/>
              </a:spcBef>
              <a:spcAft>
                <a:spcPts val="900"/>
              </a:spcAft>
            </a:pPr>
            <a:r>
              <a:rPr lang="en-IN" sz="1600" b="1" dirty="0">
                <a:solidFill>
                  <a:srgbClr val="262626"/>
                </a:solidFill>
                <a:latin typeface="Times New Roman"/>
              </a:rPr>
              <a:t>Result Generation : </a:t>
            </a:r>
            <a:r>
              <a:rPr lang="en-IN" sz="1600" dirty="0">
                <a:solidFill>
                  <a:srgbClr val="262626"/>
                </a:solidFill>
                <a:latin typeface="Times New Roman"/>
              </a:rPr>
              <a:t>disease identification</a:t>
            </a:r>
          </a:p>
          <a:p>
            <a:pPr>
              <a:spcBef>
                <a:spcPts val="0"/>
              </a:spcBef>
              <a:spcAft>
                <a:spcPts val="900"/>
              </a:spcAft>
            </a:pPr>
            <a:endParaRPr lang="en-IN" sz="1600" i="0" dirty="0">
              <a:solidFill>
                <a:srgbClr val="262626"/>
              </a:solidFill>
              <a:latin typeface="Times New Roman"/>
            </a:endParaRPr>
          </a:p>
          <a:p>
            <a:pPr>
              <a:spcBef>
                <a:spcPts val="0"/>
              </a:spcBef>
              <a:spcAft>
                <a:spcPts val="900"/>
              </a:spcAft>
            </a:pPr>
            <a:endParaRPr lang="en-IN" sz="1600" dirty="0">
              <a:solidFill>
                <a:srgbClr val="262626"/>
              </a:solidFill>
              <a:latin typeface="Times New Roman"/>
            </a:endParaRPr>
          </a:p>
          <a:p>
            <a:pPr>
              <a:spcBef>
                <a:spcPts val="0"/>
              </a:spcBef>
              <a:spcAft>
                <a:spcPts val="900"/>
              </a:spcAft>
            </a:pPr>
            <a:endParaRPr lang="en-IN" sz="1600" i="0" dirty="0">
              <a:solidFill>
                <a:srgbClr val="262626"/>
              </a:solidFill>
              <a:latin typeface="Times New Roman"/>
            </a:endParaRPr>
          </a:p>
          <a:p>
            <a:pPr>
              <a:spcBef>
                <a:spcPts val="0"/>
              </a:spcBef>
              <a:spcAft>
                <a:spcPts val="900"/>
              </a:spcAft>
            </a:pPr>
            <a:endParaRPr lang="en-IN" sz="1600" dirty="0">
              <a:solidFill>
                <a:srgbClr val="262626"/>
              </a:solidFill>
              <a:latin typeface="Times New Roman"/>
            </a:endParaRPr>
          </a:p>
          <a:p>
            <a:pPr>
              <a:spcBef>
                <a:spcPts val="0"/>
              </a:spcBef>
              <a:spcAft>
                <a:spcPts val="900"/>
              </a:spcAft>
            </a:pPr>
            <a:endParaRPr lang="en-IN" sz="1600" i="0" dirty="0">
              <a:solidFill>
                <a:srgbClr val="262626"/>
              </a:solidFill>
              <a:latin typeface="Times New Roman"/>
            </a:endParaRPr>
          </a:p>
          <a:p>
            <a:pPr>
              <a:spcBef>
                <a:spcPts val="0"/>
              </a:spcBef>
              <a:spcAft>
                <a:spcPts val="900"/>
              </a:spcAft>
            </a:pPr>
            <a:endParaRPr lang="en-IN" sz="1600" dirty="0">
              <a:solidFill>
                <a:srgbClr val="262626"/>
              </a:solidFill>
              <a:latin typeface="Times New Roman"/>
            </a:endParaRPr>
          </a:p>
          <a:p>
            <a:pPr>
              <a:spcBef>
                <a:spcPts val="0"/>
              </a:spcBef>
              <a:spcAft>
                <a:spcPts val="900"/>
              </a:spcAft>
            </a:pPr>
            <a:endParaRPr lang="en-IN" sz="1600" i="0" dirty="0">
              <a:solidFill>
                <a:srgbClr val="262626"/>
              </a:solidFill>
              <a:latin typeface="Times New Roman"/>
            </a:endParaRPr>
          </a:p>
        </p:txBody>
      </p:sp>
      <p:sp>
        <p:nvSpPr>
          <p:cNvPr id="10" name="In scope box"/>
          <p:cNvSpPr/>
          <p:nvPr/>
        </p:nvSpPr>
        <p:spPr>
          <a:xfrm>
            <a:off x="4709160" y="1280160"/>
            <a:ext cx="3931920" cy="2103120"/>
          </a:xfrm>
          <a:prstGeom prst="rect">
            <a:avLst/>
          </a:prstGeom>
          <a:noFill/>
          <a:ln w="12700">
            <a:solidFill>
              <a:srgbClr val="A6A6A6"/>
            </a:solidFill>
          </a:ln>
        </p:spPr>
        <p:txBody>
          <a:bodyPr rtlCol="0" anchor="ctr"/>
          <a:lstStyle/>
          <a:p>
            <a:pPr algn="ctr"/>
            <a:endParaRPr/>
          </a:p>
        </p:txBody>
      </p:sp>
      <p:sp>
        <p:nvSpPr>
          <p:cNvPr id="11" name="TextBox 10"/>
          <p:cNvSpPr txBox="1"/>
          <p:nvPr/>
        </p:nvSpPr>
        <p:spPr>
          <a:xfrm>
            <a:off x="4846320" y="1350255"/>
            <a:ext cx="3657600" cy="317010"/>
          </a:xfrm>
          <a:prstGeom prst="rect">
            <a:avLst/>
          </a:prstGeom>
          <a:noFill/>
        </p:spPr>
        <p:txBody>
          <a:bodyPr wrap="square" lIns="45720" tIns="27432" rIns="45720" bIns="27432" anchor="ctr">
            <a:spAutoFit/>
          </a:bodyPr>
          <a:lstStyle/>
          <a:p>
            <a:pPr marL="0" indent="0">
              <a:spcBef>
                <a:spcPts val="0"/>
              </a:spcBef>
              <a:spcAft>
                <a:spcPts val="0"/>
              </a:spcAft>
              <a:buNone/>
            </a:pPr>
            <a:r>
              <a:rPr sz="1700" b="1" i="0" dirty="0">
                <a:solidFill>
                  <a:srgbClr val="D34817"/>
                </a:solidFill>
                <a:latin typeface="Times New Roman"/>
              </a:rPr>
              <a:t>In scope</a:t>
            </a:r>
            <a:endParaRPr lang="en-IN" sz="1700" b="1" i="0" dirty="0">
              <a:solidFill>
                <a:srgbClr val="D34817"/>
              </a:solidFill>
              <a:latin typeface="Times New Roman"/>
            </a:endParaRPr>
          </a:p>
        </p:txBody>
      </p:sp>
      <p:sp>
        <p:nvSpPr>
          <p:cNvPr id="12" name="TextBox 11"/>
          <p:cNvSpPr txBox="1"/>
          <p:nvPr/>
        </p:nvSpPr>
        <p:spPr>
          <a:xfrm>
            <a:off x="4800600" y="1577870"/>
            <a:ext cx="3657600" cy="1324978"/>
          </a:xfrm>
          <a:prstGeom prst="rect">
            <a:avLst/>
          </a:prstGeom>
          <a:noFill/>
        </p:spPr>
        <p:txBody>
          <a:bodyPr wrap="square" lIns="45720" tIns="27432" rIns="45720" bIns="27432" anchor="t">
            <a:spAutoFit/>
          </a:bodyPr>
          <a:lstStyle/>
          <a:p>
            <a:pPr marL="228600" indent="-228600">
              <a:spcBef>
                <a:spcPts val="0"/>
              </a:spcBef>
              <a:spcAft>
                <a:spcPts val="300"/>
              </a:spcAft>
              <a:buFont typeface="Arial"/>
              <a:buChar char="•"/>
            </a:pPr>
            <a:r>
              <a:rPr lang="en-US" sz="1500" b="0" i="0" dirty="0">
                <a:solidFill>
                  <a:srgbClr val="262626"/>
                </a:solidFill>
                <a:latin typeface="Times New Roman"/>
              </a:rPr>
              <a:t>Understanding  drone – based crop monitoring</a:t>
            </a:r>
          </a:p>
          <a:p>
            <a:pPr marL="228600" indent="-228600">
              <a:spcBef>
                <a:spcPts val="0"/>
              </a:spcBef>
              <a:spcAft>
                <a:spcPts val="300"/>
              </a:spcAft>
              <a:buFont typeface="Arial"/>
              <a:buChar char="•"/>
            </a:pPr>
            <a:r>
              <a:rPr lang="en-US" sz="1500" dirty="0">
                <a:solidFill>
                  <a:srgbClr val="262626"/>
                </a:solidFill>
                <a:latin typeface="Times New Roman"/>
              </a:rPr>
              <a:t>Studying CNN , YOLO and transforming</a:t>
            </a:r>
          </a:p>
          <a:p>
            <a:pPr marL="228600" indent="-228600">
              <a:spcBef>
                <a:spcPts val="0"/>
              </a:spcBef>
              <a:spcAft>
                <a:spcPts val="300"/>
              </a:spcAft>
              <a:buFont typeface="Arial"/>
              <a:buChar char="•"/>
            </a:pPr>
            <a:r>
              <a:rPr lang="en-US" sz="1500" b="0" i="0" dirty="0">
                <a:solidFill>
                  <a:srgbClr val="262626"/>
                </a:solidFill>
                <a:latin typeface="Times New Roman"/>
              </a:rPr>
              <a:t>Models.</a:t>
            </a:r>
          </a:p>
          <a:p>
            <a:pPr marL="228600" indent="-228600">
              <a:spcBef>
                <a:spcPts val="0"/>
              </a:spcBef>
              <a:spcAft>
                <a:spcPts val="300"/>
              </a:spcAft>
              <a:buFont typeface="Arial"/>
              <a:buChar char="•"/>
            </a:pPr>
            <a:r>
              <a:rPr lang="en-US" sz="1500" dirty="0">
                <a:solidFill>
                  <a:srgbClr val="262626"/>
                </a:solidFill>
                <a:latin typeface="Times New Roman"/>
              </a:rPr>
              <a:t>Detecting and classifying crop diseases.</a:t>
            </a:r>
            <a:endParaRPr lang="en-US" sz="1500" b="0" i="0" dirty="0">
              <a:solidFill>
                <a:srgbClr val="262626"/>
              </a:solidFill>
              <a:latin typeface="Times New Roman"/>
            </a:endParaRPr>
          </a:p>
        </p:txBody>
      </p:sp>
      <p:sp>
        <p:nvSpPr>
          <p:cNvPr id="13" name="Out of scope box"/>
          <p:cNvSpPr/>
          <p:nvPr/>
        </p:nvSpPr>
        <p:spPr>
          <a:xfrm>
            <a:off x="4709160" y="3566160"/>
            <a:ext cx="3931920" cy="2194560"/>
          </a:xfrm>
          <a:prstGeom prst="rect">
            <a:avLst/>
          </a:prstGeom>
          <a:noFill/>
          <a:ln w="12700">
            <a:solidFill>
              <a:srgbClr val="A6A6A6"/>
            </a:solidFill>
          </a:ln>
        </p:spPr>
        <p:txBody>
          <a:bodyPr rtlCol="0" anchor="ctr"/>
          <a:lstStyle/>
          <a:p>
            <a:pPr algn="ctr"/>
            <a:endParaRPr/>
          </a:p>
        </p:txBody>
      </p:sp>
      <p:sp>
        <p:nvSpPr>
          <p:cNvPr id="14" name="TextBox 13"/>
          <p:cNvSpPr txBox="1"/>
          <p:nvPr/>
        </p:nvSpPr>
        <p:spPr>
          <a:xfrm>
            <a:off x="4846320" y="361188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700" b="1" i="0">
                <a:solidFill>
                  <a:srgbClr val="D34817"/>
                </a:solidFill>
                <a:latin typeface="Times New Roman"/>
              </a:rPr>
              <a:t>Out of scope</a:t>
            </a:r>
          </a:p>
        </p:txBody>
      </p:sp>
      <p:sp>
        <p:nvSpPr>
          <p:cNvPr id="15" name="TextBox 14"/>
          <p:cNvSpPr txBox="1"/>
          <p:nvPr/>
        </p:nvSpPr>
        <p:spPr>
          <a:xfrm>
            <a:off x="4846320" y="4023360"/>
            <a:ext cx="3657600" cy="1286506"/>
          </a:xfrm>
          <a:prstGeom prst="rect">
            <a:avLst/>
          </a:prstGeom>
          <a:noFill/>
        </p:spPr>
        <p:txBody>
          <a:bodyPr wrap="square" lIns="45720" tIns="27432" rIns="45720" bIns="27432" anchor="t">
            <a:spAutoFit/>
          </a:bodyPr>
          <a:lstStyle/>
          <a:p>
            <a:pPr marL="228600" indent="-228600">
              <a:spcBef>
                <a:spcPts val="0"/>
              </a:spcBef>
              <a:spcAft>
                <a:spcPts val="300"/>
              </a:spcAft>
              <a:buFont typeface="Arial"/>
              <a:buChar char="•"/>
            </a:pPr>
            <a:r>
              <a:rPr sz="1500" b="0" i="0" dirty="0">
                <a:solidFill>
                  <a:srgbClr val="262626"/>
                </a:solidFill>
                <a:latin typeface="Times New Roman"/>
              </a:rPr>
              <a:t>Building a</a:t>
            </a:r>
            <a:r>
              <a:rPr lang="en-IN" sz="1500" b="0" i="0" dirty="0" err="1">
                <a:solidFill>
                  <a:srgbClr val="262626"/>
                </a:solidFill>
                <a:latin typeface="Times New Roman"/>
              </a:rPr>
              <a:t>nd</a:t>
            </a:r>
            <a:r>
              <a:rPr lang="en-IN" sz="1500" b="0" i="0" dirty="0">
                <a:solidFill>
                  <a:srgbClr val="262626"/>
                </a:solidFill>
                <a:latin typeface="Times New Roman"/>
              </a:rPr>
              <a:t> deploying a complete drone system</a:t>
            </a:r>
            <a:endParaRPr lang="en-US" sz="1500" b="0" i="0" dirty="0">
              <a:solidFill>
                <a:srgbClr val="262626"/>
              </a:solidFill>
              <a:latin typeface="Times New Roman"/>
            </a:endParaRPr>
          </a:p>
          <a:p>
            <a:pPr marL="228600" indent="-228600">
              <a:spcBef>
                <a:spcPts val="0"/>
              </a:spcBef>
              <a:spcAft>
                <a:spcPts val="300"/>
              </a:spcAft>
              <a:buFont typeface="Arial"/>
              <a:buChar char="•"/>
            </a:pPr>
            <a:r>
              <a:rPr lang="en-US" sz="1500" dirty="0">
                <a:solidFill>
                  <a:srgbClr val="262626"/>
                </a:solidFill>
                <a:latin typeface="Times New Roman"/>
              </a:rPr>
              <a:t>Developing a commercial agricultural application</a:t>
            </a:r>
            <a:endParaRPr lang="en-US" sz="1500" b="0" i="0" dirty="0">
              <a:solidFill>
                <a:srgbClr val="262626"/>
              </a:solidFill>
              <a:latin typeface="Times New Roman"/>
            </a:endParaRPr>
          </a:p>
          <a:p>
            <a:pPr marL="228600" indent="-228600">
              <a:spcBef>
                <a:spcPts val="0"/>
              </a:spcBef>
              <a:spcAft>
                <a:spcPts val="300"/>
              </a:spcAft>
              <a:buFont typeface="Arial"/>
              <a:buChar char="•"/>
            </a:pPr>
            <a:r>
              <a:rPr sz="1500" b="0" i="0" dirty="0">
                <a:solidFill>
                  <a:srgbClr val="262626"/>
                </a:solidFill>
                <a:latin typeface="Times New Roman"/>
              </a:rPr>
              <a:t>L</a:t>
            </a:r>
            <a:r>
              <a:rPr lang="en-IN" sz="1500" b="0" i="0" dirty="0" err="1">
                <a:solidFill>
                  <a:srgbClr val="262626"/>
                </a:solidFill>
                <a:latin typeface="Times New Roman"/>
              </a:rPr>
              <a:t>arge</a:t>
            </a:r>
            <a:r>
              <a:rPr lang="en-IN" sz="1500" b="0" i="0" dirty="0">
                <a:solidFill>
                  <a:srgbClr val="262626"/>
                </a:solidFill>
                <a:latin typeface="Times New Roman"/>
              </a:rPr>
              <a:t>-scale real- word field testing</a:t>
            </a:r>
            <a:endParaRPr sz="1500" b="0" i="0" dirty="0">
              <a:solidFill>
                <a:srgbClr val="262626"/>
              </a:solidFill>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dirty="0"/>
              <a:t>System Architecture</a:t>
            </a:r>
            <a:endParaRPr dirty="0"/>
          </a:p>
        </p:txBody>
      </p:sp>
      <p:sp>
        <p:nvSpPr>
          <p:cNvPr id="4" name="Google Shape;623;p31"/>
          <p:cNvSpPr txBox="1"/>
          <p:nvPr/>
        </p:nvSpPr>
        <p:spPr>
          <a:xfrm>
            <a:off x="-914400" y="6381750"/>
            <a:ext cx="2476500" cy="47625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2"/>
              </a:buClr>
              <a:buSzPts val="1400"/>
              <a:buFont typeface="Libre Baskerville"/>
              <a:buNone/>
            </a:pPr>
            <a:endParaRPr sz="1400" b="0" i="0" u="none" strike="noStrike" cap="none" dirty="0">
              <a:solidFill>
                <a:srgbClr val="000000"/>
              </a:solidFill>
              <a:latin typeface="Arial"/>
              <a:ea typeface="Arial"/>
              <a:cs typeface="Arial"/>
              <a:sym typeface="Arial"/>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9</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4495800" y="64008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endParaRPr sz="1400" b="0" i="0" u="none" strike="noStrike" cap="none" dirty="0">
              <a:solidFill>
                <a:srgbClr val="000000"/>
              </a:solidFill>
              <a:latin typeface="Arial"/>
              <a:ea typeface="Arial"/>
              <a:cs typeface="Arial"/>
              <a:sym typeface="Arial"/>
            </a:endParaRPr>
          </a:p>
        </p:txBody>
      </p:sp>
      <p:pic>
        <p:nvPicPr>
          <p:cNvPr id="24" name="Picture 23">
            <a:extLst>
              <a:ext uri="{FF2B5EF4-FFF2-40B4-BE49-F238E27FC236}">
                <a16:creationId xmlns:a16="http://schemas.microsoft.com/office/drawing/2014/main" id="{42D2AAD8-7369-5260-C05B-1F83CF328C94}"/>
              </a:ext>
            </a:extLst>
          </p:cNvPr>
          <p:cNvPicPr>
            <a:picLocks noChangeAspect="1"/>
          </p:cNvPicPr>
          <p:nvPr/>
        </p:nvPicPr>
        <p:blipFill>
          <a:blip r:embed="rId3"/>
          <a:stretch>
            <a:fillRect/>
          </a:stretch>
        </p:blipFill>
        <p:spPr>
          <a:xfrm>
            <a:off x="457200" y="1143000"/>
            <a:ext cx="8409008" cy="42971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Methodology: Working of the System</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10</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7" name="Example request box"/>
          <p:cNvSpPr/>
          <p:nvPr/>
        </p:nvSpPr>
        <p:spPr>
          <a:xfrm>
            <a:off x="502920" y="1280160"/>
            <a:ext cx="8138160" cy="777240"/>
          </a:xfrm>
          <a:prstGeom prst="rect">
            <a:avLst/>
          </a:prstGeom>
          <a:solidFill>
            <a:srgbClr val="F2F2F2"/>
          </a:solidFill>
          <a:ln w="12700">
            <a:solidFill>
              <a:srgbClr val="A6A6A6"/>
            </a:solidFill>
          </a:ln>
        </p:spPr>
        <p:txBody>
          <a:bodyPr rtlCol="0" anchor="ctr"/>
          <a:lstStyle/>
          <a:p>
            <a:pPr algn="ctr"/>
            <a:endParaRPr/>
          </a:p>
        </p:txBody>
      </p:sp>
      <p:sp>
        <p:nvSpPr>
          <p:cNvPr id="8" name="TextBox 7"/>
          <p:cNvSpPr txBox="1"/>
          <p:nvPr/>
        </p:nvSpPr>
        <p:spPr>
          <a:xfrm>
            <a:off x="640080" y="1390287"/>
            <a:ext cx="7863840" cy="547842"/>
          </a:xfrm>
          <a:prstGeom prst="rect">
            <a:avLst/>
          </a:prstGeom>
          <a:noFill/>
        </p:spPr>
        <p:txBody>
          <a:bodyPr wrap="square" lIns="45720" tIns="27432" rIns="45720" bIns="27432" anchor="ctr">
            <a:spAutoFit/>
          </a:bodyPr>
          <a:lstStyle/>
          <a:p>
            <a:r>
              <a:rPr sz="1600" b="0" i="1" dirty="0">
                <a:solidFill>
                  <a:srgbClr val="262626"/>
                </a:solidFill>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A farmer wants to identify disease symptoms in a large crop field. Drone images are captured to detect affected plants and support early treatment.</a:t>
            </a:r>
          </a:p>
        </p:txBody>
      </p:sp>
      <p:graphicFrame>
        <p:nvGraphicFramePr>
          <p:cNvPr id="9" name="Working table"/>
          <p:cNvGraphicFramePr>
            <a:graphicFrameLocks noGrp="1"/>
          </p:cNvGraphicFramePr>
          <p:nvPr>
            <p:extLst>
              <p:ext uri="{D42A27DB-BD31-4B8C-83A1-F6EECF244321}">
                <p14:modId xmlns:p14="http://schemas.microsoft.com/office/powerpoint/2010/main" val="1635543384"/>
              </p:ext>
            </p:extLst>
          </p:nvPr>
        </p:nvGraphicFramePr>
        <p:xfrm>
          <a:off x="502920" y="2240280"/>
          <a:ext cx="8138160" cy="3547872"/>
        </p:xfrm>
        <a:graphic>
          <a:graphicData uri="http://schemas.openxmlformats.org/drawingml/2006/table">
            <a:tbl>
              <a:tblPr firstRow="1"/>
              <a:tblGrid>
                <a:gridCol w="146304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tblGrid>
              <a:tr h="365760">
                <a:tc>
                  <a:txBody>
                    <a:bodyPr/>
                    <a:lstStyle/>
                    <a:p>
                      <a:pPr marL="0" indent="0" algn="l">
                        <a:spcBef>
                          <a:spcPts val="0"/>
                        </a:spcBef>
                        <a:spcAft>
                          <a:spcPts val="0"/>
                        </a:spcAft>
                        <a:buNone/>
                      </a:pPr>
                      <a:r>
                        <a:rPr sz="1500" b="1" i="0" dirty="0">
                          <a:solidFill>
                            <a:srgbClr val="FFFFFF"/>
                          </a:solidFill>
                          <a:latin typeface="Times New Roman" panose="02020603050405020304" pitchFamily="18" charset="0"/>
                          <a:cs typeface="Times New Roman" panose="02020603050405020304" pitchFamily="18" charset="0"/>
                        </a:rPr>
                        <a:t>Step</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tc>
                  <a:txBody>
                    <a:bodyPr/>
                    <a:lstStyle/>
                    <a:p>
                      <a:pPr marL="0" indent="0" algn="l">
                        <a:spcBef>
                          <a:spcPts val="0"/>
                        </a:spcBef>
                        <a:spcAft>
                          <a:spcPts val="0"/>
                        </a:spcAft>
                        <a:buNone/>
                      </a:pPr>
                      <a:r>
                        <a:rPr sz="1500" b="1" i="0">
                          <a:solidFill>
                            <a:srgbClr val="FFFFFF"/>
                          </a:solidFill>
                          <a:latin typeface="Times New Roman" panose="02020603050405020304" pitchFamily="18" charset="0"/>
                          <a:cs typeface="Times New Roman" panose="02020603050405020304" pitchFamily="18" charset="0"/>
                        </a:rPr>
                        <a:t>What the system does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extLst>
                  <a:ext uri="{0D108BD9-81ED-4DB2-BD59-A6C34878D82A}">
                    <a16:rowId xmlns:a16="http://schemas.microsoft.com/office/drawing/2014/main" val="10000"/>
                  </a:ext>
                </a:extLst>
              </a:tr>
              <a:tr h="530352">
                <a:tc>
                  <a:txBody>
                    <a:bodyPr/>
                    <a:lstStyle/>
                    <a:p>
                      <a:pPr>
                        <a:buNone/>
                      </a:pPr>
                      <a:r>
                        <a:rPr lang="en-IN" b="1" dirty="0">
                          <a:latin typeface="Times New Roman" panose="02020603050405020304" pitchFamily="18" charset="0"/>
                          <a:cs typeface="Times New Roman" panose="02020603050405020304" pitchFamily="18" charset="0"/>
                        </a:rPr>
                        <a:t>Capture</a:t>
                      </a:r>
                      <a:endParaRPr lang="en-IN" dirty="0">
                        <a:latin typeface="Times New Roman" panose="02020603050405020304" pitchFamily="18" charset="0"/>
                        <a:cs typeface="Times New Roman" panose="02020603050405020304" pitchFamily="18" charset="0"/>
                      </a:endParaRP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latin typeface="Times New Roman" panose="02020603050405020304" pitchFamily="18" charset="0"/>
                          <a:cs typeface="Times New Roman" panose="02020603050405020304" pitchFamily="18" charset="0"/>
                        </a:rPr>
                        <a:t>Drone captures aerial crop images and optional environmental sensor data.</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a:buNone/>
                      </a:pPr>
                      <a:r>
                        <a:rPr lang="en-IN" b="1" dirty="0">
                          <a:latin typeface="Times New Roman" panose="02020603050405020304" pitchFamily="18" charset="0"/>
                          <a:cs typeface="Times New Roman" panose="02020603050405020304" pitchFamily="18" charset="0"/>
                        </a:rPr>
                        <a:t>Preprocess</a:t>
                      </a:r>
                      <a:endParaRPr lang="en-IN" dirty="0">
                        <a:latin typeface="Times New Roman" panose="02020603050405020304" pitchFamily="18" charset="0"/>
                        <a:cs typeface="Times New Roman" panose="02020603050405020304" pitchFamily="18" charset="0"/>
                      </a:endParaRP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latin typeface="Times New Roman" panose="02020603050405020304" pitchFamily="18" charset="0"/>
                          <a:cs typeface="Times New Roman" panose="02020603050405020304" pitchFamily="18" charset="0"/>
                        </a:rPr>
                        <a:t>Images are resized, enhanced and prepared for AI-based analysis.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a:buNone/>
                      </a:pPr>
                      <a:r>
                        <a:rPr lang="en-IN" b="1" dirty="0">
                          <a:latin typeface="Times New Roman" panose="02020603050405020304" pitchFamily="18" charset="0"/>
                          <a:cs typeface="Times New Roman" panose="02020603050405020304" pitchFamily="18" charset="0"/>
                        </a:rPr>
                        <a:t>Detect</a:t>
                      </a:r>
                      <a:endParaRPr lang="en-IN" dirty="0">
                        <a:latin typeface="Times New Roman" panose="02020603050405020304" pitchFamily="18" charset="0"/>
                        <a:cs typeface="Times New Roman" panose="02020603050405020304" pitchFamily="18" charset="0"/>
                      </a:endParaRP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latin typeface="Times New Roman" panose="02020603050405020304" pitchFamily="18" charset="0"/>
                          <a:cs typeface="Times New Roman" panose="02020603050405020304" pitchFamily="18" charset="0"/>
                        </a:rPr>
                        <a:t>CNN / YOLO models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crop images to identify possible disease symptoms.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a:buNone/>
                      </a:pPr>
                      <a:r>
                        <a:rPr lang="en-IN" b="1" dirty="0">
                          <a:latin typeface="Times New Roman" panose="02020603050405020304" pitchFamily="18" charset="0"/>
                          <a:cs typeface="Times New Roman" panose="02020603050405020304" pitchFamily="18" charset="0"/>
                        </a:rPr>
                        <a:t>Classify</a:t>
                      </a:r>
                      <a:endParaRPr lang="en-IN" dirty="0">
                        <a:latin typeface="Times New Roman" panose="02020603050405020304" pitchFamily="18" charset="0"/>
                        <a:cs typeface="Times New Roman" panose="02020603050405020304" pitchFamily="18" charset="0"/>
                      </a:endParaRP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latin typeface="Times New Roman" panose="02020603050405020304" pitchFamily="18" charset="0"/>
                          <a:cs typeface="Times New Roman" panose="02020603050405020304" pitchFamily="18" charset="0"/>
                        </a:rPr>
                        <a:t>AI model classifies the detected disease; sensor data can support the analysis.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extLst>
                  <a:ext uri="{0D108BD9-81ED-4DB2-BD59-A6C34878D82A}">
                    <a16:rowId xmlns:a16="http://schemas.microsoft.com/office/drawing/2014/main" val="10004"/>
                  </a:ext>
                </a:extLst>
              </a:tr>
              <a:tr h="530352">
                <a:tc>
                  <a:txBody>
                    <a:bodyPr/>
                    <a:lstStyle/>
                    <a:p>
                      <a:pPr>
                        <a:buNone/>
                      </a:pPr>
                      <a:r>
                        <a:rPr lang="en-IN" b="1" dirty="0" err="1">
                          <a:latin typeface="Times New Roman" panose="02020603050405020304" pitchFamily="18" charset="0"/>
                          <a:cs typeface="Times New Roman" panose="02020603050405020304" pitchFamily="18" charset="0"/>
                        </a:rPr>
                        <a:t>Analyze</a:t>
                      </a:r>
                      <a:endParaRPr lang="en-IN" dirty="0">
                        <a:latin typeface="Times New Roman" panose="02020603050405020304" pitchFamily="18" charset="0"/>
                        <a:cs typeface="Times New Roman" panose="02020603050405020304" pitchFamily="18" charset="0"/>
                      </a:endParaRPr>
                    </a:p>
                  </a:txBody>
                  <a:tcPr anchor="ctr">
                    <a:lnL w="9525" cap="flat" cmpd="sng">
                      <a:solidFill>
                        <a:srgbClr val="A6A6A6"/>
                      </a:solidFill>
                      <a:prstDash val="soli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marL="0" indent="0" algn="l">
                        <a:spcBef>
                          <a:spcPts val="0"/>
                        </a:spcBef>
                        <a:spcAft>
                          <a:spcPts val="0"/>
                        </a:spcAft>
                        <a:buNone/>
                      </a:pPr>
                      <a:r>
                        <a:rPr lang="en-IN" sz="1500" b="0" i="0" dirty="0">
                          <a:solidFill>
                            <a:srgbClr val="262626"/>
                          </a:solidFill>
                          <a:latin typeface="Times New Roman" panose="02020603050405020304" pitchFamily="18" charset="0"/>
                          <a:cs typeface="Times New Roman" panose="02020603050405020304" pitchFamily="18" charset="0"/>
                        </a:rPr>
                        <a:t> Grad – CAM highlights important image regions and helps explain the models prediction.</a:t>
                      </a:r>
                      <a:endParaRPr sz="1500" b="0" i="0" dirty="0">
                        <a:solidFill>
                          <a:srgbClr val="262626"/>
                        </a:solidFill>
                        <a:latin typeface="Times New Roman" panose="02020603050405020304" pitchFamily="18" charset="0"/>
                        <a:cs typeface="Times New Roman" panose="02020603050405020304" pitchFamily="18" charset="0"/>
                      </a:endParaRPr>
                    </a:p>
                  </a:txBody>
                  <a:tcPr marL="64008" marR="64008" marT="27432" marB="27432"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a:buNone/>
                      </a:pPr>
                      <a:r>
                        <a:rPr lang="en-IN" b="1" dirty="0">
                          <a:latin typeface="Times New Roman" panose="02020603050405020304" pitchFamily="18" charset="0"/>
                          <a:cs typeface="Times New Roman" panose="02020603050405020304" pitchFamily="18" charset="0"/>
                        </a:rPr>
                        <a:t>Report</a:t>
                      </a:r>
                      <a:endParaRPr lang="en-IN" dirty="0">
                        <a:latin typeface="Times New Roman" panose="02020603050405020304" pitchFamily="18" charset="0"/>
                        <a:cs typeface="Times New Roman" panose="02020603050405020304" pitchFamily="18" charset="0"/>
                      </a:endParaRP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tc>
                  <a:txBody>
                    <a:bodyPr/>
                    <a:lstStyle/>
                    <a:p>
                      <a:pPr>
                        <a:buNone/>
                      </a:pPr>
                      <a:r>
                        <a:rPr lang="en-IN" dirty="0">
                          <a:latin typeface="Times New Roman" panose="02020603050405020304" pitchFamily="18" charset="0"/>
                          <a:cs typeface="Times New Roman" panose="02020603050405020304" pitchFamily="18" charset="0"/>
                        </a:rPr>
                        <a:t>Disease results and affected-area information are presented for crop monitoring and management.</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Algorithms Used</a:t>
            </a:r>
            <a:endParaRPr/>
          </a:p>
        </p:txBody>
      </p:sp>
      <p:sp>
        <p:nvSpPr>
          <p:cNvPr id="4" name="Google Shape;623;p31"/>
          <p:cNvSpPr txBox="1"/>
          <p:nvPr/>
        </p:nvSpPr>
        <p:spPr>
          <a:xfrm>
            <a:off x="-914400" y="6381750"/>
            <a:ext cx="2476500" cy="47625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2"/>
              </a:buClr>
              <a:buSzPts val="1400"/>
              <a:buFont typeface="Libre Baskerville"/>
              <a:buNone/>
            </a:pPr>
            <a:r>
              <a:rPr lang="en-US" sz="1400" b="0" i="0" u="none" strike="noStrike" cap="none">
                <a:solidFill>
                  <a:schemeClr val="dk2"/>
                </a:solidFill>
                <a:latin typeface="Libre Baskerville"/>
                <a:ea typeface="Libre Baskerville"/>
                <a:cs typeface="Libre Baskerville"/>
                <a:sym typeface="Libre Baskerville"/>
              </a:rPr>
              <a:t>17 Oct 2026</a:t>
            </a:r>
            <a:endParaRPr sz="1400" b="0" i="0" u="none" strike="noStrike" cap="none">
              <a:solidFill>
                <a:srgbClr val="000000"/>
              </a:solidFill>
              <a:latin typeface="Arial"/>
              <a:ea typeface="Arial"/>
              <a:cs typeface="Arial"/>
              <a:sym typeface="Arial"/>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11</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4495800" y="64008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a:solidFill>
                  <a:schemeClr val="dk2"/>
                </a:solidFill>
                <a:latin typeface="Libre Baskerville"/>
                <a:ea typeface="Libre Baskerville"/>
                <a:cs typeface="Libre Baskerville"/>
                <a:sym typeface="Libre Baskerville"/>
              </a:rPr>
              <a:t>AI-Powered Smart Worker Finder</a:t>
            </a:r>
            <a:endParaRPr sz="1400" b="0" i="0" u="none" strike="noStrike" cap="none">
              <a:solidFill>
                <a:srgbClr val="000000"/>
              </a:solidFill>
              <a:latin typeface="Arial"/>
              <a:ea typeface="Arial"/>
              <a:cs typeface="Arial"/>
              <a:sym typeface="Arial"/>
            </a:endParaRPr>
          </a:p>
        </p:txBody>
      </p:sp>
      <p:graphicFrame>
        <p:nvGraphicFramePr>
          <p:cNvPr id="7" name="Algorithm table"/>
          <p:cNvGraphicFramePr>
            <a:graphicFrameLocks noGrp="1"/>
          </p:cNvGraphicFramePr>
          <p:nvPr>
            <p:extLst>
              <p:ext uri="{D42A27DB-BD31-4B8C-83A1-F6EECF244321}">
                <p14:modId xmlns:p14="http://schemas.microsoft.com/office/powerpoint/2010/main" val="3299238242"/>
              </p:ext>
            </p:extLst>
          </p:nvPr>
        </p:nvGraphicFramePr>
        <p:xfrm>
          <a:off x="502920" y="1280160"/>
          <a:ext cx="8138160" cy="3803904"/>
        </p:xfrm>
        <a:graphic>
          <a:graphicData uri="http://schemas.openxmlformats.org/drawingml/2006/table">
            <a:tbl>
              <a:tblPr firstRow="1"/>
              <a:tblGrid>
                <a:gridCol w="26517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65760">
                <a:tc>
                  <a:txBody>
                    <a:bodyPr/>
                    <a:lstStyle/>
                    <a:p>
                      <a:pPr marL="0" indent="0" algn="l">
                        <a:spcBef>
                          <a:spcPts val="0"/>
                        </a:spcBef>
                        <a:spcAft>
                          <a:spcPts val="0"/>
                        </a:spcAft>
                        <a:buNone/>
                      </a:pPr>
                      <a:r>
                        <a:rPr sz="1500" b="1" i="0">
                          <a:solidFill>
                            <a:srgbClr val="FFFFFF"/>
                          </a:solidFill>
                          <a:latin typeface="Times New Roman"/>
                        </a:rPr>
                        <a:t>Algorithm</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tc>
                  <a:txBody>
                    <a:bodyPr/>
                    <a:lstStyle/>
                    <a:p>
                      <a:pPr marL="0" indent="0" algn="l">
                        <a:spcBef>
                          <a:spcPts val="0"/>
                        </a:spcBef>
                        <a:spcAft>
                          <a:spcPts val="0"/>
                        </a:spcAft>
                        <a:buNone/>
                      </a:pPr>
                      <a:r>
                        <a:rPr sz="1500" b="1" i="0">
                          <a:solidFill>
                            <a:srgbClr val="FFFFFF"/>
                          </a:solidFill>
                          <a:latin typeface="Times New Roman"/>
                        </a:rPr>
                        <a:t>What it does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extLst>
                  <a:ext uri="{0D108BD9-81ED-4DB2-BD59-A6C34878D82A}">
                    <a16:rowId xmlns:a16="http://schemas.microsoft.com/office/drawing/2014/main" val="10000"/>
                  </a:ext>
                </a:extLst>
              </a:tr>
              <a:tr h="676656">
                <a:tc>
                  <a:txBody>
                    <a:bodyPr/>
                    <a:lstStyle/>
                    <a:p>
                      <a:pPr>
                        <a:buNone/>
                      </a:pPr>
                      <a:r>
                        <a:rPr lang="en-IN" b="1" dirty="0"/>
                        <a:t>CNN (Convolutional Neural Network)</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Extracts visual features from crop images to identify disease patterns.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6656">
                <a:tc>
                  <a:txBody>
                    <a:bodyPr/>
                    <a:lstStyle/>
                    <a:p>
                      <a:pPr>
                        <a:buNone/>
                      </a:pPr>
                      <a:r>
                        <a:rPr lang="en-IN" b="1" dirty="0"/>
                        <a:t>YOLO (You Only Look Once)</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Detects disease symptoms in crop images and identifies their locations.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76656">
                <a:tc>
                  <a:txBody>
                    <a:bodyPr/>
                    <a:lstStyle/>
                    <a:p>
                      <a:pPr>
                        <a:buNone/>
                      </a:pPr>
                      <a:r>
                        <a:rPr lang="en-IN" b="1" dirty="0"/>
                        <a:t>SVM (Support Vector Machine)</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Classifies image features for disease detection using hyperspectral images.</a:t>
                      </a:r>
                    </a:p>
                    <a:p>
                      <a:pPr>
                        <a:buNone/>
                      </a:pPr>
                      <a:r>
                        <a:rPr lang="en-IN" dirty="0"/>
                        <a:t>.</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extLst>
                  <a:ext uri="{0D108BD9-81ED-4DB2-BD59-A6C34878D82A}">
                    <a16:rowId xmlns:a16="http://schemas.microsoft.com/office/drawing/2014/main" val="10003"/>
                  </a:ext>
                </a:extLst>
              </a:tr>
              <a:tr h="676656">
                <a:tc>
                  <a:txBody>
                    <a:bodyPr/>
                    <a:lstStyle/>
                    <a:p>
                      <a:pPr>
                        <a:buNone/>
                      </a:pPr>
                      <a:r>
                        <a:rPr lang="en-IN" b="1" dirty="0"/>
                        <a:t>Transformer / </a:t>
                      </a:r>
                      <a:r>
                        <a:rPr lang="en-IN" b="1" dirty="0" err="1"/>
                        <a:t>DeiT</a:t>
                      </a:r>
                      <a:endParaRPr lang="en-IN" dirty="0"/>
                    </a:p>
                  </a:txBody>
                  <a:tcPr anchor="ctr">
                    <a:lnL w="9525" cap="flat" cmpd="sng">
                      <a:solidFill>
                        <a:srgbClr val="A6A6A6"/>
                      </a:solidFill>
                      <a:prstDash val="soli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marL="0" indent="0" algn="l">
                        <a:spcBef>
                          <a:spcPts val="0"/>
                        </a:spcBef>
                        <a:spcAft>
                          <a:spcPts val="0"/>
                        </a:spcAft>
                        <a:buNone/>
                      </a:pPr>
                      <a:r>
                        <a:rPr lang="en-IN" sz="1600" dirty="0" err="1"/>
                        <a:t>Analyzes</a:t>
                      </a:r>
                      <a:r>
                        <a:rPr lang="en-IN" sz="1600" dirty="0"/>
                        <a:t> image features to support accurate disease classification</a:t>
                      </a:r>
                      <a:endParaRPr sz="1500" b="0" i="0" dirty="0">
                        <a:solidFill>
                          <a:srgbClr val="262626"/>
                        </a:solidFill>
                        <a:latin typeface="Times New Roman"/>
                      </a:endParaRPr>
                    </a:p>
                  </a:txBody>
                  <a:tcPr marL="64008" marR="64008" marT="27432" marB="27432"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76656">
                <a:tc>
                  <a:txBody>
                    <a:bodyPr/>
                    <a:lstStyle/>
                    <a:p>
                      <a:pPr>
                        <a:buNone/>
                      </a:pPr>
                      <a:r>
                        <a:rPr lang="en-IN" b="1" dirty="0" err="1"/>
                        <a:t>CycleGAN</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tc>
                  <a:txBody>
                    <a:bodyPr/>
                    <a:lstStyle/>
                    <a:p>
                      <a:pPr>
                        <a:buNone/>
                      </a:pPr>
                      <a:r>
                        <a:rPr lang="en-IN" dirty="0"/>
                        <a:t>Generates or transforms images to support training with varied disease-image data.</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02920" y="5257800"/>
            <a:ext cx="8138160" cy="701731"/>
          </a:xfrm>
          <a:prstGeom prst="rect">
            <a:avLst/>
          </a:prstGeom>
          <a:noFill/>
        </p:spPr>
        <p:txBody>
          <a:bodyPr wrap="square" lIns="45720" tIns="27432" rIns="45720" bIns="27432" anchor="t">
            <a:spAutoFit/>
          </a:bodyPr>
          <a:lstStyle/>
          <a:p>
            <a:r>
              <a:rPr sz="1400" b="1" i="0" dirty="0">
                <a:solidFill>
                  <a:srgbClr val="262626"/>
                </a:solidFill>
                <a:latin typeface="Times New Roman"/>
              </a:rPr>
              <a:t>Procedure: </a:t>
            </a:r>
            <a:r>
              <a:rPr lang="en-IN" dirty="0"/>
              <a:t>capture drone images → preprocess images → extract features → detect and classify diseases → </a:t>
            </a:r>
            <a:r>
              <a:rPr lang="en-IN" dirty="0" err="1"/>
              <a:t>analyze</a:t>
            </a:r>
            <a:r>
              <a:rPr lang="en-IN" dirty="0"/>
              <a:t> results using Grad-CAM → generate disease report.</a:t>
            </a:r>
          </a:p>
          <a:p>
            <a:pPr marL="0" indent="0">
              <a:spcBef>
                <a:spcPts val="0"/>
              </a:spcBef>
              <a:spcAft>
                <a:spcPts val="0"/>
              </a:spcAft>
              <a:buNone/>
            </a:pPr>
            <a:endParaRPr sz="1400" b="0" i="0" dirty="0">
              <a:solidFill>
                <a:srgbClr val="262626"/>
              </a:solidFill>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lvl="0"/>
            <a:r>
              <a:rPr lang="en-US" sz="2400" b="1" dirty="0"/>
              <a:t>Mathematical Model:</a:t>
            </a:r>
            <a:r>
              <a:rPr lang="en-US" b="1" dirty="0"/>
              <a:t> </a:t>
            </a:r>
            <a:r>
              <a:rPr lang="en-IN" sz="2400" b="1" dirty="0"/>
              <a:t>Crop Disease Detection</a:t>
            </a:r>
            <a:endParaRPr sz="2400" dirty="0"/>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12</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graphicFrame>
        <p:nvGraphicFramePr>
          <p:cNvPr id="7" name="Model table 1"/>
          <p:cNvGraphicFramePr>
            <a:graphicFrameLocks noGrp="1"/>
          </p:cNvGraphicFramePr>
          <p:nvPr>
            <p:extLst>
              <p:ext uri="{D42A27DB-BD31-4B8C-83A1-F6EECF244321}">
                <p14:modId xmlns:p14="http://schemas.microsoft.com/office/powerpoint/2010/main" val="3399596743"/>
              </p:ext>
            </p:extLst>
          </p:nvPr>
        </p:nvGraphicFramePr>
        <p:xfrm>
          <a:off x="502920" y="1280160"/>
          <a:ext cx="8138160" cy="4251960"/>
        </p:xfrm>
        <a:graphic>
          <a:graphicData uri="http://schemas.openxmlformats.org/drawingml/2006/table">
            <a:tbl>
              <a:tblPr firstRow="1"/>
              <a:tblGrid>
                <a:gridCol w="4114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65760">
                <a:tc>
                  <a:txBody>
                    <a:bodyPr/>
                    <a:lstStyle/>
                    <a:p>
                      <a:pPr marL="0" indent="0" algn="l">
                        <a:spcBef>
                          <a:spcPts val="0"/>
                        </a:spcBef>
                        <a:spcAft>
                          <a:spcPts val="0"/>
                        </a:spcAft>
                        <a:buNone/>
                      </a:pPr>
                      <a:r>
                        <a:rPr sz="1500" b="1" i="0">
                          <a:solidFill>
                            <a:srgbClr val="FFFFFF"/>
                          </a:solidFill>
                          <a:latin typeface="Times New Roman"/>
                        </a:rPr>
                        <a:t>Formula</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tc>
                  <a:txBody>
                    <a:bodyPr/>
                    <a:lstStyle/>
                    <a:p>
                      <a:pPr marL="0" indent="0" algn="l">
                        <a:spcBef>
                          <a:spcPts val="0"/>
                        </a:spcBef>
                        <a:spcAft>
                          <a:spcPts val="0"/>
                        </a:spcAft>
                        <a:buNone/>
                      </a:pPr>
                      <a:r>
                        <a:rPr sz="1500" b="1" i="0">
                          <a:solidFill>
                            <a:srgbClr val="FFFFFF"/>
                          </a:solidFill>
                          <a:latin typeface="Times New Roman"/>
                        </a:rPr>
                        <a:t>In simple words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extLst>
                  <a:ext uri="{0D108BD9-81ED-4DB2-BD59-A6C34878D82A}">
                    <a16:rowId xmlns:a16="http://schemas.microsoft.com/office/drawing/2014/main" val="10000"/>
                  </a:ext>
                </a:extLst>
              </a:tr>
              <a:tr h="777240">
                <a:tc>
                  <a:txBody>
                    <a:bodyPr/>
                    <a:lstStyle/>
                    <a:p>
                      <a:pPr>
                        <a:buNone/>
                      </a:pPr>
                      <a:r>
                        <a:rPr lang="en-IN" dirty="0"/>
                        <a:t>I = Input Image (H × W × C)</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 drone image with height (H), width (W) and (C) colour channels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a:buNone/>
                      </a:pPr>
                      <a:r>
                        <a:rPr lang="en-IN" dirty="0"/>
                        <a:t>F = Feature Extraction (I)</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Extracts useful features from the crop image.</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extLst>
                  <a:ext uri="{0D108BD9-81ED-4DB2-BD59-A6C34878D82A}">
                    <a16:rowId xmlns:a16="http://schemas.microsoft.com/office/drawing/2014/main" val="10002"/>
                  </a:ext>
                </a:extLst>
              </a:tr>
              <a:tr h="777240">
                <a:tc>
                  <a:txBody>
                    <a:bodyPr/>
                    <a:lstStyle/>
                    <a:p>
                      <a:pPr>
                        <a:buNone/>
                      </a:pPr>
                      <a:r>
                        <a:rPr lang="en-IN" dirty="0"/>
                        <a:t>P = Disease Probabilities (F)</a:t>
                      </a:r>
                    </a:p>
                  </a:txBody>
                  <a:tcPr anchor="ctr">
                    <a:lnL w="9525" cap="flat" cmpd="sng">
                      <a:solidFill>
                        <a:srgbClr val="A6A6A6"/>
                      </a:solidFill>
                      <a:prstDash val="soli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marL="0" indent="0" algn="l">
                        <a:spcBef>
                          <a:spcPts val="0"/>
                        </a:spcBef>
                        <a:spcAft>
                          <a:spcPts val="0"/>
                        </a:spcAft>
                        <a:buNone/>
                      </a:pPr>
                      <a:r>
                        <a:rPr lang="en-IN" sz="1600" dirty="0"/>
                        <a:t>Calculates the likelihood of each possible disease class.</a:t>
                      </a:r>
                      <a:endParaRPr lang="en-US" sz="1500" b="0" i="0" dirty="0">
                        <a:solidFill>
                          <a:srgbClr val="262626"/>
                        </a:solidFill>
                        <a:latin typeface="Times New Roman"/>
                      </a:endParaRPr>
                    </a:p>
                  </a:txBody>
                  <a:tcPr marL="64008" marR="64008" marT="27432" marB="27432"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a:buNone/>
                      </a:pPr>
                      <a:r>
                        <a:rPr lang="en-IN" dirty="0"/>
                        <a:t>Predicted Class = Class with Maximum Probability</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Selects the disease class with the highest probability.</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4"/>
                  </a:ext>
                </a:extLst>
              </a:tr>
              <a:tr h="777240">
                <a:tc>
                  <a:txBody>
                    <a:bodyPr/>
                    <a:lstStyle/>
                    <a:p>
                      <a:pPr>
                        <a:buNone/>
                      </a:pPr>
                      <a:r>
                        <a:rPr lang="en-IN" dirty="0"/>
                        <a:t>Confidence = Maximum Probability × 100%</a:t>
                      </a:r>
                    </a:p>
                  </a:txBody>
                  <a:tcPr anchor="ctr">
                    <a:lnL w="9525" cap="flat" cmpd="sng">
                      <a:solidFill>
                        <a:srgbClr val="A6A6A6"/>
                      </a:solidFill>
                      <a:prstDash val="soli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tc>
                  <a:txBody>
                    <a:bodyPr/>
                    <a:lstStyle/>
                    <a:p>
                      <a:r>
                        <a:rPr lang="en-IN" sz="1600" dirty="0"/>
                        <a:t>Gives the confidence score for the predicted disease class.</a:t>
                      </a:r>
                    </a:p>
                  </a:txBody>
                  <a:tcPr marL="64008" marR="64008" marT="27432" marB="27432"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TextBox 7">
            <a:extLst>
              <a:ext uri="{FF2B5EF4-FFF2-40B4-BE49-F238E27FC236}">
                <a16:creationId xmlns:a16="http://schemas.microsoft.com/office/drawing/2014/main" id="{7655EC2C-CDB1-CD64-2006-A806A99E131C}"/>
              </a:ext>
            </a:extLst>
          </p:cNvPr>
          <p:cNvSpPr txBox="1"/>
          <p:nvPr/>
        </p:nvSpPr>
        <p:spPr>
          <a:xfrm>
            <a:off x="685800" y="5836920"/>
            <a:ext cx="7955280" cy="646331"/>
          </a:xfrm>
          <a:prstGeom prst="rect">
            <a:avLst/>
          </a:prstGeom>
          <a:noFill/>
        </p:spPr>
        <p:txBody>
          <a:bodyPr wrap="square" rtlCol="0">
            <a:spAutoFit/>
          </a:bodyPr>
          <a:lstStyle/>
          <a:p>
            <a:r>
              <a:rPr lang="en-IN" sz="1800" b="1" dirty="0">
                <a:latin typeface="Times New Roman" panose="02020603050405020304" pitchFamily="18" charset="0"/>
                <a:cs typeface="Times New Roman" panose="02020603050405020304" pitchFamily="18" charset="0"/>
              </a:rPr>
              <a:t>Output:</a:t>
            </a:r>
            <a:r>
              <a:rPr lang="en-IN" sz="1800" dirty="0">
                <a:latin typeface="Times New Roman" panose="02020603050405020304" pitchFamily="18" charset="0"/>
                <a:cs typeface="Times New Roman" panose="02020603050405020304" pitchFamily="18" charset="0"/>
              </a:rPr>
              <a:t> predicted disease class, confidence score and, when supported by the detection model, the location of affected regions</a:t>
            </a:r>
            <a:r>
              <a:rPr lang="en-IN" sz="16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lvl="0"/>
            <a:r>
              <a:rPr lang="en-US" sz="2400" b="1" dirty="0"/>
              <a:t>Mathematical Model: </a:t>
            </a:r>
            <a:r>
              <a:rPr lang="en-IN" sz="2400" b="1" dirty="0"/>
              <a:t>Classification and Evaluation</a:t>
            </a:r>
            <a:endParaRPr b="1" dirty="0"/>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13</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graphicFrame>
        <p:nvGraphicFramePr>
          <p:cNvPr id="7" name="Model table 2"/>
          <p:cNvGraphicFramePr>
            <a:graphicFrameLocks noGrp="1"/>
          </p:cNvGraphicFramePr>
          <p:nvPr>
            <p:extLst>
              <p:ext uri="{D42A27DB-BD31-4B8C-83A1-F6EECF244321}">
                <p14:modId xmlns:p14="http://schemas.microsoft.com/office/powerpoint/2010/main" val="1348787046"/>
              </p:ext>
            </p:extLst>
          </p:nvPr>
        </p:nvGraphicFramePr>
        <p:xfrm>
          <a:off x="502920" y="1280160"/>
          <a:ext cx="8138160" cy="4251960"/>
        </p:xfrm>
        <a:graphic>
          <a:graphicData uri="http://schemas.openxmlformats.org/drawingml/2006/table">
            <a:tbl>
              <a:tblPr firstRow="1"/>
              <a:tblGrid>
                <a:gridCol w="4114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65760">
                <a:tc>
                  <a:txBody>
                    <a:bodyPr/>
                    <a:lstStyle/>
                    <a:p>
                      <a:pPr marL="0" indent="0" algn="l">
                        <a:spcBef>
                          <a:spcPts val="0"/>
                        </a:spcBef>
                        <a:spcAft>
                          <a:spcPts val="0"/>
                        </a:spcAft>
                        <a:buNone/>
                      </a:pPr>
                      <a:r>
                        <a:rPr sz="1500" b="1" i="0">
                          <a:solidFill>
                            <a:srgbClr val="FFFFFF"/>
                          </a:solidFill>
                          <a:latin typeface="Times New Roman"/>
                        </a:rPr>
                        <a:t>Formula</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tc>
                  <a:txBody>
                    <a:bodyPr/>
                    <a:lstStyle/>
                    <a:p>
                      <a:pPr marL="0" indent="0" algn="l">
                        <a:spcBef>
                          <a:spcPts val="0"/>
                        </a:spcBef>
                        <a:spcAft>
                          <a:spcPts val="0"/>
                        </a:spcAft>
                        <a:buNone/>
                      </a:pPr>
                      <a:r>
                        <a:rPr sz="1500" b="1" i="0">
                          <a:solidFill>
                            <a:srgbClr val="FFFFFF"/>
                          </a:solidFill>
                          <a:latin typeface="Times New Roman"/>
                        </a:rPr>
                        <a:t>In simple words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extLst>
                  <a:ext uri="{0D108BD9-81ED-4DB2-BD59-A6C34878D82A}">
                    <a16:rowId xmlns:a16="http://schemas.microsoft.com/office/drawing/2014/main" val="10000"/>
                  </a:ext>
                </a:extLst>
              </a:tr>
              <a:tr h="777240">
                <a:tc>
                  <a:txBody>
                    <a:bodyPr/>
                    <a:lstStyle/>
                    <a:p>
                      <a:pPr>
                        <a:buNone/>
                      </a:pPr>
                      <a:r>
                        <a:rPr lang="en-IN" dirty="0">
                          <a:latin typeface="Courier New" panose="02070309020205020404" pitchFamily="49" charset="0"/>
                        </a:rPr>
                        <a:t>Predicted Class = Class with Maximum Probability</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Selects the disease class with the highest predicted probability</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a:buNone/>
                      </a:pPr>
                      <a:r>
                        <a:rPr lang="en-IN" dirty="0">
                          <a:latin typeface="Courier New" panose="02070309020205020404" pitchFamily="49" charset="0"/>
                        </a:rPr>
                        <a:t>Confidence = Maximum Probability × 100%</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Gives the confidence score for the predicted disease class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buNone/>
                      </a:pPr>
                      <a:r>
                        <a:rPr lang="en-IN" dirty="0">
                          <a:latin typeface="Courier New" panose="02070309020205020404" pitchFamily="49" charset="0"/>
                        </a:rPr>
                        <a:t>Accuracy = (TP + TN) / (TP + TN + FP + FN)</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Measures the proportion of correct predictions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a:buNone/>
                      </a:pPr>
                      <a:r>
                        <a:rPr lang="en-IN" dirty="0">
                          <a:latin typeface="Courier New" panose="02070309020205020404" pitchFamily="49" charset="0"/>
                        </a:rPr>
                        <a:t>Precision = TP / (TP + FP)</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buNone/>
                      </a:pPr>
                      <a:r>
                        <a:rPr lang="en-IN" dirty="0"/>
                        <a:t>Measures the proportion of predicted disease cases that are actually diseased</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a:buNone/>
                      </a:pPr>
                      <a:r>
                        <a:rPr lang="en-IN" dirty="0" err="1">
                          <a:latin typeface="Courier New" panose="02070309020205020404" pitchFamily="49" charset="0"/>
                        </a:rPr>
                        <a:t>ecall</a:t>
                      </a:r>
                      <a:r>
                        <a:rPr lang="en-IN" dirty="0">
                          <a:latin typeface="Courier New" panose="02070309020205020404" pitchFamily="49" charset="0"/>
                        </a:rPr>
                        <a:t> = TP / (TP + FN)</a:t>
                      </a:r>
                      <a:endParaRPr lang="en-IN" dirty="0"/>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tc>
                  <a:txBody>
                    <a:bodyPr/>
                    <a:lstStyle/>
                    <a:p>
                      <a:pPr>
                        <a:buNone/>
                      </a:pPr>
                      <a:r>
                        <a:rPr lang="en-IN" dirty="0"/>
                        <a:t>Measures the proportion of actual disease cases correctly detected</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lvl="0"/>
            <a:r>
              <a:rPr lang="en-US" sz="2400" b="1" dirty="0"/>
              <a:t>Worked Example: </a:t>
            </a:r>
            <a:r>
              <a:rPr lang="en-IN" sz="2400" b="1" dirty="0"/>
              <a:t>Crop Disease Detection</a:t>
            </a:r>
            <a:endParaRPr b="1" dirty="0"/>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14</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7" name="TextBox 6"/>
          <p:cNvSpPr txBox="1"/>
          <p:nvPr/>
        </p:nvSpPr>
        <p:spPr>
          <a:xfrm>
            <a:off x="502920" y="1222843"/>
            <a:ext cx="8138160" cy="270843"/>
          </a:xfrm>
          <a:prstGeom prst="rect">
            <a:avLst/>
          </a:prstGeom>
          <a:noFill/>
        </p:spPr>
        <p:txBody>
          <a:bodyPr wrap="square" lIns="45720" tIns="27432" rIns="45720" bIns="27432" anchor="ctr">
            <a:spAutoFit/>
          </a:bodyPr>
          <a:lstStyle/>
          <a:p>
            <a:r>
              <a:rPr lang="en-IN" b="1" dirty="0"/>
              <a:t>Input image:</a:t>
            </a:r>
            <a:r>
              <a:rPr lang="en-IN" dirty="0"/>
              <a:t> Drone-captured crop image; example disease detection scenario.</a:t>
            </a:r>
          </a:p>
        </p:txBody>
      </p:sp>
      <p:graphicFrame>
        <p:nvGraphicFramePr>
          <p:cNvPr id="8" name="Worked example table"/>
          <p:cNvGraphicFramePr>
            <a:graphicFrameLocks noGrp="1"/>
          </p:cNvGraphicFramePr>
          <p:nvPr>
            <p:extLst>
              <p:ext uri="{D42A27DB-BD31-4B8C-83A1-F6EECF244321}">
                <p14:modId xmlns:p14="http://schemas.microsoft.com/office/powerpoint/2010/main" val="4036331547"/>
              </p:ext>
            </p:extLst>
          </p:nvPr>
        </p:nvGraphicFramePr>
        <p:xfrm>
          <a:off x="502920" y="1780032"/>
          <a:ext cx="7513320" cy="3474720"/>
        </p:xfrm>
        <a:graphic>
          <a:graphicData uri="http://schemas.openxmlformats.org/drawingml/2006/table">
            <a:tbl>
              <a:tblPr firstRow="1"/>
              <a:tblGrid>
                <a:gridCol w="4347810">
                  <a:extLst>
                    <a:ext uri="{9D8B030D-6E8A-4147-A177-3AD203B41FA5}">
                      <a16:colId xmlns:a16="http://schemas.microsoft.com/office/drawing/2014/main" val="20000"/>
                    </a:ext>
                  </a:extLst>
                </a:gridCol>
                <a:gridCol w="3165510">
                  <a:extLst>
                    <a:ext uri="{9D8B030D-6E8A-4147-A177-3AD203B41FA5}">
                      <a16:colId xmlns:a16="http://schemas.microsoft.com/office/drawing/2014/main" val="20001"/>
                    </a:ext>
                  </a:extLst>
                </a:gridCol>
              </a:tblGrid>
              <a:tr h="347472">
                <a:tc>
                  <a:txBody>
                    <a:bodyPr/>
                    <a:lstStyle/>
                    <a:p>
                      <a:pPr marL="0" indent="0" algn="l">
                        <a:spcBef>
                          <a:spcPts val="0"/>
                        </a:spcBef>
                        <a:spcAft>
                          <a:spcPts val="0"/>
                        </a:spcAft>
                        <a:buNone/>
                      </a:pPr>
                      <a:r>
                        <a:rPr sz="1400" b="1" i="0" dirty="0">
                          <a:solidFill>
                            <a:srgbClr val="FFFFFF"/>
                          </a:solidFill>
                          <a:latin typeface="Times New Roman"/>
                        </a:rPr>
                        <a:t>Quantity</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tc>
                  <a:txBody>
                    <a:bodyPr/>
                    <a:lstStyle/>
                    <a:p>
                      <a:pPr marL="0" indent="0" algn="ctr">
                        <a:spcBef>
                          <a:spcPts val="0"/>
                        </a:spcBef>
                        <a:spcAft>
                          <a:spcPts val="0"/>
                        </a:spcAft>
                        <a:buNone/>
                      </a:pPr>
                      <a:r>
                        <a:rPr lang="en-IN" sz="1400" b="1" i="0" dirty="0">
                          <a:solidFill>
                            <a:srgbClr val="FFFFFF"/>
                          </a:solidFill>
                          <a:latin typeface="Times New Roman"/>
                        </a:rPr>
                        <a:t>Example Value</a:t>
                      </a:r>
                      <a:endParaRPr sz="1400" b="1" i="0" dirty="0">
                        <a:solidFill>
                          <a:srgbClr val="FFFFFF"/>
                        </a:solidFill>
                        <a:latin typeface="Times New Roman"/>
                      </a:endParaRP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D34817"/>
                    </a:solidFill>
                  </a:tcPr>
                </a:tc>
                <a:extLst>
                  <a:ext uri="{0D108BD9-81ED-4DB2-BD59-A6C34878D82A}">
                    <a16:rowId xmlns:a16="http://schemas.microsoft.com/office/drawing/2014/main" val="10000"/>
                  </a:ext>
                </a:extLst>
              </a:tr>
              <a:tr h="112776">
                <a:tc>
                  <a:txBody>
                    <a:bodyPr/>
                    <a:lstStyle/>
                    <a:p>
                      <a:pPr>
                        <a:buNone/>
                      </a:pPr>
                      <a:r>
                        <a:rPr lang="en-IN" dirty="0"/>
                        <a:t>mage size</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tc>
                  <a:txBody>
                    <a:bodyPr/>
                    <a:lstStyle/>
                    <a:p>
                      <a:pPr algn="r">
                        <a:buNone/>
                      </a:pPr>
                      <a:r>
                        <a:rPr lang="en-IN" dirty="0">
                          <a:effectLst/>
                        </a:rPr>
                        <a:t>640 × 640 pixels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solidFill>
                        <a:srgbClr val="A6A6A6"/>
                      </a:solidFill>
                      <a:prstDash val="soli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a:buNone/>
                      </a:pPr>
                      <a:r>
                        <a:rPr lang="en-IN" dirty="0"/>
                        <a:t>Number of classes</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r">
                        <a:buNone/>
                      </a:pPr>
                      <a:r>
                        <a:rPr lang="en-IN" dirty="0">
                          <a:effectLst/>
                        </a:rPr>
                        <a:t>3</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a:buNone/>
                      </a:pPr>
                      <a:r>
                        <a:rPr lang="en-IN" dirty="0"/>
                        <a:t>Probability — Healthy</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r">
                        <a:buNone/>
                      </a:pPr>
                      <a:r>
                        <a:rPr lang="en-IN" dirty="0">
                          <a:effectLst/>
                        </a:rPr>
                        <a:t>0.08</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a:buNone/>
                      </a:pPr>
                      <a:r>
                        <a:rPr lang="en-IN" dirty="0"/>
                        <a:t>Probability — Disease A</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r">
                        <a:buNone/>
                      </a:pPr>
                      <a:r>
                        <a:rPr lang="en-IN" dirty="0">
                          <a:effectLst/>
                        </a:rPr>
                        <a:t>0.05</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a:buNone/>
                      </a:pPr>
                      <a:r>
                        <a:rPr lang="en-IN" dirty="0"/>
                        <a:t>Probability — Disease B</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r">
                        <a:buNone/>
                      </a:pPr>
                      <a:r>
                        <a:rPr lang="en-IN" dirty="0">
                          <a:effectLst/>
                        </a:rPr>
                        <a:t>0.05</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a:buNone/>
                      </a:pPr>
                      <a:r>
                        <a:rPr lang="en-IN" dirty="0"/>
                        <a:t>Predicted class</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r">
                        <a:buNone/>
                      </a:pPr>
                      <a:r>
                        <a:rPr lang="en-IN" dirty="0">
                          <a:effectLst/>
                        </a:rPr>
                        <a:t>Disease A</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a:buNone/>
                      </a:pPr>
                      <a:r>
                        <a:rPr lang="en-IN" dirty="0"/>
                        <a:t>Confidence score</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r">
                        <a:buNone/>
                      </a:pPr>
                      <a:r>
                        <a:rPr lang="en-IN" dirty="0">
                          <a:effectLst/>
                        </a:rPr>
                        <a:t>87%</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a:buNone/>
                      </a:pPr>
                      <a:r>
                        <a:rPr lang="en-IN" dirty="0"/>
                        <a:t>Detection result</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tc>
                  <a:txBody>
                    <a:bodyPr/>
                    <a:lstStyle/>
                    <a:p>
                      <a:pPr algn="r">
                        <a:buNone/>
                      </a:pPr>
                      <a:r>
                        <a:rPr lang="en-IN" dirty="0">
                          <a:effectLst/>
                        </a:rPr>
                        <a:t>Disease A identified</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a:buNone/>
                      </a:pPr>
                      <a:r>
                        <a:rPr lang="en-IN" b="1" dirty="0"/>
                        <a:t>Explanation</a:t>
                      </a:r>
                    </a:p>
                  </a:txBody>
                  <a:tcPr anchor="ctr">
                    <a:lnL w="9525" cap="flat" cmpd="sng">
                      <a:solidFill>
                        <a:srgbClr val="A6A6A6"/>
                      </a:solidFill>
                      <a:prstDash val="soli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tc>
                  <a:txBody>
                    <a:bodyPr/>
                    <a:lstStyle/>
                    <a:p>
                      <a:pPr algn="r">
                        <a:buNone/>
                      </a:pPr>
                      <a:r>
                        <a:rPr lang="en-IN" dirty="0">
                          <a:effectLst/>
                        </a:rPr>
                        <a:t>Grad-CAM highlights important image regions</a:t>
                      </a:r>
                    </a:p>
                  </a:txBody>
                  <a:tcPr anchor="ctr">
                    <a:lnL w="9525" cap="flat" cmpd="sng" algn="ctr">
                      <a:solidFill>
                        <a:srgbClr val="A6A6A6"/>
                      </a:solidFill>
                      <a:prstDash val="solid"/>
                      <a:round/>
                      <a:headEnd type="none" w="med" len="med"/>
                      <a:tailEnd type="none" w="med" len="med"/>
                    </a:lnL>
                    <a:lnR w="9525" cap="flat" cmpd="sng">
                      <a:solidFill>
                        <a:srgbClr val="A6A6A6"/>
                      </a:solidFill>
                      <a:prstDash val="solid"/>
                    </a:lnR>
                    <a:lnT w="9525" cap="flat" cmpd="sng" algn="ctr">
                      <a:solidFill>
                        <a:srgbClr val="A6A6A6"/>
                      </a:solidFill>
                      <a:prstDash val="solid"/>
                      <a:round/>
                      <a:headEnd type="none" w="med" len="med"/>
                      <a:tailEnd type="none" w="med" len="med"/>
                    </a:lnT>
                    <a:lnB w="9525" cap="flat" cmpd="sng">
                      <a:solidFill>
                        <a:srgbClr val="A6A6A6"/>
                      </a:solidFill>
                      <a:prstDash val="soli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dirty="0"/>
              <a:t>Advantages and Limitations</a:t>
            </a:r>
            <a:endParaRPr dirty="0"/>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15</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graphicFrame>
        <p:nvGraphicFramePr>
          <p:cNvPr id="18" name="Table 17">
            <a:extLst>
              <a:ext uri="{FF2B5EF4-FFF2-40B4-BE49-F238E27FC236}">
                <a16:creationId xmlns:a16="http://schemas.microsoft.com/office/drawing/2014/main" id="{40FDEC8B-7577-1579-1772-2ADB8E25A2FC}"/>
              </a:ext>
            </a:extLst>
          </p:cNvPr>
          <p:cNvGraphicFramePr>
            <a:graphicFrameLocks noGrp="1"/>
          </p:cNvGraphicFramePr>
          <p:nvPr>
            <p:extLst>
              <p:ext uri="{D42A27DB-BD31-4B8C-83A1-F6EECF244321}">
                <p14:modId xmlns:p14="http://schemas.microsoft.com/office/powerpoint/2010/main" val="1655011484"/>
              </p:ext>
            </p:extLst>
          </p:nvPr>
        </p:nvGraphicFramePr>
        <p:xfrm>
          <a:off x="914400" y="1267968"/>
          <a:ext cx="7772400" cy="4645152"/>
        </p:xfrm>
        <a:graphic>
          <a:graphicData uri="http://schemas.openxmlformats.org/drawingml/2006/table">
            <a:tbl>
              <a:tblPr>
                <a:tableStyleId>{36A656E0-A7AC-4FEC-B299-668A8D95E06C}</a:tableStyleId>
              </a:tblPr>
              <a:tblGrid>
                <a:gridCol w="3886200">
                  <a:extLst>
                    <a:ext uri="{9D8B030D-6E8A-4147-A177-3AD203B41FA5}">
                      <a16:colId xmlns:a16="http://schemas.microsoft.com/office/drawing/2014/main" val="1145832110"/>
                    </a:ext>
                  </a:extLst>
                </a:gridCol>
                <a:gridCol w="3886200">
                  <a:extLst>
                    <a:ext uri="{9D8B030D-6E8A-4147-A177-3AD203B41FA5}">
                      <a16:colId xmlns:a16="http://schemas.microsoft.com/office/drawing/2014/main" val="1818420389"/>
                    </a:ext>
                  </a:extLst>
                </a:gridCol>
              </a:tblGrid>
              <a:tr h="774192">
                <a:tc>
                  <a:txBody>
                    <a:bodyPr/>
                    <a:lstStyle/>
                    <a:p>
                      <a:pPr marL="0" marR="0" indent="0" algn="ctr" rtl="0">
                        <a:lnSpc>
                          <a:spcPct val="100000"/>
                        </a:lnSpc>
                        <a:spcBef>
                          <a:spcPts val="0"/>
                        </a:spcBef>
                        <a:spcAft>
                          <a:spcPts val="0"/>
                        </a:spcAft>
                        <a:buClr>
                          <a:srgbClr val="000000"/>
                        </a:buClr>
                        <a:buFont typeface="Arial" panose="020B0604020202020204" pitchFamily="34" charset="0"/>
                        <a:buNone/>
                      </a:pPr>
                      <a:r>
                        <a:rPr lang="en-US" sz="1600" b="1" dirty="0">
                          <a:latin typeface="Times New Roman" panose="02020603050405020304" pitchFamily="18" charset="0"/>
                          <a:cs typeface="Times New Roman" panose="02020603050405020304" pitchFamily="18" charset="0"/>
                        </a:rPr>
                        <a:t>Advantages</a:t>
                      </a:r>
                      <a:endParaRPr lang="en-IN" sz="1600" b="0" i="0" u="none" strike="noStrike" cap="none" spc="0" dirty="0">
                        <a:solidFill>
                          <a:srgbClr val="000000"/>
                        </a:solidFill>
                        <a:latin typeface="Times New Roman" panose="02020603050405020304" pitchFamily="18" charset="0"/>
                        <a:cs typeface="Times New Roman" panose="02020603050405020304" pitchFamily="18" charset="0"/>
                        <a:sym typeface="Arial"/>
                      </a:endParaRPr>
                    </a:p>
                  </a:txBody>
                  <a:tcPr anchor="ctr"/>
                </a:tc>
                <a:tc>
                  <a:txBody>
                    <a:bodyPr/>
                    <a:lstStyle/>
                    <a:p>
                      <a:pPr algn="ctr">
                        <a:buNone/>
                      </a:pPr>
                      <a:r>
                        <a:rPr lang="en-US" sz="1400" b="1" dirty="0"/>
                        <a:t>Limitations</a:t>
                      </a:r>
                      <a:endParaRPr lang="en-IN" dirty="0"/>
                    </a:p>
                  </a:txBody>
                  <a:tcPr anchor="ctr"/>
                </a:tc>
                <a:extLst>
                  <a:ext uri="{0D108BD9-81ED-4DB2-BD59-A6C34878D82A}">
                    <a16:rowId xmlns:a16="http://schemas.microsoft.com/office/drawing/2014/main" val="3194073010"/>
                  </a:ext>
                </a:extLst>
              </a:tr>
              <a:tr h="774192">
                <a:tc>
                  <a:txBody>
                    <a:bodyPr/>
                    <a:lstStyle/>
                    <a:p>
                      <a:pPr>
                        <a:buNone/>
                      </a:pPr>
                      <a:r>
                        <a:rPr lang="en-IN" dirty="0"/>
                        <a:t>• Large-area monitoring: drones cover extensive agricultural fields</a:t>
                      </a:r>
                    </a:p>
                  </a:txBody>
                  <a:tcPr anchor="ctr"/>
                </a:tc>
                <a:tc>
                  <a:txBody>
                    <a:bodyPr/>
                    <a:lstStyle/>
                    <a:p>
                      <a:pPr>
                        <a:buNone/>
                      </a:pPr>
                      <a:r>
                        <a:rPr lang="en-IN" dirty="0"/>
                        <a:t>• Data dependency: requires sufficient </a:t>
                      </a:r>
                      <a:r>
                        <a:rPr lang="en-IN" dirty="0" err="1"/>
                        <a:t>labeled</a:t>
                      </a:r>
                      <a:r>
                        <a:rPr lang="en-IN" dirty="0"/>
                        <a:t> crop images</a:t>
                      </a:r>
                    </a:p>
                  </a:txBody>
                  <a:tcPr anchor="ctr"/>
                </a:tc>
                <a:extLst>
                  <a:ext uri="{0D108BD9-81ED-4DB2-BD59-A6C34878D82A}">
                    <a16:rowId xmlns:a16="http://schemas.microsoft.com/office/drawing/2014/main" val="672243528"/>
                  </a:ext>
                </a:extLst>
              </a:tr>
              <a:tr h="774192">
                <a:tc>
                  <a:txBody>
                    <a:bodyPr/>
                    <a:lstStyle/>
                    <a:p>
                      <a:pPr>
                        <a:buNone/>
                      </a:pPr>
                      <a:r>
                        <a:rPr lang="en-IN"/>
                        <a:t>• Reduced manual effort: minimizes field-by-field inspection</a:t>
                      </a:r>
                    </a:p>
                  </a:txBody>
                  <a:tcPr anchor="ctr"/>
                </a:tc>
                <a:tc>
                  <a:txBody>
                    <a:bodyPr/>
                    <a:lstStyle/>
                    <a:p>
                      <a:pPr>
                        <a:buNone/>
                      </a:pPr>
                      <a:r>
                        <a:rPr lang="en-IN" dirty="0"/>
                        <a:t>• Environmental effects: lighting and weather can affect image capture</a:t>
                      </a:r>
                    </a:p>
                  </a:txBody>
                  <a:tcPr anchor="ctr"/>
                </a:tc>
                <a:extLst>
                  <a:ext uri="{0D108BD9-81ED-4DB2-BD59-A6C34878D82A}">
                    <a16:rowId xmlns:a16="http://schemas.microsoft.com/office/drawing/2014/main" val="1344689759"/>
                  </a:ext>
                </a:extLst>
              </a:tr>
              <a:tr h="774192">
                <a:tc>
                  <a:txBody>
                    <a:bodyPr/>
                    <a:lstStyle/>
                    <a:p>
                      <a:pPr>
                        <a:buNone/>
                      </a:pPr>
                      <a:r>
                        <a:rPr lang="en-IN"/>
                        <a:t>• Fast analysis: AI models process images automatically</a:t>
                      </a:r>
                    </a:p>
                  </a:txBody>
                  <a:tcPr anchor="ctr"/>
                </a:tc>
                <a:tc>
                  <a:txBody>
                    <a:bodyPr/>
                    <a:lstStyle/>
                    <a:p>
                      <a:pPr>
                        <a:buNone/>
                      </a:pPr>
                      <a:r>
                        <a:rPr lang="en-IN" dirty="0"/>
                        <a:t>• Limited generalization: models may not work equally well across crops</a:t>
                      </a:r>
                    </a:p>
                  </a:txBody>
                  <a:tcPr anchor="ctr"/>
                </a:tc>
                <a:extLst>
                  <a:ext uri="{0D108BD9-81ED-4DB2-BD59-A6C34878D82A}">
                    <a16:rowId xmlns:a16="http://schemas.microsoft.com/office/drawing/2014/main" val="1498157428"/>
                  </a:ext>
                </a:extLst>
              </a:tr>
              <a:tr h="774192">
                <a:tc>
                  <a:txBody>
                    <a:bodyPr/>
                    <a:lstStyle/>
                    <a:p>
                      <a:pPr>
                        <a:buNone/>
                      </a:pPr>
                      <a:r>
                        <a:rPr lang="en-IN"/>
                        <a:t>• Disease mapping: helps locate affected crop areas</a:t>
                      </a:r>
                    </a:p>
                  </a:txBody>
                  <a:tcPr anchor="ctr"/>
                </a:tc>
                <a:tc>
                  <a:txBody>
                    <a:bodyPr/>
                    <a:lstStyle/>
                    <a:p>
                      <a:pPr>
                        <a:buNone/>
                      </a:pPr>
                      <a:r>
                        <a:rPr lang="en-IN" dirty="0"/>
                        <a:t>• Computational cost: advanced AI models may require powerful hardware</a:t>
                      </a:r>
                    </a:p>
                  </a:txBody>
                  <a:tcPr anchor="ctr"/>
                </a:tc>
                <a:extLst>
                  <a:ext uri="{0D108BD9-81ED-4DB2-BD59-A6C34878D82A}">
                    <a16:rowId xmlns:a16="http://schemas.microsoft.com/office/drawing/2014/main" val="95207986"/>
                  </a:ext>
                </a:extLst>
              </a:tr>
              <a:tr h="774192">
                <a:tc>
                  <a:txBody>
                    <a:bodyPr/>
                    <a:lstStyle/>
                    <a:p>
                      <a:pPr>
                        <a:buNone/>
                      </a:pPr>
                      <a:r>
                        <a:rPr lang="en-IN"/>
                        <a:t>• Explainable results: Grad-CAM can highlight important image regions</a:t>
                      </a:r>
                    </a:p>
                  </a:txBody>
                  <a:tcPr anchor="ctr"/>
                </a:tc>
                <a:tc>
                  <a:txBody>
                    <a:bodyPr/>
                    <a:lstStyle/>
                    <a:p>
                      <a:pPr>
                        <a:buNone/>
                      </a:pPr>
                      <a:r>
                        <a:rPr lang="en-IN" dirty="0"/>
                        <a:t>• Deployment challenges: drones, sensors and AI systems require maintenance</a:t>
                      </a:r>
                    </a:p>
                  </a:txBody>
                  <a:tcPr anchor="ctr"/>
                </a:tc>
                <a:extLst>
                  <a:ext uri="{0D108BD9-81ED-4DB2-BD59-A6C34878D82A}">
                    <a16:rowId xmlns:a16="http://schemas.microsoft.com/office/drawing/2014/main" val="409801248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dirty="0"/>
              <a:t>Conclusion and Future Scope</a:t>
            </a:r>
            <a:endParaRPr dirty="0"/>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16</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9" name="TextBox 8"/>
          <p:cNvSpPr txBox="1"/>
          <p:nvPr/>
        </p:nvSpPr>
        <p:spPr>
          <a:xfrm>
            <a:off x="502920" y="1078992"/>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dirty="0">
                <a:solidFill>
                  <a:srgbClr val="D34817"/>
                </a:solidFill>
                <a:latin typeface="Times New Roman"/>
              </a:rPr>
              <a:t>Conclusion</a:t>
            </a:r>
          </a:p>
        </p:txBody>
      </p:sp>
      <p:sp>
        <p:nvSpPr>
          <p:cNvPr id="11" name="TextBox 10"/>
          <p:cNvSpPr txBox="1"/>
          <p:nvPr/>
        </p:nvSpPr>
        <p:spPr>
          <a:xfrm>
            <a:off x="502920" y="3772662"/>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dirty="0">
                <a:solidFill>
                  <a:srgbClr val="D34817"/>
                </a:solidFill>
                <a:latin typeface="Times New Roman"/>
              </a:rPr>
              <a:t>Future scope</a:t>
            </a:r>
          </a:p>
        </p:txBody>
      </p:sp>
      <p:sp>
        <p:nvSpPr>
          <p:cNvPr id="24" name="TextBox 23">
            <a:extLst>
              <a:ext uri="{FF2B5EF4-FFF2-40B4-BE49-F238E27FC236}">
                <a16:creationId xmlns:a16="http://schemas.microsoft.com/office/drawing/2014/main" id="{1C5097D2-1869-191C-996C-ADF5EC089C34}"/>
              </a:ext>
            </a:extLst>
          </p:cNvPr>
          <p:cNvSpPr txBox="1"/>
          <p:nvPr/>
        </p:nvSpPr>
        <p:spPr>
          <a:xfrm>
            <a:off x="1111045" y="2448232"/>
            <a:ext cx="184731" cy="307777"/>
          </a:xfrm>
          <a:prstGeom prst="rect">
            <a:avLst/>
          </a:prstGeom>
          <a:noFill/>
        </p:spPr>
        <p:txBody>
          <a:bodyPr wrap="none" rtlCol="0">
            <a:spAutoFit/>
          </a:bodyPr>
          <a:lstStyle/>
          <a:p>
            <a:endParaRPr lang="en-IN" dirty="0"/>
          </a:p>
        </p:txBody>
      </p:sp>
      <p:graphicFrame>
        <p:nvGraphicFramePr>
          <p:cNvPr id="25" name="Table 24">
            <a:extLst>
              <a:ext uri="{FF2B5EF4-FFF2-40B4-BE49-F238E27FC236}">
                <a16:creationId xmlns:a16="http://schemas.microsoft.com/office/drawing/2014/main" id="{F9904478-1598-02AB-F9F6-B8B63377F693}"/>
              </a:ext>
            </a:extLst>
          </p:cNvPr>
          <p:cNvGraphicFramePr>
            <a:graphicFrameLocks noGrp="1"/>
          </p:cNvGraphicFramePr>
          <p:nvPr>
            <p:extLst>
              <p:ext uri="{D42A27DB-BD31-4B8C-83A1-F6EECF244321}">
                <p14:modId xmlns:p14="http://schemas.microsoft.com/office/powerpoint/2010/main" val="3229818720"/>
              </p:ext>
            </p:extLst>
          </p:nvPr>
        </p:nvGraphicFramePr>
        <p:xfrm>
          <a:off x="502921" y="1043033"/>
          <a:ext cx="7864332" cy="2462167"/>
        </p:xfrm>
        <a:graphic>
          <a:graphicData uri="http://schemas.openxmlformats.org/drawingml/2006/table">
            <a:tbl>
              <a:tblPr>
                <a:tableStyleId>{36A656E0-A7AC-4FEC-B299-668A8D95E06C}</a:tableStyleId>
              </a:tblPr>
              <a:tblGrid>
                <a:gridCol w="7864332">
                  <a:extLst>
                    <a:ext uri="{9D8B030D-6E8A-4147-A177-3AD203B41FA5}">
                      <a16:colId xmlns:a16="http://schemas.microsoft.com/office/drawing/2014/main" val="1094250156"/>
                    </a:ext>
                  </a:extLst>
                </a:gridCol>
              </a:tblGrid>
              <a:tr h="2462167">
                <a:tc>
                  <a:txBody>
                    <a:bodyPr/>
                    <a:lstStyle/>
                    <a:p>
                      <a:pPr marL="285750" lvl="0" indent="-285750">
                        <a:buFont typeface="Arial" panose="020B0604020202020204" pitchFamily="34" charset="0"/>
                        <a:buChar char="•"/>
                      </a:pPr>
                      <a:r>
                        <a:rPr lang="en-IN" dirty="0"/>
                        <a:t>AI-powered drones help detect crop diseases using aerial images and computer vision.</a:t>
                      </a:r>
                    </a:p>
                    <a:p>
                      <a:pPr marL="285750" lvl="0" indent="-285750">
                        <a:buFont typeface="Arial" panose="020B0604020202020204" pitchFamily="34" charset="0"/>
                        <a:buChar char="•"/>
                      </a:pPr>
                      <a:r>
                        <a:rPr lang="en-IN" dirty="0"/>
                        <a:t>Deep learning models such as CNN, YOLO and Transformers support disease detection and classification.</a:t>
                      </a:r>
                    </a:p>
                    <a:p>
                      <a:pPr marL="285750" lvl="0" indent="-285750">
                        <a:buFont typeface="Arial" panose="020B0604020202020204" pitchFamily="34" charset="0"/>
                        <a:buChar char="•"/>
                      </a:pPr>
                      <a:r>
                        <a:rPr lang="en-IN" dirty="0"/>
                        <a:t>Environmental sensor data can improve crop monitoring and disease analysis.</a:t>
                      </a:r>
                    </a:p>
                    <a:p>
                      <a:pPr marL="285750" lvl="0" indent="-285750">
                        <a:buFont typeface="Arial" panose="020B0604020202020204" pitchFamily="34" charset="0"/>
                        <a:buChar char="•"/>
                      </a:pPr>
                      <a:r>
                        <a:rPr lang="en-IN" dirty="0"/>
                        <a:t>Grad-CAM helps explain predictions by highlighting important image regions.</a:t>
                      </a:r>
                    </a:p>
                    <a:p>
                      <a:pPr marL="285750" lvl="0" indent="-285750">
                        <a:buFont typeface="Arial" panose="020B0604020202020204" pitchFamily="34" charset="0"/>
                        <a:buChar char="•"/>
                      </a:pPr>
                      <a:r>
                        <a:rPr lang="en-IN" dirty="0"/>
                        <a:t>The proposed approach can reduce manual inspection and support timely crop management.</a:t>
                      </a:r>
                    </a:p>
                    <a:p>
                      <a:pPr marL="285750" lvl="0" indent="-285750">
                        <a:buFont typeface="Arial" panose="020B0604020202020204" pitchFamily="34" charset="0"/>
                        <a:buChar char="•"/>
                      </a:pPr>
                      <a:r>
                        <a:rPr lang="en-IN" dirty="0"/>
                        <a:t>Detection performance depends on image quality, training data and model reliability.</a:t>
                      </a:r>
                    </a:p>
                  </a:txBody>
                  <a:tcPr anchor="ctr"/>
                </a:tc>
                <a:extLst>
                  <a:ext uri="{0D108BD9-81ED-4DB2-BD59-A6C34878D82A}">
                    <a16:rowId xmlns:a16="http://schemas.microsoft.com/office/drawing/2014/main" val="1741644050"/>
                  </a:ext>
                </a:extLst>
              </a:tr>
            </a:tbl>
          </a:graphicData>
        </a:graphic>
      </p:graphicFrame>
      <p:sp>
        <p:nvSpPr>
          <p:cNvPr id="26" name="TextBox 25">
            <a:extLst>
              <a:ext uri="{FF2B5EF4-FFF2-40B4-BE49-F238E27FC236}">
                <a16:creationId xmlns:a16="http://schemas.microsoft.com/office/drawing/2014/main" id="{7EBC4DD4-1CCD-14CF-E41D-B75113433395}"/>
              </a:ext>
            </a:extLst>
          </p:cNvPr>
          <p:cNvSpPr txBox="1"/>
          <p:nvPr/>
        </p:nvSpPr>
        <p:spPr>
          <a:xfrm>
            <a:off x="475488" y="4133731"/>
            <a:ext cx="8294886" cy="1600438"/>
          </a:xfrm>
          <a:prstGeom prst="rect">
            <a:avLst/>
          </a:prstGeom>
          <a:noFill/>
        </p:spPr>
        <p:txBody>
          <a:bodyPr wrap="square" rtlCol="0">
            <a:spAutoFit/>
          </a:bodyPr>
          <a:lstStyle/>
          <a:p>
            <a:pPr marL="285750" lvl="0" indent="-285750">
              <a:buFont typeface="Arial" panose="020B0604020202020204" pitchFamily="34" charset="0"/>
              <a:buChar char="•"/>
            </a:pPr>
            <a:r>
              <a:rPr lang="en-IN" dirty="0"/>
              <a:t>Extend disease detection to multiple crops and disease types.</a:t>
            </a:r>
          </a:p>
          <a:p>
            <a:pPr marL="285750" lvl="0" indent="-285750">
              <a:buFont typeface="Arial" panose="020B0604020202020204" pitchFamily="34" charset="0"/>
              <a:buChar char="•"/>
            </a:pPr>
            <a:r>
              <a:rPr lang="en-IN" dirty="0"/>
              <a:t>Improve accuracy under different lighting and weather conditions.</a:t>
            </a:r>
          </a:p>
          <a:p>
            <a:pPr marL="285750" lvl="0" indent="-285750">
              <a:buFont typeface="Arial" panose="020B0604020202020204" pitchFamily="34" charset="0"/>
              <a:buChar char="•"/>
            </a:pPr>
            <a:r>
              <a:rPr lang="en-IN" dirty="0"/>
              <a:t>Integrate real-time IoT sensors and environmental data.</a:t>
            </a:r>
          </a:p>
          <a:p>
            <a:pPr marL="285750" lvl="0" indent="-285750">
              <a:buFont typeface="Arial" panose="020B0604020202020204" pitchFamily="34" charset="0"/>
              <a:buChar char="•"/>
            </a:pPr>
            <a:r>
              <a:rPr lang="en-IN" dirty="0"/>
              <a:t>Deploy lightweight AI models on drones and edge devices.</a:t>
            </a:r>
          </a:p>
          <a:p>
            <a:pPr marL="285750" lvl="0" indent="-285750">
              <a:buFont typeface="Arial" panose="020B0604020202020204" pitchFamily="34" charset="0"/>
              <a:buChar char="•"/>
            </a:pPr>
            <a:r>
              <a:rPr lang="en-IN" dirty="0"/>
              <a:t>Develop real-time disease mapping and alert systems.</a:t>
            </a:r>
          </a:p>
          <a:p>
            <a:pPr marL="285750" lvl="0" indent="-285750">
              <a:buFont typeface="Arial" panose="020B0604020202020204" pitchFamily="34" charset="0"/>
              <a:buChar char="•"/>
            </a:pPr>
            <a:r>
              <a:rPr lang="en-IN" dirty="0"/>
              <a:t>Validate the models through large-scale field testing and real-world deployment.</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References</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17</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7" name="Reference list"/>
          <p:cNvSpPr txBox="1"/>
          <p:nvPr/>
        </p:nvSpPr>
        <p:spPr>
          <a:xfrm>
            <a:off x="502920" y="1280160"/>
            <a:ext cx="8138160" cy="4253537"/>
          </a:xfrm>
          <a:prstGeom prst="rect">
            <a:avLst/>
          </a:prstGeom>
          <a:noFill/>
        </p:spPr>
        <p:txBody>
          <a:bodyPr wrap="square">
            <a:spAutoFit/>
          </a:bodyPr>
          <a:lstStyle/>
          <a:p>
            <a:pPr>
              <a:lnSpc>
                <a:spcPct val="150000"/>
              </a:lnSpc>
            </a:pPr>
            <a:r>
              <a:rPr lang="en-IN" dirty="0"/>
              <a:t>[1] H. M. Manoj et al., “AI-driven drone technology and computer vision for early detection of crop disease in large agricultural areas,” </a:t>
            </a:r>
            <a:r>
              <a:rPr lang="en-IN" i="1" dirty="0"/>
              <a:t>Scientific Reports</a:t>
            </a:r>
            <a:r>
              <a:rPr lang="en-IN" dirty="0"/>
              <a:t>, 2026, </a:t>
            </a:r>
            <a:r>
              <a:rPr lang="en-IN" dirty="0" err="1"/>
              <a:t>doi</a:t>
            </a:r>
            <a:r>
              <a:rPr lang="en-IN" dirty="0"/>
              <a:t>: 10.1038/s41598-025-32384-1.</a:t>
            </a:r>
          </a:p>
          <a:p>
            <a:pPr>
              <a:lnSpc>
                <a:spcPct val="150000"/>
              </a:lnSpc>
            </a:pPr>
            <a:r>
              <a:rPr lang="en-IN" dirty="0"/>
              <a:t>[2] “DSCONV-GAN: a UAV-Based Model for Verticillium Wilt Disease Detection in Chinese Cabbage in Complex Growing Environments,” </a:t>
            </a:r>
            <a:r>
              <a:rPr lang="en-IN" i="1" dirty="0"/>
              <a:t>Plant Methods</a:t>
            </a:r>
            <a:r>
              <a:rPr lang="en-IN" dirty="0"/>
              <a:t>, 2024, </a:t>
            </a:r>
            <a:r>
              <a:rPr lang="en-IN" dirty="0" err="1"/>
              <a:t>doi</a:t>
            </a:r>
            <a:r>
              <a:rPr lang="en-IN" dirty="0"/>
              <a:t>: 10.1186/s13007-024-01303-2.</a:t>
            </a:r>
          </a:p>
          <a:p>
            <a:pPr>
              <a:lnSpc>
                <a:spcPct val="150000"/>
              </a:lnSpc>
            </a:pPr>
            <a:r>
              <a:rPr lang="en-IN" dirty="0"/>
              <a:t>[3] “</a:t>
            </a:r>
            <a:r>
              <a:rPr lang="en-IN" dirty="0" err="1"/>
              <a:t>Xoo</a:t>
            </a:r>
            <a:r>
              <a:rPr lang="en-IN" dirty="0"/>
              <a:t>-YOLO: a detection method for wild rice bacterial blight in the field from the perspective of unmanned aerial vehicles,” </a:t>
            </a:r>
            <a:r>
              <a:rPr lang="en-IN" i="1" dirty="0"/>
              <a:t>Frontiers in Plant Science</a:t>
            </a:r>
            <a:r>
              <a:rPr lang="en-IN" dirty="0"/>
              <a:t>, 2023, </a:t>
            </a:r>
            <a:r>
              <a:rPr lang="en-IN" dirty="0" err="1"/>
              <a:t>doi</a:t>
            </a:r>
            <a:r>
              <a:rPr lang="en-IN" dirty="0"/>
              <a:t>: 10.3389/fpls.2023.1256545.</a:t>
            </a:r>
          </a:p>
          <a:p>
            <a:pPr>
              <a:lnSpc>
                <a:spcPct val="150000"/>
              </a:lnSpc>
            </a:pPr>
            <a:r>
              <a:rPr lang="en-IN" dirty="0"/>
              <a:t>[4] “A Multimodal UAV-Based Pipeline for Precision Agriculture: Aerial Stress Detection with YOLO and High-Fidelity Disease Classification Using </a:t>
            </a:r>
            <a:r>
              <a:rPr lang="en-IN" dirty="0" err="1"/>
              <a:t>DeiT</a:t>
            </a:r>
            <a:r>
              <a:rPr lang="en-IN" dirty="0"/>
              <a:t>,” </a:t>
            </a:r>
            <a:r>
              <a:rPr lang="en-IN" i="1" dirty="0"/>
              <a:t>Procedia Computer Science</a:t>
            </a:r>
            <a:r>
              <a:rPr lang="en-IN" dirty="0"/>
              <a:t>, 2025, </a:t>
            </a:r>
            <a:r>
              <a:rPr lang="en-IN" dirty="0" err="1"/>
              <a:t>doi</a:t>
            </a:r>
            <a:r>
              <a:rPr lang="en-IN" dirty="0"/>
              <a:t>: 10.1016/j.procs.2025.03.118.</a:t>
            </a:r>
          </a:p>
          <a:p>
            <a:pPr>
              <a:lnSpc>
                <a:spcPct val="150000"/>
              </a:lnSpc>
            </a:pPr>
            <a:r>
              <a:rPr lang="en-IN" dirty="0"/>
              <a:t>[5] “Large Field-of-View Pine Wilt Disease Tree Detection Based on Improved YOLOv4 Model with UAV Images,” </a:t>
            </a:r>
            <a:r>
              <a:rPr lang="en-IN" i="1" dirty="0"/>
              <a:t>Frontiers in Plant Science</a:t>
            </a:r>
            <a:r>
              <a:rPr lang="en-IN" dirty="0"/>
              <a:t>, 2024, </a:t>
            </a:r>
            <a:r>
              <a:rPr lang="en-IN" dirty="0" err="1"/>
              <a:t>doi</a:t>
            </a:r>
            <a:r>
              <a:rPr lang="en-IN" dirty="0"/>
              <a:t>: 10.3389/fpls.2024.1381367.</a:t>
            </a:r>
          </a:p>
          <a:p>
            <a:pPr>
              <a:lnSpc>
                <a:spcPct val="150000"/>
              </a:lnSpc>
            </a:pPr>
            <a:r>
              <a:rPr lang="en-IN" dirty="0"/>
              <a:t>[6] “Early Detection of Pine Wilt Disease Based on UAV Reconstructed Hyperspectral Image,” </a:t>
            </a:r>
            <a:r>
              <a:rPr lang="en-IN" i="1" dirty="0"/>
              <a:t>Frontiers in Plant Science</a:t>
            </a:r>
            <a:r>
              <a:rPr lang="en-IN" dirty="0"/>
              <a:t>, 2024, </a:t>
            </a:r>
            <a:r>
              <a:rPr lang="en-IN" dirty="0" err="1"/>
              <a:t>doi</a:t>
            </a:r>
            <a:r>
              <a:rPr lang="en-IN" dirty="0"/>
              <a:t>: 10.3389/fpls.2024.1453761.</a:t>
            </a:r>
          </a:p>
        </p:txBody>
      </p:sp>
      <p:sp>
        <p:nvSpPr>
          <p:cNvPr id="8" name="TextBox 7"/>
          <p:cNvSpPr txBox="1"/>
          <p:nvPr/>
        </p:nvSpPr>
        <p:spPr>
          <a:xfrm>
            <a:off x="502920" y="5623560"/>
            <a:ext cx="8138160" cy="365760"/>
          </a:xfrm>
          <a:prstGeom prst="rect">
            <a:avLst/>
          </a:prstGeom>
          <a:noFill/>
        </p:spPr>
        <p:txBody>
          <a:bodyPr wrap="square" lIns="45720" tIns="27432" rIns="45720" bIns="27432" anchor="t">
            <a:spAutoFit/>
          </a:bodyPr>
          <a:lstStyle/>
          <a:p>
            <a:pPr marL="0" indent="0" algn="ctr">
              <a:spcBef>
                <a:spcPts val="0"/>
              </a:spcBef>
              <a:spcAft>
                <a:spcPts val="0"/>
              </a:spcAft>
              <a:buNone/>
            </a:pPr>
            <a:r>
              <a:rPr sz="1800" b="1" i="0">
                <a:solidFill>
                  <a:srgbClr val="D34817"/>
                </a:solidFill>
                <a:latin typeface="Times New Roman"/>
              </a:rPr>
              <a:t>Thank You</a:t>
            </a:r>
          </a:p>
        </p:txBody>
      </p:sp>
    </p:spTree>
  </p:cSld>
  <p:clrMapOvr>
    <a:masterClrMapping/>
  </p:clrMapOvr>
</p:sld>
</file>

<file path=ppt/theme/theme1.xml><?xml version="1.0" encoding="utf-8"?>
<a:theme xmlns:a="http://schemas.openxmlformats.org/drawingml/2006/main" name="1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TotalTime>
  <Words>3022</Words>
  <Application>Microsoft Office PowerPoint</Application>
  <PresentationFormat>On-screen Show (4:3)</PresentationFormat>
  <Paragraphs>283</Paragraphs>
  <Slides>17</Slides>
  <Notes>17</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17</vt:i4>
      </vt:variant>
    </vt:vector>
  </HeadingPairs>
  <TitlesOfParts>
    <vt:vector size="28" baseType="lpstr">
      <vt:lpstr>Arial</vt:lpstr>
      <vt:lpstr>Libre Baskerville</vt:lpstr>
      <vt:lpstr>Libre Franklin</vt:lpstr>
      <vt:lpstr>Noto Sans Symbols</vt:lpstr>
      <vt:lpstr>Courier New</vt:lpstr>
      <vt:lpstr>Times New Roman</vt:lpstr>
      <vt:lpstr>1_Equity</vt:lpstr>
      <vt:lpstr>Equity</vt:lpstr>
      <vt:lpstr>2_Equity</vt:lpstr>
      <vt:lpstr>3_Equity</vt:lpstr>
      <vt:lpstr>4_Equity</vt:lpstr>
      <vt:lpstr>AI-POWERED DRONE-BASED CROP DISEASE DETECTION USING COMPUTER VISION</vt:lpstr>
      <vt:lpstr>Contents</vt:lpstr>
      <vt:lpstr>Introduction</vt:lpstr>
      <vt:lpstr>Relevance to Current Technology Trends</vt:lpstr>
      <vt:lpstr>Literature Review</vt:lpstr>
      <vt:lpstr>Problem Statement</vt:lpstr>
      <vt:lpstr>Objectives</vt:lpstr>
      <vt:lpstr>Proposed Seminar Scope / Proposed Framework</vt:lpstr>
      <vt:lpstr>System Architecture</vt:lpstr>
      <vt:lpstr>Methodology: Working of the System</vt:lpstr>
      <vt:lpstr>Algorithms Used</vt:lpstr>
      <vt:lpstr>Mathematical Model: Crop Disease Detection</vt:lpstr>
      <vt:lpstr>Mathematical Model: Classification and Evaluation</vt:lpstr>
      <vt:lpstr>Worked Example: Crop Disease Detection</vt:lpstr>
      <vt:lpstr>Advantages and Limitations</vt:lpstr>
      <vt:lpstr>Conclusion and 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 HIRE</dc:creator>
  <cp:lastModifiedBy>Rudraksh Goswami</cp:lastModifiedBy>
  <cp:revision>2</cp:revision>
  <dcterms:created xsi:type="dcterms:W3CDTF">2011-07-23T12:34:03Z</dcterms:created>
  <dcterms:modified xsi:type="dcterms:W3CDTF">2026-10-29T20:28:48Z</dcterms:modified>
</cp:coreProperties>
</file>